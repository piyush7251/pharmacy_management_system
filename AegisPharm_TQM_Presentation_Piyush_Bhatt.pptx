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professors and project evaluators. I am Piyush Bhatt, student of Amrapali University. Today I present Review 1 for my project, AegisPharm Enterprise. This presentation covers our complete Project Setup, Software Requirements Specification (SRS), System Architecture, Database Design, and demonstrates our fully operational, working application with live CRUD operations and TQM quality gates.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with the Problem Statement and Baseline Understanding. In healthcare, software errors aren't just bugs—they threaten patient survival. Our baseline analysis identified 3 fundamental industry failures: clinical medication errors, thermal cold-chain spoilage, and narcotic compliance/cash drawer shrinkage. AegisPharm solves these at the architectural root.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5 foundational Quality Objectives, directly fulfilling the Review 1 rubric. Notice how each objective maps to a core TQM tenet: Zero dispensing defects represents Customer/Patient Focus; Cold-Chain and FEFO represent Process Quality; and the Daily Z-Report represents Fact-Based Management.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core of our Software Requirements Specification (SRS), formatted per IEEE 830 standards. On the left, we outline our 8 essential Functional Requirements—covering RBAC, CDSS, narcotics, FEFO, IoT, and Z-report. On the right, our Non-Functional Requirements guarantee sub-50ms latency, 60 FPS desktop rendering, and 100% ACID database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and User Roles are essential criteria in Review 1. AegisPharm establishes strict Role-Based Access Control (RBAC). Unlike generic retail software where any staff member can delete logs or sell narcotics, our 5 specialized personas enforce security and quality separation of concerns.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demonstrate our Modular Folder Architecture, answering the specific Review 1 criterion. The project is organized into clean, decoupled tiers: core logic, configuration, dual desktop/web UIs, tests, and backups. A single unified bridge serves both the desktop Edge Chromium WebView2 window and the FastAPI web server.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Database Design and System Integration. AegisPharm utilizes SQLite 3 configured with WAL mode and foreign key constraints across 14 normalized tables. Notice the specialized tables: narcotic_register for Schedule X compliance, temperature_logs for IoT cold-chain, and z_reports for cash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CRUD operations are explicitly evaluated in Review 1. As shown in this comprehensive matrix, AegisPharm implements full Create, Read, Update, and Delete operations across all 7 major functional domains—Staff, Medicines, Prescriptions, Narcotics, Billing, Deliveries, and Z-Reports. Every operation is fully wired to SQLite and verified by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map our Core Modules directly to our TQM Quality Goals, satisfying the Image 3 requirement. Notice that our features are not arbitrary: CDSS directly targets zero medication defects; FEFO and IoT target zero biological spoilage; and our delivery module targets 100% last-mile fidelity.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Initial UI and Main System Workflow. A prescription progresses smoothly from Stage 1 intake through Stage 2 clinical verification, Stage 3 POS billing, Stage 4 delivery dispatch with OTP, and finally Stage 5 daily Z-Report drawer reconciliation. Both our desktop and web interfaces provide 1:1 workflow parity.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Poka-Yoke mistake-proofing is one of the most effective TQM tools we built. Our software makes human errors logically impossible: an allergic patient cannot be given penicillin, a cashier cannot accidentally select newer stock before older stock, and a rider cannot fake delivery without the customer OTP.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serves as our live demonstration script for Review 1. I will now launch the application live: running `python main.py` opens the desktop window, and `python web_app.py` serves the browser interface. We will walk through the 5 roles, show the CDSS allergy barrier in action, demonstrate the cold-chain alarm, and close the shift using the Daily Z-Report.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empirical verification metrics: Our test suite passes 24 out of 24 automated unit and integration tests with a 100% success rate. The comparison table below demonstrates how AegisPharm transforms traditional manual vulnerabilities into standardized, automated TQM safeguards.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delivered 100% of the Review 1 rubric criteria: Problem Statement, Quality Objectives, IEEE 830 SRS, Scope and Roles, Modular Architecture, Database Design, CRUD operations, and a working demo. I thank my teachers at Amrapali University and invite your questions and live demonstration requests.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88720"/>
            <a:ext cx="10332720" cy="3200400"/>
          </a:xfrm>
          <a:prstGeom prst="rect">
            <a:avLst/>
          </a:prstGeom>
          <a:noFill/>
        </p:spPr>
        <p:txBody>
          <a:bodyPr wrap="square">
            <a:spAutoFit/>
          </a:bodyPr>
          <a:lstStyle/>
          <a:p>
            <a:pPr>
              <a:spcAft>
                <a:spcPts val="1200"/>
              </a:spcAft>
              <a:defRPr sz="1300" b="1">
                <a:solidFill>
                  <a:srgbClr val="00A389"/>
                </a:solidFill>
                <a:latin typeface="Segoe UI"/>
              </a:defRPr>
            </a:pPr>
            <a:r>
              <a:t>REVIEW 1: PROJECT SETUP, SRS &amp; WORKING APPLICATION DEMO</a:t>
            </a:r>
          </a:p>
          <a:p>
            <a:pPr>
              <a:spcAft>
                <a:spcPts val="800"/>
              </a:spcAft>
              <a:defRPr sz="3800" b="1">
                <a:solidFill>
                  <a:srgbClr val="FFFFFF"/>
                </a:solidFill>
                <a:latin typeface="Segoe UI"/>
              </a:defRPr>
            </a:pPr>
            <a:r>
              <a:t>AegisPharm Enterprise</a:t>
            </a:r>
          </a:p>
          <a:p>
            <a:pPr>
              <a:defRPr sz="1800">
                <a:solidFill>
                  <a:srgbClr val="94A3B8"/>
                </a:solidFill>
                <a:latin typeface="Segoe UI"/>
              </a:defRPr>
            </a:pPr>
            <a:r>
              <a:t>Smart Clinical Pharmacy Management System with Total Quality Management (TQM) Architecture</a:t>
            </a:r>
          </a:p>
        </p:txBody>
      </p:sp>
      <p:sp>
        <p:nvSpPr>
          <p:cNvPr id="5" name="Rounded Rectangle 4"/>
          <p:cNvSpPr/>
          <p:nvPr/>
        </p:nvSpPr>
        <p:spPr>
          <a:xfrm>
            <a:off x="914400" y="4663440"/>
            <a:ext cx="5486400" cy="1645920"/>
          </a:xfrm>
          <a:prstGeom prst="roundRect">
            <a:avLst/>
          </a:prstGeom>
          <a:solidFill>
            <a:srgbClr val="123456"/>
          </a:solidFill>
          <a:ln w="1524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800600"/>
            <a:ext cx="5120640" cy="1371600"/>
          </a:xfrm>
          <a:prstGeom prst="rect">
            <a:avLst/>
          </a:prstGeom>
          <a:noFill/>
        </p:spPr>
        <p:txBody>
          <a:bodyPr wrap="square">
            <a:spAutoFit/>
          </a:bodyPr>
          <a:lstStyle/>
          <a:p>
            <a:pPr>
              <a:defRPr sz="1100" b="1">
                <a:solidFill>
                  <a:srgbClr val="00A389"/>
                </a:solidFill>
                <a:latin typeface="Segoe UI"/>
              </a:defRPr>
            </a:pPr>
            <a:r>
              <a:t>PROJECT PRESENTER:</a:t>
            </a:r>
          </a:p>
          <a:p>
            <a:pPr>
              <a:defRPr sz="1800" b="1">
                <a:solidFill>
                  <a:srgbClr val="FFFFFF"/>
                </a:solidFill>
                <a:latin typeface="Segoe UI"/>
              </a:defRPr>
            </a:pPr>
            <a:r>
              <a:t>👤 Piyush Bhatt</a:t>
            </a:r>
          </a:p>
          <a:p>
            <a:pPr>
              <a:defRPr sz="1300">
                <a:solidFill>
                  <a:srgbClr val="CBD5E1"/>
                </a:solidFill>
                <a:latin typeface="Segoe UI"/>
              </a:defRPr>
            </a:pPr>
            <a:r>
              <a:t>Student, Amrapali University, Haldwani, Uttarakhand</a:t>
            </a:r>
          </a:p>
        </p:txBody>
      </p:sp>
      <p:sp>
        <p:nvSpPr>
          <p:cNvPr id="7" name="Rounded Rectangle 6"/>
          <p:cNvSpPr/>
          <p:nvPr/>
        </p:nvSpPr>
        <p:spPr>
          <a:xfrm>
            <a:off x="6675120" y="4663440"/>
            <a:ext cx="4572000" cy="1645920"/>
          </a:xfrm>
          <a:prstGeom prst="roundRect">
            <a:avLst/>
          </a:prstGeom>
          <a:solidFill>
            <a:srgbClr val="123456"/>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4800600"/>
            <a:ext cx="4206240" cy="1371600"/>
          </a:xfrm>
          <a:prstGeom prst="rect">
            <a:avLst/>
          </a:prstGeom>
          <a:noFill/>
        </p:spPr>
        <p:txBody>
          <a:bodyPr wrap="square">
            <a:spAutoFit/>
          </a:bodyPr>
          <a:lstStyle/>
          <a:p>
            <a:pPr>
              <a:defRPr sz="1100" b="1">
                <a:solidFill>
                  <a:srgbClr val="00A389"/>
                </a:solidFill>
                <a:latin typeface="Segoe UI"/>
              </a:defRPr>
            </a:pPr>
            <a:r>
              <a:t>EVALUATION MILESTONE:</a:t>
            </a:r>
          </a:p>
          <a:p>
            <a:pPr>
              <a:defRPr sz="1800" b="1">
                <a:solidFill>
                  <a:srgbClr val="FFFFFF"/>
                </a:solidFill>
                <a:latin typeface="Segoe UI"/>
              </a:defRPr>
            </a:pPr>
            <a:r>
              <a:t>🏛️ Amrapali University</a:t>
            </a:r>
          </a:p>
          <a:p>
            <a:pPr>
              <a:defRPr sz="1200">
                <a:solidFill>
                  <a:srgbClr val="CBD5E1"/>
                </a:solidFill>
                <a:latin typeface="Segoe UI"/>
              </a:defRPr>
            </a:pPr>
            <a:r>
              <a:t>Evaluation: Review 1 — Setup, SRS &amp; Working Application</a:t>
            </a:r>
            <a:br/>
            <a:r>
              <a:t>Academic Year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RUBRIC: PROBLEM STATEMENT &amp; BASELINE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Problem Statement &amp; Baseline Clinical Understanding</a:t>
            </a:r>
          </a:p>
        </p:txBody>
      </p:sp>
      <p:sp>
        <p:nvSpPr>
          <p:cNvPr id="5" name="Rounded Rectangle 4"/>
          <p:cNvSpPr/>
          <p:nvPr/>
        </p:nvSpPr>
        <p:spPr>
          <a:xfrm>
            <a:off x="731520" y="1645920"/>
            <a:ext cx="3328416"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297680"/>
          </a:xfrm>
          <a:prstGeom prst="rect">
            <a:avLst/>
          </a:prstGeom>
          <a:noFill/>
        </p:spPr>
        <p:txBody>
          <a:bodyPr wrap="square">
            <a:spAutoFit/>
          </a:bodyPr>
          <a:lstStyle/>
          <a:p>
            <a:pPr>
              <a:spcAft>
                <a:spcPts val="1000"/>
              </a:spcAft>
              <a:defRPr sz="1300" b="1">
                <a:solidFill>
                  <a:srgbClr val="E11D48"/>
                </a:solidFill>
              </a:defRPr>
            </a:pPr>
            <a:r>
              <a:t>🚨 1. MEDICATION DISPENSING ERRORS</a:t>
            </a:r>
          </a:p>
          <a:p>
            <a:pPr>
              <a:spcAft>
                <a:spcPts val="600"/>
              </a:spcAft>
              <a:defRPr sz="1100">
                <a:solidFill>
                  <a:srgbClr val="1E293B"/>
                </a:solidFill>
              </a:defRPr>
            </a:pPr>
            <a:r>
              <a:t>• Clinical Reality: Over 1.3 million preventable patient injuries occur annually due to adverse drug events (ADEs).</a:t>
            </a:r>
          </a:p>
          <a:p>
            <a:pPr>
              <a:spcAft>
                <a:spcPts val="600"/>
              </a:spcAft>
              <a:defRPr sz="1100">
                <a:solidFill>
                  <a:srgbClr val="1E293B"/>
                </a:solidFill>
              </a:defRPr>
            </a:pPr>
            <a:r>
              <a:t>• Handwriting &amp; Transcription: Manual interpretation of handwritten prescriptions causes dosage miscalculations.</a:t>
            </a:r>
          </a:p>
          <a:p>
            <a:pPr>
              <a:spcAft>
                <a:spcPts val="600"/>
              </a:spcAft>
              <a:defRPr sz="1100">
                <a:solidFill>
                  <a:srgbClr val="1E293B"/>
                </a:solidFill>
              </a:defRPr>
            </a:pPr>
            <a:r>
              <a:t>• Allergy Blindspots: Retail pharmacies lack real-time EHR cross-checks, risking fatal Penicillin or NSAID anaphylaxis.</a:t>
            </a:r>
          </a:p>
          <a:p>
            <a:pPr>
              <a:spcAft>
                <a:spcPts val="600"/>
              </a:spcAft>
              <a:defRPr sz="1100">
                <a:solidFill>
                  <a:srgbClr val="1E293B"/>
                </a:solidFill>
              </a:defRPr>
            </a:pPr>
            <a:r>
              <a:t>• Baseline Remedy: Automated Clinical Decision Support System (CDSS) acting as an immutable quality shield.</a:t>
            </a:r>
          </a:p>
        </p:txBody>
      </p:sp>
      <p:sp>
        <p:nvSpPr>
          <p:cNvPr id="7" name="Rounded Rectangle 6"/>
          <p:cNvSpPr/>
          <p:nvPr/>
        </p:nvSpPr>
        <p:spPr>
          <a:xfrm>
            <a:off x="4425696" y="1645920"/>
            <a:ext cx="3328416"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297680"/>
          </a:xfrm>
          <a:prstGeom prst="rect">
            <a:avLst/>
          </a:prstGeom>
          <a:noFill/>
        </p:spPr>
        <p:txBody>
          <a:bodyPr wrap="square">
            <a:spAutoFit/>
          </a:bodyPr>
          <a:lstStyle/>
          <a:p>
            <a:pPr>
              <a:spcAft>
                <a:spcPts val="1000"/>
              </a:spcAft>
              <a:defRPr sz="1300" b="1">
                <a:solidFill>
                  <a:srgbClr val="D97706"/>
                </a:solidFill>
              </a:defRPr>
            </a:pPr>
            <a:r>
              <a:t>❄️ 2. COLD-CHAIN &amp; EXPIRY LOSS</a:t>
            </a:r>
          </a:p>
          <a:p>
            <a:pPr>
              <a:spcAft>
                <a:spcPts val="600"/>
              </a:spcAft>
              <a:defRPr sz="1100">
                <a:solidFill>
                  <a:srgbClr val="1E293B"/>
                </a:solidFill>
              </a:defRPr>
            </a:pPr>
            <a:r>
              <a:t>• Biological Potency Loss: Vaccines, insulin, and biologics degrade silently outside the 2.0°C–8.0°C thermal envelope.</a:t>
            </a:r>
          </a:p>
          <a:p>
            <a:pPr>
              <a:spcAft>
                <a:spcPts val="600"/>
              </a:spcAft>
              <a:defRPr sz="1100">
                <a:solidFill>
                  <a:srgbClr val="1E293B"/>
                </a:solidFill>
              </a:defRPr>
            </a:pPr>
            <a:r>
              <a:t>• FIFO Picking Flaw: Standard retail FIFO allows older batches to sit unnoticed while newer stock is sold.</a:t>
            </a:r>
          </a:p>
          <a:p>
            <a:pPr>
              <a:spcAft>
                <a:spcPts val="600"/>
              </a:spcAft>
              <a:defRPr sz="1100">
                <a:solidFill>
                  <a:srgbClr val="1E293B"/>
                </a:solidFill>
              </a:defRPr>
            </a:pPr>
            <a:r>
              <a:t>• Dead-Stock Write-Offs: Significant annual capital lost in expired, unsellable inventory.</a:t>
            </a:r>
          </a:p>
          <a:p>
            <a:pPr>
              <a:spcAft>
                <a:spcPts val="600"/>
              </a:spcAft>
              <a:defRPr sz="1100">
                <a:solidFill>
                  <a:srgbClr val="1E293B"/>
                </a:solidFill>
              </a:defRPr>
            </a:pPr>
            <a:r>
              <a:t>• Baseline Remedy: Algorithmic FEFO (First-Expiry, First-Out) picking + 24/7 continuous IoT temperature telemetry.</a:t>
            </a:r>
          </a:p>
        </p:txBody>
      </p:sp>
      <p:sp>
        <p:nvSpPr>
          <p:cNvPr id="9" name="Rounded Rectangle 8"/>
          <p:cNvSpPr/>
          <p:nvPr/>
        </p:nvSpPr>
        <p:spPr>
          <a:xfrm>
            <a:off x="8119872" y="1645920"/>
            <a:ext cx="3328416"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297680"/>
          </a:xfrm>
          <a:prstGeom prst="rect">
            <a:avLst/>
          </a:prstGeom>
          <a:noFill/>
        </p:spPr>
        <p:txBody>
          <a:bodyPr wrap="square">
            <a:spAutoFit/>
          </a:bodyPr>
          <a:lstStyle/>
          <a:p>
            <a:pPr>
              <a:spcAft>
                <a:spcPts val="1000"/>
              </a:spcAft>
              <a:defRPr sz="1300" b="1">
                <a:solidFill>
                  <a:srgbClr val="0284C7"/>
                </a:solidFill>
              </a:defRPr>
            </a:pPr>
            <a:r>
              <a:t>⚖️ 3. NARCOTIC COMPLIANCE &amp; TILL DRIFT</a:t>
            </a:r>
          </a:p>
          <a:p>
            <a:pPr>
              <a:spcAft>
                <a:spcPts val="600"/>
              </a:spcAft>
              <a:defRPr sz="1100">
                <a:solidFill>
                  <a:srgbClr val="1E293B"/>
                </a:solidFill>
              </a:defRPr>
            </a:pPr>
            <a:r>
              <a:t>• Schedule X / NDPS Violations: Inadequate tracking of habit-forming sedatives invites severe legal penalties and license revocation.</a:t>
            </a:r>
          </a:p>
          <a:p>
            <a:pPr>
              <a:spcAft>
                <a:spcPts val="600"/>
              </a:spcAft>
              <a:defRPr sz="1100">
                <a:solidFill>
                  <a:srgbClr val="1E293B"/>
                </a:solidFill>
              </a:defRPr>
            </a:pPr>
            <a:r>
              <a:t>• Cash Drawer Shrinkage: Till variances, untracked mid-shift cash drops, and unverified digital UPI receipts.</a:t>
            </a:r>
          </a:p>
          <a:p>
            <a:pPr>
              <a:spcAft>
                <a:spcPts val="600"/>
              </a:spcAft>
              <a:defRPr sz="1100">
                <a:solidFill>
                  <a:srgbClr val="1E293B"/>
                </a:solidFill>
              </a:defRPr>
            </a:pPr>
            <a:r>
              <a:t>• Failed Inspector Audits: Inability to generate instant batch reports during surprise CDSCO/FDA inspections.</a:t>
            </a:r>
          </a:p>
          <a:p>
            <a:pPr>
              <a:spcAft>
                <a:spcPts val="600"/>
              </a:spcAft>
              <a:defRPr sz="1100">
                <a:solidFill>
                  <a:srgbClr val="1E293B"/>
                </a:solidFill>
              </a:defRPr>
            </a:pPr>
            <a:r>
              <a:t>• Baseline Remedy: Mandatory dual-PIN narcotic register + Daily Z-Report mathematical drawer reconciliation.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RUBRIC: QUALITY OBJECTIVE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Quality Objectives Aligned with TQM Principles</a:t>
            </a:r>
          </a:p>
        </p:txBody>
      </p:sp>
      <p:sp>
        <p:nvSpPr>
          <p:cNvPr id="5" name="Rounded Rectangle 4"/>
          <p:cNvSpPr/>
          <p:nvPr/>
        </p:nvSpPr>
        <p:spPr>
          <a:xfrm>
            <a:off x="731520" y="1645920"/>
            <a:ext cx="10728655" cy="822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37160" cy="822960"/>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19072"/>
            <a:ext cx="10241280" cy="676656"/>
          </a:xfrm>
          <a:prstGeom prst="rect">
            <a:avLst/>
          </a:prstGeom>
          <a:noFill/>
        </p:spPr>
        <p:txBody>
          <a:bodyPr wrap="square">
            <a:spAutoFit/>
          </a:bodyPr>
          <a:lstStyle/>
          <a:p>
            <a:pPr>
              <a:defRPr sz="1300" b="1">
                <a:solidFill>
                  <a:srgbClr val="00A389"/>
                </a:solidFill>
              </a:defRPr>
            </a:pPr>
            <a:r>
              <a:t>Objective 1: Zero Medication Dispensing Defects (Patient Focus)</a:t>
            </a:r>
          </a:p>
          <a:p>
            <a:pPr>
              <a:defRPr sz="1100">
                <a:solidFill>
                  <a:srgbClr val="1E293B"/>
                </a:solidFill>
              </a:defRPr>
            </a:pPr>
            <a:r>
              <a:t>Poka-Yoke error-proofing: Implement an automated Clinical Decision Support System (CDSS) that intercepts allergen cross-reactions (Penicillin, NSAIDs, Sulfa) and toxic drug-drug interactions before an invoice can be created.</a:t>
            </a:r>
          </a:p>
        </p:txBody>
      </p:sp>
      <p:sp>
        <p:nvSpPr>
          <p:cNvPr id="8" name="Rounded Rectangle 7"/>
          <p:cNvSpPr/>
          <p:nvPr/>
        </p:nvSpPr>
        <p:spPr>
          <a:xfrm>
            <a:off x="731520" y="2606040"/>
            <a:ext cx="10728655" cy="822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606040"/>
            <a:ext cx="137160" cy="8229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79192"/>
            <a:ext cx="10241280" cy="676656"/>
          </a:xfrm>
          <a:prstGeom prst="rect">
            <a:avLst/>
          </a:prstGeom>
          <a:noFill/>
        </p:spPr>
        <p:txBody>
          <a:bodyPr wrap="square">
            <a:spAutoFit/>
          </a:bodyPr>
          <a:lstStyle/>
          <a:p>
            <a:pPr>
              <a:defRPr sz="1300" b="1">
                <a:solidFill>
                  <a:srgbClr val="0284C7"/>
                </a:solidFill>
              </a:defRPr>
            </a:pPr>
            <a:r>
              <a:t>Objective 2: 100% Cold-Chain Storage &amp; Transport Compliance</a:t>
            </a:r>
          </a:p>
          <a:p>
            <a:pPr>
              <a:defRPr sz="1100">
                <a:solidFill>
                  <a:srgbClr val="1E293B"/>
                </a:solidFill>
              </a:defRPr>
            </a:pPr>
            <a:r>
              <a:t>Biological Integrity: Guarantee all thermo-sensitive pharmaceuticals are stored within the mandatory 2.0°C–8.0°C range via real-time 30s IoT telemetry streaming and automatic thermal spike alarms.</a:t>
            </a:r>
          </a:p>
        </p:txBody>
      </p:sp>
      <p:sp>
        <p:nvSpPr>
          <p:cNvPr id="11" name="Rounded Rectangle 10"/>
          <p:cNvSpPr/>
          <p:nvPr/>
        </p:nvSpPr>
        <p:spPr>
          <a:xfrm>
            <a:off x="731520" y="3566160"/>
            <a:ext cx="10728655" cy="822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66160"/>
            <a:ext cx="137160" cy="822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639312"/>
            <a:ext cx="10241280" cy="676656"/>
          </a:xfrm>
          <a:prstGeom prst="rect">
            <a:avLst/>
          </a:prstGeom>
          <a:noFill/>
        </p:spPr>
        <p:txBody>
          <a:bodyPr wrap="square">
            <a:spAutoFit/>
          </a:bodyPr>
          <a:lstStyle/>
          <a:p>
            <a:pPr>
              <a:defRPr sz="1300" b="1">
                <a:solidFill>
                  <a:srgbClr val="D97706"/>
                </a:solidFill>
              </a:defRPr>
            </a:pPr>
            <a:r>
              <a:t>Objective 3: Zero Expiry Dead-Stock Losses (FEFO Scheduling)</a:t>
            </a:r>
          </a:p>
          <a:p>
            <a:pPr>
              <a:defRPr sz="1100">
                <a:solidFill>
                  <a:srgbClr val="1E293B"/>
                </a:solidFill>
              </a:defRPr>
            </a:pPr>
            <a:r>
              <a:t>Process Quality: Eliminate inventory wastage by algorithmically enforcing First-Expiry, First-Out (FEFO) batch prioritization, ensuring nearest-expiry viable medicines are dispensed first.</a:t>
            </a:r>
          </a:p>
        </p:txBody>
      </p:sp>
      <p:sp>
        <p:nvSpPr>
          <p:cNvPr id="14" name="Rounded Rectangle 13"/>
          <p:cNvSpPr/>
          <p:nvPr/>
        </p:nvSpPr>
        <p:spPr>
          <a:xfrm>
            <a:off x="731520" y="4526280"/>
            <a:ext cx="10728655" cy="822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526280"/>
            <a:ext cx="137160" cy="8229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599432"/>
            <a:ext cx="10241280" cy="676656"/>
          </a:xfrm>
          <a:prstGeom prst="rect">
            <a:avLst/>
          </a:prstGeom>
          <a:noFill/>
        </p:spPr>
        <p:txBody>
          <a:bodyPr wrap="square">
            <a:spAutoFit/>
          </a:bodyPr>
          <a:lstStyle/>
          <a:p>
            <a:pPr>
              <a:defRPr sz="1300" b="1">
                <a:solidFill>
                  <a:srgbClr val="0A2540"/>
                </a:solidFill>
              </a:defRPr>
            </a:pPr>
            <a:r>
              <a:t>Objective 4: Zero Cash Register Discrepancy &amp; Till Balancing</a:t>
            </a:r>
          </a:p>
          <a:p>
            <a:pPr>
              <a:defRPr sz="1100">
                <a:solidFill>
                  <a:srgbClr val="1E293B"/>
                </a:solidFill>
              </a:defRPr>
            </a:pPr>
            <a:r>
              <a:t>Fact-Based Management: Enforce strict shift-end financial governance through the Daily Z-Report engine, mathematically balancing opening float, sales, payouts, and counted physical currency.</a:t>
            </a:r>
          </a:p>
        </p:txBody>
      </p:sp>
      <p:sp>
        <p:nvSpPr>
          <p:cNvPr id="17" name="Rounded Rectangle 16"/>
          <p:cNvSpPr/>
          <p:nvPr/>
        </p:nvSpPr>
        <p:spPr>
          <a:xfrm>
            <a:off x="731520" y="5486400"/>
            <a:ext cx="10728655" cy="8229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5486400"/>
            <a:ext cx="137160" cy="82296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559552"/>
            <a:ext cx="10241280" cy="676656"/>
          </a:xfrm>
          <a:prstGeom prst="rect">
            <a:avLst/>
          </a:prstGeom>
          <a:noFill/>
        </p:spPr>
        <p:txBody>
          <a:bodyPr wrap="square">
            <a:spAutoFit/>
          </a:bodyPr>
          <a:lstStyle/>
          <a:p>
            <a:pPr>
              <a:defRPr sz="1300" b="1">
                <a:solidFill>
                  <a:srgbClr val="E11D48"/>
                </a:solidFill>
              </a:defRPr>
            </a:pPr>
            <a:r>
              <a:t>Objective 5: 100% Regulatory Audit Readiness (ISO 9001 &amp; CDSCO)</a:t>
            </a:r>
          </a:p>
          <a:p>
            <a:pPr>
              <a:defRPr sz="1100">
                <a:solidFill>
                  <a:srgbClr val="1E293B"/>
                </a:solidFill>
              </a:defRPr>
            </a:pPr>
            <a:r>
              <a:t>Continuous Assurance: Maintain an immutable SQLite audit trail, dual-PIN Schedule X narcotic register, and 1-click CSV export ready for State Drug Inspectors.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RUBRIC: SRS (REQUIREMENTS ENGINEERING)</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Software Requirements Specification (SRS) — IEEE 830</a:t>
            </a:r>
          </a:p>
        </p:txBody>
      </p:sp>
      <p:sp>
        <p:nvSpPr>
          <p:cNvPr id="5" name="Rounded Rectangle 4"/>
          <p:cNvSpPr/>
          <p:nvPr/>
        </p:nvSpPr>
        <p:spPr>
          <a:xfrm>
            <a:off x="731520" y="1645920"/>
            <a:ext cx="52578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92040" cy="4297680"/>
          </a:xfrm>
          <a:prstGeom prst="rect">
            <a:avLst/>
          </a:prstGeom>
          <a:noFill/>
        </p:spPr>
        <p:txBody>
          <a:bodyPr wrap="square">
            <a:spAutoFit/>
          </a:bodyPr>
          <a:lstStyle/>
          <a:p>
            <a:pPr>
              <a:spcAft>
                <a:spcPts val="1000"/>
              </a:spcAft>
              <a:defRPr sz="1400" b="1">
                <a:solidFill>
                  <a:srgbClr val="00A389"/>
                </a:solidFill>
              </a:defRPr>
            </a:pPr>
            <a:r>
              <a:t>📋 FUNCTIONAL REQUIREMENTS (FR)</a:t>
            </a:r>
          </a:p>
          <a:p>
            <a:pPr>
              <a:spcAft>
                <a:spcPts val="400"/>
              </a:spcAft>
              <a:defRPr sz="1000">
                <a:solidFill>
                  <a:srgbClr val="1E293B"/>
                </a:solidFill>
              </a:defRPr>
            </a:pPr>
            <a:r>
              <a:t>• FR-01 (Authentication &amp; RBAC): System shall enforce role-locked workstation sessions across 5 distinct staff personas.</a:t>
            </a:r>
          </a:p>
          <a:p>
            <a:pPr>
              <a:spcAft>
                <a:spcPts val="400"/>
              </a:spcAft>
              <a:defRPr sz="1000">
                <a:solidFill>
                  <a:srgbClr val="1E293B"/>
                </a:solidFill>
              </a:defRPr>
            </a:pPr>
            <a:r>
              <a:t>• FR-02 (eRx Intake &amp; CDSS): System shall validate incoming digital prescriptions and trigger blocking alerts on allergen contraindications.</a:t>
            </a:r>
          </a:p>
          <a:p>
            <a:pPr>
              <a:spcAft>
                <a:spcPts val="400"/>
              </a:spcAft>
              <a:defRPr sz="1000">
                <a:solidFill>
                  <a:srgbClr val="1E293B"/>
                </a:solidFill>
              </a:defRPr>
            </a:pPr>
            <a:r>
              <a:t>• FR-03 (Schedule X Narcotics): System shall require Doctor DMC Reg No. and 4-digit Pharmacist PIN verification for controlled substances.</a:t>
            </a:r>
          </a:p>
          <a:p>
            <a:pPr>
              <a:spcAft>
                <a:spcPts val="400"/>
              </a:spcAft>
              <a:defRPr sz="1000">
                <a:solidFill>
                  <a:srgbClr val="1E293B"/>
                </a:solidFill>
              </a:defRPr>
            </a:pPr>
            <a:r>
              <a:t>• FR-04 (POS &amp; Multi-Tender): System shall support 1-click verified eRx import, barcode search, dynamic UPI QR generation, and cash change calculation.</a:t>
            </a:r>
          </a:p>
          <a:p>
            <a:pPr>
              <a:spcAft>
                <a:spcPts val="400"/>
              </a:spcAft>
              <a:defRPr sz="1000">
                <a:solidFill>
                  <a:srgbClr val="1E293B"/>
                </a:solidFill>
              </a:defRPr>
            </a:pPr>
            <a:r>
              <a:t>• FR-05 (FEFO Batch Picker): System shall sort inventory batches by earliest calendar expiry and prevent dispensing expired SKUs.</a:t>
            </a:r>
          </a:p>
          <a:p>
            <a:pPr>
              <a:spcAft>
                <a:spcPts val="400"/>
              </a:spcAft>
              <a:defRPr sz="1000">
                <a:solidFill>
                  <a:srgbClr val="1E293B"/>
                </a:solidFill>
              </a:defRPr>
            </a:pPr>
            <a:r>
              <a:t>• FR-06 (Cold-Chain IoT): System shall log digital temperature every 30s and trigger visual/audio alarms when temperatures exceed 8.0°C.</a:t>
            </a:r>
          </a:p>
          <a:p>
            <a:pPr>
              <a:spcAft>
                <a:spcPts val="400"/>
              </a:spcAft>
              <a:defRPr sz="1000">
                <a:solidFill>
                  <a:srgbClr val="1E293B"/>
                </a:solidFill>
              </a:defRPr>
            </a:pPr>
            <a:r>
              <a:t>• FR-07 (Delivery e-POD): System shall require a 4-digit customer SMS OTP before an order can be marked as 'Delivered'.</a:t>
            </a:r>
          </a:p>
          <a:p>
            <a:pPr>
              <a:spcAft>
                <a:spcPts val="400"/>
              </a:spcAft>
              <a:defRPr sz="1000">
                <a:solidFill>
                  <a:srgbClr val="1E293B"/>
                </a:solidFill>
              </a:defRPr>
            </a:pPr>
            <a:r>
              <a:t>• FR-08 (Z-Report Close): System shall reconcile shift cash, UPI, card, and CGST/SGST tax liabilities into signed, immutable records.</a:t>
            </a:r>
          </a:p>
        </p:txBody>
      </p:sp>
      <p:sp>
        <p:nvSpPr>
          <p:cNvPr id="7" name="Rounded Rectangle 6"/>
          <p:cNvSpPr/>
          <p:nvPr/>
        </p:nvSpPr>
        <p:spPr>
          <a:xfrm>
            <a:off x="6172200" y="1645920"/>
            <a:ext cx="52578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828800"/>
            <a:ext cx="4892040" cy="4297680"/>
          </a:xfrm>
          <a:prstGeom prst="rect">
            <a:avLst/>
          </a:prstGeom>
          <a:noFill/>
        </p:spPr>
        <p:txBody>
          <a:bodyPr wrap="square">
            <a:spAutoFit/>
          </a:bodyPr>
          <a:lstStyle/>
          <a:p>
            <a:pPr>
              <a:spcAft>
                <a:spcPts val="1000"/>
              </a:spcAft>
              <a:defRPr sz="1400" b="1">
                <a:solidFill>
                  <a:srgbClr val="0284C7"/>
                </a:solidFill>
              </a:defRPr>
            </a:pPr>
            <a:r>
              <a:t>⚡ NON-FUNCTIONAL REQUIREMENTS (NFR)</a:t>
            </a:r>
          </a:p>
          <a:p>
            <a:pPr>
              <a:spcAft>
                <a:spcPts val="800"/>
              </a:spcAft>
              <a:defRPr sz="1050">
                <a:solidFill>
                  <a:srgbClr val="1E293B"/>
                </a:solidFill>
              </a:defRPr>
            </a:pPr>
            <a:r>
              <a:t>• NFR-01 (Performance &amp; Latency): System shall execute database queries in &lt;50ms and render desktop UI at 60 FPS via Edge Chromium WebView2.</a:t>
            </a:r>
          </a:p>
          <a:p>
            <a:pPr>
              <a:spcAft>
                <a:spcPts val="800"/>
              </a:spcAft>
              <a:defRPr sz="1050">
                <a:solidFill>
                  <a:srgbClr val="1E293B"/>
                </a:solidFill>
              </a:defRPr>
            </a:pPr>
            <a:r>
              <a:t>• NFR-02 (Reliability &amp; ACID Compliance): SQLite database shall ensure 100% ACID compliance with automatic timestamped snapshot backups.</a:t>
            </a:r>
          </a:p>
          <a:p>
            <a:pPr>
              <a:spcAft>
                <a:spcPts val="800"/>
              </a:spcAft>
              <a:defRPr sz="1050">
                <a:solidFill>
                  <a:srgbClr val="1E293B"/>
                </a:solidFill>
              </a:defRPr>
            </a:pPr>
            <a:r>
              <a:t>• NFR-03 (Security &amp; Tamper-Proofing): System shall record all user actions in an immutable append-only audit trail and prevent unauthorized role switching.</a:t>
            </a:r>
          </a:p>
          <a:p>
            <a:pPr>
              <a:spcAft>
                <a:spcPts val="800"/>
              </a:spcAft>
              <a:defRPr sz="1050">
                <a:solidFill>
                  <a:srgbClr val="1E293B"/>
                </a:solidFill>
              </a:defRPr>
            </a:pPr>
            <a:r>
              <a:t>• NFR-04 (Maintainability &amp; Modularity): System shall strictly follow a 6-tier modular folder architecture with decoupled bridge RPC layers.</a:t>
            </a:r>
          </a:p>
          <a:p>
            <a:pPr>
              <a:spcAft>
                <a:spcPts val="800"/>
              </a:spcAft>
              <a:defRPr sz="1050">
                <a:solidFill>
                  <a:srgbClr val="1E293B"/>
                </a:solidFill>
              </a:defRPr>
            </a:pPr>
            <a:r>
              <a:t>• NFR-05 (Regulatory Compliance): System shall comply with Indian Drugs &amp; Cosmetics Act (Schedule H1/X) and GST electronic invoicing standards.</a:t>
            </a:r>
          </a:p>
          <a:p>
            <a:pPr>
              <a:spcAft>
                <a:spcPts val="800"/>
              </a:spcAft>
              <a:defRPr sz="1050">
                <a:solidFill>
                  <a:srgbClr val="1E293B"/>
                </a:solidFill>
              </a:defRPr>
            </a:pPr>
            <a:r>
              <a:t>• NFR-06 (Portability): System shall run natively as a high-performance Windows desktop application and as a modern web application.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RUBRIC: SCOPE &amp; USER ROLES</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Project Scope &amp; Granular User Roles (RBAC)</a:t>
            </a:r>
          </a:p>
        </p:txBody>
      </p:sp>
      <p:sp>
        <p:nvSpPr>
          <p:cNvPr id="5" name="Rounded Rectangle 4"/>
          <p:cNvSpPr/>
          <p:nvPr/>
        </p:nvSpPr>
        <p:spPr>
          <a:xfrm>
            <a:off x="731520" y="1645920"/>
            <a:ext cx="2029968"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2029968" cy="64008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2029968" cy="548640"/>
          </a:xfrm>
          <a:prstGeom prst="rect">
            <a:avLst/>
          </a:prstGeom>
          <a:noFill/>
        </p:spPr>
        <p:txBody>
          <a:bodyPr wrap="square">
            <a:spAutoFit/>
          </a:bodyPr>
          <a:lstStyle/>
          <a:p>
            <a:pPr algn="ctr">
              <a:defRPr sz="1100" b="1">
                <a:solidFill>
                  <a:srgbClr val="FFFFFF"/>
                </a:solidFill>
              </a:defRPr>
            </a:pPr>
            <a:r>
              <a:t>👑 Store Admin</a:t>
            </a:r>
          </a:p>
        </p:txBody>
      </p:sp>
      <p:sp>
        <p:nvSpPr>
          <p:cNvPr id="8" name="TextBox 7"/>
          <p:cNvSpPr txBox="1"/>
          <p:nvPr/>
        </p:nvSpPr>
        <p:spPr>
          <a:xfrm>
            <a:off x="822960" y="2331720"/>
            <a:ext cx="1847088" cy="3840480"/>
          </a:xfrm>
          <a:prstGeom prst="rect">
            <a:avLst/>
          </a:prstGeom>
          <a:noFill/>
        </p:spPr>
        <p:txBody>
          <a:bodyPr wrap="square">
            <a:spAutoFit/>
          </a:bodyPr>
          <a:lstStyle/>
          <a:p>
            <a:pPr>
              <a:spcAft>
                <a:spcPts val="800"/>
              </a:spcAft>
              <a:defRPr sz="1000" b="1">
                <a:solidFill>
                  <a:srgbClr val="64748B"/>
                </a:solidFill>
              </a:defRPr>
            </a:pPr>
            <a:r>
              <a:t>Terminal: Console HQ</a:t>
            </a:r>
          </a:p>
          <a:p>
            <a:pPr>
              <a:spcAft>
                <a:spcPts val="400"/>
              </a:spcAft>
              <a:defRPr sz="1000">
                <a:solidFill>
                  <a:srgbClr val="1E293B"/>
                </a:solidFill>
              </a:defRPr>
            </a:pPr>
            <a:r>
              <a:t>• Manage staff accounts &amp; passwords</a:t>
            </a:r>
          </a:p>
          <a:p>
            <a:pPr>
              <a:spcAft>
                <a:spcPts val="400"/>
              </a:spcAft>
              <a:defRPr sz="1000">
                <a:solidFill>
                  <a:srgbClr val="1E293B"/>
                </a:solidFill>
              </a:defRPr>
            </a:pPr>
            <a:r>
              <a:t>• Monitor live online terminal presence</a:t>
            </a:r>
          </a:p>
          <a:p>
            <a:pPr>
              <a:spcAft>
                <a:spcPts val="400"/>
              </a:spcAft>
              <a:defRPr sz="1000">
                <a:solidFill>
                  <a:srgbClr val="1E293B"/>
                </a:solidFill>
              </a:defRPr>
            </a:pPr>
            <a:r>
              <a:t>• Review daily Z-Report reconciliations</a:t>
            </a:r>
          </a:p>
          <a:p>
            <a:pPr>
              <a:spcAft>
                <a:spcPts val="400"/>
              </a:spcAft>
              <a:defRPr sz="1000">
                <a:solidFill>
                  <a:srgbClr val="1E293B"/>
                </a:solidFill>
              </a:defRPr>
            </a:pPr>
            <a:r>
              <a:t>• Execute SQLite snapshot backups</a:t>
            </a:r>
          </a:p>
          <a:p>
            <a:pPr>
              <a:spcAft>
                <a:spcPts val="400"/>
              </a:spcAft>
              <a:defRPr sz="1000">
                <a:solidFill>
                  <a:srgbClr val="1E293B"/>
                </a:solidFill>
              </a:defRPr>
            </a:pPr>
            <a:r>
              <a:t>• Inspect system audit stream</a:t>
            </a:r>
          </a:p>
        </p:txBody>
      </p:sp>
      <p:sp>
        <p:nvSpPr>
          <p:cNvPr id="9" name="Rounded Rectangle 8"/>
          <p:cNvSpPr/>
          <p:nvPr/>
        </p:nvSpPr>
        <p:spPr>
          <a:xfrm>
            <a:off x="2898648" y="1645920"/>
            <a:ext cx="2029968"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98648" y="1645920"/>
            <a:ext cx="2029968" cy="640080"/>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8648" y="1691640"/>
            <a:ext cx="2029968" cy="548640"/>
          </a:xfrm>
          <a:prstGeom prst="rect">
            <a:avLst/>
          </a:prstGeom>
          <a:noFill/>
        </p:spPr>
        <p:txBody>
          <a:bodyPr wrap="square">
            <a:spAutoFit/>
          </a:bodyPr>
          <a:lstStyle/>
          <a:p>
            <a:pPr algn="ctr">
              <a:defRPr sz="1100" b="1">
                <a:solidFill>
                  <a:srgbClr val="FFFFFF"/>
                </a:solidFill>
              </a:defRPr>
            </a:pPr>
            <a:r>
              <a:t>🩺 Clinical Pharmacist</a:t>
            </a:r>
          </a:p>
        </p:txBody>
      </p:sp>
      <p:sp>
        <p:nvSpPr>
          <p:cNvPr id="12" name="TextBox 11"/>
          <p:cNvSpPr txBox="1"/>
          <p:nvPr/>
        </p:nvSpPr>
        <p:spPr>
          <a:xfrm>
            <a:off x="2990088" y="2331720"/>
            <a:ext cx="1847088" cy="3840480"/>
          </a:xfrm>
          <a:prstGeom prst="rect">
            <a:avLst/>
          </a:prstGeom>
          <a:noFill/>
        </p:spPr>
        <p:txBody>
          <a:bodyPr wrap="square">
            <a:spAutoFit/>
          </a:bodyPr>
          <a:lstStyle/>
          <a:p>
            <a:pPr>
              <a:spcAft>
                <a:spcPts val="800"/>
              </a:spcAft>
              <a:defRPr sz="1000" b="1">
                <a:solidFill>
                  <a:srgbClr val="64748B"/>
                </a:solidFill>
              </a:defRPr>
            </a:pPr>
            <a:r>
              <a:t>Terminal: Clinical Bay</a:t>
            </a:r>
          </a:p>
          <a:p>
            <a:pPr>
              <a:spcAft>
                <a:spcPts val="400"/>
              </a:spcAft>
              <a:defRPr sz="1000">
                <a:solidFill>
                  <a:srgbClr val="1E293B"/>
                </a:solidFill>
              </a:defRPr>
            </a:pPr>
            <a:r>
              <a:t>• Review incoming e-Prescriptions queue</a:t>
            </a:r>
          </a:p>
          <a:p>
            <a:pPr>
              <a:spcAft>
                <a:spcPts val="400"/>
              </a:spcAft>
              <a:defRPr sz="1000">
                <a:solidFill>
                  <a:srgbClr val="1E293B"/>
                </a:solidFill>
              </a:defRPr>
            </a:pPr>
            <a:r>
              <a:t>• CDSS allergy shield cross-checks</a:t>
            </a:r>
          </a:p>
          <a:p>
            <a:pPr>
              <a:spcAft>
                <a:spcPts val="400"/>
              </a:spcAft>
              <a:defRPr sz="1000">
                <a:solidFill>
                  <a:srgbClr val="1E293B"/>
                </a:solidFill>
              </a:defRPr>
            </a:pPr>
            <a:r>
              <a:t>• Drug-drug interaction risk analysis</a:t>
            </a:r>
          </a:p>
          <a:p>
            <a:pPr>
              <a:spcAft>
                <a:spcPts val="400"/>
              </a:spcAft>
              <a:defRPr sz="1000">
                <a:solidFill>
                  <a:srgbClr val="1E293B"/>
                </a:solidFill>
              </a:defRPr>
            </a:pPr>
            <a:r>
              <a:t>• Schedule X narcotic PIN sign-off</a:t>
            </a:r>
          </a:p>
          <a:p>
            <a:pPr>
              <a:spcAft>
                <a:spcPts val="400"/>
              </a:spcAft>
              <a:defRPr sz="1000">
                <a:solidFill>
                  <a:srgbClr val="1E293B"/>
                </a:solidFill>
              </a:defRPr>
            </a:pPr>
            <a:r>
              <a:t>• Manage chronic patient refill cycles</a:t>
            </a:r>
          </a:p>
        </p:txBody>
      </p:sp>
      <p:sp>
        <p:nvSpPr>
          <p:cNvPr id="13" name="Rounded Rectangle 12"/>
          <p:cNvSpPr/>
          <p:nvPr/>
        </p:nvSpPr>
        <p:spPr>
          <a:xfrm>
            <a:off x="5065776" y="1645920"/>
            <a:ext cx="2029968"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65776" y="1645920"/>
            <a:ext cx="2029968" cy="64008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65776" y="1691640"/>
            <a:ext cx="2029968" cy="548640"/>
          </a:xfrm>
          <a:prstGeom prst="rect">
            <a:avLst/>
          </a:prstGeom>
          <a:noFill/>
        </p:spPr>
        <p:txBody>
          <a:bodyPr wrap="square">
            <a:spAutoFit/>
          </a:bodyPr>
          <a:lstStyle/>
          <a:p>
            <a:pPr algn="ctr">
              <a:defRPr sz="1100" b="1">
                <a:solidFill>
                  <a:srgbClr val="FFFFFF"/>
                </a:solidFill>
              </a:defRPr>
            </a:pPr>
            <a:r>
              <a:t>💳 Cashier (POS)</a:t>
            </a:r>
          </a:p>
        </p:txBody>
      </p:sp>
      <p:sp>
        <p:nvSpPr>
          <p:cNvPr id="16" name="TextBox 15"/>
          <p:cNvSpPr txBox="1"/>
          <p:nvPr/>
        </p:nvSpPr>
        <p:spPr>
          <a:xfrm>
            <a:off x="5157216" y="2331720"/>
            <a:ext cx="1847088" cy="3840480"/>
          </a:xfrm>
          <a:prstGeom prst="rect">
            <a:avLst/>
          </a:prstGeom>
          <a:noFill/>
        </p:spPr>
        <p:txBody>
          <a:bodyPr wrap="square">
            <a:spAutoFit/>
          </a:bodyPr>
          <a:lstStyle/>
          <a:p>
            <a:pPr>
              <a:spcAft>
                <a:spcPts val="800"/>
              </a:spcAft>
              <a:defRPr sz="1000" b="1">
                <a:solidFill>
                  <a:srgbClr val="64748B"/>
                </a:solidFill>
              </a:defRPr>
            </a:pPr>
            <a:r>
              <a:t>Terminal: Billing Counter</a:t>
            </a:r>
          </a:p>
          <a:p>
            <a:pPr>
              <a:spcAft>
                <a:spcPts val="400"/>
              </a:spcAft>
              <a:defRPr sz="1000">
                <a:solidFill>
                  <a:srgbClr val="1E293B"/>
                </a:solidFill>
              </a:defRPr>
            </a:pPr>
            <a:r>
              <a:t>• 1-Click verified eRx import to cart</a:t>
            </a:r>
          </a:p>
          <a:p>
            <a:pPr>
              <a:spcAft>
                <a:spcPts val="400"/>
              </a:spcAft>
              <a:defRPr sz="1000">
                <a:solidFill>
                  <a:srgbClr val="1E293B"/>
                </a:solidFill>
              </a:defRPr>
            </a:pPr>
            <a:r>
              <a:t>• Auto FEFO nearest-expiry batch pick</a:t>
            </a:r>
          </a:p>
          <a:p>
            <a:pPr>
              <a:spcAft>
                <a:spcPts val="400"/>
              </a:spcAft>
              <a:defRPr sz="1000">
                <a:solidFill>
                  <a:srgbClr val="1E293B"/>
                </a:solidFill>
              </a:defRPr>
            </a:pPr>
            <a:r>
              <a:t>• Split payments (Cash, UPI QR, Card)</a:t>
            </a:r>
          </a:p>
          <a:p>
            <a:pPr>
              <a:spcAft>
                <a:spcPts val="400"/>
              </a:spcAft>
              <a:defRPr sz="1000">
                <a:solidFill>
                  <a:srgbClr val="1E293B"/>
                </a:solidFill>
              </a:defRPr>
            </a:pPr>
            <a:r>
              <a:t>• Calculate cash change return</a:t>
            </a:r>
          </a:p>
          <a:p>
            <a:pPr>
              <a:spcAft>
                <a:spcPts val="400"/>
              </a:spcAft>
              <a:defRPr sz="1000">
                <a:solidFill>
                  <a:srgbClr val="1E293B"/>
                </a:solidFill>
              </a:defRPr>
            </a:pPr>
            <a:r>
              <a:t>• Print 80mm GST tax receipt</a:t>
            </a:r>
          </a:p>
        </p:txBody>
      </p:sp>
      <p:sp>
        <p:nvSpPr>
          <p:cNvPr id="17" name="Rounded Rectangle 16"/>
          <p:cNvSpPr/>
          <p:nvPr/>
        </p:nvSpPr>
        <p:spPr>
          <a:xfrm>
            <a:off x="7232904" y="1645920"/>
            <a:ext cx="2029968"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32904" y="1645920"/>
            <a:ext cx="2029968" cy="640080"/>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32904" y="1691640"/>
            <a:ext cx="2029968" cy="548640"/>
          </a:xfrm>
          <a:prstGeom prst="rect">
            <a:avLst/>
          </a:prstGeom>
          <a:noFill/>
        </p:spPr>
        <p:txBody>
          <a:bodyPr wrap="square">
            <a:spAutoFit/>
          </a:bodyPr>
          <a:lstStyle/>
          <a:p>
            <a:pPr algn="ctr">
              <a:defRPr sz="1100" b="1">
                <a:solidFill>
                  <a:srgbClr val="FFFFFF"/>
                </a:solidFill>
              </a:defRPr>
            </a:pPr>
            <a:r>
              <a:t>📦 Inventory Manager</a:t>
            </a:r>
          </a:p>
        </p:txBody>
      </p:sp>
      <p:sp>
        <p:nvSpPr>
          <p:cNvPr id="20" name="TextBox 19"/>
          <p:cNvSpPr txBox="1"/>
          <p:nvPr/>
        </p:nvSpPr>
        <p:spPr>
          <a:xfrm>
            <a:off x="7324344" y="2331720"/>
            <a:ext cx="1847088" cy="3840480"/>
          </a:xfrm>
          <a:prstGeom prst="rect">
            <a:avLst/>
          </a:prstGeom>
          <a:noFill/>
        </p:spPr>
        <p:txBody>
          <a:bodyPr wrap="square">
            <a:spAutoFit/>
          </a:bodyPr>
          <a:lstStyle/>
          <a:p>
            <a:pPr>
              <a:spcAft>
                <a:spcPts val="800"/>
              </a:spcAft>
              <a:defRPr sz="1000" b="1">
                <a:solidFill>
                  <a:srgbClr val="64748B"/>
                </a:solidFill>
              </a:defRPr>
            </a:pPr>
            <a:r>
              <a:t>Terminal: Supply Hub</a:t>
            </a:r>
          </a:p>
          <a:p>
            <a:pPr>
              <a:spcAft>
                <a:spcPts val="400"/>
              </a:spcAft>
              <a:defRPr sz="1000">
                <a:solidFill>
                  <a:srgbClr val="1E293B"/>
                </a:solidFill>
              </a:defRPr>
            </a:pPr>
            <a:r>
              <a:t>• Multi-batch FEFO stock ledger</a:t>
            </a:r>
          </a:p>
          <a:p>
            <a:pPr>
              <a:spcAft>
                <a:spcPts val="400"/>
              </a:spcAft>
              <a:defRPr sz="1000">
                <a:solidFill>
                  <a:srgbClr val="1E293B"/>
                </a:solidFill>
              </a:defRPr>
            </a:pPr>
            <a:r>
              <a:t>• Record Goods Receipt Notes (GRN)</a:t>
            </a:r>
          </a:p>
          <a:p>
            <a:pPr>
              <a:spcAft>
                <a:spcPts val="400"/>
              </a:spcAft>
              <a:defRPr sz="1000">
                <a:solidFill>
                  <a:srgbClr val="1E293B"/>
                </a:solidFill>
              </a:defRPr>
            </a:pPr>
            <a:r>
              <a:t>• 24/7 Cold-chain IoT fridge monitor</a:t>
            </a:r>
          </a:p>
          <a:p>
            <a:pPr>
              <a:spcAft>
                <a:spcPts val="400"/>
              </a:spcAft>
              <a:defRPr sz="1000">
                <a:solidFill>
                  <a:srgbClr val="1E293B"/>
                </a:solidFill>
              </a:defRPr>
            </a:pPr>
            <a:r>
              <a:t>• Manage supplier directory &amp; POs</a:t>
            </a:r>
          </a:p>
          <a:p>
            <a:pPr>
              <a:spcAft>
                <a:spcPts val="400"/>
              </a:spcAft>
              <a:defRPr sz="1000">
                <a:solidFill>
                  <a:srgbClr val="1E293B"/>
                </a:solidFill>
              </a:defRPr>
            </a:pPr>
            <a:r>
              <a:t>• Track low-stock alerts (≤20 units)</a:t>
            </a:r>
          </a:p>
        </p:txBody>
      </p:sp>
      <p:sp>
        <p:nvSpPr>
          <p:cNvPr id="21" name="Rounded Rectangle 20"/>
          <p:cNvSpPr/>
          <p:nvPr/>
        </p:nvSpPr>
        <p:spPr>
          <a:xfrm>
            <a:off x="9400032" y="1645920"/>
            <a:ext cx="2029968"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00032" y="1645920"/>
            <a:ext cx="2029968" cy="64008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0032" y="1691640"/>
            <a:ext cx="2029968" cy="548640"/>
          </a:xfrm>
          <a:prstGeom prst="rect">
            <a:avLst/>
          </a:prstGeom>
          <a:noFill/>
        </p:spPr>
        <p:txBody>
          <a:bodyPr wrap="square">
            <a:spAutoFit/>
          </a:bodyPr>
          <a:lstStyle/>
          <a:p>
            <a:pPr algn="ctr">
              <a:defRPr sz="1100" b="1">
                <a:solidFill>
                  <a:srgbClr val="FFFFFF"/>
                </a:solidFill>
              </a:defRPr>
            </a:pPr>
            <a:r>
              <a:t>🛵 Delivery Agent</a:t>
            </a:r>
          </a:p>
        </p:txBody>
      </p:sp>
      <p:sp>
        <p:nvSpPr>
          <p:cNvPr id="24" name="TextBox 23"/>
          <p:cNvSpPr txBox="1"/>
          <p:nvPr/>
        </p:nvSpPr>
        <p:spPr>
          <a:xfrm>
            <a:off x="9491472" y="2331720"/>
            <a:ext cx="1847088" cy="3840480"/>
          </a:xfrm>
          <a:prstGeom prst="rect">
            <a:avLst/>
          </a:prstGeom>
          <a:noFill/>
        </p:spPr>
        <p:txBody>
          <a:bodyPr wrap="square">
            <a:spAutoFit/>
          </a:bodyPr>
          <a:lstStyle/>
          <a:p>
            <a:pPr>
              <a:spcAft>
                <a:spcPts val="800"/>
              </a:spcAft>
              <a:defRPr sz="1000" b="1">
                <a:solidFill>
                  <a:srgbClr val="64748B"/>
                </a:solidFill>
              </a:defRPr>
            </a:pPr>
            <a:r>
              <a:t>Terminal: Logistics Bay</a:t>
            </a:r>
          </a:p>
          <a:p>
            <a:pPr>
              <a:spcAft>
                <a:spcPts val="400"/>
              </a:spcAft>
              <a:defRPr sz="1000">
                <a:solidFill>
                  <a:srgbClr val="1E293B"/>
                </a:solidFill>
              </a:defRPr>
            </a:pPr>
            <a:r>
              <a:t>• Active dispatch Kanban route board</a:t>
            </a:r>
          </a:p>
          <a:p>
            <a:pPr>
              <a:spcAft>
                <a:spcPts val="400"/>
              </a:spcAft>
              <a:defRPr sz="1000">
                <a:solidFill>
                  <a:srgbClr val="1E293B"/>
                </a:solidFill>
              </a:defRPr>
            </a:pPr>
            <a:r>
              <a:t>• Verify cold-bag insulated packaging</a:t>
            </a:r>
          </a:p>
          <a:p>
            <a:pPr>
              <a:spcAft>
                <a:spcPts val="400"/>
              </a:spcAft>
              <a:defRPr sz="1000">
                <a:solidFill>
                  <a:srgbClr val="1E293B"/>
                </a:solidFill>
              </a:defRPr>
            </a:pPr>
            <a:r>
              <a:t>• 4-Digit customer OTP verification</a:t>
            </a:r>
          </a:p>
          <a:p>
            <a:pPr>
              <a:spcAft>
                <a:spcPts val="400"/>
              </a:spcAft>
              <a:defRPr sz="1000">
                <a:solidFill>
                  <a:srgbClr val="1E293B"/>
                </a:solidFill>
              </a:defRPr>
            </a:pPr>
            <a:r>
              <a:t>• Record electronic Proof-of-Delivery</a:t>
            </a:r>
          </a:p>
          <a:p>
            <a:pPr>
              <a:spcAft>
                <a:spcPts val="400"/>
              </a:spcAft>
              <a:defRPr sz="1000">
                <a:solidFill>
                  <a:srgbClr val="1E293B"/>
                </a:solidFill>
              </a:defRPr>
            </a:pPr>
            <a:r>
              <a:t>• Handover timestamp audit log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RUBRIC: MODULAR ARCHITECTURE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Modular Folder Architecture &amp; Technical Baseline</a:t>
            </a:r>
          </a:p>
        </p:txBody>
      </p:sp>
      <p:sp>
        <p:nvSpPr>
          <p:cNvPr id="5" name="Rounded Rectangle 4"/>
          <p:cNvSpPr/>
          <p:nvPr/>
        </p:nvSpPr>
        <p:spPr>
          <a:xfrm>
            <a:off x="731520" y="1645920"/>
            <a:ext cx="52578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92040" cy="4297680"/>
          </a:xfrm>
          <a:prstGeom prst="rect">
            <a:avLst/>
          </a:prstGeom>
          <a:noFill/>
        </p:spPr>
        <p:txBody>
          <a:bodyPr wrap="square">
            <a:spAutoFit/>
          </a:bodyPr>
          <a:lstStyle/>
          <a:p>
            <a:pPr>
              <a:spcAft>
                <a:spcPts val="800"/>
              </a:spcAft>
              <a:defRPr sz="1400" b="1">
                <a:solidFill>
                  <a:srgbClr val="0A2540"/>
                </a:solidFill>
              </a:defRPr>
            </a:pPr>
            <a:r>
              <a:t>📁 ENTERPRISE FOLDER STRUCTURE</a:t>
            </a:r>
          </a:p>
          <a:p>
            <a:pPr>
              <a:defRPr sz="950">
                <a:solidFill>
                  <a:srgbClr val="1E293B"/>
                </a:solidFill>
                <a:latin typeface="Consolas"/>
              </a:defRPr>
            </a:pPr>
            <a:r>
              <a:t>Pharmacy_Management_System/</a:t>
            </a:r>
          </a:p>
          <a:p>
            <a:pPr>
              <a:defRPr sz="950">
                <a:solidFill>
                  <a:srgbClr val="1E293B"/>
                </a:solidFill>
                <a:latin typeface="Consolas"/>
              </a:defRPr>
            </a:pPr>
            <a:r>
              <a:t>├── core/</a:t>
            </a:r>
          </a:p>
          <a:p>
            <a:pPr>
              <a:defRPr sz="950">
                <a:solidFill>
                  <a:srgbClr val="1E293B"/>
                </a:solidFill>
                <a:latin typeface="Consolas"/>
              </a:defRPr>
            </a:pPr>
            <a:r>
              <a:t>│   ├── bridge.py       # Unified Python RPC Bridge (38 methods)</a:t>
            </a:r>
          </a:p>
          <a:p>
            <a:pPr>
              <a:defRPr sz="950">
                <a:solidFill>
                  <a:srgbClr val="1E293B"/>
                </a:solidFill>
                <a:latin typeface="Consolas"/>
              </a:defRPr>
            </a:pPr>
            <a:r>
              <a:t>│   ├── db.py           # SQLite persistence layer (14 tables)</a:t>
            </a:r>
          </a:p>
          <a:p>
            <a:pPr>
              <a:defRPr sz="950">
                <a:solidFill>
                  <a:srgbClr val="1E293B"/>
                </a:solidFill>
                <a:latin typeface="Consolas"/>
              </a:defRPr>
            </a:pPr>
            <a:r>
              <a:t>│   ├── api_client.py   # Presence heartbeat AppConnector</a:t>
            </a:r>
          </a:p>
          <a:p>
            <a:pPr>
              <a:defRPr sz="950">
                <a:solidFill>
                  <a:srgbClr val="1E293B"/>
                </a:solidFill>
                <a:latin typeface="Consolas"/>
              </a:defRPr>
            </a:pPr>
            <a:r>
              <a:t>│   └── logger.py       # Tamper-evident audit logging engine</a:t>
            </a:r>
          </a:p>
          <a:p>
            <a:pPr>
              <a:defRPr sz="950">
                <a:solidFill>
                  <a:srgbClr val="1E293B"/>
                </a:solidFill>
                <a:latin typeface="Consolas"/>
              </a:defRPr>
            </a:pPr>
            <a:r>
              <a:t>├── config/</a:t>
            </a:r>
          </a:p>
          <a:p>
            <a:pPr>
              <a:defRPr sz="950">
                <a:solidFill>
                  <a:srgbClr val="1E293B"/>
                </a:solidFill>
                <a:latin typeface="Consolas"/>
              </a:defRPr>
            </a:pPr>
            <a:r>
              <a:t>│   └── settings.py     # Thread-safe Singleton dataclass (config.json)</a:t>
            </a:r>
          </a:p>
          <a:p>
            <a:pPr>
              <a:defRPr sz="950">
                <a:solidFill>
                  <a:srgbClr val="1E293B"/>
                </a:solidFill>
                <a:latin typeface="Consolas"/>
              </a:defRPr>
            </a:pPr>
            <a:r>
              <a:t>├── ui/</a:t>
            </a:r>
          </a:p>
          <a:p>
            <a:pPr>
              <a:defRPr sz="950">
                <a:solidFill>
                  <a:srgbClr val="1E293B"/>
                </a:solidFill>
                <a:latin typeface="Consolas"/>
              </a:defRPr>
            </a:pPr>
            <a:r>
              <a:t>│   ├── desktop/        # Edge Chromium WebView2 60 FPS frontend</a:t>
            </a:r>
          </a:p>
          <a:p>
            <a:pPr>
              <a:defRPr sz="950">
                <a:solidFill>
                  <a:srgbClr val="1E293B"/>
                </a:solidFill>
                <a:latin typeface="Consolas"/>
              </a:defRPr>
            </a:pPr>
            <a:r>
              <a:t>│   └── web/            # Full-featured FastAPI Web UI (1:1 parity)</a:t>
            </a:r>
          </a:p>
          <a:p>
            <a:pPr>
              <a:defRPr sz="950">
                <a:solidFill>
                  <a:srgbClr val="1E293B"/>
                </a:solidFill>
                <a:latin typeface="Consolas"/>
              </a:defRPr>
            </a:pPr>
            <a:r>
              <a:t>├── apps/               # Standalone admin &amp; operations GUI apps</a:t>
            </a:r>
          </a:p>
          <a:p>
            <a:pPr>
              <a:defRPr sz="950">
                <a:solidFill>
                  <a:srgbClr val="1E293B"/>
                </a:solidFill>
                <a:latin typeface="Consolas"/>
              </a:defRPr>
            </a:pPr>
            <a:r>
              <a:t>├── tests/              # 24 Automated unit &amp; integration tests</a:t>
            </a:r>
          </a:p>
          <a:p>
            <a:pPr>
              <a:defRPr sz="950">
                <a:solidFill>
                  <a:srgbClr val="1E293B"/>
                </a:solidFill>
                <a:latin typeface="Consolas"/>
              </a:defRPr>
            </a:pPr>
            <a:r>
              <a:t>├── backups/            # Scheduled .db snapshots &amp; CSV audit exports</a:t>
            </a:r>
          </a:p>
          <a:p>
            <a:pPr>
              <a:defRPr sz="950">
                <a:solidFill>
                  <a:srgbClr val="1E293B"/>
                </a:solidFill>
                <a:latin typeface="Consolas"/>
              </a:defRPr>
            </a:pPr>
            <a:r>
              <a:t>├── main.py             # Hardware-accelerated desktop entrypoint</a:t>
            </a:r>
          </a:p>
          <a:p>
            <a:pPr>
              <a:defRPr sz="950">
                <a:solidFill>
                  <a:srgbClr val="1E293B"/>
                </a:solidFill>
                <a:latin typeface="Consolas"/>
              </a:defRPr>
            </a:pPr>
            <a:r>
              <a:t>└── web_app.py          # Asynchronous FastAPI web application server</a:t>
            </a:r>
          </a:p>
        </p:txBody>
      </p:sp>
      <p:sp>
        <p:nvSpPr>
          <p:cNvPr id="7" name="Rounded Rectangle 6"/>
          <p:cNvSpPr/>
          <p:nvPr/>
        </p:nvSpPr>
        <p:spPr>
          <a:xfrm>
            <a:off x="6172200" y="1645920"/>
            <a:ext cx="52578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828800"/>
            <a:ext cx="4892040" cy="4297680"/>
          </a:xfrm>
          <a:prstGeom prst="rect">
            <a:avLst/>
          </a:prstGeom>
          <a:noFill/>
        </p:spPr>
        <p:txBody>
          <a:bodyPr wrap="square">
            <a:spAutoFit/>
          </a:bodyPr>
          <a:lstStyle/>
          <a:p>
            <a:pPr>
              <a:spcAft>
                <a:spcPts val="800"/>
              </a:spcAft>
              <a:defRPr sz="1400" b="1">
                <a:solidFill>
                  <a:srgbClr val="00A389"/>
                </a:solidFill>
              </a:defRPr>
            </a:pPr>
            <a:r>
              <a:t>🏗️ 6-TIER DECOUPLED ARCHITECTURE</a:t>
            </a:r>
          </a:p>
          <a:p>
            <a:pPr>
              <a:defRPr sz="1100" b="1">
                <a:solidFill>
                  <a:srgbClr val="0A2540"/>
                </a:solidFill>
              </a:defRPr>
            </a:pPr>
            <a:r>
              <a:t>Tier 1: Presentation Layer</a:t>
            </a:r>
          </a:p>
          <a:p>
            <a:pPr>
              <a:spcAft>
                <a:spcPts val="400"/>
              </a:spcAft>
              <a:defRPr sz="1000">
                <a:solidFill>
                  <a:srgbClr val="64748B"/>
                </a:solidFill>
              </a:defRPr>
            </a:pPr>
            <a:r>
              <a:t>Modern HTML5, responsive CSS3 Glassmorphism, and vanilla ES6+ JavaScript. Clean SPA design without external framework bloat.</a:t>
            </a:r>
          </a:p>
          <a:p>
            <a:pPr>
              <a:defRPr sz="1100" b="1">
                <a:solidFill>
                  <a:srgbClr val="0A2540"/>
                </a:solidFill>
              </a:defRPr>
            </a:pPr>
            <a:r>
              <a:t>Tier 2: Desktop Runtime</a:t>
            </a:r>
          </a:p>
          <a:p>
            <a:pPr>
              <a:spcAft>
                <a:spcPts val="400"/>
              </a:spcAft>
              <a:defRPr sz="1000">
                <a:solidFill>
                  <a:srgbClr val="64748B"/>
                </a:solidFill>
              </a:defRPr>
            </a:pPr>
            <a:r>
              <a:t>Microsoft Edge Chromium (WebView2) via `pywebview 5.x` providing zero-latency 60 FPS hardware acceleration.</a:t>
            </a:r>
          </a:p>
          <a:p>
            <a:pPr>
              <a:defRPr sz="1100" b="1">
                <a:solidFill>
                  <a:srgbClr val="0A2540"/>
                </a:solidFill>
              </a:defRPr>
            </a:pPr>
            <a:r>
              <a:t>Tier 3: Web Application Server</a:t>
            </a:r>
          </a:p>
          <a:p>
            <a:pPr>
              <a:spcAft>
                <a:spcPts val="400"/>
              </a:spcAft>
              <a:defRPr sz="1000">
                <a:solidFill>
                  <a:srgbClr val="64748B"/>
                </a:solidFill>
              </a:defRPr>
            </a:pPr>
            <a:r>
              <a:t>Asynchronous `FastAPI 0.138.0` + `Uvicorn 0.49.0` ASGI backend with auto-generated Swagger API documentation.</a:t>
            </a:r>
          </a:p>
          <a:p>
            <a:pPr>
              <a:defRPr sz="1100" b="1">
                <a:solidFill>
                  <a:srgbClr val="0A2540"/>
                </a:solidFill>
              </a:defRPr>
            </a:pPr>
            <a:r>
              <a:t>Tier 4: Unified Bridge RPC</a:t>
            </a:r>
          </a:p>
          <a:p>
            <a:pPr>
              <a:spcAft>
                <a:spcPts val="400"/>
              </a:spcAft>
              <a:defRPr sz="1000">
                <a:solidFill>
                  <a:srgbClr val="64748B"/>
                </a:solidFill>
              </a:defRPr>
            </a:pPr>
            <a:r>
              <a:t>`PharmacyBridge` exposes 38 secure, thread-safe Python methods directly to frontend JavaScript.</a:t>
            </a:r>
          </a:p>
          <a:p>
            <a:pPr>
              <a:defRPr sz="1100" b="1">
                <a:solidFill>
                  <a:srgbClr val="0A2540"/>
                </a:solidFill>
              </a:defRPr>
            </a:pPr>
            <a:r>
              <a:t>Tier 5: Core Domain Engines</a:t>
            </a:r>
          </a:p>
          <a:p>
            <a:pPr>
              <a:spcAft>
                <a:spcPts val="400"/>
              </a:spcAft>
              <a:defRPr sz="1000">
                <a:solidFill>
                  <a:srgbClr val="64748B"/>
                </a:solidFill>
              </a:defRPr>
            </a:pPr>
            <a:r>
              <a:t>Autonomous engines: CDSS allergy cross-matcher, FEFO dynamic batch sorter, cold-chain IoT simulator, Daily Z-Report engine.</a:t>
            </a:r>
          </a:p>
          <a:p>
            <a:pPr>
              <a:defRPr sz="1100" b="1">
                <a:solidFill>
                  <a:srgbClr val="0A2540"/>
                </a:solidFill>
              </a:defRPr>
            </a:pPr>
            <a:r>
              <a:t>Tier 6: Persistence &amp; Storage</a:t>
            </a:r>
          </a:p>
          <a:p>
            <a:pPr>
              <a:spcAft>
                <a:spcPts val="400"/>
              </a:spcAft>
              <a:defRPr sz="1000">
                <a:solidFill>
                  <a:srgbClr val="64748B"/>
                </a:solidFill>
              </a:defRPr>
            </a:pPr>
            <a:r>
              <a:t>SQLite 3 ACID relational database with 14 normalized tables, foreign keys, and timestamped automated backups.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RUBRIC: DATABASE / SYSTEM DESIGN</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Database Design &amp; System Integration (SQLite 3)</a:t>
            </a:r>
          </a:p>
        </p:txBody>
      </p:sp>
      <p:sp>
        <p:nvSpPr>
          <p:cNvPr id="5" name="Rounded Rectangle 4"/>
          <p:cNvSpPr/>
          <p:nvPr/>
        </p:nvSpPr>
        <p:spPr>
          <a:xfrm>
            <a:off x="731520" y="1645920"/>
            <a:ext cx="52578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92040" cy="4297680"/>
          </a:xfrm>
          <a:prstGeom prst="rect">
            <a:avLst/>
          </a:prstGeom>
          <a:noFill/>
        </p:spPr>
        <p:txBody>
          <a:bodyPr wrap="square">
            <a:spAutoFit/>
          </a:bodyPr>
          <a:lstStyle/>
          <a:p>
            <a:pPr>
              <a:spcAft>
                <a:spcPts val="600"/>
              </a:spcAft>
              <a:defRPr sz="1300" b="1">
                <a:solidFill>
                  <a:srgbClr val="00A389"/>
                </a:solidFill>
              </a:defRPr>
            </a:pPr>
            <a:r>
              <a:t>🗄️ CORE RELATIONAL TABLES (PART 1)</a:t>
            </a:r>
          </a:p>
          <a:p>
            <a:pPr>
              <a:defRPr sz="1050" b="1">
                <a:solidFill>
                  <a:srgbClr val="0A2540"/>
                </a:solidFill>
              </a:defRPr>
            </a:pPr>
            <a:r>
              <a:t>1. staff (PRIMARY KEY: id)</a:t>
            </a:r>
          </a:p>
          <a:p>
            <a:pPr>
              <a:spcAft>
                <a:spcPts val="300"/>
              </a:spcAft>
              <a:defRPr sz="950">
                <a:solidFill>
                  <a:srgbClr val="64748B"/>
                </a:solidFill>
              </a:defRPr>
            </a:pPr>
            <a:r>
              <a:t>Credentials, assigned role, username, branch, and active status.</a:t>
            </a:r>
          </a:p>
          <a:p>
            <a:pPr>
              <a:defRPr sz="1050" b="1">
                <a:solidFill>
                  <a:srgbClr val="0A2540"/>
                </a:solidFill>
              </a:defRPr>
            </a:pPr>
            <a:r>
              <a:t>2. medicines (PRIMARY KEY: id)</a:t>
            </a:r>
          </a:p>
          <a:p>
            <a:pPr>
              <a:spcAft>
                <a:spcPts val="300"/>
              </a:spcAft>
              <a:defRPr sz="950">
                <a:solidFill>
                  <a:srgbClr val="64748B"/>
                </a:solidFill>
              </a:defRPr>
            </a:pPr>
            <a:r>
              <a:t>SKU, generic name, category, Schedule (H1/X/OTC), rack, stock.</a:t>
            </a:r>
          </a:p>
          <a:p>
            <a:pPr>
              <a:defRPr sz="1050" b="1">
                <a:solidFill>
                  <a:srgbClr val="0A2540"/>
                </a:solidFill>
              </a:defRPr>
            </a:pPr>
            <a:r>
              <a:t>3. prescriptions (PRIMARY KEY: rx_id)</a:t>
            </a:r>
          </a:p>
          <a:p>
            <a:pPr>
              <a:spcAft>
                <a:spcPts val="300"/>
              </a:spcAft>
              <a:defRPr sz="950">
                <a:solidFill>
                  <a:srgbClr val="64748B"/>
                </a:solidFill>
              </a:defRPr>
            </a:pPr>
            <a:r>
              <a:t>Patient name, doctor, items JSON, CDSS status, clinical sign-off.</a:t>
            </a:r>
          </a:p>
          <a:p>
            <a:pPr>
              <a:defRPr sz="1050" b="1">
                <a:solidFill>
                  <a:srgbClr val="0A2540"/>
                </a:solidFill>
              </a:defRPr>
            </a:pPr>
            <a:r>
              <a:t>4. invoices (PRIMARY KEY: invoice_id)</a:t>
            </a:r>
          </a:p>
          <a:p>
            <a:pPr>
              <a:spcAft>
                <a:spcPts val="300"/>
              </a:spcAft>
              <a:defRPr sz="950">
                <a:solidFill>
                  <a:srgbClr val="64748B"/>
                </a:solidFill>
              </a:defRPr>
            </a:pPr>
            <a:r>
              <a:t>Customer, cashier, payment method, subtotal, GST, total amount.</a:t>
            </a:r>
          </a:p>
          <a:p>
            <a:pPr>
              <a:defRPr sz="1050" b="1">
                <a:solidFill>
                  <a:srgbClr val="0A2540"/>
                </a:solidFill>
              </a:defRPr>
            </a:pPr>
            <a:r>
              <a:t>5. delivery_orders (PRIMARY KEY: order_id)</a:t>
            </a:r>
          </a:p>
          <a:p>
            <a:pPr>
              <a:spcAft>
                <a:spcPts val="300"/>
              </a:spcAft>
              <a:defRPr sz="950">
                <a:solidFill>
                  <a:srgbClr val="64748B"/>
                </a:solidFill>
              </a:defRPr>
            </a:pPr>
            <a:r>
              <a:t>Address, customer phone, rider, status, cold-bag check, OTP code.</a:t>
            </a:r>
          </a:p>
          <a:p>
            <a:pPr>
              <a:defRPr sz="1050" b="1">
                <a:solidFill>
                  <a:srgbClr val="0A2540"/>
                </a:solidFill>
              </a:defRPr>
            </a:pPr>
            <a:r>
              <a:t>6. patients (PRIMARY KEY: id)</a:t>
            </a:r>
          </a:p>
          <a:p>
            <a:pPr>
              <a:spcAft>
                <a:spcPts val="300"/>
              </a:spcAft>
              <a:defRPr sz="950">
                <a:solidFill>
                  <a:srgbClr val="64748B"/>
                </a:solidFill>
              </a:defRPr>
            </a:pPr>
            <a:r>
              <a:t>Name, contact phone, chronic conditions, loyalty points, allergy records.</a:t>
            </a:r>
          </a:p>
          <a:p>
            <a:pPr>
              <a:defRPr sz="1050" b="1">
                <a:solidFill>
                  <a:srgbClr val="0A2540"/>
                </a:solidFill>
              </a:defRPr>
            </a:pPr>
            <a:r>
              <a:t>7. suppliers (PRIMARY KEY: id)</a:t>
            </a:r>
          </a:p>
          <a:p>
            <a:pPr>
              <a:spcAft>
                <a:spcPts val="300"/>
              </a:spcAft>
              <a:defRPr sz="950">
                <a:solidFill>
                  <a:srgbClr val="64748B"/>
                </a:solidFill>
              </a:defRPr>
            </a:pPr>
            <a:r>
              <a:t>Distributor name, GSTIN, DL number, contact person, payment terms.</a:t>
            </a:r>
          </a:p>
        </p:txBody>
      </p:sp>
      <p:sp>
        <p:nvSpPr>
          <p:cNvPr id="7" name="Rounded Rectangle 6"/>
          <p:cNvSpPr/>
          <p:nvPr/>
        </p:nvSpPr>
        <p:spPr>
          <a:xfrm>
            <a:off x="6172200" y="1645920"/>
            <a:ext cx="52578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828800"/>
            <a:ext cx="4892040" cy="4297680"/>
          </a:xfrm>
          <a:prstGeom prst="rect">
            <a:avLst/>
          </a:prstGeom>
          <a:noFill/>
        </p:spPr>
        <p:txBody>
          <a:bodyPr wrap="square">
            <a:spAutoFit/>
          </a:bodyPr>
          <a:lstStyle/>
          <a:p>
            <a:pPr>
              <a:spcAft>
                <a:spcPts val="600"/>
              </a:spcAft>
              <a:defRPr sz="1300" b="1">
                <a:solidFill>
                  <a:srgbClr val="0284C7"/>
                </a:solidFill>
              </a:defRPr>
            </a:pPr>
            <a:r>
              <a:t>🗄️ COMPLIANCE &amp; TELEMETRY TABLES (PART 2)</a:t>
            </a:r>
          </a:p>
          <a:p>
            <a:pPr>
              <a:defRPr sz="1050" b="1">
                <a:solidFill>
                  <a:srgbClr val="0A2540"/>
                </a:solidFill>
              </a:defRPr>
            </a:pPr>
            <a:r>
              <a:t>8. purchase_orders (PRIMARY KEY: po_id)</a:t>
            </a:r>
          </a:p>
          <a:p>
            <a:pPr>
              <a:spcAft>
                <a:spcPts val="300"/>
              </a:spcAft>
              <a:defRPr sz="950">
                <a:solidFill>
                  <a:srgbClr val="64748B"/>
                </a:solidFill>
              </a:defRPr>
            </a:pPr>
            <a:r>
              <a:t>GRN shipment log, supplier, items JSON, total amount, inward status.</a:t>
            </a:r>
          </a:p>
          <a:p>
            <a:pPr>
              <a:defRPr sz="1050" b="1">
                <a:solidFill>
                  <a:srgbClr val="0A2540"/>
                </a:solidFill>
              </a:defRPr>
            </a:pPr>
            <a:r>
              <a:t>9. narcotic_register (PRIMARY KEY: id (AUTO))</a:t>
            </a:r>
          </a:p>
          <a:p>
            <a:pPr>
              <a:spcAft>
                <a:spcPts val="300"/>
              </a:spcAft>
              <a:defRPr sz="950">
                <a:solidFill>
                  <a:srgbClr val="64748B"/>
                </a:solidFill>
              </a:defRPr>
            </a:pPr>
            <a:r>
              <a:t>Schedule X log: Doctor DMC Reg No, Pharmacist PIN, batch, quantity.</a:t>
            </a:r>
          </a:p>
          <a:p>
            <a:pPr>
              <a:defRPr sz="1050" b="1">
                <a:solidFill>
                  <a:srgbClr val="0A2540"/>
                </a:solidFill>
              </a:defRPr>
            </a:pPr>
            <a:r>
              <a:t>10. temperature_logs (PRIMARY KEY: id (AUTO))</a:t>
            </a:r>
          </a:p>
          <a:p>
            <a:pPr>
              <a:spcAft>
                <a:spcPts val="300"/>
              </a:spcAft>
              <a:defRPr sz="950">
                <a:solidFill>
                  <a:srgbClr val="64748B"/>
                </a:solidFill>
              </a:defRPr>
            </a:pPr>
            <a:r>
              <a:t>24/7 cold-chain telemetry: Sensor ID, temperature (2-8°C), alert flag.</a:t>
            </a:r>
          </a:p>
          <a:p>
            <a:pPr>
              <a:defRPr sz="1050" b="1">
                <a:solidFill>
                  <a:srgbClr val="0A2540"/>
                </a:solidFill>
              </a:defRPr>
            </a:pPr>
            <a:r>
              <a:t>11. refill_schedules (PRIMARY KEY: id)</a:t>
            </a:r>
          </a:p>
          <a:p>
            <a:pPr>
              <a:spcAft>
                <a:spcPts val="300"/>
              </a:spcAft>
              <a:defRPr sz="950">
                <a:solidFill>
                  <a:srgbClr val="64748B"/>
                </a:solidFill>
              </a:defRPr>
            </a:pPr>
            <a:r>
              <a:t>Chronic adherence: Patient, medicine, last dispensed, next due date.</a:t>
            </a:r>
          </a:p>
          <a:p>
            <a:pPr>
              <a:defRPr sz="1050" b="1">
                <a:solidFill>
                  <a:srgbClr val="0A2540"/>
                </a:solidFill>
              </a:defRPr>
            </a:pPr>
            <a:r>
              <a:t>12. active_sessions (PRIMARY KEY: session_id)</a:t>
            </a:r>
          </a:p>
          <a:p>
            <a:pPr>
              <a:spcAft>
                <a:spcPts val="300"/>
              </a:spcAft>
              <a:defRPr sz="950">
                <a:solidFill>
                  <a:srgbClr val="64748B"/>
                </a:solidFill>
              </a:defRPr>
            </a:pPr>
            <a:r>
              <a:t>Live presence: User ID, role, terminal name, last heartbeat timestamp.</a:t>
            </a:r>
          </a:p>
          <a:p>
            <a:pPr>
              <a:defRPr sz="1050" b="1">
                <a:solidFill>
                  <a:srgbClr val="0A2540"/>
                </a:solidFill>
              </a:defRPr>
            </a:pPr>
            <a:r>
              <a:t>13. audit_logs (PRIMARY KEY: id (AUTO))</a:t>
            </a:r>
          </a:p>
          <a:p>
            <a:pPr>
              <a:spcAft>
                <a:spcPts val="300"/>
              </a:spcAft>
              <a:defRPr sz="950">
                <a:solidFill>
                  <a:srgbClr val="64748B"/>
                </a:solidFill>
              </a:defRPr>
            </a:pPr>
            <a:r>
              <a:t>Immutable security log: User, role, action, details, severity level.</a:t>
            </a:r>
          </a:p>
          <a:p>
            <a:pPr>
              <a:defRPr sz="1050" b="1">
                <a:solidFill>
                  <a:srgbClr val="0A2540"/>
                </a:solidFill>
              </a:defRPr>
            </a:pPr>
            <a:r>
              <a:t>14. z_reports (PRIMARY KEY: z_report_id)</a:t>
            </a:r>
          </a:p>
          <a:p>
            <a:pPr>
              <a:spcAft>
                <a:spcPts val="300"/>
              </a:spcAft>
              <a:defRPr sz="950">
                <a:solidFill>
                  <a:srgbClr val="64748B"/>
                </a:solidFill>
              </a:defRPr>
            </a:pPr>
            <a:r>
              <a:t>Daily closing: Opening float, cash sales, payouts, variance, signed status.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RUBRIC: CRUD OPERATIONS &amp; FUNCTIONALITY</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Comprehensive CRUD Operations Implementation</a:t>
            </a:r>
          </a:p>
        </p:txBody>
      </p:sp>
      <p:sp>
        <p:nvSpPr>
          <p:cNvPr id="5" name="Rounded Rectangle 4"/>
          <p:cNvSpPr/>
          <p:nvPr/>
        </p:nvSpPr>
        <p:spPr>
          <a:xfrm>
            <a:off x="731520" y="1645920"/>
            <a:ext cx="107286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332720" cy="4389120"/>
          </a:xfrm>
          <a:prstGeom prst="rect">
            <a:avLst/>
          </a:prstGeom>
          <a:noFill/>
        </p:spPr>
        <p:txBody>
          <a:bodyPr wrap="square">
            <a:spAutoFit/>
          </a:bodyPr>
          <a:lstStyle/>
          <a:p>
            <a:pPr>
              <a:spcAft>
                <a:spcPts val="800"/>
              </a:spcAft>
              <a:defRPr sz="1300" b="1">
                <a:solidFill>
                  <a:srgbClr val="00A389"/>
                </a:solidFill>
              </a:defRPr>
            </a:pPr>
            <a:r>
              <a:t>⚡ COMPLETE CRUD IMPLEMENTATION ACROSS ALL CORE MODULES</a:t>
            </a:r>
          </a:p>
          <a:p>
            <a:pPr>
              <a:spcAft>
                <a:spcPts val="200"/>
              </a:spcAft>
              <a:defRPr sz="1050" b="1">
                <a:solidFill>
                  <a:srgbClr val="0A2540"/>
                </a:solidFill>
              </a:defRPr>
            </a:pPr>
            <a:r>
              <a:t>Module / Entity        | CREATE                    | READ                      | UPDATE                    | DELETE</a:t>
            </a:r>
          </a:p>
          <a:p>
            <a:pPr>
              <a:spcAft>
                <a:spcPts val="200"/>
              </a:spcAft>
              <a:defRPr sz="950">
                <a:solidFill>
                  <a:srgbClr val="1E293B"/>
                </a:solidFill>
              </a:defRPr>
            </a:pPr>
            <a:r>
              <a:t>Staff &amp; Users          | Add staff user modal (ID, Name, Role, Branch) | Staff credentials list &amp; live online presence | Edit staff role, password, branch &amp; status | Delete unauthorized staff user with audit log</a:t>
            </a:r>
          </a:p>
          <a:p>
            <a:pPr>
              <a:spcAft>
                <a:spcPts val="200"/>
              </a:spcAft>
              <a:defRPr sz="950">
                <a:solidFill>
                  <a:srgbClr val="1E293B"/>
                </a:solidFill>
              </a:defRPr>
            </a:pPr>
            <a:r>
              <a:t>Medicines Catalog      | Add medicine modal (SKU, Category, Batch) | Catalog table with FEFO visual countdown badges | Adjust physical stock delta (+/- units modal) | Delete expired/discontinued medicine SKU</a:t>
            </a:r>
          </a:p>
          <a:p>
            <a:pPr>
              <a:spcAft>
                <a:spcPts val="200"/>
              </a:spcAft>
              <a:defRPr sz="950">
                <a:solidFill>
                  <a:srgbClr val="1E293B"/>
                </a:solidFill>
              </a:defRPr>
            </a:pPr>
            <a:r>
              <a:t>Clinical Prescriptions | Inward e-Prescription modal with medicine items | Prescriptions review queue with CDSS allergy scan | Update verification status (Approve / Reject) | Archive processed prescriptions into sales ledger</a:t>
            </a:r>
          </a:p>
          <a:p>
            <a:pPr>
              <a:spcAft>
                <a:spcPts val="200"/>
              </a:spcAft>
              <a:defRPr sz="950">
                <a:solidFill>
                  <a:srgbClr val="1E293B"/>
                </a:solidFill>
              </a:defRPr>
            </a:pPr>
            <a:r>
              <a:t>Narcotic Register      | Add Schedule X dispensation with Doctor Reg No | Read narcotic audit ledger with search filter | Update verified status with 4-digit Pharmacist PIN | Restricted: Immutable audit records (CDSCO law)</a:t>
            </a:r>
          </a:p>
          <a:p>
            <a:pPr>
              <a:spcAft>
                <a:spcPts val="200"/>
              </a:spcAft>
              <a:defRPr sz="950">
                <a:solidFill>
                  <a:srgbClr val="1E293B"/>
                </a:solidFill>
              </a:defRPr>
            </a:pPr>
            <a:r>
              <a:t>Invoices &amp; POS         | Generate sales invoice with 5% CGST/SGST split | Sales ledger history with 1-click receipt modal | Update patient loyalty points upon purchase | Void invoice requires supervisor override</a:t>
            </a:r>
          </a:p>
          <a:p>
            <a:pPr>
              <a:spcAft>
                <a:spcPts val="200"/>
              </a:spcAft>
              <a:defRPr sz="950">
                <a:solidFill>
                  <a:srgbClr val="1E293B"/>
                </a:solidFill>
              </a:defRPr>
            </a:pPr>
            <a:r>
              <a:t>Deliveries &amp; Logistics | Create home delivery order with customer phone | Dispatch Kanban board (Packaging/Out/Delivered) | Advance delivery status &amp; verify 4-digit OTP | Cancel unassigned delivery dispatch task</a:t>
            </a:r>
          </a:p>
          <a:p>
            <a:pPr>
              <a:spcAft>
                <a:spcPts val="200"/>
              </a:spcAft>
              <a:defRPr sz="950">
                <a:solidFill>
                  <a:srgbClr val="1E293B"/>
                </a:solidFill>
              </a:defRPr>
            </a:pPr>
            <a:r>
              <a:t>Daily Z-Report Close   | Generate official Z-Report ID (Z-YYYYMMDD-XXXX) | Read gross sales, cash total, digital collections | Update counted cash &amp; calculate live variance | Permanent archive: Immutable signed registry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RUBRIC: MODULES &amp; QUALITY ALIGNMENT</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Modules Aligned with TQM Quality Goals</a:t>
            </a:r>
          </a:p>
        </p:txBody>
      </p:sp>
      <p:sp>
        <p:nvSpPr>
          <p:cNvPr id="5" name="Rounded Rectangle 4"/>
          <p:cNvSpPr/>
          <p:nvPr/>
        </p:nvSpPr>
        <p:spPr>
          <a:xfrm>
            <a:off x="731520" y="1645920"/>
            <a:ext cx="525780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09728" cy="2194560"/>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55648"/>
            <a:ext cx="4892040" cy="1975104"/>
          </a:xfrm>
          <a:prstGeom prst="rect">
            <a:avLst/>
          </a:prstGeom>
          <a:noFill/>
        </p:spPr>
        <p:txBody>
          <a:bodyPr wrap="square">
            <a:spAutoFit/>
          </a:bodyPr>
          <a:lstStyle/>
          <a:p>
            <a:pPr>
              <a:defRPr sz="1300" b="1">
                <a:solidFill>
                  <a:srgbClr val="0A2540"/>
                </a:solidFill>
              </a:defRPr>
            </a:pPr>
            <a:r>
              <a:t>🩺 Clinical Decision Support (CDSS)</a:t>
            </a:r>
          </a:p>
          <a:p>
            <a:pPr>
              <a:spcAft>
                <a:spcPts val="400"/>
              </a:spcAft>
              <a:defRPr sz="950" b="1">
                <a:solidFill>
                  <a:srgbClr val="00A389"/>
                </a:solidFill>
              </a:defRPr>
            </a:pPr>
            <a:r>
              <a:t>ALIGNED TQM GOAL: ZERO MEDICATION DISPENSING DEFECTS</a:t>
            </a:r>
          </a:p>
          <a:p>
            <a:pPr>
              <a:spcAft>
                <a:spcPts val="200"/>
              </a:spcAft>
              <a:defRPr sz="1000">
                <a:solidFill>
                  <a:srgbClr val="1E293B"/>
                </a:solidFill>
              </a:defRPr>
            </a:pPr>
            <a:r>
              <a:t>• Real-time allergen cross-checks (Penicillin, NSAIDs, Sulfa).</a:t>
            </a:r>
          </a:p>
          <a:p>
            <a:pPr>
              <a:spcAft>
                <a:spcPts val="200"/>
              </a:spcAft>
              <a:defRPr sz="1000">
                <a:solidFill>
                  <a:srgbClr val="1E293B"/>
                </a:solidFill>
              </a:defRPr>
            </a:pPr>
            <a:r>
              <a:t>• Molecule-molecule drug interaction checker.</a:t>
            </a:r>
          </a:p>
          <a:p>
            <a:pPr>
              <a:spcAft>
                <a:spcPts val="200"/>
              </a:spcAft>
              <a:defRPr sz="1000">
                <a:solidFill>
                  <a:srgbClr val="1E293B"/>
                </a:solidFill>
              </a:defRPr>
            </a:pPr>
            <a:r>
              <a:t>• Double sign-off for Schedule X narcotics (Pharmacist PIN + Doctor Reg).</a:t>
            </a:r>
          </a:p>
          <a:p>
            <a:pPr>
              <a:spcAft>
                <a:spcPts val="200"/>
              </a:spcAft>
              <a:defRPr sz="1000">
                <a:solidFill>
                  <a:srgbClr val="1E293B"/>
                </a:solidFill>
              </a:defRPr>
            </a:pPr>
            <a:r>
              <a:t>• Patient chronic disease and allergy EHR integration.</a:t>
            </a:r>
          </a:p>
        </p:txBody>
      </p:sp>
      <p:sp>
        <p:nvSpPr>
          <p:cNvPr id="8" name="Rounded Rectangle 7"/>
          <p:cNvSpPr/>
          <p:nvPr/>
        </p:nvSpPr>
        <p:spPr>
          <a:xfrm>
            <a:off x="6172200" y="1645920"/>
            <a:ext cx="525780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645920"/>
            <a:ext cx="109728" cy="21945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55648"/>
            <a:ext cx="4892040" cy="1975104"/>
          </a:xfrm>
          <a:prstGeom prst="rect">
            <a:avLst/>
          </a:prstGeom>
          <a:noFill/>
        </p:spPr>
        <p:txBody>
          <a:bodyPr wrap="square">
            <a:spAutoFit/>
          </a:bodyPr>
          <a:lstStyle/>
          <a:p>
            <a:pPr>
              <a:defRPr sz="1300" b="1">
                <a:solidFill>
                  <a:srgbClr val="0A2540"/>
                </a:solidFill>
              </a:defRPr>
            </a:pPr>
            <a:r>
              <a:t>📦 FEFO Inventory &amp; Cold-Chain IoT</a:t>
            </a:r>
          </a:p>
          <a:p>
            <a:pPr>
              <a:spcAft>
                <a:spcPts val="400"/>
              </a:spcAft>
              <a:defRPr sz="950" b="1">
                <a:solidFill>
                  <a:srgbClr val="0284C7"/>
                </a:solidFill>
              </a:defRPr>
            </a:pPr>
            <a:r>
              <a:t>ALIGNED TQM GOAL: ZERO BIOLOGICAL POTENCY LOSS &amp; ZERO DEAD-STOCK</a:t>
            </a:r>
          </a:p>
          <a:p>
            <a:pPr>
              <a:spcAft>
                <a:spcPts val="200"/>
              </a:spcAft>
              <a:defRPr sz="1000">
                <a:solidFill>
                  <a:srgbClr val="1E293B"/>
                </a:solidFill>
              </a:defRPr>
            </a:pPr>
            <a:r>
              <a:t>• Strict First-Expiry, First-Out batch sequencing algorithms.</a:t>
            </a:r>
          </a:p>
          <a:p>
            <a:pPr>
              <a:spcAft>
                <a:spcPts val="200"/>
              </a:spcAft>
              <a:defRPr sz="1000">
                <a:solidFill>
                  <a:srgbClr val="1E293B"/>
                </a:solidFill>
              </a:defRPr>
            </a:pPr>
            <a:r>
              <a:t>• Visual countdown tags (&lt;30d Critical, &lt;90d Attention).</a:t>
            </a:r>
          </a:p>
          <a:p>
            <a:pPr>
              <a:spcAft>
                <a:spcPts val="200"/>
              </a:spcAft>
              <a:defRPr sz="1000">
                <a:solidFill>
                  <a:srgbClr val="1E293B"/>
                </a:solidFill>
              </a:defRPr>
            </a:pPr>
            <a:r>
              <a:t>• 24/7 continuous IoT refrigerator telemetry (2.0°C–8.0°C).</a:t>
            </a:r>
          </a:p>
          <a:p>
            <a:pPr>
              <a:spcAft>
                <a:spcPts val="200"/>
              </a:spcAft>
              <a:defRPr sz="1000">
                <a:solidFill>
                  <a:srgbClr val="1E293B"/>
                </a:solidFill>
              </a:defRPr>
            </a:pPr>
            <a:r>
              <a:t>• Goods Receipt Notes (GRN) dockside supplier verification.</a:t>
            </a:r>
          </a:p>
        </p:txBody>
      </p:sp>
      <p:sp>
        <p:nvSpPr>
          <p:cNvPr id="11" name="Rounded Rectangle 10"/>
          <p:cNvSpPr/>
          <p:nvPr/>
        </p:nvSpPr>
        <p:spPr>
          <a:xfrm>
            <a:off x="731520" y="4023360"/>
            <a:ext cx="525780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023360"/>
            <a:ext cx="109728" cy="219456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33088"/>
            <a:ext cx="4892040" cy="1975104"/>
          </a:xfrm>
          <a:prstGeom prst="rect">
            <a:avLst/>
          </a:prstGeom>
          <a:noFill/>
        </p:spPr>
        <p:txBody>
          <a:bodyPr wrap="square">
            <a:spAutoFit/>
          </a:bodyPr>
          <a:lstStyle/>
          <a:p>
            <a:pPr>
              <a:defRPr sz="1300" b="1">
                <a:solidFill>
                  <a:srgbClr val="0A2540"/>
                </a:solidFill>
              </a:defRPr>
            </a:pPr>
            <a:r>
              <a:t>💳 Cashier Express POS &amp; GST Billing</a:t>
            </a:r>
          </a:p>
          <a:p>
            <a:pPr>
              <a:spcAft>
                <a:spcPts val="400"/>
              </a:spcAft>
              <a:defRPr sz="950" b="1">
                <a:solidFill>
                  <a:srgbClr val="0A2540"/>
                </a:solidFill>
              </a:defRPr>
            </a:pPr>
            <a:r>
              <a:t>ALIGNED TQM GOAL: SERVICE SPEED, TAX INTEGRITY &amp; ZERO CASH LEAKAGE</a:t>
            </a:r>
          </a:p>
          <a:p>
            <a:pPr>
              <a:spcAft>
                <a:spcPts val="200"/>
              </a:spcAft>
              <a:defRPr sz="1000">
                <a:solidFill>
                  <a:srgbClr val="1E293B"/>
                </a:solidFill>
              </a:defRPr>
            </a:pPr>
            <a:r>
              <a:t>• 1-Click verified eRx import from clinical queue.</a:t>
            </a:r>
          </a:p>
          <a:p>
            <a:pPr>
              <a:spcAft>
                <a:spcPts val="200"/>
              </a:spcAft>
              <a:defRPr sz="1000">
                <a:solidFill>
                  <a:srgbClr val="1E293B"/>
                </a:solidFill>
              </a:defRPr>
            </a:pPr>
            <a:r>
              <a:t>• Multi-tender checkout: Cash change calculator, Dynamic UPI QR, Card.</a:t>
            </a:r>
          </a:p>
          <a:p>
            <a:pPr>
              <a:spcAft>
                <a:spcPts val="200"/>
              </a:spcAft>
              <a:defRPr sz="1000">
                <a:solidFill>
                  <a:srgbClr val="1E293B"/>
                </a:solidFill>
              </a:defRPr>
            </a:pPr>
            <a:r>
              <a:t>• Automated statutory 5% GST calculation (2.5% CGST + 2.5% SGST).</a:t>
            </a:r>
          </a:p>
          <a:p>
            <a:pPr>
              <a:spcAft>
                <a:spcPts val="200"/>
              </a:spcAft>
              <a:defRPr sz="1000">
                <a:solidFill>
                  <a:srgbClr val="1E293B"/>
                </a:solidFill>
              </a:defRPr>
            </a:pPr>
            <a:r>
              <a:t>• Instant 80mm thermal receipt printing and sales ledger.</a:t>
            </a:r>
          </a:p>
        </p:txBody>
      </p:sp>
      <p:sp>
        <p:nvSpPr>
          <p:cNvPr id="14" name="Rounded Rectangle 13"/>
          <p:cNvSpPr/>
          <p:nvPr/>
        </p:nvSpPr>
        <p:spPr>
          <a:xfrm>
            <a:off x="6172200" y="4023360"/>
            <a:ext cx="525780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4023360"/>
            <a:ext cx="109728" cy="21945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133088"/>
            <a:ext cx="4892040" cy="1975104"/>
          </a:xfrm>
          <a:prstGeom prst="rect">
            <a:avLst/>
          </a:prstGeom>
          <a:noFill/>
        </p:spPr>
        <p:txBody>
          <a:bodyPr wrap="square">
            <a:spAutoFit/>
          </a:bodyPr>
          <a:lstStyle/>
          <a:p>
            <a:pPr>
              <a:defRPr sz="1300" b="1">
                <a:solidFill>
                  <a:srgbClr val="0A2540"/>
                </a:solidFill>
              </a:defRPr>
            </a:pPr>
            <a:r>
              <a:t>🛵 Delivery Dispatch Fleet (e-POD)</a:t>
            </a:r>
          </a:p>
          <a:p>
            <a:pPr>
              <a:spcAft>
                <a:spcPts val="400"/>
              </a:spcAft>
              <a:defRPr sz="950" b="1">
                <a:solidFill>
                  <a:srgbClr val="D97706"/>
                </a:solidFill>
              </a:defRPr>
            </a:pPr>
            <a:r>
              <a:t>ALIGNED TQM GOAL: 100% LAST-MILE HANDOVER FIDELITY</a:t>
            </a:r>
          </a:p>
          <a:p>
            <a:pPr>
              <a:spcAft>
                <a:spcPts val="200"/>
              </a:spcAft>
              <a:defRPr sz="1000">
                <a:solidFill>
                  <a:srgbClr val="1E293B"/>
                </a:solidFill>
              </a:defRPr>
            </a:pPr>
            <a:r>
              <a:t>• Visual 3-column route Kanban board (Packaging, Out, Delivered).</a:t>
            </a:r>
          </a:p>
          <a:p>
            <a:pPr>
              <a:spcAft>
                <a:spcPts val="200"/>
              </a:spcAft>
              <a:defRPr sz="1000">
                <a:solidFill>
                  <a:srgbClr val="1E293B"/>
                </a:solidFill>
              </a:defRPr>
            </a:pPr>
            <a:r>
              <a:t>• Cold-bag insulated packaging verification checklist.</a:t>
            </a:r>
          </a:p>
          <a:p>
            <a:pPr>
              <a:spcAft>
                <a:spcPts val="200"/>
              </a:spcAft>
              <a:defRPr sz="1000">
                <a:solidFill>
                  <a:srgbClr val="1E293B"/>
                </a:solidFill>
              </a:defRPr>
            </a:pPr>
            <a:r>
              <a:t>• 4-Digit customer SMS OTP verification before order handoff.</a:t>
            </a:r>
          </a:p>
          <a:p>
            <a:pPr>
              <a:spcAft>
                <a:spcPts val="200"/>
              </a:spcAft>
              <a:defRPr sz="1000">
                <a:solidFill>
                  <a:srgbClr val="1E293B"/>
                </a:solidFill>
              </a:defRPr>
            </a:pPr>
            <a:r>
              <a:t>• Automatic GPS arrival and handover timestamp logging.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RUBRIC: INITIAL UI &amp; MAIN WORKFLOW</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Initial UI &amp; End-to-End System Workflow</a:t>
            </a:r>
          </a:p>
        </p:txBody>
      </p:sp>
      <p:sp>
        <p:nvSpPr>
          <p:cNvPr id="5" name="Rounded Rectangle 4"/>
          <p:cNvSpPr/>
          <p:nvPr/>
        </p:nvSpPr>
        <p:spPr>
          <a:xfrm>
            <a:off x="731520" y="1645920"/>
            <a:ext cx="2029968"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2029968" cy="5486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2029968" cy="457200"/>
          </a:xfrm>
          <a:prstGeom prst="rect">
            <a:avLst/>
          </a:prstGeom>
          <a:noFill/>
        </p:spPr>
        <p:txBody>
          <a:bodyPr wrap="square">
            <a:spAutoFit/>
          </a:bodyPr>
          <a:lstStyle/>
          <a:p>
            <a:pPr algn="ctr">
              <a:defRPr sz="1200" b="1">
                <a:solidFill>
                  <a:srgbClr val="FFFFFF"/>
                </a:solidFill>
              </a:defRPr>
            </a:pPr>
            <a:r>
              <a:t>STEP 1</a:t>
            </a:r>
          </a:p>
        </p:txBody>
      </p:sp>
      <p:sp>
        <p:nvSpPr>
          <p:cNvPr id="8" name="TextBox 7"/>
          <p:cNvSpPr txBox="1"/>
          <p:nvPr/>
        </p:nvSpPr>
        <p:spPr>
          <a:xfrm>
            <a:off x="822960" y="2286000"/>
            <a:ext cx="1847088" cy="2194560"/>
          </a:xfrm>
          <a:prstGeom prst="rect">
            <a:avLst/>
          </a:prstGeom>
          <a:noFill/>
        </p:spPr>
        <p:txBody>
          <a:bodyPr wrap="square">
            <a:spAutoFit/>
          </a:bodyPr>
          <a:lstStyle/>
          <a:p>
            <a:pPr>
              <a:spcAft>
                <a:spcPts val="600"/>
              </a:spcAft>
              <a:defRPr sz="1100" b="1">
                <a:solidFill>
                  <a:srgbClr val="0A2540"/>
                </a:solidFill>
              </a:defRPr>
            </a:pPr>
            <a:r>
              <a:t>Stage 1: Prescription Intake</a:t>
            </a:r>
          </a:p>
          <a:p>
            <a:pPr>
              <a:spcAft>
                <a:spcPts val="300"/>
              </a:spcAft>
              <a:defRPr sz="950">
                <a:solidFill>
                  <a:srgbClr val="1E293B"/>
                </a:solidFill>
              </a:defRPr>
            </a:pPr>
            <a:r>
              <a:t>• Doctor e-Prescription uploaded</a:t>
            </a:r>
          </a:p>
          <a:p>
            <a:pPr>
              <a:spcAft>
                <a:spcPts val="300"/>
              </a:spcAft>
              <a:defRPr sz="950">
                <a:solidFill>
                  <a:srgbClr val="1E293B"/>
                </a:solidFill>
              </a:defRPr>
            </a:pPr>
            <a:r>
              <a:t>• Patient EHR allergies scanned</a:t>
            </a:r>
          </a:p>
          <a:p>
            <a:pPr>
              <a:spcAft>
                <a:spcPts val="300"/>
              </a:spcAft>
              <a:defRPr sz="950">
                <a:solidFill>
                  <a:srgbClr val="1E293B"/>
                </a:solidFill>
              </a:defRPr>
            </a:pPr>
            <a:r>
              <a:t>• Enters pending review queue</a:t>
            </a:r>
          </a:p>
        </p:txBody>
      </p:sp>
      <p:sp>
        <p:nvSpPr>
          <p:cNvPr id="9" name="Rounded Rectangle 8"/>
          <p:cNvSpPr/>
          <p:nvPr/>
        </p:nvSpPr>
        <p:spPr>
          <a:xfrm>
            <a:off x="2898648" y="1645920"/>
            <a:ext cx="2029968"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98648" y="1645920"/>
            <a:ext cx="2029968" cy="548640"/>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8648" y="1691640"/>
            <a:ext cx="2029968" cy="457200"/>
          </a:xfrm>
          <a:prstGeom prst="rect">
            <a:avLst/>
          </a:prstGeom>
          <a:noFill/>
        </p:spPr>
        <p:txBody>
          <a:bodyPr wrap="square">
            <a:spAutoFit/>
          </a:bodyPr>
          <a:lstStyle/>
          <a:p>
            <a:pPr algn="ctr">
              <a:defRPr sz="1200" b="1">
                <a:solidFill>
                  <a:srgbClr val="FFFFFF"/>
                </a:solidFill>
              </a:defRPr>
            </a:pPr>
            <a:r>
              <a:t>STEP 2</a:t>
            </a:r>
          </a:p>
        </p:txBody>
      </p:sp>
      <p:sp>
        <p:nvSpPr>
          <p:cNvPr id="12" name="TextBox 11"/>
          <p:cNvSpPr txBox="1"/>
          <p:nvPr/>
        </p:nvSpPr>
        <p:spPr>
          <a:xfrm>
            <a:off x="2990088" y="2286000"/>
            <a:ext cx="1847088" cy="2194560"/>
          </a:xfrm>
          <a:prstGeom prst="rect">
            <a:avLst/>
          </a:prstGeom>
          <a:noFill/>
        </p:spPr>
        <p:txBody>
          <a:bodyPr wrap="square">
            <a:spAutoFit/>
          </a:bodyPr>
          <a:lstStyle/>
          <a:p>
            <a:pPr>
              <a:spcAft>
                <a:spcPts val="600"/>
              </a:spcAft>
              <a:defRPr sz="1100" b="1">
                <a:solidFill>
                  <a:srgbClr val="0A2540"/>
                </a:solidFill>
              </a:defRPr>
            </a:pPr>
            <a:r>
              <a:t>Stage 2: Clinical CDSS Gate</a:t>
            </a:r>
          </a:p>
          <a:p>
            <a:pPr>
              <a:spcAft>
                <a:spcPts val="300"/>
              </a:spcAft>
              <a:defRPr sz="950">
                <a:solidFill>
                  <a:srgbClr val="1E293B"/>
                </a:solidFill>
              </a:defRPr>
            </a:pPr>
            <a:r>
              <a:t>• Pharmacist runs CDSS scan</a:t>
            </a:r>
          </a:p>
          <a:p>
            <a:pPr>
              <a:spcAft>
                <a:spcPts val="300"/>
              </a:spcAft>
              <a:defRPr sz="950">
                <a:solidFill>
                  <a:srgbClr val="1E293B"/>
                </a:solidFill>
              </a:defRPr>
            </a:pPr>
            <a:r>
              <a:t>• Allergy &amp; interaction checks</a:t>
            </a:r>
          </a:p>
          <a:p>
            <a:pPr>
              <a:spcAft>
                <a:spcPts val="300"/>
              </a:spcAft>
              <a:defRPr sz="950">
                <a:solidFill>
                  <a:srgbClr val="1E293B"/>
                </a:solidFill>
              </a:defRPr>
            </a:pPr>
            <a:r>
              <a:t>• Schedule X PIN authenticated</a:t>
            </a:r>
          </a:p>
          <a:p>
            <a:pPr>
              <a:spcAft>
                <a:spcPts val="300"/>
              </a:spcAft>
              <a:defRPr sz="950">
                <a:solidFill>
                  <a:srgbClr val="1E293B"/>
                </a:solidFill>
              </a:defRPr>
            </a:pPr>
            <a:r>
              <a:t>• Status updated to 'Approved'</a:t>
            </a:r>
          </a:p>
        </p:txBody>
      </p:sp>
      <p:sp>
        <p:nvSpPr>
          <p:cNvPr id="13" name="Rounded Rectangle 12"/>
          <p:cNvSpPr/>
          <p:nvPr/>
        </p:nvSpPr>
        <p:spPr>
          <a:xfrm>
            <a:off x="5065776" y="1645920"/>
            <a:ext cx="2029968"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65776" y="1645920"/>
            <a:ext cx="2029968" cy="54864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65776" y="1691640"/>
            <a:ext cx="2029968" cy="457200"/>
          </a:xfrm>
          <a:prstGeom prst="rect">
            <a:avLst/>
          </a:prstGeom>
          <a:noFill/>
        </p:spPr>
        <p:txBody>
          <a:bodyPr wrap="square">
            <a:spAutoFit/>
          </a:bodyPr>
          <a:lstStyle/>
          <a:p>
            <a:pPr algn="ctr">
              <a:defRPr sz="1200" b="1">
                <a:solidFill>
                  <a:srgbClr val="FFFFFF"/>
                </a:solidFill>
              </a:defRPr>
            </a:pPr>
            <a:r>
              <a:t>STEP 3</a:t>
            </a:r>
          </a:p>
        </p:txBody>
      </p:sp>
      <p:sp>
        <p:nvSpPr>
          <p:cNvPr id="16" name="TextBox 15"/>
          <p:cNvSpPr txBox="1"/>
          <p:nvPr/>
        </p:nvSpPr>
        <p:spPr>
          <a:xfrm>
            <a:off x="5157216" y="2286000"/>
            <a:ext cx="1847088" cy="2194560"/>
          </a:xfrm>
          <a:prstGeom prst="rect">
            <a:avLst/>
          </a:prstGeom>
          <a:noFill/>
        </p:spPr>
        <p:txBody>
          <a:bodyPr wrap="square">
            <a:spAutoFit/>
          </a:bodyPr>
          <a:lstStyle/>
          <a:p>
            <a:pPr>
              <a:spcAft>
                <a:spcPts val="600"/>
              </a:spcAft>
              <a:defRPr sz="1100" b="1">
                <a:solidFill>
                  <a:srgbClr val="0A2540"/>
                </a:solidFill>
              </a:defRPr>
            </a:pPr>
            <a:r>
              <a:t>Stage 3: POS Express Billing</a:t>
            </a:r>
          </a:p>
          <a:p>
            <a:pPr>
              <a:spcAft>
                <a:spcPts val="300"/>
              </a:spcAft>
              <a:defRPr sz="950">
                <a:solidFill>
                  <a:srgbClr val="1E293B"/>
                </a:solidFill>
              </a:defRPr>
            </a:pPr>
            <a:r>
              <a:t>• 1-Click import to Cashier cart</a:t>
            </a:r>
          </a:p>
          <a:p>
            <a:pPr>
              <a:spcAft>
                <a:spcPts val="300"/>
              </a:spcAft>
              <a:defRPr sz="950">
                <a:solidFill>
                  <a:srgbClr val="1E293B"/>
                </a:solidFill>
              </a:defRPr>
            </a:pPr>
            <a:r>
              <a:t>• Auto FEFO batch picking</a:t>
            </a:r>
          </a:p>
          <a:p>
            <a:pPr>
              <a:spcAft>
                <a:spcPts val="300"/>
              </a:spcAft>
              <a:defRPr sz="950">
                <a:solidFill>
                  <a:srgbClr val="1E293B"/>
                </a:solidFill>
              </a:defRPr>
            </a:pPr>
            <a:r>
              <a:t>• Dynamic UPI QR / Cash change</a:t>
            </a:r>
          </a:p>
          <a:p>
            <a:pPr>
              <a:spcAft>
                <a:spcPts val="300"/>
              </a:spcAft>
              <a:defRPr sz="950">
                <a:solidFill>
                  <a:srgbClr val="1E293B"/>
                </a:solidFill>
              </a:defRPr>
            </a:pPr>
            <a:r>
              <a:t>• Thermal 80mm GST receipt printed</a:t>
            </a:r>
          </a:p>
        </p:txBody>
      </p:sp>
      <p:sp>
        <p:nvSpPr>
          <p:cNvPr id="17" name="Rounded Rectangle 16"/>
          <p:cNvSpPr/>
          <p:nvPr/>
        </p:nvSpPr>
        <p:spPr>
          <a:xfrm>
            <a:off x="7232904" y="1645920"/>
            <a:ext cx="2029968"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32904" y="1645920"/>
            <a:ext cx="2029968" cy="548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32904" y="1691640"/>
            <a:ext cx="2029968" cy="457200"/>
          </a:xfrm>
          <a:prstGeom prst="rect">
            <a:avLst/>
          </a:prstGeom>
          <a:noFill/>
        </p:spPr>
        <p:txBody>
          <a:bodyPr wrap="square">
            <a:spAutoFit/>
          </a:bodyPr>
          <a:lstStyle/>
          <a:p>
            <a:pPr algn="ctr">
              <a:defRPr sz="1200" b="1">
                <a:solidFill>
                  <a:srgbClr val="FFFFFF"/>
                </a:solidFill>
              </a:defRPr>
            </a:pPr>
            <a:r>
              <a:t>STEP 4</a:t>
            </a:r>
          </a:p>
        </p:txBody>
      </p:sp>
      <p:sp>
        <p:nvSpPr>
          <p:cNvPr id="20" name="TextBox 19"/>
          <p:cNvSpPr txBox="1"/>
          <p:nvPr/>
        </p:nvSpPr>
        <p:spPr>
          <a:xfrm>
            <a:off x="7324344" y="2286000"/>
            <a:ext cx="1847088" cy="2194560"/>
          </a:xfrm>
          <a:prstGeom prst="rect">
            <a:avLst/>
          </a:prstGeom>
          <a:noFill/>
        </p:spPr>
        <p:txBody>
          <a:bodyPr wrap="square">
            <a:spAutoFit/>
          </a:bodyPr>
          <a:lstStyle/>
          <a:p>
            <a:pPr>
              <a:spcAft>
                <a:spcPts val="600"/>
              </a:spcAft>
              <a:defRPr sz="1100" b="1">
                <a:solidFill>
                  <a:srgbClr val="0A2540"/>
                </a:solidFill>
              </a:defRPr>
            </a:pPr>
            <a:r>
              <a:t>Stage 4: Cold-Chain &amp; Fleet</a:t>
            </a:r>
          </a:p>
          <a:p>
            <a:pPr>
              <a:spcAft>
                <a:spcPts val="300"/>
              </a:spcAft>
              <a:defRPr sz="950">
                <a:solidFill>
                  <a:srgbClr val="1E293B"/>
                </a:solidFill>
              </a:defRPr>
            </a:pPr>
            <a:r>
              <a:t>• Cold-bag checklist verified</a:t>
            </a:r>
          </a:p>
          <a:p>
            <a:pPr>
              <a:spcAft>
                <a:spcPts val="300"/>
              </a:spcAft>
              <a:defRPr sz="950">
                <a:solidFill>
                  <a:srgbClr val="1E293B"/>
                </a:solidFill>
              </a:defRPr>
            </a:pPr>
            <a:r>
              <a:t>• Dispatched on Kanban route</a:t>
            </a:r>
          </a:p>
          <a:p>
            <a:pPr>
              <a:spcAft>
                <a:spcPts val="300"/>
              </a:spcAft>
              <a:defRPr sz="950">
                <a:solidFill>
                  <a:srgbClr val="1E293B"/>
                </a:solidFill>
              </a:defRPr>
            </a:pPr>
            <a:r>
              <a:t>• Customer gives 4-digit OTP</a:t>
            </a:r>
          </a:p>
          <a:p>
            <a:pPr>
              <a:spcAft>
                <a:spcPts val="300"/>
              </a:spcAft>
              <a:defRPr sz="950">
                <a:solidFill>
                  <a:srgbClr val="1E293B"/>
                </a:solidFill>
              </a:defRPr>
            </a:pPr>
            <a:r>
              <a:t>• Marked 'Delivered' (e-POD)</a:t>
            </a:r>
          </a:p>
        </p:txBody>
      </p:sp>
      <p:sp>
        <p:nvSpPr>
          <p:cNvPr id="21" name="Rounded Rectangle 20"/>
          <p:cNvSpPr/>
          <p:nvPr/>
        </p:nvSpPr>
        <p:spPr>
          <a:xfrm>
            <a:off x="9400032" y="1645920"/>
            <a:ext cx="2029968"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00032" y="1645920"/>
            <a:ext cx="2029968" cy="54864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0032" y="1691640"/>
            <a:ext cx="2029968" cy="457200"/>
          </a:xfrm>
          <a:prstGeom prst="rect">
            <a:avLst/>
          </a:prstGeom>
          <a:noFill/>
        </p:spPr>
        <p:txBody>
          <a:bodyPr wrap="square">
            <a:spAutoFit/>
          </a:bodyPr>
          <a:lstStyle/>
          <a:p>
            <a:pPr algn="ctr">
              <a:defRPr sz="1200" b="1">
                <a:solidFill>
                  <a:srgbClr val="FFFFFF"/>
                </a:solidFill>
              </a:defRPr>
            </a:pPr>
            <a:r>
              <a:t>STEP 5</a:t>
            </a:r>
          </a:p>
        </p:txBody>
      </p:sp>
      <p:sp>
        <p:nvSpPr>
          <p:cNvPr id="24" name="TextBox 23"/>
          <p:cNvSpPr txBox="1"/>
          <p:nvPr/>
        </p:nvSpPr>
        <p:spPr>
          <a:xfrm>
            <a:off x="9491472" y="2286000"/>
            <a:ext cx="1847088" cy="2194560"/>
          </a:xfrm>
          <a:prstGeom prst="rect">
            <a:avLst/>
          </a:prstGeom>
          <a:noFill/>
        </p:spPr>
        <p:txBody>
          <a:bodyPr wrap="square">
            <a:spAutoFit/>
          </a:bodyPr>
          <a:lstStyle/>
          <a:p>
            <a:pPr>
              <a:spcAft>
                <a:spcPts val="600"/>
              </a:spcAft>
              <a:defRPr sz="1100" b="1">
                <a:solidFill>
                  <a:srgbClr val="0A2540"/>
                </a:solidFill>
              </a:defRPr>
            </a:pPr>
            <a:r>
              <a:t>Stage 5: Daily Z-Report Close</a:t>
            </a:r>
          </a:p>
          <a:p>
            <a:pPr>
              <a:spcAft>
                <a:spcPts val="300"/>
              </a:spcAft>
              <a:defRPr sz="950">
                <a:solidFill>
                  <a:srgbClr val="1E293B"/>
                </a:solidFill>
              </a:defRPr>
            </a:pPr>
            <a:r>
              <a:t>• Cash drawer counted</a:t>
            </a:r>
          </a:p>
          <a:p>
            <a:pPr>
              <a:spcAft>
                <a:spcPts val="300"/>
              </a:spcAft>
              <a:defRPr sz="950">
                <a:solidFill>
                  <a:srgbClr val="1E293B"/>
                </a:solidFill>
              </a:defRPr>
            </a:pPr>
            <a:r>
              <a:t>• Variance calculated (₹0.00)</a:t>
            </a:r>
          </a:p>
          <a:p>
            <a:pPr>
              <a:spcAft>
                <a:spcPts val="300"/>
              </a:spcAft>
              <a:defRPr sz="950">
                <a:solidFill>
                  <a:srgbClr val="1E293B"/>
                </a:solidFill>
              </a:defRPr>
            </a:pPr>
            <a:r>
              <a:t>• Shift signed &amp; closed in SQLite</a:t>
            </a:r>
          </a:p>
          <a:p>
            <a:pPr>
              <a:spcAft>
                <a:spcPts val="300"/>
              </a:spcAft>
              <a:defRPr sz="950">
                <a:solidFill>
                  <a:srgbClr val="1E293B"/>
                </a:solidFill>
              </a:defRPr>
            </a:pPr>
            <a:r>
              <a:t>• CSV exported for accounting</a:t>
            </a:r>
          </a:p>
        </p:txBody>
      </p:sp>
      <p:sp>
        <p:nvSpPr>
          <p:cNvPr id="25" name="Rounded Rectangle 24"/>
          <p:cNvSpPr/>
          <p:nvPr/>
        </p:nvSpPr>
        <p:spPr>
          <a:xfrm>
            <a:off x="731520" y="4754880"/>
            <a:ext cx="10728655" cy="15544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846320"/>
            <a:ext cx="10332720" cy="1371600"/>
          </a:xfrm>
          <a:prstGeom prst="rect">
            <a:avLst/>
          </a:prstGeom>
          <a:noFill/>
        </p:spPr>
        <p:txBody>
          <a:bodyPr wrap="square">
            <a:spAutoFit/>
          </a:bodyPr>
          <a:lstStyle/>
          <a:p>
            <a:pPr>
              <a:spcAft>
                <a:spcPts val="400"/>
              </a:spcAft>
              <a:defRPr sz="1200" b="1">
                <a:solidFill>
                  <a:srgbClr val="00A389"/>
                </a:solidFill>
              </a:defRPr>
            </a:pPr>
            <a:r>
              <a:t>🎨 USER INTERFACE DESIGN &amp; DUAL DEPLOYMENT PARITY</a:t>
            </a:r>
          </a:p>
          <a:p>
            <a:pPr>
              <a:spcAft>
                <a:spcPts val="200"/>
              </a:spcAft>
              <a:defRPr sz="1050">
                <a:solidFill>
                  <a:srgbClr val="1E293B"/>
                </a:solidFill>
              </a:defRPr>
            </a:pPr>
            <a:r>
              <a:t>• Desktop UI: Rendered via Microsoft Edge Chromium WebView2 engine with hardware acceleration (60 FPS) and zero native bridge latency.</a:t>
            </a:r>
          </a:p>
          <a:p>
            <a:pPr>
              <a:spcAft>
                <a:spcPts val="200"/>
              </a:spcAft>
              <a:defRPr sz="1050">
                <a:solidFill>
                  <a:srgbClr val="1E293B"/>
                </a:solidFill>
              </a:defRPr>
            </a:pPr>
            <a:r>
              <a:t>• Web UI: Hosted asynchronously via FastAPI (Uvicorn), providing 100% feature parity on Chrome, Safari, Edge, tablets, and mobile.</a:t>
            </a:r>
          </a:p>
          <a:p>
            <a:pPr>
              <a:spcAft>
                <a:spcPts val="200"/>
              </a:spcAft>
              <a:defRPr sz="1050">
                <a:solidFill>
                  <a:srgbClr val="1E293B"/>
                </a:solidFill>
              </a:defRPr>
            </a:pPr>
            <a:r>
              <a:t>• Design System: Custom dark-mode Glassmorphism with CSS variables, responsive side navigation, interactive modals, and live clock tickers.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FAIL-SAFE QUALITY GATES</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Poka-Yoke: Mistake-Proofing Healthcare Operations</a:t>
            </a:r>
          </a:p>
        </p:txBody>
      </p:sp>
      <p:sp>
        <p:nvSpPr>
          <p:cNvPr id="5" name="Rounded Rectangle 4"/>
          <p:cNvSpPr/>
          <p:nvPr/>
        </p:nvSpPr>
        <p:spPr>
          <a:xfrm>
            <a:off x="731520" y="1645920"/>
            <a:ext cx="525780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09728" cy="2194560"/>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55648"/>
            <a:ext cx="4892040" cy="1975104"/>
          </a:xfrm>
          <a:prstGeom prst="rect">
            <a:avLst/>
          </a:prstGeom>
          <a:noFill/>
        </p:spPr>
        <p:txBody>
          <a:bodyPr wrap="square">
            <a:spAutoFit/>
          </a:bodyPr>
          <a:lstStyle/>
          <a:p>
            <a:pPr>
              <a:defRPr sz="1300" b="1">
                <a:solidFill>
                  <a:srgbClr val="0A2540"/>
                </a:solidFill>
              </a:defRPr>
            </a:pPr>
            <a:r>
              <a:t>1. CDSS Patient Allergy Shield</a:t>
            </a:r>
          </a:p>
          <a:p>
            <a:pPr>
              <a:spcAft>
                <a:spcPts val="400"/>
              </a:spcAft>
              <a:defRPr sz="950" b="1">
                <a:solidFill>
                  <a:srgbClr val="00A389"/>
                </a:solidFill>
              </a:defRPr>
            </a:pPr>
            <a:r>
              <a:t>POKA-YOKE MECHANISM: AUTOMATED BLOCKING GATE</a:t>
            </a:r>
          </a:p>
          <a:p>
            <a:pPr>
              <a:defRPr sz="1050">
                <a:solidFill>
                  <a:srgbClr val="1E293B"/>
                </a:solidFill>
              </a:defRPr>
            </a:pPr>
            <a:r>
              <a:t>The cashier or pharmacist cannot bypass or dispense drugs containing penicillin, NSAIDs, or sulfas if the patient EHR contains registered hypersensitivity. Prevents fatal anaphylaxis before billing.</a:t>
            </a:r>
          </a:p>
        </p:txBody>
      </p:sp>
      <p:sp>
        <p:nvSpPr>
          <p:cNvPr id="8" name="Rounded Rectangle 7"/>
          <p:cNvSpPr/>
          <p:nvPr/>
        </p:nvSpPr>
        <p:spPr>
          <a:xfrm>
            <a:off x="6172200" y="1645920"/>
            <a:ext cx="525780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645920"/>
            <a:ext cx="109728" cy="219456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755648"/>
            <a:ext cx="4892040" cy="1975104"/>
          </a:xfrm>
          <a:prstGeom prst="rect">
            <a:avLst/>
          </a:prstGeom>
          <a:noFill/>
        </p:spPr>
        <p:txBody>
          <a:bodyPr wrap="square">
            <a:spAutoFit/>
          </a:bodyPr>
          <a:lstStyle/>
          <a:p>
            <a:pPr>
              <a:defRPr sz="1300" b="1">
                <a:solidFill>
                  <a:srgbClr val="0A2540"/>
                </a:solidFill>
              </a:defRPr>
            </a:pPr>
            <a:r>
              <a:t>2. Molecule Interaction Guard</a:t>
            </a:r>
          </a:p>
          <a:p>
            <a:pPr>
              <a:spcAft>
                <a:spcPts val="400"/>
              </a:spcAft>
              <a:defRPr sz="950" b="1">
                <a:solidFill>
                  <a:srgbClr val="E11D48"/>
                </a:solidFill>
              </a:defRPr>
            </a:pPr>
            <a:r>
              <a:t>POKA-YOKE MECHANISM: CROSS-REFERENCE ALERT</a:t>
            </a:r>
          </a:p>
          <a:p>
            <a:pPr>
              <a:defRPr sz="1050">
                <a:solidFill>
                  <a:srgbClr val="1E293B"/>
                </a:solidFill>
              </a:defRPr>
            </a:pPr>
            <a:r>
              <a:t>When combining multiple drugs in a prescription (e.g. Warfarin + Augmentin, Glycomet + Alcohol), the Clinical Decision Support System triggers a severe warning modal preventing toxic dosing.</a:t>
            </a:r>
          </a:p>
        </p:txBody>
      </p:sp>
      <p:sp>
        <p:nvSpPr>
          <p:cNvPr id="11" name="Rounded Rectangle 10"/>
          <p:cNvSpPr/>
          <p:nvPr/>
        </p:nvSpPr>
        <p:spPr>
          <a:xfrm>
            <a:off x="731520" y="4023360"/>
            <a:ext cx="525780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023360"/>
            <a:ext cx="109728" cy="21945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33088"/>
            <a:ext cx="4892040" cy="1975104"/>
          </a:xfrm>
          <a:prstGeom prst="rect">
            <a:avLst/>
          </a:prstGeom>
          <a:noFill/>
        </p:spPr>
        <p:txBody>
          <a:bodyPr wrap="square">
            <a:spAutoFit/>
          </a:bodyPr>
          <a:lstStyle/>
          <a:p>
            <a:pPr>
              <a:defRPr sz="1300" b="1">
                <a:solidFill>
                  <a:srgbClr val="0A2540"/>
                </a:solidFill>
              </a:defRPr>
            </a:pPr>
            <a:r>
              <a:t>3. Schedule X Narcotics Dual PIN</a:t>
            </a:r>
          </a:p>
          <a:p>
            <a:pPr>
              <a:spcAft>
                <a:spcPts val="400"/>
              </a:spcAft>
              <a:defRPr sz="950" b="1">
                <a:solidFill>
                  <a:srgbClr val="0284C7"/>
                </a:solidFill>
              </a:defRPr>
            </a:pPr>
            <a:r>
              <a:t>POKA-YOKE MECHANISM: MANDATORY DUAL AUTHENTICATION</a:t>
            </a:r>
          </a:p>
          <a:p>
            <a:pPr>
              <a:defRPr sz="1050">
                <a:solidFill>
                  <a:srgbClr val="1E293B"/>
                </a:solidFill>
              </a:defRPr>
            </a:pPr>
            <a:r>
              <a:t>Narcotic sedatives (e.g. Alprax, Diazepam) cannot be added to the POS cart without doctor registration number validation and a 4-digit pharmacist authorization PIN, eliminating illegal diversion.</a:t>
            </a:r>
          </a:p>
        </p:txBody>
      </p:sp>
      <p:sp>
        <p:nvSpPr>
          <p:cNvPr id="14" name="Rounded Rectangle 13"/>
          <p:cNvSpPr/>
          <p:nvPr/>
        </p:nvSpPr>
        <p:spPr>
          <a:xfrm>
            <a:off x="6172200" y="4023360"/>
            <a:ext cx="5257800" cy="2194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4023360"/>
            <a:ext cx="109728" cy="21945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133088"/>
            <a:ext cx="4892040" cy="1975104"/>
          </a:xfrm>
          <a:prstGeom prst="rect">
            <a:avLst/>
          </a:prstGeom>
          <a:noFill/>
        </p:spPr>
        <p:txBody>
          <a:bodyPr wrap="square">
            <a:spAutoFit/>
          </a:bodyPr>
          <a:lstStyle/>
          <a:p>
            <a:pPr>
              <a:defRPr sz="1300" b="1">
                <a:solidFill>
                  <a:srgbClr val="0A2540"/>
                </a:solidFill>
              </a:defRPr>
            </a:pPr>
            <a:r>
              <a:t>4. 4-Digit OTP Delivery Handshake</a:t>
            </a:r>
          </a:p>
          <a:p>
            <a:pPr>
              <a:spcAft>
                <a:spcPts val="400"/>
              </a:spcAft>
              <a:defRPr sz="950" b="1">
                <a:solidFill>
                  <a:srgbClr val="D97706"/>
                </a:solidFill>
              </a:defRPr>
            </a:pPr>
            <a:r>
              <a:t>POKA-YOKE MECHANISM: CRYPTOGRAPHIC HANDSHAKE</a:t>
            </a:r>
          </a:p>
          <a:p>
            <a:pPr>
              <a:defRPr sz="1050">
                <a:solidFill>
                  <a:srgbClr val="1E293B"/>
                </a:solidFill>
              </a:defRPr>
            </a:pPr>
            <a:r>
              <a:t>A delivery agent cannot mark an order as 'Delivered' simply by clicking a button. The customer must provide a 4-digit SMS OTP, guaranteeing medicines are handed to the rightful patient.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RUBRIC: WORKING APPLICATION / DEMO</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Working Application Live Demonstration Guide</a:t>
            </a:r>
          </a:p>
        </p:txBody>
      </p:sp>
      <p:sp>
        <p:nvSpPr>
          <p:cNvPr id="5" name="Rounded Rectangle 4"/>
          <p:cNvSpPr/>
          <p:nvPr/>
        </p:nvSpPr>
        <p:spPr>
          <a:xfrm>
            <a:off x="731520" y="1645920"/>
            <a:ext cx="3328416"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28416" cy="64008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3328416" cy="548640"/>
          </a:xfrm>
          <a:prstGeom prst="rect">
            <a:avLst/>
          </a:prstGeom>
          <a:noFill/>
        </p:spPr>
        <p:txBody>
          <a:bodyPr wrap="square">
            <a:spAutoFit/>
          </a:bodyPr>
          <a:lstStyle/>
          <a:p>
            <a:pPr algn="ctr">
              <a:defRPr sz="1200" b="1">
                <a:solidFill>
                  <a:srgbClr val="FFFFFF"/>
                </a:solidFill>
              </a:defRPr>
            </a:pPr>
            <a:r>
              <a:t>Step 1: Application Launch</a:t>
            </a:r>
          </a:p>
        </p:txBody>
      </p:sp>
      <p:sp>
        <p:nvSpPr>
          <p:cNvPr id="8" name="TextBox 7"/>
          <p:cNvSpPr txBox="1"/>
          <p:nvPr/>
        </p:nvSpPr>
        <p:spPr>
          <a:xfrm>
            <a:off x="868680" y="2377440"/>
            <a:ext cx="3054096" cy="3840480"/>
          </a:xfrm>
          <a:prstGeom prst="rect">
            <a:avLst/>
          </a:prstGeom>
          <a:noFill/>
        </p:spPr>
        <p:txBody>
          <a:bodyPr wrap="square">
            <a:spAutoFit/>
          </a:bodyPr>
          <a:lstStyle/>
          <a:p>
            <a:pPr>
              <a:spcAft>
                <a:spcPts val="400"/>
              </a:spcAft>
              <a:defRPr sz="1050">
                <a:solidFill>
                  <a:srgbClr val="1E293B"/>
                </a:solidFill>
              </a:defRPr>
            </a:pPr>
            <a:r>
              <a:t>Desktop Launch:</a:t>
            </a:r>
          </a:p>
          <a:p>
            <a:pPr>
              <a:spcAft>
                <a:spcPts val="400"/>
              </a:spcAft>
              <a:defRPr sz="1050">
                <a:solidFill>
                  <a:srgbClr val="1E293B"/>
                </a:solidFill>
              </a:defRPr>
            </a:pPr>
            <a:r>
              <a:t>`python main.py`</a:t>
            </a:r>
          </a:p>
          <a:p>
            <a:pPr>
              <a:spcAft>
                <a:spcPts val="400"/>
              </a:spcAft>
              <a:defRPr sz="1050">
                <a:solidFill>
                  <a:srgbClr val="1E293B"/>
                </a:solidFill>
              </a:defRPr>
            </a:pPr>
            <a:r>
              <a:t>(Hardware-accelerated Edge Chromium WebView2 window)</a:t>
            </a:r>
          </a:p>
          <a:p>
            <a:pPr>
              <a:spcAft>
                <a:spcPts val="400"/>
              </a:spcAft>
              <a:defRPr sz="1050">
                <a:solidFill>
                  <a:srgbClr val="1E293B"/>
                </a:solidFill>
              </a:defRPr>
            </a:pPr>
          </a:p>
          <a:p>
            <a:pPr>
              <a:spcAft>
                <a:spcPts val="400"/>
              </a:spcAft>
              <a:defRPr sz="1050">
                <a:solidFill>
                  <a:srgbClr val="1E293B"/>
                </a:solidFill>
              </a:defRPr>
            </a:pPr>
            <a:r>
              <a:t>Web Server Launch:</a:t>
            </a:r>
          </a:p>
          <a:p>
            <a:pPr>
              <a:spcAft>
                <a:spcPts val="400"/>
              </a:spcAft>
              <a:defRPr sz="1050">
                <a:solidFill>
                  <a:srgbClr val="1E293B"/>
                </a:solidFill>
              </a:defRPr>
            </a:pPr>
            <a:r>
              <a:t>`python web_app.py`</a:t>
            </a:r>
          </a:p>
          <a:p>
            <a:pPr>
              <a:spcAft>
                <a:spcPts val="400"/>
              </a:spcAft>
              <a:defRPr sz="1050">
                <a:solidFill>
                  <a:srgbClr val="1E293B"/>
                </a:solidFill>
              </a:defRPr>
            </a:pPr>
            <a:r>
              <a:t>(Access at http://127.0.0.1:8000)</a:t>
            </a:r>
          </a:p>
          <a:p>
            <a:pPr>
              <a:spcAft>
                <a:spcPts val="400"/>
              </a:spcAft>
              <a:defRPr sz="1050">
                <a:solidFill>
                  <a:srgbClr val="1E293B"/>
                </a:solidFill>
              </a:defRPr>
            </a:pPr>
          </a:p>
          <a:p>
            <a:pPr>
              <a:spcAft>
                <a:spcPts val="400"/>
              </a:spcAft>
              <a:defRPr sz="1050">
                <a:solidFill>
                  <a:srgbClr val="1E293B"/>
                </a:solidFill>
              </a:defRPr>
            </a:pPr>
            <a:r>
              <a:t>Swagger API Documentation:</a:t>
            </a:r>
          </a:p>
          <a:p>
            <a:pPr>
              <a:spcAft>
                <a:spcPts val="400"/>
              </a:spcAft>
              <a:defRPr sz="1050">
                <a:solidFill>
                  <a:srgbClr val="1E293B"/>
                </a:solidFill>
              </a:defRPr>
            </a:pPr>
            <a:r>
              <a:t>Access at http://127.0.0.1:8000/docs</a:t>
            </a:r>
          </a:p>
        </p:txBody>
      </p:sp>
      <p:sp>
        <p:nvSpPr>
          <p:cNvPr id="9" name="Rounded Rectangle 8"/>
          <p:cNvSpPr/>
          <p:nvPr/>
        </p:nvSpPr>
        <p:spPr>
          <a:xfrm>
            <a:off x="4425696" y="1645920"/>
            <a:ext cx="3328416"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25696" y="1645920"/>
            <a:ext cx="3328416" cy="640080"/>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5696" y="1691640"/>
            <a:ext cx="3328416" cy="548640"/>
          </a:xfrm>
          <a:prstGeom prst="rect">
            <a:avLst/>
          </a:prstGeom>
          <a:noFill/>
        </p:spPr>
        <p:txBody>
          <a:bodyPr wrap="square">
            <a:spAutoFit/>
          </a:bodyPr>
          <a:lstStyle/>
          <a:p>
            <a:pPr algn="ctr">
              <a:defRPr sz="1200" b="1">
                <a:solidFill>
                  <a:srgbClr val="FFFFFF"/>
                </a:solidFill>
              </a:defRPr>
            </a:pPr>
            <a:r>
              <a:t>Step 2: Role Walkthrough</a:t>
            </a:r>
          </a:p>
        </p:txBody>
      </p:sp>
      <p:sp>
        <p:nvSpPr>
          <p:cNvPr id="12" name="TextBox 11"/>
          <p:cNvSpPr txBox="1"/>
          <p:nvPr/>
        </p:nvSpPr>
        <p:spPr>
          <a:xfrm>
            <a:off x="4562856" y="2377440"/>
            <a:ext cx="3054096" cy="3840480"/>
          </a:xfrm>
          <a:prstGeom prst="rect">
            <a:avLst/>
          </a:prstGeom>
          <a:noFill/>
        </p:spPr>
        <p:txBody>
          <a:bodyPr wrap="square">
            <a:spAutoFit/>
          </a:bodyPr>
          <a:lstStyle/>
          <a:p>
            <a:pPr>
              <a:spcAft>
                <a:spcPts val="400"/>
              </a:spcAft>
              <a:defRPr sz="1050">
                <a:solidFill>
                  <a:srgbClr val="1E293B"/>
                </a:solidFill>
              </a:defRPr>
            </a:pPr>
            <a:r>
              <a:t>1. Login as Admin (`admin`/`admin123`):</a:t>
            </a:r>
          </a:p>
          <a:p>
            <a:pPr>
              <a:spcAft>
                <a:spcPts val="400"/>
              </a:spcAft>
              <a:defRPr sz="1050">
                <a:solidFill>
                  <a:srgbClr val="1E293B"/>
                </a:solidFill>
              </a:defRPr>
            </a:pPr>
            <a:r>
              <a:t>   Inspect RBAC, terminals, audit log.</a:t>
            </a:r>
          </a:p>
          <a:p>
            <a:pPr>
              <a:spcAft>
                <a:spcPts val="400"/>
              </a:spcAft>
              <a:defRPr sz="1050">
                <a:solidFill>
                  <a:srgbClr val="1E293B"/>
                </a:solidFill>
              </a:defRPr>
            </a:pPr>
            <a:r>
              <a:t>2. Switch to Pharmacist:</a:t>
            </a:r>
          </a:p>
          <a:p>
            <a:pPr>
              <a:spcAft>
                <a:spcPts val="400"/>
              </a:spcAft>
              <a:defRPr sz="1050">
                <a:solidFill>
                  <a:srgbClr val="1E293B"/>
                </a:solidFill>
              </a:defRPr>
            </a:pPr>
            <a:r>
              <a:t>   Review eRx, trigger CDSS allergy shield.</a:t>
            </a:r>
          </a:p>
          <a:p>
            <a:pPr>
              <a:spcAft>
                <a:spcPts val="400"/>
              </a:spcAft>
              <a:defRPr sz="1050">
                <a:solidFill>
                  <a:srgbClr val="1E293B"/>
                </a:solidFill>
              </a:defRPr>
            </a:pPr>
            <a:r>
              <a:t>3. Switch to Cashier:</a:t>
            </a:r>
          </a:p>
          <a:p>
            <a:pPr>
              <a:spcAft>
                <a:spcPts val="400"/>
              </a:spcAft>
              <a:defRPr sz="1050">
                <a:solidFill>
                  <a:srgbClr val="1E293B"/>
                </a:solidFill>
              </a:defRPr>
            </a:pPr>
            <a:r>
              <a:t>   1-Click Rx import, FEFO batch selection, UPI QR modal, print 80mm GST receipt.</a:t>
            </a:r>
          </a:p>
        </p:txBody>
      </p:sp>
      <p:sp>
        <p:nvSpPr>
          <p:cNvPr id="13" name="Rounded Rectangle 12"/>
          <p:cNvSpPr/>
          <p:nvPr/>
        </p:nvSpPr>
        <p:spPr>
          <a:xfrm>
            <a:off x="8119872" y="1645920"/>
            <a:ext cx="3328416"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1645920"/>
            <a:ext cx="3328416" cy="64008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9872" y="1691640"/>
            <a:ext cx="3328416" cy="548640"/>
          </a:xfrm>
          <a:prstGeom prst="rect">
            <a:avLst/>
          </a:prstGeom>
          <a:noFill/>
        </p:spPr>
        <p:txBody>
          <a:bodyPr wrap="square">
            <a:spAutoFit/>
          </a:bodyPr>
          <a:lstStyle/>
          <a:p>
            <a:pPr algn="ctr">
              <a:defRPr sz="1200" b="1">
                <a:solidFill>
                  <a:srgbClr val="FFFFFF"/>
                </a:solidFill>
              </a:defRPr>
            </a:pPr>
            <a:r>
              <a:t>Step 3: Quality Gates &amp; Close</a:t>
            </a:r>
          </a:p>
        </p:txBody>
      </p:sp>
      <p:sp>
        <p:nvSpPr>
          <p:cNvPr id="16" name="TextBox 15"/>
          <p:cNvSpPr txBox="1"/>
          <p:nvPr/>
        </p:nvSpPr>
        <p:spPr>
          <a:xfrm>
            <a:off x="8257032" y="2377440"/>
            <a:ext cx="3054096" cy="3840480"/>
          </a:xfrm>
          <a:prstGeom prst="rect">
            <a:avLst/>
          </a:prstGeom>
          <a:noFill/>
        </p:spPr>
        <p:txBody>
          <a:bodyPr wrap="square">
            <a:spAutoFit/>
          </a:bodyPr>
          <a:lstStyle/>
          <a:p>
            <a:pPr>
              <a:spcAft>
                <a:spcPts val="400"/>
              </a:spcAft>
              <a:defRPr sz="1050">
                <a:solidFill>
                  <a:srgbClr val="1E293B"/>
                </a:solidFill>
              </a:defRPr>
            </a:pPr>
            <a:r>
              <a:t>4. Switch to Inventory Manager:</a:t>
            </a:r>
          </a:p>
          <a:p>
            <a:pPr>
              <a:spcAft>
                <a:spcPts val="400"/>
              </a:spcAft>
              <a:defRPr sz="1050">
                <a:solidFill>
                  <a:srgbClr val="1E293B"/>
                </a:solidFill>
              </a:defRPr>
            </a:pPr>
            <a:r>
              <a:t>   Demonstrate 2–8°C thermal spike alarm, record Goods Receipt Note (GRN).</a:t>
            </a:r>
          </a:p>
          <a:p>
            <a:pPr>
              <a:spcAft>
                <a:spcPts val="400"/>
              </a:spcAft>
              <a:defRPr sz="1050">
                <a:solidFill>
                  <a:srgbClr val="1E293B"/>
                </a:solidFill>
              </a:defRPr>
            </a:pPr>
            <a:r>
              <a:t>5. Switch to Delivery Rider:</a:t>
            </a:r>
          </a:p>
          <a:p>
            <a:pPr>
              <a:spcAft>
                <a:spcPts val="400"/>
              </a:spcAft>
              <a:defRPr sz="1050">
                <a:solidFill>
                  <a:srgbClr val="1E293B"/>
                </a:solidFill>
              </a:defRPr>
            </a:pPr>
            <a:r>
              <a:t>   Advance Kanban, verify 4-digit OTP.</a:t>
            </a:r>
          </a:p>
          <a:p>
            <a:pPr>
              <a:spcAft>
                <a:spcPts val="400"/>
              </a:spcAft>
              <a:defRPr sz="1050">
                <a:solidFill>
                  <a:srgbClr val="1E293B"/>
                </a:solidFill>
              </a:defRPr>
            </a:pPr>
            <a:r>
              <a:t>6. Return to Admin / Cashier:</a:t>
            </a:r>
          </a:p>
          <a:p>
            <a:pPr>
              <a:spcAft>
                <a:spcPts val="400"/>
              </a:spcAft>
              <a:defRPr sz="1050">
                <a:solidFill>
                  <a:srgbClr val="1E293B"/>
                </a:solidFill>
              </a:defRPr>
            </a:pPr>
            <a:r>
              <a:t>   Perform Daily Z-Report cash reconciliation, balance till, print official Z-slip.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0A389"/>
                </a:solidFill>
                <a:latin typeface="Segoe UI"/>
              </a:defRPr>
            </a:pPr>
            <a:r>
              <a:t>RUBRIC: IMPLEMENTED FUNCTIONALITY</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A2540"/>
                </a:solidFill>
                <a:latin typeface="Segoe UI"/>
              </a:defRPr>
            </a:pPr>
            <a:r>
              <a:t>Quality Verification &amp; 24 Automated Test Results</a:t>
            </a:r>
          </a:p>
        </p:txBody>
      </p:sp>
      <p:sp>
        <p:nvSpPr>
          <p:cNvPr id="5" name="Rounded Rectangle 4"/>
          <p:cNvSpPr/>
          <p:nvPr/>
        </p:nvSpPr>
        <p:spPr>
          <a:xfrm>
            <a:off x="731520" y="1645920"/>
            <a:ext cx="2542032"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2359152" cy="1828800"/>
          </a:xfrm>
          <a:prstGeom prst="rect">
            <a:avLst/>
          </a:prstGeom>
          <a:noFill/>
        </p:spPr>
        <p:txBody>
          <a:bodyPr wrap="square">
            <a:spAutoFit/>
          </a:bodyPr>
          <a:lstStyle/>
          <a:p>
            <a:pPr>
              <a:spcAft>
                <a:spcPts val="200"/>
              </a:spcAft>
              <a:defRPr sz="3200" b="1">
                <a:solidFill>
                  <a:srgbClr val="00A389"/>
                </a:solidFill>
              </a:defRPr>
            </a:pPr>
            <a:r>
              <a:t>24 / 24</a:t>
            </a:r>
          </a:p>
          <a:p>
            <a:pPr>
              <a:spcAft>
                <a:spcPts val="200"/>
              </a:spcAft>
              <a:defRPr sz="1150" b="1">
                <a:solidFill>
                  <a:srgbClr val="0A2540"/>
                </a:solidFill>
              </a:defRPr>
            </a:pPr>
            <a:r>
              <a:t>Automated Tests Passed</a:t>
            </a:r>
          </a:p>
          <a:p>
            <a:pPr>
              <a:defRPr sz="950">
                <a:solidFill>
                  <a:srgbClr val="64748B"/>
                </a:solidFill>
              </a:defRPr>
            </a:pPr>
            <a:r>
              <a:t>100% pass rate across end-to-end unit, integration, and security test suites.</a:t>
            </a:r>
          </a:p>
        </p:txBody>
      </p:sp>
      <p:sp>
        <p:nvSpPr>
          <p:cNvPr id="7" name="Rounded Rectangle 6"/>
          <p:cNvSpPr/>
          <p:nvPr/>
        </p:nvSpPr>
        <p:spPr>
          <a:xfrm>
            <a:off x="3456432" y="1645920"/>
            <a:ext cx="2542032"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47872" y="1737360"/>
            <a:ext cx="2359152" cy="1828800"/>
          </a:xfrm>
          <a:prstGeom prst="rect">
            <a:avLst/>
          </a:prstGeom>
          <a:noFill/>
        </p:spPr>
        <p:txBody>
          <a:bodyPr wrap="square">
            <a:spAutoFit/>
          </a:bodyPr>
          <a:lstStyle/>
          <a:p>
            <a:pPr>
              <a:spcAft>
                <a:spcPts val="200"/>
              </a:spcAft>
              <a:defRPr sz="3200" b="1">
                <a:solidFill>
                  <a:srgbClr val="E11D48"/>
                </a:solidFill>
              </a:defRPr>
            </a:pPr>
            <a:r>
              <a:t>0%</a:t>
            </a:r>
          </a:p>
          <a:p>
            <a:pPr>
              <a:spcAft>
                <a:spcPts val="200"/>
              </a:spcAft>
              <a:defRPr sz="1150" b="1">
                <a:solidFill>
                  <a:srgbClr val="0A2540"/>
                </a:solidFill>
              </a:defRPr>
            </a:pPr>
            <a:r>
              <a:t>Medication Dispensing Errors</a:t>
            </a:r>
          </a:p>
          <a:p>
            <a:pPr>
              <a:defRPr sz="950">
                <a:solidFill>
                  <a:srgbClr val="64748B"/>
                </a:solidFill>
              </a:defRPr>
            </a:pPr>
            <a:r>
              <a:t>Achieved via automated Poka-Yoke CDSS allergy and interaction barriers.</a:t>
            </a:r>
          </a:p>
        </p:txBody>
      </p:sp>
      <p:sp>
        <p:nvSpPr>
          <p:cNvPr id="9" name="Rounded Rectangle 8"/>
          <p:cNvSpPr/>
          <p:nvPr/>
        </p:nvSpPr>
        <p:spPr>
          <a:xfrm>
            <a:off x="6181344" y="1645920"/>
            <a:ext cx="2542032"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2784" y="1737360"/>
            <a:ext cx="2359152" cy="1828800"/>
          </a:xfrm>
          <a:prstGeom prst="rect">
            <a:avLst/>
          </a:prstGeom>
          <a:noFill/>
        </p:spPr>
        <p:txBody>
          <a:bodyPr wrap="square">
            <a:spAutoFit/>
          </a:bodyPr>
          <a:lstStyle/>
          <a:p>
            <a:pPr>
              <a:spcAft>
                <a:spcPts val="200"/>
              </a:spcAft>
              <a:defRPr sz="3200" b="1">
                <a:solidFill>
                  <a:srgbClr val="0284C7"/>
                </a:solidFill>
              </a:defRPr>
            </a:pPr>
            <a:r>
              <a:t>100%</a:t>
            </a:r>
          </a:p>
          <a:p>
            <a:pPr>
              <a:spcAft>
                <a:spcPts val="200"/>
              </a:spcAft>
              <a:defRPr sz="1150" b="1">
                <a:solidFill>
                  <a:srgbClr val="0A2540"/>
                </a:solidFill>
              </a:defRPr>
            </a:pPr>
            <a:r>
              <a:t>Cold-Chain Integrity (2–8°C)</a:t>
            </a:r>
          </a:p>
          <a:p>
            <a:pPr>
              <a:defRPr sz="950">
                <a:solidFill>
                  <a:srgbClr val="64748B"/>
                </a:solidFill>
              </a:defRPr>
            </a:pPr>
            <a:r>
              <a:t>Continuous 30s background telemetry streaming with instant excursion alerts.</a:t>
            </a:r>
          </a:p>
        </p:txBody>
      </p:sp>
      <p:sp>
        <p:nvSpPr>
          <p:cNvPr id="11" name="Rounded Rectangle 10"/>
          <p:cNvSpPr/>
          <p:nvPr/>
        </p:nvSpPr>
        <p:spPr>
          <a:xfrm>
            <a:off x="8906256" y="1645920"/>
            <a:ext cx="2542032"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97696" y="1737360"/>
            <a:ext cx="2359152" cy="1828800"/>
          </a:xfrm>
          <a:prstGeom prst="rect">
            <a:avLst/>
          </a:prstGeom>
          <a:noFill/>
        </p:spPr>
        <p:txBody>
          <a:bodyPr wrap="square">
            <a:spAutoFit/>
          </a:bodyPr>
          <a:lstStyle/>
          <a:p>
            <a:pPr>
              <a:spcAft>
                <a:spcPts val="200"/>
              </a:spcAft>
              <a:defRPr sz="3200" b="1">
                <a:solidFill>
                  <a:srgbClr val="0A2540"/>
                </a:solidFill>
              </a:defRPr>
            </a:pPr>
            <a:r>
              <a:t>₹ 0.00</a:t>
            </a:r>
          </a:p>
          <a:p>
            <a:pPr>
              <a:spcAft>
                <a:spcPts val="200"/>
              </a:spcAft>
              <a:defRPr sz="1150" b="1">
                <a:solidFill>
                  <a:srgbClr val="0A2540"/>
                </a:solidFill>
              </a:defRPr>
            </a:pPr>
            <a:r>
              <a:t>Cash Drawer Variance</a:t>
            </a:r>
          </a:p>
          <a:p>
            <a:pPr>
              <a:defRPr sz="950">
                <a:solidFill>
                  <a:srgbClr val="64748B"/>
                </a:solidFill>
              </a:defRPr>
            </a:pPr>
            <a:r>
              <a:t>Achieved on balanced registers via Daily Z-Report mathematical reconciliation.</a:t>
            </a:r>
          </a:p>
        </p:txBody>
      </p:sp>
      <p:sp>
        <p:nvSpPr>
          <p:cNvPr id="13" name="Rounded Rectangle 12"/>
          <p:cNvSpPr/>
          <p:nvPr/>
        </p:nvSpPr>
        <p:spPr>
          <a:xfrm>
            <a:off x="731520" y="3931920"/>
            <a:ext cx="10728655" cy="2377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69080"/>
            <a:ext cx="10332720" cy="2103120"/>
          </a:xfrm>
          <a:prstGeom prst="rect">
            <a:avLst/>
          </a:prstGeom>
          <a:noFill/>
        </p:spPr>
        <p:txBody>
          <a:bodyPr wrap="square">
            <a:spAutoFit/>
          </a:bodyPr>
          <a:lstStyle/>
          <a:p>
            <a:pPr>
              <a:spcAft>
                <a:spcPts val="600"/>
              </a:spcAft>
              <a:defRPr sz="1300" b="1">
                <a:solidFill>
                  <a:srgbClr val="0A2540"/>
                </a:solidFill>
              </a:defRPr>
            </a:pPr>
            <a:r>
              <a:t>📊 TRADITIONAL PHARMACY VS. AEGISPHARM TQM BENCHMARK</a:t>
            </a:r>
          </a:p>
          <a:p>
            <a:pPr>
              <a:spcAft>
                <a:spcPts val="200"/>
              </a:spcAft>
              <a:defRPr sz="1050" b="1">
                <a:solidFill>
                  <a:srgbClr val="00A389"/>
                </a:solidFill>
              </a:defRPr>
            </a:pPr>
            <a:r>
              <a:t>Quality Dimension        | Traditional Retail Pharmacy (Manual)       | AegisPharm Enterprise (TQM Driven)</a:t>
            </a:r>
          </a:p>
          <a:p>
            <a:pPr>
              <a:spcAft>
                <a:spcPts val="200"/>
              </a:spcAft>
              <a:defRPr sz="950">
                <a:solidFill>
                  <a:srgbClr val="1E293B"/>
                </a:solidFill>
              </a:defRPr>
            </a:pPr>
            <a:r>
              <a:t>Prescription Safety      | Manual pharmacist check; vulnerable to handwriting errors | Automated CDSS cross-checks with patient allergy EHR</a:t>
            </a:r>
          </a:p>
          <a:p>
            <a:pPr>
              <a:spcAft>
                <a:spcPts val="200"/>
              </a:spcAft>
              <a:defRPr sz="950">
                <a:solidFill>
                  <a:srgbClr val="1E293B"/>
                </a:solidFill>
              </a:defRPr>
            </a:pPr>
            <a:r>
              <a:t>Inventory Picking        | Random or FIFO; older batches expire on shelves | Algorithmic FEFO (First-Expiry, First-Out) guarantee</a:t>
            </a:r>
          </a:p>
          <a:p>
            <a:pPr>
              <a:spcAft>
                <a:spcPts val="200"/>
              </a:spcAft>
              <a:defRPr sz="950">
                <a:solidFill>
                  <a:srgbClr val="1E293B"/>
                </a:solidFill>
              </a:defRPr>
            </a:pPr>
            <a:r>
              <a:t>Cold-Chain Monitoring    | Infrequent manual thermometer checks; silent spoilage | Continuous 30s IoT telemetry with automatic alarm alerts</a:t>
            </a:r>
          </a:p>
          <a:p>
            <a:pPr>
              <a:spcAft>
                <a:spcPts val="200"/>
              </a:spcAft>
              <a:defRPr sz="950">
                <a:solidFill>
                  <a:srgbClr val="1E293B"/>
                </a:solidFill>
              </a:defRPr>
            </a:pPr>
            <a:r>
              <a:t>Shift Cash Balancing     | Paper ledger estimations; undetected shrinkage | Daily Z-Report mathematical reconciliation &amp; signed Z-slip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05840"/>
            <a:ext cx="10332720" cy="3108960"/>
          </a:xfrm>
          <a:prstGeom prst="rect">
            <a:avLst/>
          </a:prstGeom>
          <a:noFill/>
        </p:spPr>
        <p:txBody>
          <a:bodyPr wrap="square">
            <a:spAutoFit/>
          </a:bodyPr>
          <a:lstStyle/>
          <a:p>
            <a:pPr>
              <a:spcAft>
                <a:spcPts val="800"/>
              </a:spcAft>
              <a:defRPr sz="1300" b="1">
                <a:solidFill>
                  <a:srgbClr val="00A389"/>
                </a:solidFill>
              </a:defRPr>
            </a:pPr>
            <a:r>
              <a:t>REVIEW 1 SUMMARY &amp; STRATEGIC CONCLUSION</a:t>
            </a:r>
          </a:p>
          <a:p>
            <a:pPr>
              <a:spcAft>
                <a:spcPts val="1200"/>
              </a:spcAft>
              <a:defRPr sz="3600" b="1">
                <a:solidFill>
                  <a:srgbClr val="FFFFFF"/>
                </a:solidFill>
              </a:defRPr>
            </a:pPr>
            <a:r>
              <a:t>Review 1 Milestones Fully Delivered</a:t>
            </a:r>
          </a:p>
          <a:p>
            <a:pPr>
              <a:spcAft>
                <a:spcPts val="500"/>
              </a:spcAft>
              <a:defRPr sz="1250">
                <a:solidFill>
                  <a:srgbClr val="E2E8F0"/>
                </a:solidFill>
              </a:defRPr>
            </a:pPr>
            <a:r>
              <a:t>✓ Problem Statement &amp; Quality Objectives: Clearly formulated and aligned with TQM principles.</a:t>
            </a:r>
          </a:p>
          <a:p>
            <a:pPr>
              <a:spcAft>
                <a:spcPts val="500"/>
              </a:spcAft>
              <a:defRPr sz="1250">
                <a:solidFill>
                  <a:srgbClr val="E2E8F0"/>
                </a:solidFill>
              </a:defRPr>
            </a:pPr>
            <a:r>
              <a:t>✓ Formal SRS Document: Comprehensive IEEE 830 functional and non-functional requirements specified.</a:t>
            </a:r>
          </a:p>
          <a:p>
            <a:pPr>
              <a:spcAft>
                <a:spcPts val="500"/>
              </a:spcAft>
              <a:defRPr sz="1250">
                <a:solidFill>
                  <a:srgbClr val="E2E8F0"/>
                </a:solidFill>
              </a:defRPr>
            </a:pPr>
            <a:r>
              <a:t>✓ Scope &amp; User Roles: 5 specialized RBAC workstations with granular access control implemented.</a:t>
            </a:r>
          </a:p>
          <a:p>
            <a:pPr>
              <a:spcAft>
                <a:spcPts val="500"/>
              </a:spcAft>
              <a:defRPr sz="1250">
                <a:solidFill>
                  <a:srgbClr val="E2E8F0"/>
                </a:solidFill>
              </a:defRPr>
            </a:pPr>
            <a:r>
              <a:t>✓ Modular Folder Architecture: 6-tier decoupled structure separating core logic, config, and UIs.</a:t>
            </a:r>
          </a:p>
          <a:p>
            <a:pPr>
              <a:spcAft>
                <a:spcPts val="500"/>
              </a:spcAft>
              <a:defRPr sz="1250">
                <a:solidFill>
                  <a:srgbClr val="E2E8F0"/>
                </a:solidFill>
              </a:defRPr>
            </a:pPr>
            <a:r>
              <a:t>✓ Database &amp; CRUD Functionality: 14 relational tables in SQLite with complete CRUD operations working live.</a:t>
            </a:r>
          </a:p>
          <a:p>
            <a:pPr>
              <a:spcAft>
                <a:spcPts val="500"/>
              </a:spcAft>
              <a:defRPr sz="1250">
                <a:solidFill>
                  <a:srgbClr val="E2E8F0"/>
                </a:solidFill>
              </a:defRPr>
            </a:pPr>
            <a:r>
              <a:t>✓ Working Application &amp; Demo: Operational desktop (Edge Chromium) and web (FastAPI) applications demonstrated.</a:t>
            </a:r>
          </a:p>
        </p:txBody>
      </p:sp>
      <p:sp>
        <p:nvSpPr>
          <p:cNvPr id="5" name="Rounded Rectangle 4"/>
          <p:cNvSpPr/>
          <p:nvPr/>
        </p:nvSpPr>
        <p:spPr>
          <a:xfrm>
            <a:off x="914400" y="4572000"/>
            <a:ext cx="10332720" cy="1645920"/>
          </a:xfrm>
          <a:prstGeom prst="roundRect">
            <a:avLst/>
          </a:prstGeom>
          <a:solidFill>
            <a:srgbClr val="123456"/>
          </a:solidFill>
          <a:ln w="1524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709160"/>
            <a:ext cx="9966960" cy="1371600"/>
          </a:xfrm>
          <a:prstGeom prst="rect">
            <a:avLst/>
          </a:prstGeom>
          <a:noFill/>
        </p:spPr>
        <p:txBody>
          <a:bodyPr wrap="square">
            <a:spAutoFit/>
          </a:bodyPr>
          <a:lstStyle/>
          <a:p>
            <a:pPr>
              <a:spcAft>
                <a:spcPts val="400"/>
              </a:spcAft>
              <a:defRPr sz="1500" b="1">
                <a:solidFill>
                  <a:srgbClr val="00A389"/>
                </a:solidFill>
              </a:defRPr>
            </a:pPr>
            <a:r>
              <a:t>🙏 THANK YOU RESPECED FACULTY &amp; EVALUATORS</a:t>
            </a:r>
          </a:p>
          <a:p>
            <a:pPr>
              <a:spcAft>
                <a:spcPts val="600"/>
              </a:spcAft>
              <a:defRPr sz="1200">
                <a:solidFill>
                  <a:srgbClr val="FFFFFF"/>
                </a:solidFill>
              </a:defRPr>
            </a:pPr>
            <a:r>
              <a:t>Sincere gratitude to the Computer Science &amp; Management faculty at Amrapali University for their academic guidance.</a:t>
            </a:r>
          </a:p>
          <a:p>
            <a:pPr>
              <a:defRPr sz="1300" b="1">
                <a:solidFill>
                  <a:srgbClr val="94A3B8"/>
                </a:solidFill>
              </a:defRPr>
            </a:pPr>
            <a:r>
              <a:t>💬 The floor is now open for questions, code inspection, and live application demonstration. (Piyush Bhatt)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