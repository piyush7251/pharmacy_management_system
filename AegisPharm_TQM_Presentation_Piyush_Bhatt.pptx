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professors and project evaluators. I am Piyush Bhatt, student of Amrapali University. Today I present Review 1 for my project, AegisPharm Enterprise. This presentation covers our complete Project Setup, formal IEEE 830 Software Requirements Specification (SRS), System Architecture, Database Design, and demonstrates our fully operational, working application with live CRUD operations and TQM quality gates.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maps all criteria from the university evaluation rubric directly to our project components. Every single requirement—from setup and baseline understanding to formal SRS, modular architecture, database design, CRUD matrix, working demo, and test suite—is 100% completed and provable.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with the Problem Statement and Baseline Understanding. In healthcare, software errors aren't just bugs—they threaten patient survival. Our baseline analysis identified 3 fundamental industry failures: clinical medication errors, thermal cold-chain spoilage, and narcotic compliance/cash drawer shrinkage. AegisPharm solves these at the architectural root.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5 foundational Quality Objectives, directly fulfilling the Review 1 rubric. Notice how each objective maps to a core TQM tenet: Zero dispensing defects represents Customer/Patient Focus; Cold-Chain and FEFO represent Process Quality; and the Daily Z-Report represents Fact-Based Management.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demonstrate our Modular Folder Architecture, answering the specific Review 1 criterion. The project is organized into clean, decoupled tiers: core logic, configuration, dual desktop/web UIs, tests, and backups. A single unified bridge serves both the desktop Edge Chromium WebView2 window and the FastAPI web server.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and User Roles are essential criteria in Review 1. AegisPharm establishes strict Role-Based Access Control (RBAC). Unlike generic retail software where any staff member can delete logs or sell narcotics, our 5 specialized personas enforce security and quality separation of concerns.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introduce our formal Software Requirements Specification (SRS), fulfilling the explicit Review 1 rubric item. The specification strictly follows the IEEE Std 830-1998 structure across 6 core sections. We have generated this document in both DOCX and print-ready PDF formats, providing an authoritative contract for all software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10 detailed Functional Requirements defined in our IEEE 830 SRS document. They span the entire lifecycle of a pharmaceutical transaction: authentication, CDSS clinical safety, narcotics dual sign-off, FEFO picking, POS split billing, GRN inwarding, IoT cold-chain alarms, OTP delivery proof, and daily Z-Report cash balancing.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Non-Functional Requirements are the engineering backbone of AegisPharm. We guarantee sub-50ms UI latency, complete Poka-Yoke mistake proofing, 21 CFR Part 11 compliant audit immutability, and 100% adherence to Indian Drugs &amp; Cosmetics Act and GST rules.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complete Database Design and System Integration. AegisPharm utilizes SQLite 3 configured with WAL mode and foreign key constraints across 14 normalized tables. Notice the specialized tables: narcotic_register for Schedule X compliance, temperature_logs for IoT cold-chain, and z_reports for cash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CRUD operations are explicitly evaluated in Review 1. As shown in this comprehensive matrix, AegisPharm implements full Create, Read, Update, and Delete operations across all 7 major functional domains—Staff, Medicines, Prescriptions, Narcotics, Billing, Deliveries, and Z-Reports. Every operation is fully wired to SQLite and verified by automated tests.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map our Core Modules directly to our TQM Quality Goals, satisfying the Image 3 requirement. Notice that our features are not arbitrary: CDSS directly targets zero medication defects; FEFO and IoT target zero biological spoilage; and our delivery module targets 100% last-mile fidelity.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show the Initial UI and Main System Workflow. A prescription progresses smoothly from Stage 1 intake through Stage 2 clinical verification, Stage 3 POS billing, Stage 4 delivery dispatch with OTP, and finally Stage 5 daily Z-Report drawer reconciliation. Both our desktop and web interfaces provide 1:1 workflow parity.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initiates our Working Application Demo Guide. It provides the exact execution commands to launch the automated test suite, the native desktop app, and the FastAPI web server. The right-hand panel outlines all 5 workstation roles and pre-seeded credentials for the live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and 2 of the live walkthrough show clinical and billing integration. First, we log in as Pharmacist to demonstrate how the CDSS engine catches penicillin allergies and enforces narcotic PIN sign-off. Next, we switch to Cashier, import the approved Rx with 1 click, verify the automated FEFO batch selection, and complete the split-payment checkout.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3 through 6 complete the live application demonstration. We show the cold-chain IoT temperature spike alarm, complete an OTP verified home delivery, inspect active staff sessions in the Admin Console, and close the shift register using the Daily Z-Report.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empirical verification metrics: Our test suite passes 24 out of 24 automated unit and integration tests with a 100% success rate. The comparison table below demonstrates how AegisPharm transforms traditional manual vulnerabilities into standardized, automated TQM safeguards.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we have delivered 100% of the Review 1 rubric criteria: Problem Statement, Quality Objectives, IEEE 830 SRS, Scope and Roles, Modular Architecture, Database Design, CRUD operations, and a working demo. I thank my teachers at Amrapali University and invite your questions and live demonstration requests.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88720"/>
            <a:ext cx="10332720" cy="3200400"/>
          </a:xfrm>
          <a:prstGeom prst="rect">
            <a:avLst/>
          </a:prstGeom>
          <a:noFill/>
        </p:spPr>
        <p:txBody>
          <a:bodyPr wrap="square">
            <a:spAutoFit/>
          </a:bodyPr>
          <a:lstStyle/>
          <a:p>
            <a:pPr>
              <a:spcAft>
                <a:spcPts val="1200"/>
              </a:spcAft>
              <a:defRPr sz="1300" b="1">
                <a:solidFill>
                  <a:srgbClr val="00A389"/>
                </a:solidFill>
                <a:latin typeface="Segoe UI"/>
              </a:defRPr>
            </a:pPr>
            <a:r>
              <a:t>REVIEW 1: PROJECT SETUP, SRS &amp; WORKING APPLICATION DEMO</a:t>
            </a:r>
          </a:p>
          <a:p>
            <a:pPr>
              <a:spcAft>
                <a:spcPts val="800"/>
              </a:spcAft>
              <a:defRPr sz="3800" b="1">
                <a:solidFill>
                  <a:srgbClr val="FFFFFF"/>
                </a:solidFill>
                <a:latin typeface="Segoe UI"/>
              </a:defRPr>
            </a:pPr>
            <a:r>
              <a:t>AegisPharm Enterprise</a:t>
            </a:r>
          </a:p>
          <a:p>
            <a:pPr>
              <a:defRPr sz="1800">
                <a:solidFill>
                  <a:srgbClr val="94A3B8"/>
                </a:solidFill>
                <a:latin typeface="Segoe UI"/>
              </a:defRPr>
            </a:pPr>
            <a:r>
              <a:t>Smart Clinical Pharmacy Management System with Total Quality Management (TQM) Architecture</a:t>
            </a:r>
          </a:p>
        </p:txBody>
      </p:sp>
      <p:sp>
        <p:nvSpPr>
          <p:cNvPr id="5" name="Rounded Rectangle 4"/>
          <p:cNvSpPr/>
          <p:nvPr/>
        </p:nvSpPr>
        <p:spPr>
          <a:xfrm>
            <a:off x="914400" y="4663440"/>
            <a:ext cx="5486400" cy="1645920"/>
          </a:xfrm>
          <a:prstGeom prst="roundRect">
            <a:avLst/>
          </a:prstGeom>
          <a:solidFill>
            <a:srgbClr val="123456"/>
          </a:solidFill>
          <a:ln w="15240">
            <a:solidFill>
              <a:srgbClr val="00A3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800600"/>
            <a:ext cx="5120640" cy="1371600"/>
          </a:xfrm>
          <a:prstGeom prst="rect">
            <a:avLst/>
          </a:prstGeom>
          <a:noFill/>
        </p:spPr>
        <p:txBody>
          <a:bodyPr wrap="square">
            <a:spAutoFit/>
          </a:bodyPr>
          <a:lstStyle/>
          <a:p>
            <a:pPr>
              <a:defRPr sz="1100" b="1">
                <a:solidFill>
                  <a:srgbClr val="00A389"/>
                </a:solidFill>
                <a:latin typeface="Segoe UI"/>
              </a:defRPr>
            </a:pPr>
            <a:r>
              <a:t>PROJECT PRESENTER:</a:t>
            </a:r>
          </a:p>
          <a:p>
            <a:pPr>
              <a:defRPr sz="1800" b="1">
                <a:solidFill>
                  <a:srgbClr val="FFFFFF"/>
                </a:solidFill>
                <a:latin typeface="Segoe UI"/>
              </a:defRPr>
            </a:pPr>
            <a:r>
              <a:t>👤 Piyush Bhatt</a:t>
            </a:r>
          </a:p>
          <a:p>
            <a:pPr>
              <a:defRPr sz="1300">
                <a:solidFill>
                  <a:srgbClr val="CBD5E1"/>
                </a:solidFill>
                <a:latin typeface="Segoe UI"/>
              </a:defRPr>
            </a:pPr>
            <a:r>
              <a:t>Student, Amrapali University, Haldwani, Uttarakhand</a:t>
            </a:r>
          </a:p>
        </p:txBody>
      </p:sp>
      <p:sp>
        <p:nvSpPr>
          <p:cNvPr id="7" name="Rounded Rectangle 6"/>
          <p:cNvSpPr/>
          <p:nvPr/>
        </p:nvSpPr>
        <p:spPr>
          <a:xfrm>
            <a:off x="6675120" y="4663440"/>
            <a:ext cx="4572000" cy="1645920"/>
          </a:xfrm>
          <a:prstGeom prst="roundRect">
            <a:avLst/>
          </a:prstGeom>
          <a:solidFill>
            <a:srgbClr val="123456"/>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4800600"/>
            <a:ext cx="4206240" cy="1371600"/>
          </a:xfrm>
          <a:prstGeom prst="rect">
            <a:avLst/>
          </a:prstGeom>
          <a:noFill/>
        </p:spPr>
        <p:txBody>
          <a:bodyPr wrap="square">
            <a:spAutoFit/>
          </a:bodyPr>
          <a:lstStyle/>
          <a:p>
            <a:pPr>
              <a:defRPr sz="1100" b="1">
                <a:solidFill>
                  <a:srgbClr val="00A389"/>
                </a:solidFill>
                <a:latin typeface="Segoe UI"/>
              </a:defRPr>
            </a:pPr>
            <a:r>
              <a:t>EVALUATION MILESTONE:</a:t>
            </a:r>
          </a:p>
          <a:p>
            <a:pPr>
              <a:defRPr sz="1800" b="1">
                <a:solidFill>
                  <a:srgbClr val="FFFFFF"/>
                </a:solidFill>
                <a:latin typeface="Segoe UI"/>
              </a:defRPr>
            </a:pPr>
            <a:r>
              <a:t>🏛️ Amrapali University</a:t>
            </a:r>
          </a:p>
          <a:p>
            <a:pPr>
              <a:defRPr sz="1200">
                <a:solidFill>
                  <a:srgbClr val="CBD5E1"/>
                </a:solidFill>
                <a:latin typeface="Segoe UI"/>
              </a:defRPr>
            </a:pPr>
            <a:r>
              <a:t>Evaluation: Review 1 — Setup, SRS &amp; Working Application</a:t>
            </a:r>
            <a:br/>
            <a:r>
              <a:t>Academic Year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EVALUATION CRITERIA MAPPING</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Review 1 Rubric Alignment &amp; Verification Matrix</a:t>
            </a:r>
          </a:p>
        </p:txBody>
      </p:sp>
      <p:sp>
        <p:nvSpPr>
          <p:cNvPr id="5" name="Rounded Rectangle 4"/>
          <p:cNvSpPr/>
          <p:nvPr/>
        </p:nvSpPr>
        <p:spPr>
          <a:xfrm>
            <a:off x="731520" y="1645920"/>
            <a:ext cx="5257800" cy="1051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109728" cy="10515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19072"/>
            <a:ext cx="4937760" cy="905256"/>
          </a:xfrm>
          <a:prstGeom prst="rect">
            <a:avLst/>
          </a:prstGeom>
          <a:noFill/>
        </p:spPr>
        <p:txBody>
          <a:bodyPr wrap="square">
            <a:spAutoFit/>
          </a:bodyPr>
          <a:lstStyle/>
          <a:p>
            <a:pPr>
              <a:defRPr sz="1150" b="1">
                <a:solidFill>
                  <a:srgbClr val="0A2540"/>
                </a:solidFill>
              </a:defRPr>
            </a:pPr>
            <a:r>
              <a:t>1. Setup &amp; Baseline</a:t>
            </a:r>
          </a:p>
          <a:p>
            <a:pPr>
              <a:defRPr sz="950">
                <a:solidFill>
                  <a:srgbClr val="1E293B"/>
                </a:solidFill>
              </a:defRPr>
            </a:pPr>
            <a:r>
              <a:t>Complete multi-tier project setup, dependency environment, and baseline clinical problem formulation.</a:t>
            </a:r>
          </a:p>
          <a:p>
            <a:pPr>
              <a:defRPr sz="900" b="1">
                <a:solidFill>
                  <a:srgbClr val="00A389"/>
                </a:solidFill>
              </a:defRPr>
            </a:pPr>
            <a:r>
              <a:t>📍 Verified: Slide 3, 5 | `main.py`, `web_app.py`</a:t>
            </a:r>
          </a:p>
        </p:txBody>
      </p:sp>
      <p:sp>
        <p:nvSpPr>
          <p:cNvPr id="8" name="Rounded Rectangle 7"/>
          <p:cNvSpPr/>
          <p:nvPr/>
        </p:nvSpPr>
        <p:spPr>
          <a:xfrm>
            <a:off x="6172200" y="1645920"/>
            <a:ext cx="5257800" cy="1051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645920"/>
            <a:ext cx="109728" cy="1051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719072"/>
            <a:ext cx="4937760" cy="905256"/>
          </a:xfrm>
          <a:prstGeom prst="rect">
            <a:avLst/>
          </a:prstGeom>
          <a:noFill/>
        </p:spPr>
        <p:txBody>
          <a:bodyPr wrap="square">
            <a:spAutoFit/>
          </a:bodyPr>
          <a:lstStyle/>
          <a:p>
            <a:pPr>
              <a:defRPr sz="1150" b="1">
                <a:solidFill>
                  <a:srgbClr val="0A2540"/>
                </a:solidFill>
              </a:defRPr>
            </a:pPr>
            <a:r>
              <a:t>2. Modular Folder Architecture</a:t>
            </a:r>
          </a:p>
          <a:p>
            <a:pPr>
              <a:defRPr sz="950">
                <a:solidFill>
                  <a:srgbClr val="1E293B"/>
                </a:solidFill>
              </a:defRPr>
            </a:pPr>
            <a:r>
              <a:t>Decoupled 6-tier directory layout separating core domain logic, UI bridges, API, and tests.</a:t>
            </a:r>
          </a:p>
          <a:p>
            <a:pPr>
              <a:defRPr sz="900" b="1">
                <a:solidFill>
                  <a:srgbClr val="0284C7"/>
                </a:solidFill>
              </a:defRPr>
            </a:pPr>
            <a:r>
              <a:t>📍 Verified: Slide 5 | `core/`, `ui/`, `apps/`, `tests/`</a:t>
            </a:r>
          </a:p>
        </p:txBody>
      </p:sp>
      <p:sp>
        <p:nvSpPr>
          <p:cNvPr id="11" name="Rounded Rectangle 10"/>
          <p:cNvSpPr/>
          <p:nvPr/>
        </p:nvSpPr>
        <p:spPr>
          <a:xfrm>
            <a:off x="731520" y="2834640"/>
            <a:ext cx="5257800" cy="1051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834640"/>
            <a:ext cx="109728" cy="10515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907792"/>
            <a:ext cx="4937760" cy="905256"/>
          </a:xfrm>
          <a:prstGeom prst="rect">
            <a:avLst/>
          </a:prstGeom>
          <a:noFill/>
        </p:spPr>
        <p:txBody>
          <a:bodyPr wrap="square">
            <a:spAutoFit/>
          </a:bodyPr>
          <a:lstStyle/>
          <a:p>
            <a:pPr>
              <a:defRPr sz="1150" b="1">
                <a:solidFill>
                  <a:srgbClr val="0A2540"/>
                </a:solidFill>
              </a:defRPr>
            </a:pPr>
            <a:r>
              <a:t>3. Software Requirements (SRS)</a:t>
            </a:r>
          </a:p>
          <a:p>
            <a:pPr>
              <a:defRPr sz="950">
                <a:solidFill>
                  <a:srgbClr val="1E293B"/>
                </a:solidFill>
              </a:defRPr>
            </a:pPr>
            <a:r>
              <a:t>Formal IEEE Std 830-1998 compliant SRS document covering functional &amp; non-functional requirements.</a:t>
            </a:r>
          </a:p>
          <a:p>
            <a:pPr>
              <a:defRPr sz="900" b="1">
                <a:solidFill>
                  <a:srgbClr val="7C3AED"/>
                </a:solidFill>
              </a:defRPr>
            </a:pPr>
            <a:r>
              <a:t>📍 Verified: Slides 7, 8, 9 | `SRS_AegisPharm_Enterprise.pdf`</a:t>
            </a:r>
          </a:p>
        </p:txBody>
      </p:sp>
      <p:sp>
        <p:nvSpPr>
          <p:cNvPr id="14" name="Rounded Rectangle 13"/>
          <p:cNvSpPr/>
          <p:nvPr/>
        </p:nvSpPr>
        <p:spPr>
          <a:xfrm>
            <a:off x="6172200" y="2834640"/>
            <a:ext cx="5257800" cy="1051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2834640"/>
            <a:ext cx="109728" cy="105156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907792"/>
            <a:ext cx="4937760" cy="905256"/>
          </a:xfrm>
          <a:prstGeom prst="rect">
            <a:avLst/>
          </a:prstGeom>
          <a:noFill/>
        </p:spPr>
        <p:txBody>
          <a:bodyPr wrap="square">
            <a:spAutoFit/>
          </a:bodyPr>
          <a:lstStyle/>
          <a:p>
            <a:pPr>
              <a:defRPr sz="1150" b="1">
                <a:solidFill>
                  <a:srgbClr val="0A2540"/>
                </a:solidFill>
              </a:defRPr>
            </a:pPr>
            <a:r>
              <a:t>4. Scope &amp; User Roles (RBAC)</a:t>
            </a:r>
          </a:p>
          <a:p>
            <a:pPr>
              <a:defRPr sz="950">
                <a:solidFill>
                  <a:srgbClr val="1E293B"/>
                </a:solidFill>
              </a:defRPr>
            </a:pPr>
            <a:r>
              <a:t>5 distinct operational roles with workstation personas, terminal bindings, and route shields.</a:t>
            </a:r>
          </a:p>
          <a:p>
            <a:pPr>
              <a:defRPr sz="900" b="1">
                <a:solidFill>
                  <a:srgbClr val="0A2540"/>
                </a:solidFill>
              </a:defRPr>
            </a:pPr>
            <a:r>
              <a:t>📍 Verified: Slide 6 | `staff`, `active_sessions`</a:t>
            </a:r>
          </a:p>
        </p:txBody>
      </p:sp>
      <p:sp>
        <p:nvSpPr>
          <p:cNvPr id="17" name="Rounded Rectangle 16"/>
          <p:cNvSpPr/>
          <p:nvPr/>
        </p:nvSpPr>
        <p:spPr>
          <a:xfrm>
            <a:off x="731520" y="4023360"/>
            <a:ext cx="5257800" cy="1051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023360"/>
            <a:ext cx="109728" cy="10515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096512"/>
            <a:ext cx="4937760" cy="905256"/>
          </a:xfrm>
          <a:prstGeom prst="rect">
            <a:avLst/>
          </a:prstGeom>
          <a:noFill/>
        </p:spPr>
        <p:txBody>
          <a:bodyPr wrap="square">
            <a:spAutoFit/>
          </a:bodyPr>
          <a:lstStyle/>
          <a:p>
            <a:pPr>
              <a:defRPr sz="1150" b="1">
                <a:solidFill>
                  <a:srgbClr val="0A2540"/>
                </a:solidFill>
              </a:defRPr>
            </a:pPr>
            <a:r>
              <a:t>5. Relational Database Design</a:t>
            </a:r>
          </a:p>
          <a:p>
            <a:pPr>
              <a:defRPr sz="950">
                <a:solidFill>
                  <a:srgbClr val="1E293B"/>
                </a:solidFill>
              </a:defRPr>
            </a:pPr>
            <a:r>
              <a:t>14 normalized tables in SQLite with foreign keys, checks, default values, and ACID transactions.</a:t>
            </a:r>
          </a:p>
          <a:p>
            <a:pPr>
              <a:defRPr sz="900" b="1">
                <a:solidFill>
                  <a:srgbClr val="00A389"/>
                </a:solidFill>
              </a:defRPr>
            </a:pPr>
            <a:r>
              <a:t>📍 Verified: Slide 10 | `core/db.py` (14 Tables)</a:t>
            </a:r>
          </a:p>
        </p:txBody>
      </p:sp>
      <p:sp>
        <p:nvSpPr>
          <p:cNvPr id="20" name="Rounded Rectangle 19"/>
          <p:cNvSpPr/>
          <p:nvPr/>
        </p:nvSpPr>
        <p:spPr>
          <a:xfrm>
            <a:off x="6172200" y="4023360"/>
            <a:ext cx="5257800" cy="1051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72200" y="4023360"/>
            <a:ext cx="109728" cy="1051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4096512"/>
            <a:ext cx="4937760" cy="905256"/>
          </a:xfrm>
          <a:prstGeom prst="rect">
            <a:avLst/>
          </a:prstGeom>
          <a:noFill/>
        </p:spPr>
        <p:txBody>
          <a:bodyPr wrap="square">
            <a:spAutoFit/>
          </a:bodyPr>
          <a:lstStyle/>
          <a:p>
            <a:pPr>
              <a:defRPr sz="1150" b="1">
                <a:solidFill>
                  <a:srgbClr val="0A2540"/>
                </a:solidFill>
              </a:defRPr>
            </a:pPr>
            <a:r>
              <a:t>6. Implemented CRUD Operations</a:t>
            </a:r>
          </a:p>
          <a:p>
            <a:pPr>
              <a:defRPr sz="950">
                <a:solidFill>
                  <a:srgbClr val="1E293B"/>
                </a:solidFill>
              </a:defRPr>
            </a:pPr>
            <a:r>
              <a:t>Comprehensive Create, Read, Update, Delete matrix verified across all 5 operational roles.</a:t>
            </a:r>
          </a:p>
          <a:p>
            <a:pPr>
              <a:defRPr sz="900" b="1">
                <a:solidFill>
                  <a:srgbClr val="0284C7"/>
                </a:solidFill>
              </a:defRPr>
            </a:pPr>
            <a:r>
              <a:t>📍 Verified: Slide 11 | SRS Section 6.2 &amp; Live Code</a:t>
            </a:r>
          </a:p>
        </p:txBody>
      </p:sp>
      <p:sp>
        <p:nvSpPr>
          <p:cNvPr id="23" name="Rounded Rectangle 22"/>
          <p:cNvSpPr/>
          <p:nvPr/>
        </p:nvSpPr>
        <p:spPr>
          <a:xfrm>
            <a:off x="731520" y="5212080"/>
            <a:ext cx="5257800" cy="1051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5212080"/>
            <a:ext cx="109728" cy="10515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5285232"/>
            <a:ext cx="4937760" cy="905256"/>
          </a:xfrm>
          <a:prstGeom prst="rect">
            <a:avLst/>
          </a:prstGeom>
          <a:noFill/>
        </p:spPr>
        <p:txBody>
          <a:bodyPr wrap="square">
            <a:spAutoFit/>
          </a:bodyPr>
          <a:lstStyle/>
          <a:p>
            <a:pPr>
              <a:defRPr sz="1150" b="1">
                <a:solidFill>
                  <a:srgbClr val="0A2540"/>
                </a:solidFill>
              </a:defRPr>
            </a:pPr>
            <a:r>
              <a:t>7. Working Application / Live Demo</a:t>
            </a:r>
          </a:p>
          <a:p>
            <a:pPr>
              <a:defRPr sz="950">
                <a:solidFill>
                  <a:srgbClr val="1E293B"/>
                </a:solidFill>
              </a:defRPr>
            </a:pPr>
            <a:r>
              <a:t>Operational native desktop UI (Edge Chromium) and web portal (FastAPI) demonstrated live.</a:t>
            </a:r>
          </a:p>
          <a:p>
            <a:pPr>
              <a:defRPr sz="900" b="1">
                <a:solidFill>
                  <a:srgbClr val="D97706"/>
                </a:solidFill>
              </a:defRPr>
            </a:pPr>
            <a:r>
              <a:t>📍 Verified: Slides 14, 15, 16 | `DEMO_GUIDE.md`</a:t>
            </a:r>
          </a:p>
        </p:txBody>
      </p:sp>
      <p:sp>
        <p:nvSpPr>
          <p:cNvPr id="26" name="Rounded Rectangle 25"/>
          <p:cNvSpPr/>
          <p:nvPr/>
        </p:nvSpPr>
        <p:spPr>
          <a:xfrm>
            <a:off x="6172200" y="5212080"/>
            <a:ext cx="5257800" cy="1051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5212080"/>
            <a:ext cx="109728" cy="105156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5285232"/>
            <a:ext cx="4937760" cy="905256"/>
          </a:xfrm>
          <a:prstGeom prst="rect">
            <a:avLst/>
          </a:prstGeom>
          <a:noFill/>
        </p:spPr>
        <p:txBody>
          <a:bodyPr wrap="square">
            <a:spAutoFit/>
          </a:bodyPr>
          <a:lstStyle/>
          <a:p>
            <a:pPr>
              <a:defRPr sz="1150" b="1">
                <a:solidFill>
                  <a:srgbClr val="0A2540"/>
                </a:solidFill>
              </a:defRPr>
            </a:pPr>
            <a:r>
              <a:t>8. Verification &amp; Test Suite</a:t>
            </a:r>
          </a:p>
          <a:p>
            <a:pPr>
              <a:defRPr sz="950">
                <a:solidFill>
                  <a:srgbClr val="1E293B"/>
                </a:solidFill>
              </a:defRPr>
            </a:pPr>
            <a:r>
              <a:t>24/24 passing automated tests verifying CDSS safety, FEFO logic, and Z-report math.</a:t>
            </a:r>
          </a:p>
          <a:p>
            <a:pPr>
              <a:defRPr sz="900" b="1">
                <a:solidFill>
                  <a:srgbClr val="E11D48"/>
                </a:solidFill>
              </a:defRPr>
            </a:pPr>
            <a:r>
              <a:t>📍 Verified: Slide 17 | `pytest` (24/24 Passed in 7.8s)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PROBLEM STATEMENT &amp; BASELINE</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Problem Statement &amp; Baseline Clinical Understanding</a:t>
            </a:r>
          </a:p>
        </p:txBody>
      </p:sp>
      <p:sp>
        <p:nvSpPr>
          <p:cNvPr id="5" name="Rounded Rectangle 4"/>
          <p:cNvSpPr/>
          <p:nvPr/>
        </p:nvSpPr>
        <p:spPr>
          <a:xfrm>
            <a:off x="731520"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2962656" cy="4297680"/>
          </a:xfrm>
          <a:prstGeom prst="rect">
            <a:avLst/>
          </a:prstGeom>
          <a:noFill/>
        </p:spPr>
        <p:txBody>
          <a:bodyPr wrap="square">
            <a:spAutoFit/>
          </a:bodyPr>
          <a:lstStyle/>
          <a:p>
            <a:pPr>
              <a:spcAft>
                <a:spcPts val="1000"/>
              </a:spcAft>
              <a:defRPr sz="1300" b="1">
                <a:solidFill>
                  <a:srgbClr val="E11D48"/>
                </a:solidFill>
              </a:defRPr>
            </a:pPr>
            <a:r>
              <a:t>🚨 1. MEDICATION DISPENSING ERRORS</a:t>
            </a:r>
          </a:p>
          <a:p>
            <a:pPr>
              <a:spcAft>
                <a:spcPts val="600"/>
              </a:spcAft>
              <a:defRPr sz="1100">
                <a:solidFill>
                  <a:srgbClr val="1E293B"/>
                </a:solidFill>
              </a:defRPr>
            </a:pPr>
            <a:r>
              <a:t>• Clinical Reality: Over 1.3 million preventable patient injuries occur annually due to adverse drug events (ADEs).</a:t>
            </a:r>
          </a:p>
          <a:p>
            <a:pPr>
              <a:spcAft>
                <a:spcPts val="600"/>
              </a:spcAft>
              <a:defRPr sz="1100">
                <a:solidFill>
                  <a:srgbClr val="1E293B"/>
                </a:solidFill>
              </a:defRPr>
            </a:pPr>
            <a:r>
              <a:t>• Handwriting &amp; Transcription: Manual interpretation of handwritten prescriptions causes dosage miscalculations.</a:t>
            </a:r>
          </a:p>
          <a:p>
            <a:pPr>
              <a:spcAft>
                <a:spcPts val="600"/>
              </a:spcAft>
              <a:defRPr sz="1100">
                <a:solidFill>
                  <a:srgbClr val="1E293B"/>
                </a:solidFill>
              </a:defRPr>
            </a:pPr>
            <a:r>
              <a:t>• Allergy Blindspots: Retail pharmacies lack real-time EHR cross-checks, risking fatal Penicillin or NSAID anaphylaxis.</a:t>
            </a:r>
          </a:p>
          <a:p>
            <a:pPr>
              <a:spcAft>
                <a:spcPts val="600"/>
              </a:spcAft>
              <a:defRPr sz="1100">
                <a:solidFill>
                  <a:srgbClr val="1E293B"/>
                </a:solidFill>
              </a:defRPr>
            </a:pPr>
            <a:r>
              <a:t>• Baseline Remedy: Automated Clinical Decision Support System (CDSS) acting as an immutable quality shield.</a:t>
            </a:r>
          </a:p>
        </p:txBody>
      </p:sp>
      <p:sp>
        <p:nvSpPr>
          <p:cNvPr id="7" name="Rounded Rectangle 6"/>
          <p:cNvSpPr/>
          <p:nvPr/>
        </p:nvSpPr>
        <p:spPr>
          <a:xfrm>
            <a:off x="4425696"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08576" y="1828800"/>
            <a:ext cx="2962656" cy="4297680"/>
          </a:xfrm>
          <a:prstGeom prst="rect">
            <a:avLst/>
          </a:prstGeom>
          <a:noFill/>
        </p:spPr>
        <p:txBody>
          <a:bodyPr wrap="square">
            <a:spAutoFit/>
          </a:bodyPr>
          <a:lstStyle/>
          <a:p>
            <a:pPr>
              <a:spcAft>
                <a:spcPts val="1000"/>
              </a:spcAft>
              <a:defRPr sz="1300" b="1">
                <a:solidFill>
                  <a:srgbClr val="D97706"/>
                </a:solidFill>
              </a:defRPr>
            </a:pPr>
            <a:r>
              <a:t>❄️ 2. COLD-CHAIN &amp; EXPIRY LOSS</a:t>
            </a:r>
          </a:p>
          <a:p>
            <a:pPr>
              <a:spcAft>
                <a:spcPts val="600"/>
              </a:spcAft>
              <a:defRPr sz="1100">
                <a:solidFill>
                  <a:srgbClr val="1E293B"/>
                </a:solidFill>
              </a:defRPr>
            </a:pPr>
            <a:r>
              <a:t>• Biological Potency Loss: Vaccines, insulin, and biologics degrade silently outside the 2.0°C–8.0°C thermal envelope.</a:t>
            </a:r>
          </a:p>
          <a:p>
            <a:pPr>
              <a:spcAft>
                <a:spcPts val="600"/>
              </a:spcAft>
              <a:defRPr sz="1100">
                <a:solidFill>
                  <a:srgbClr val="1E293B"/>
                </a:solidFill>
              </a:defRPr>
            </a:pPr>
            <a:r>
              <a:t>• FIFO Picking Flaw: Standard retail FIFO allows older batches to sit unnoticed while newer stock is sold.</a:t>
            </a:r>
          </a:p>
          <a:p>
            <a:pPr>
              <a:spcAft>
                <a:spcPts val="600"/>
              </a:spcAft>
              <a:defRPr sz="1100">
                <a:solidFill>
                  <a:srgbClr val="1E293B"/>
                </a:solidFill>
              </a:defRPr>
            </a:pPr>
            <a:r>
              <a:t>• Dead-Stock Write-Offs: Significant annual capital lost in expired, unsellable inventory.</a:t>
            </a:r>
          </a:p>
          <a:p>
            <a:pPr>
              <a:spcAft>
                <a:spcPts val="600"/>
              </a:spcAft>
              <a:defRPr sz="1100">
                <a:solidFill>
                  <a:srgbClr val="1E293B"/>
                </a:solidFill>
              </a:defRPr>
            </a:pPr>
            <a:r>
              <a:t>• Baseline Remedy: Algorithmic FEFO (First-Expiry, First-Out) picking + 24/7 continuous IoT temperature telemetry.</a:t>
            </a:r>
          </a:p>
        </p:txBody>
      </p:sp>
      <p:sp>
        <p:nvSpPr>
          <p:cNvPr id="9" name="Rounded Rectangle 8"/>
          <p:cNvSpPr/>
          <p:nvPr/>
        </p:nvSpPr>
        <p:spPr>
          <a:xfrm>
            <a:off x="8119872"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02752" y="1828800"/>
            <a:ext cx="2962656" cy="4297680"/>
          </a:xfrm>
          <a:prstGeom prst="rect">
            <a:avLst/>
          </a:prstGeom>
          <a:noFill/>
        </p:spPr>
        <p:txBody>
          <a:bodyPr wrap="square">
            <a:spAutoFit/>
          </a:bodyPr>
          <a:lstStyle/>
          <a:p>
            <a:pPr>
              <a:spcAft>
                <a:spcPts val="1000"/>
              </a:spcAft>
              <a:defRPr sz="1300" b="1">
                <a:solidFill>
                  <a:srgbClr val="0284C7"/>
                </a:solidFill>
              </a:defRPr>
            </a:pPr>
            <a:r>
              <a:t>⚖️ 3. NARCOTIC COMPLIANCE &amp; TILL DRIFT</a:t>
            </a:r>
          </a:p>
          <a:p>
            <a:pPr>
              <a:spcAft>
                <a:spcPts val="600"/>
              </a:spcAft>
              <a:defRPr sz="1100">
                <a:solidFill>
                  <a:srgbClr val="1E293B"/>
                </a:solidFill>
              </a:defRPr>
            </a:pPr>
            <a:r>
              <a:t>• Schedule X / NDPS Violations: Inadequate tracking of habit-forming sedatives invites severe legal penalties and license revocation.</a:t>
            </a:r>
          </a:p>
          <a:p>
            <a:pPr>
              <a:spcAft>
                <a:spcPts val="600"/>
              </a:spcAft>
              <a:defRPr sz="1100">
                <a:solidFill>
                  <a:srgbClr val="1E293B"/>
                </a:solidFill>
              </a:defRPr>
            </a:pPr>
            <a:r>
              <a:t>• Cash Drawer Shrinkage: Till variances, untracked mid-shift cash drops, and unverified digital UPI receipts.</a:t>
            </a:r>
          </a:p>
          <a:p>
            <a:pPr>
              <a:spcAft>
                <a:spcPts val="600"/>
              </a:spcAft>
              <a:defRPr sz="1100">
                <a:solidFill>
                  <a:srgbClr val="1E293B"/>
                </a:solidFill>
              </a:defRPr>
            </a:pPr>
            <a:r>
              <a:t>• Failed Inspector Audits: Inability to generate instant batch reports during surprise CDSCO/FDA inspections.</a:t>
            </a:r>
          </a:p>
          <a:p>
            <a:pPr>
              <a:spcAft>
                <a:spcPts val="600"/>
              </a:spcAft>
              <a:defRPr sz="1100">
                <a:solidFill>
                  <a:srgbClr val="1E293B"/>
                </a:solidFill>
              </a:defRPr>
            </a:pPr>
            <a:r>
              <a:t>• Baseline Remedy: Mandatory dual-PIN narcotic register + Daily Z-Report mathematical drawer reconciliation.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QUALITY OBJECTIVE</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Quality Objectives Aligned with TQM Principles</a:t>
            </a:r>
          </a:p>
        </p:txBody>
      </p:sp>
      <p:sp>
        <p:nvSpPr>
          <p:cNvPr id="5" name="Rounded Rectangle 4"/>
          <p:cNvSpPr/>
          <p:nvPr/>
        </p:nvSpPr>
        <p:spPr>
          <a:xfrm>
            <a:off x="731520" y="1645920"/>
            <a:ext cx="10728655" cy="8229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137160" cy="8229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19072"/>
            <a:ext cx="10241280" cy="676656"/>
          </a:xfrm>
          <a:prstGeom prst="rect">
            <a:avLst/>
          </a:prstGeom>
          <a:noFill/>
        </p:spPr>
        <p:txBody>
          <a:bodyPr wrap="square">
            <a:spAutoFit/>
          </a:bodyPr>
          <a:lstStyle/>
          <a:p>
            <a:pPr>
              <a:defRPr sz="1300" b="1">
                <a:solidFill>
                  <a:srgbClr val="00A389"/>
                </a:solidFill>
              </a:defRPr>
            </a:pPr>
            <a:r>
              <a:t>Objective 1: Zero Medication Dispensing Defects (Patient Focus)</a:t>
            </a:r>
          </a:p>
          <a:p>
            <a:pPr>
              <a:defRPr sz="1100">
                <a:solidFill>
                  <a:srgbClr val="1E293B"/>
                </a:solidFill>
              </a:defRPr>
            </a:pPr>
            <a:r>
              <a:t>Poka-Yoke error-proofing: Implement an automated Clinical Decision Support System (CDSS) that intercepts allergen cross-reactions (Penicillin, NSAIDs, Sulfa) and toxic drug-drug interactions before an invoice can be created.</a:t>
            </a:r>
          </a:p>
        </p:txBody>
      </p:sp>
      <p:sp>
        <p:nvSpPr>
          <p:cNvPr id="8" name="Rounded Rectangle 7"/>
          <p:cNvSpPr/>
          <p:nvPr/>
        </p:nvSpPr>
        <p:spPr>
          <a:xfrm>
            <a:off x="731520" y="2606040"/>
            <a:ext cx="10728655" cy="8229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606040"/>
            <a:ext cx="137160" cy="8229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79192"/>
            <a:ext cx="10241280" cy="676656"/>
          </a:xfrm>
          <a:prstGeom prst="rect">
            <a:avLst/>
          </a:prstGeom>
          <a:noFill/>
        </p:spPr>
        <p:txBody>
          <a:bodyPr wrap="square">
            <a:spAutoFit/>
          </a:bodyPr>
          <a:lstStyle/>
          <a:p>
            <a:pPr>
              <a:defRPr sz="1300" b="1">
                <a:solidFill>
                  <a:srgbClr val="0284C7"/>
                </a:solidFill>
              </a:defRPr>
            </a:pPr>
            <a:r>
              <a:t>Objective 2: 100% Cold-Chain Storage &amp; Transport Compliance</a:t>
            </a:r>
          </a:p>
          <a:p>
            <a:pPr>
              <a:defRPr sz="1100">
                <a:solidFill>
                  <a:srgbClr val="1E293B"/>
                </a:solidFill>
              </a:defRPr>
            </a:pPr>
            <a:r>
              <a:t>Biological Integrity: Guarantee all thermo-sensitive pharmaceuticals are stored within the mandatory 2.0°C–8.0°C range via real-time 30s IoT telemetry streaming and automatic thermal spike alarms.</a:t>
            </a:r>
          </a:p>
        </p:txBody>
      </p:sp>
      <p:sp>
        <p:nvSpPr>
          <p:cNvPr id="11" name="Rounded Rectangle 10"/>
          <p:cNvSpPr/>
          <p:nvPr/>
        </p:nvSpPr>
        <p:spPr>
          <a:xfrm>
            <a:off x="731520" y="3566160"/>
            <a:ext cx="10728655" cy="8229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566160"/>
            <a:ext cx="137160" cy="8229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639312"/>
            <a:ext cx="10241280" cy="676656"/>
          </a:xfrm>
          <a:prstGeom prst="rect">
            <a:avLst/>
          </a:prstGeom>
          <a:noFill/>
        </p:spPr>
        <p:txBody>
          <a:bodyPr wrap="square">
            <a:spAutoFit/>
          </a:bodyPr>
          <a:lstStyle/>
          <a:p>
            <a:pPr>
              <a:defRPr sz="1300" b="1">
                <a:solidFill>
                  <a:srgbClr val="D97706"/>
                </a:solidFill>
              </a:defRPr>
            </a:pPr>
            <a:r>
              <a:t>Objective 3: Zero Expiry Dead-Stock Losses (FEFO Scheduling)</a:t>
            </a:r>
          </a:p>
          <a:p>
            <a:pPr>
              <a:defRPr sz="1100">
                <a:solidFill>
                  <a:srgbClr val="1E293B"/>
                </a:solidFill>
              </a:defRPr>
            </a:pPr>
            <a:r>
              <a:t>Process Quality: Eliminate inventory wastage by algorithmically enforcing First-Expiry, First-Out (FEFO) batch prioritization, ensuring nearest-expiry viable medicines are dispensed first.</a:t>
            </a:r>
          </a:p>
        </p:txBody>
      </p:sp>
      <p:sp>
        <p:nvSpPr>
          <p:cNvPr id="14" name="Rounded Rectangle 13"/>
          <p:cNvSpPr/>
          <p:nvPr/>
        </p:nvSpPr>
        <p:spPr>
          <a:xfrm>
            <a:off x="731520" y="4526280"/>
            <a:ext cx="10728655" cy="8229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4526280"/>
            <a:ext cx="137160" cy="82296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599432"/>
            <a:ext cx="10241280" cy="676656"/>
          </a:xfrm>
          <a:prstGeom prst="rect">
            <a:avLst/>
          </a:prstGeom>
          <a:noFill/>
        </p:spPr>
        <p:txBody>
          <a:bodyPr wrap="square">
            <a:spAutoFit/>
          </a:bodyPr>
          <a:lstStyle/>
          <a:p>
            <a:pPr>
              <a:defRPr sz="1300" b="1">
                <a:solidFill>
                  <a:srgbClr val="0A2540"/>
                </a:solidFill>
              </a:defRPr>
            </a:pPr>
            <a:r>
              <a:t>Objective 4: Zero Cash Register Discrepancy &amp; Till Balancing</a:t>
            </a:r>
          </a:p>
          <a:p>
            <a:pPr>
              <a:defRPr sz="1100">
                <a:solidFill>
                  <a:srgbClr val="1E293B"/>
                </a:solidFill>
              </a:defRPr>
            </a:pPr>
            <a:r>
              <a:t>Fact-Based Management: Enforce strict shift-end financial governance through the Daily Z-Report engine, mathematically balancing opening float, sales, payouts, and counted physical currency.</a:t>
            </a:r>
          </a:p>
        </p:txBody>
      </p:sp>
      <p:sp>
        <p:nvSpPr>
          <p:cNvPr id="17" name="Rounded Rectangle 16"/>
          <p:cNvSpPr/>
          <p:nvPr/>
        </p:nvSpPr>
        <p:spPr>
          <a:xfrm>
            <a:off x="731520" y="5486400"/>
            <a:ext cx="10728655" cy="8229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5486400"/>
            <a:ext cx="137160" cy="82296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559552"/>
            <a:ext cx="10241280" cy="676656"/>
          </a:xfrm>
          <a:prstGeom prst="rect">
            <a:avLst/>
          </a:prstGeom>
          <a:noFill/>
        </p:spPr>
        <p:txBody>
          <a:bodyPr wrap="square">
            <a:spAutoFit/>
          </a:bodyPr>
          <a:lstStyle/>
          <a:p>
            <a:pPr>
              <a:defRPr sz="1300" b="1">
                <a:solidFill>
                  <a:srgbClr val="E11D48"/>
                </a:solidFill>
              </a:defRPr>
            </a:pPr>
            <a:r>
              <a:t>Objective 5: 100% Regulatory Audit Readiness (ISO 9001 &amp; CDSCO)</a:t>
            </a:r>
          </a:p>
          <a:p>
            <a:pPr>
              <a:defRPr sz="1100">
                <a:solidFill>
                  <a:srgbClr val="1E293B"/>
                </a:solidFill>
              </a:defRPr>
            </a:pPr>
            <a:r>
              <a:t>Continuous Assurance: Maintain an immutable SQLite audit trail, dual-PIN Schedule X narcotic register, and 1-click CSV export ready for State Drug Inspectors.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MODULAR ARCHITECTURE</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Modular Folder Architecture &amp; 6-Tier Baseline</a:t>
            </a:r>
          </a:p>
        </p:txBody>
      </p:sp>
      <p:sp>
        <p:nvSpPr>
          <p:cNvPr id="5" name="Rounded Rectangle 4"/>
          <p:cNvSpPr/>
          <p:nvPr/>
        </p:nvSpPr>
        <p:spPr>
          <a:xfrm>
            <a:off x="73152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892040" cy="4297680"/>
          </a:xfrm>
          <a:prstGeom prst="rect">
            <a:avLst/>
          </a:prstGeom>
          <a:noFill/>
        </p:spPr>
        <p:txBody>
          <a:bodyPr wrap="square">
            <a:spAutoFit/>
          </a:bodyPr>
          <a:lstStyle/>
          <a:p>
            <a:pPr>
              <a:spcAft>
                <a:spcPts val="800"/>
              </a:spcAft>
              <a:defRPr sz="1400" b="1">
                <a:solidFill>
                  <a:srgbClr val="0A2540"/>
                </a:solidFill>
              </a:defRPr>
            </a:pPr>
            <a:r>
              <a:t>📁 ENTERPRISE FOLDER STRUCTURE</a:t>
            </a:r>
          </a:p>
          <a:p>
            <a:pPr>
              <a:defRPr sz="950">
                <a:solidFill>
                  <a:srgbClr val="1E293B"/>
                </a:solidFill>
                <a:latin typeface="Consolas"/>
              </a:defRPr>
            </a:pPr>
            <a:r>
              <a:t>Pharmacy_Management_System/</a:t>
            </a:r>
          </a:p>
          <a:p>
            <a:pPr>
              <a:defRPr sz="950">
                <a:solidFill>
                  <a:srgbClr val="1E293B"/>
                </a:solidFill>
                <a:latin typeface="Consolas"/>
              </a:defRPr>
            </a:pPr>
            <a:r>
              <a:t>├── core/</a:t>
            </a:r>
          </a:p>
          <a:p>
            <a:pPr>
              <a:defRPr sz="950">
                <a:solidFill>
                  <a:srgbClr val="1E293B"/>
                </a:solidFill>
                <a:latin typeface="Consolas"/>
              </a:defRPr>
            </a:pPr>
            <a:r>
              <a:t>│   ├── bridge.py       # Unified Python RPC Bridge (38 methods)</a:t>
            </a:r>
          </a:p>
          <a:p>
            <a:pPr>
              <a:defRPr sz="950">
                <a:solidFill>
                  <a:srgbClr val="1E293B"/>
                </a:solidFill>
                <a:latin typeface="Consolas"/>
              </a:defRPr>
            </a:pPr>
            <a:r>
              <a:t>│   ├── db.py           # SQLite persistence layer (14 tables)</a:t>
            </a:r>
          </a:p>
          <a:p>
            <a:pPr>
              <a:defRPr sz="950">
                <a:solidFill>
                  <a:srgbClr val="1E293B"/>
                </a:solidFill>
                <a:latin typeface="Consolas"/>
              </a:defRPr>
            </a:pPr>
            <a:r>
              <a:t>│   ├── api_client.py   # Presence heartbeat AppConnector</a:t>
            </a:r>
          </a:p>
          <a:p>
            <a:pPr>
              <a:defRPr sz="950">
                <a:solidFill>
                  <a:srgbClr val="1E293B"/>
                </a:solidFill>
                <a:latin typeface="Consolas"/>
              </a:defRPr>
            </a:pPr>
            <a:r>
              <a:t>│   └── logger.py       # Tamper-evident audit logging engine</a:t>
            </a:r>
          </a:p>
          <a:p>
            <a:pPr>
              <a:defRPr sz="950">
                <a:solidFill>
                  <a:srgbClr val="1E293B"/>
                </a:solidFill>
                <a:latin typeface="Consolas"/>
              </a:defRPr>
            </a:pPr>
            <a:r>
              <a:t>├── config/</a:t>
            </a:r>
          </a:p>
          <a:p>
            <a:pPr>
              <a:defRPr sz="950">
                <a:solidFill>
                  <a:srgbClr val="1E293B"/>
                </a:solidFill>
                <a:latin typeface="Consolas"/>
              </a:defRPr>
            </a:pPr>
            <a:r>
              <a:t>│   └── settings.py     # Thread-safe Singleton dataclass (config.json)</a:t>
            </a:r>
          </a:p>
          <a:p>
            <a:pPr>
              <a:defRPr sz="950">
                <a:solidFill>
                  <a:srgbClr val="1E293B"/>
                </a:solidFill>
                <a:latin typeface="Consolas"/>
              </a:defRPr>
            </a:pPr>
            <a:r>
              <a:t>├── ui/</a:t>
            </a:r>
          </a:p>
          <a:p>
            <a:pPr>
              <a:defRPr sz="950">
                <a:solidFill>
                  <a:srgbClr val="1E293B"/>
                </a:solidFill>
                <a:latin typeface="Consolas"/>
              </a:defRPr>
            </a:pPr>
            <a:r>
              <a:t>│   ├── desktop/        # Edge Chromium WebView2 60 FPS frontend</a:t>
            </a:r>
          </a:p>
          <a:p>
            <a:pPr>
              <a:defRPr sz="950">
                <a:solidFill>
                  <a:srgbClr val="1E293B"/>
                </a:solidFill>
                <a:latin typeface="Consolas"/>
              </a:defRPr>
            </a:pPr>
            <a:r>
              <a:t>│   └── web/            # Full-featured FastAPI Web UI (1:1 parity)</a:t>
            </a:r>
          </a:p>
          <a:p>
            <a:pPr>
              <a:defRPr sz="950">
                <a:solidFill>
                  <a:srgbClr val="1E293B"/>
                </a:solidFill>
                <a:latin typeface="Consolas"/>
              </a:defRPr>
            </a:pPr>
            <a:r>
              <a:t>├── apps/               # Standalone admin &amp; operations GUI apps</a:t>
            </a:r>
          </a:p>
          <a:p>
            <a:pPr>
              <a:defRPr sz="950">
                <a:solidFill>
                  <a:srgbClr val="1E293B"/>
                </a:solidFill>
                <a:latin typeface="Consolas"/>
              </a:defRPr>
            </a:pPr>
            <a:r>
              <a:t>├── tests/              # 24 Automated unit &amp; integration tests</a:t>
            </a:r>
          </a:p>
          <a:p>
            <a:pPr>
              <a:defRPr sz="950">
                <a:solidFill>
                  <a:srgbClr val="1E293B"/>
                </a:solidFill>
                <a:latin typeface="Consolas"/>
              </a:defRPr>
            </a:pPr>
            <a:r>
              <a:t>├── backups/            # Scheduled .db snapshots &amp; CSV audit exports</a:t>
            </a:r>
          </a:p>
          <a:p>
            <a:pPr>
              <a:defRPr sz="950">
                <a:solidFill>
                  <a:srgbClr val="1E293B"/>
                </a:solidFill>
                <a:latin typeface="Consolas"/>
              </a:defRPr>
            </a:pPr>
            <a:r>
              <a:t>├── main.py             # Hardware-accelerated desktop entrypoint</a:t>
            </a:r>
          </a:p>
          <a:p>
            <a:pPr>
              <a:defRPr sz="950">
                <a:solidFill>
                  <a:srgbClr val="1E293B"/>
                </a:solidFill>
                <a:latin typeface="Consolas"/>
              </a:defRPr>
            </a:pPr>
            <a:r>
              <a:t>└── web_app.py          # Asynchronous FastAPI web application server</a:t>
            </a:r>
          </a:p>
        </p:txBody>
      </p:sp>
      <p:sp>
        <p:nvSpPr>
          <p:cNvPr id="7" name="Rounded Rectangle 6"/>
          <p:cNvSpPr/>
          <p:nvPr/>
        </p:nvSpPr>
        <p:spPr>
          <a:xfrm>
            <a:off x="617220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28800"/>
            <a:ext cx="4892040" cy="4297680"/>
          </a:xfrm>
          <a:prstGeom prst="rect">
            <a:avLst/>
          </a:prstGeom>
          <a:noFill/>
        </p:spPr>
        <p:txBody>
          <a:bodyPr wrap="square">
            <a:spAutoFit/>
          </a:bodyPr>
          <a:lstStyle/>
          <a:p>
            <a:pPr>
              <a:spcAft>
                <a:spcPts val="800"/>
              </a:spcAft>
              <a:defRPr sz="1400" b="1">
                <a:solidFill>
                  <a:srgbClr val="00A389"/>
                </a:solidFill>
              </a:defRPr>
            </a:pPr>
            <a:r>
              <a:t>🏗️ 6-TIER DECOUPLED ARCHITECTURE</a:t>
            </a:r>
          </a:p>
          <a:p>
            <a:pPr>
              <a:defRPr sz="1100" b="1">
                <a:solidFill>
                  <a:srgbClr val="0A2540"/>
                </a:solidFill>
              </a:defRPr>
            </a:pPr>
            <a:r>
              <a:t>Tier 1: Presentation Layer</a:t>
            </a:r>
          </a:p>
          <a:p>
            <a:pPr>
              <a:spcAft>
                <a:spcPts val="400"/>
              </a:spcAft>
              <a:defRPr sz="1000">
                <a:solidFill>
                  <a:srgbClr val="64748B"/>
                </a:solidFill>
              </a:defRPr>
            </a:pPr>
            <a:r>
              <a:t>Modern HTML5, responsive CSS3 Glassmorphism, and vanilla ES6+ JavaScript. Clean SPA design without external framework bloat.</a:t>
            </a:r>
          </a:p>
          <a:p>
            <a:pPr>
              <a:defRPr sz="1100" b="1">
                <a:solidFill>
                  <a:srgbClr val="0A2540"/>
                </a:solidFill>
              </a:defRPr>
            </a:pPr>
            <a:r>
              <a:t>Tier 2: Desktop Runtime</a:t>
            </a:r>
          </a:p>
          <a:p>
            <a:pPr>
              <a:spcAft>
                <a:spcPts val="400"/>
              </a:spcAft>
              <a:defRPr sz="1000">
                <a:solidFill>
                  <a:srgbClr val="64748B"/>
                </a:solidFill>
              </a:defRPr>
            </a:pPr>
            <a:r>
              <a:t>Microsoft Edge Chromium (WebView2) via `pywebview 5.x` providing zero-latency 60 FPS hardware acceleration.</a:t>
            </a:r>
          </a:p>
          <a:p>
            <a:pPr>
              <a:defRPr sz="1100" b="1">
                <a:solidFill>
                  <a:srgbClr val="0A2540"/>
                </a:solidFill>
              </a:defRPr>
            </a:pPr>
            <a:r>
              <a:t>Tier 3: Web Application Server</a:t>
            </a:r>
          </a:p>
          <a:p>
            <a:pPr>
              <a:spcAft>
                <a:spcPts val="400"/>
              </a:spcAft>
              <a:defRPr sz="1000">
                <a:solidFill>
                  <a:srgbClr val="64748B"/>
                </a:solidFill>
              </a:defRPr>
            </a:pPr>
            <a:r>
              <a:t>Asynchronous `FastAPI 0.138.0` + `Uvicorn 0.49.0` ASGI backend with auto-generated Swagger API documentation.</a:t>
            </a:r>
          </a:p>
          <a:p>
            <a:pPr>
              <a:defRPr sz="1100" b="1">
                <a:solidFill>
                  <a:srgbClr val="0A2540"/>
                </a:solidFill>
              </a:defRPr>
            </a:pPr>
            <a:r>
              <a:t>Tier 4: Unified Bridge RPC</a:t>
            </a:r>
          </a:p>
          <a:p>
            <a:pPr>
              <a:spcAft>
                <a:spcPts val="400"/>
              </a:spcAft>
              <a:defRPr sz="1000">
                <a:solidFill>
                  <a:srgbClr val="64748B"/>
                </a:solidFill>
              </a:defRPr>
            </a:pPr>
            <a:r>
              <a:t>`PharmacyBridge` exposes 38 secure, thread-safe Python methods directly to frontend JavaScript.</a:t>
            </a:r>
          </a:p>
          <a:p>
            <a:pPr>
              <a:defRPr sz="1100" b="1">
                <a:solidFill>
                  <a:srgbClr val="0A2540"/>
                </a:solidFill>
              </a:defRPr>
            </a:pPr>
            <a:r>
              <a:t>Tier 5: Core Domain Engines</a:t>
            </a:r>
          </a:p>
          <a:p>
            <a:pPr>
              <a:spcAft>
                <a:spcPts val="400"/>
              </a:spcAft>
              <a:defRPr sz="1000">
                <a:solidFill>
                  <a:srgbClr val="64748B"/>
                </a:solidFill>
              </a:defRPr>
            </a:pPr>
            <a:r>
              <a:t>Autonomous engines: CDSS allergy cross-matcher, FEFO dynamic batch sorter, cold-chain IoT simulator, Daily Z-Report engine.</a:t>
            </a:r>
          </a:p>
          <a:p>
            <a:pPr>
              <a:defRPr sz="1100" b="1">
                <a:solidFill>
                  <a:srgbClr val="0A2540"/>
                </a:solidFill>
              </a:defRPr>
            </a:pPr>
            <a:r>
              <a:t>Tier 6: Persistence &amp; Storage</a:t>
            </a:r>
          </a:p>
          <a:p>
            <a:pPr>
              <a:spcAft>
                <a:spcPts val="400"/>
              </a:spcAft>
              <a:defRPr sz="1000">
                <a:solidFill>
                  <a:srgbClr val="64748B"/>
                </a:solidFill>
              </a:defRPr>
            </a:pPr>
            <a:r>
              <a:t>SQLite 3 ACID relational database with 14 normalized tables, foreign keys, and timestamped automated backups.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SCOPE &amp; USER ROLES</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Project Scope &amp; Granular User Roles (RBAC)</a:t>
            </a:r>
          </a:p>
        </p:txBody>
      </p:sp>
      <p:sp>
        <p:nvSpPr>
          <p:cNvPr id="5" name="Rounded Rectangle 4"/>
          <p:cNvSpPr/>
          <p:nvPr/>
        </p:nvSpPr>
        <p:spPr>
          <a:xfrm>
            <a:off x="731520"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2029968" cy="64008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029968" cy="548640"/>
          </a:xfrm>
          <a:prstGeom prst="rect">
            <a:avLst/>
          </a:prstGeom>
          <a:noFill/>
        </p:spPr>
        <p:txBody>
          <a:bodyPr wrap="square">
            <a:spAutoFit/>
          </a:bodyPr>
          <a:lstStyle/>
          <a:p>
            <a:pPr algn="ctr">
              <a:defRPr sz="1100" b="1">
                <a:solidFill>
                  <a:srgbClr val="FFFFFF"/>
                </a:solidFill>
              </a:defRPr>
            </a:pPr>
            <a:r>
              <a:t>👑 Store Admin</a:t>
            </a:r>
          </a:p>
        </p:txBody>
      </p:sp>
      <p:sp>
        <p:nvSpPr>
          <p:cNvPr id="8" name="TextBox 7"/>
          <p:cNvSpPr txBox="1"/>
          <p:nvPr/>
        </p:nvSpPr>
        <p:spPr>
          <a:xfrm>
            <a:off x="822960" y="2331720"/>
            <a:ext cx="1847088" cy="3840480"/>
          </a:xfrm>
          <a:prstGeom prst="rect">
            <a:avLst/>
          </a:prstGeom>
          <a:noFill/>
        </p:spPr>
        <p:txBody>
          <a:bodyPr wrap="square">
            <a:spAutoFit/>
          </a:bodyPr>
          <a:lstStyle/>
          <a:p>
            <a:pPr>
              <a:spcAft>
                <a:spcPts val="800"/>
              </a:spcAft>
              <a:defRPr sz="1000" b="1">
                <a:solidFill>
                  <a:srgbClr val="64748B"/>
                </a:solidFill>
              </a:defRPr>
            </a:pPr>
            <a:r>
              <a:t>Terminal: Console HQ</a:t>
            </a:r>
          </a:p>
          <a:p>
            <a:pPr>
              <a:spcAft>
                <a:spcPts val="400"/>
              </a:spcAft>
              <a:defRPr sz="1000">
                <a:solidFill>
                  <a:srgbClr val="1E293B"/>
                </a:solidFill>
              </a:defRPr>
            </a:pPr>
            <a:r>
              <a:t>• Manage staff accounts &amp; passwords</a:t>
            </a:r>
          </a:p>
          <a:p>
            <a:pPr>
              <a:spcAft>
                <a:spcPts val="400"/>
              </a:spcAft>
              <a:defRPr sz="1000">
                <a:solidFill>
                  <a:srgbClr val="1E293B"/>
                </a:solidFill>
              </a:defRPr>
            </a:pPr>
            <a:r>
              <a:t>• Monitor live online terminal presence</a:t>
            </a:r>
          </a:p>
          <a:p>
            <a:pPr>
              <a:spcAft>
                <a:spcPts val="400"/>
              </a:spcAft>
              <a:defRPr sz="1000">
                <a:solidFill>
                  <a:srgbClr val="1E293B"/>
                </a:solidFill>
              </a:defRPr>
            </a:pPr>
            <a:r>
              <a:t>• Review daily Z-Report reconciliations</a:t>
            </a:r>
          </a:p>
          <a:p>
            <a:pPr>
              <a:spcAft>
                <a:spcPts val="400"/>
              </a:spcAft>
              <a:defRPr sz="1000">
                <a:solidFill>
                  <a:srgbClr val="1E293B"/>
                </a:solidFill>
              </a:defRPr>
            </a:pPr>
            <a:r>
              <a:t>• Execute SQLite snapshot backups</a:t>
            </a:r>
          </a:p>
          <a:p>
            <a:pPr>
              <a:spcAft>
                <a:spcPts val="400"/>
              </a:spcAft>
              <a:defRPr sz="1000">
                <a:solidFill>
                  <a:srgbClr val="1E293B"/>
                </a:solidFill>
              </a:defRPr>
            </a:pPr>
            <a:r>
              <a:t>• Inspect system audit stream</a:t>
            </a:r>
          </a:p>
        </p:txBody>
      </p:sp>
      <p:sp>
        <p:nvSpPr>
          <p:cNvPr id="9" name="Rounded Rectangle 8"/>
          <p:cNvSpPr/>
          <p:nvPr/>
        </p:nvSpPr>
        <p:spPr>
          <a:xfrm>
            <a:off x="2898648"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98648" y="1645920"/>
            <a:ext cx="2029968" cy="64008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691640"/>
            <a:ext cx="2029968" cy="548640"/>
          </a:xfrm>
          <a:prstGeom prst="rect">
            <a:avLst/>
          </a:prstGeom>
          <a:noFill/>
        </p:spPr>
        <p:txBody>
          <a:bodyPr wrap="square">
            <a:spAutoFit/>
          </a:bodyPr>
          <a:lstStyle/>
          <a:p>
            <a:pPr algn="ctr">
              <a:defRPr sz="1100" b="1">
                <a:solidFill>
                  <a:srgbClr val="FFFFFF"/>
                </a:solidFill>
              </a:defRPr>
            </a:pPr>
            <a:r>
              <a:t>🩺 Clinical Pharmacist</a:t>
            </a:r>
          </a:p>
        </p:txBody>
      </p:sp>
      <p:sp>
        <p:nvSpPr>
          <p:cNvPr id="12" name="TextBox 11"/>
          <p:cNvSpPr txBox="1"/>
          <p:nvPr/>
        </p:nvSpPr>
        <p:spPr>
          <a:xfrm>
            <a:off x="2990088" y="2331720"/>
            <a:ext cx="1847088" cy="3840480"/>
          </a:xfrm>
          <a:prstGeom prst="rect">
            <a:avLst/>
          </a:prstGeom>
          <a:noFill/>
        </p:spPr>
        <p:txBody>
          <a:bodyPr wrap="square">
            <a:spAutoFit/>
          </a:bodyPr>
          <a:lstStyle/>
          <a:p>
            <a:pPr>
              <a:spcAft>
                <a:spcPts val="800"/>
              </a:spcAft>
              <a:defRPr sz="1000" b="1">
                <a:solidFill>
                  <a:srgbClr val="64748B"/>
                </a:solidFill>
              </a:defRPr>
            </a:pPr>
            <a:r>
              <a:t>Terminal: Clinical Bay</a:t>
            </a:r>
          </a:p>
          <a:p>
            <a:pPr>
              <a:spcAft>
                <a:spcPts val="400"/>
              </a:spcAft>
              <a:defRPr sz="1000">
                <a:solidFill>
                  <a:srgbClr val="1E293B"/>
                </a:solidFill>
              </a:defRPr>
            </a:pPr>
            <a:r>
              <a:t>• Review incoming e-Prescriptions queue</a:t>
            </a:r>
          </a:p>
          <a:p>
            <a:pPr>
              <a:spcAft>
                <a:spcPts val="400"/>
              </a:spcAft>
              <a:defRPr sz="1000">
                <a:solidFill>
                  <a:srgbClr val="1E293B"/>
                </a:solidFill>
              </a:defRPr>
            </a:pPr>
            <a:r>
              <a:t>• CDSS allergy shield cross-checks</a:t>
            </a:r>
          </a:p>
          <a:p>
            <a:pPr>
              <a:spcAft>
                <a:spcPts val="400"/>
              </a:spcAft>
              <a:defRPr sz="1000">
                <a:solidFill>
                  <a:srgbClr val="1E293B"/>
                </a:solidFill>
              </a:defRPr>
            </a:pPr>
            <a:r>
              <a:t>• Drug-drug interaction risk analysis</a:t>
            </a:r>
          </a:p>
          <a:p>
            <a:pPr>
              <a:spcAft>
                <a:spcPts val="400"/>
              </a:spcAft>
              <a:defRPr sz="1000">
                <a:solidFill>
                  <a:srgbClr val="1E293B"/>
                </a:solidFill>
              </a:defRPr>
            </a:pPr>
            <a:r>
              <a:t>• Schedule X narcotic PIN sign-off</a:t>
            </a:r>
          </a:p>
          <a:p>
            <a:pPr>
              <a:spcAft>
                <a:spcPts val="400"/>
              </a:spcAft>
              <a:defRPr sz="1000">
                <a:solidFill>
                  <a:srgbClr val="1E293B"/>
                </a:solidFill>
              </a:defRPr>
            </a:pPr>
            <a:r>
              <a:t>• Manage chronic patient refill cycles</a:t>
            </a:r>
          </a:p>
        </p:txBody>
      </p:sp>
      <p:sp>
        <p:nvSpPr>
          <p:cNvPr id="13" name="Rounded Rectangle 12"/>
          <p:cNvSpPr/>
          <p:nvPr/>
        </p:nvSpPr>
        <p:spPr>
          <a:xfrm>
            <a:off x="5065776"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65776" y="1645920"/>
            <a:ext cx="2029968" cy="64008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1691640"/>
            <a:ext cx="2029968" cy="548640"/>
          </a:xfrm>
          <a:prstGeom prst="rect">
            <a:avLst/>
          </a:prstGeom>
          <a:noFill/>
        </p:spPr>
        <p:txBody>
          <a:bodyPr wrap="square">
            <a:spAutoFit/>
          </a:bodyPr>
          <a:lstStyle/>
          <a:p>
            <a:pPr algn="ctr">
              <a:defRPr sz="1100" b="1">
                <a:solidFill>
                  <a:srgbClr val="FFFFFF"/>
                </a:solidFill>
              </a:defRPr>
            </a:pPr>
            <a:r>
              <a:t>💳 Cashier (POS)</a:t>
            </a:r>
          </a:p>
        </p:txBody>
      </p:sp>
      <p:sp>
        <p:nvSpPr>
          <p:cNvPr id="16" name="TextBox 15"/>
          <p:cNvSpPr txBox="1"/>
          <p:nvPr/>
        </p:nvSpPr>
        <p:spPr>
          <a:xfrm>
            <a:off x="5157216" y="2331720"/>
            <a:ext cx="1847088" cy="3840480"/>
          </a:xfrm>
          <a:prstGeom prst="rect">
            <a:avLst/>
          </a:prstGeom>
          <a:noFill/>
        </p:spPr>
        <p:txBody>
          <a:bodyPr wrap="square">
            <a:spAutoFit/>
          </a:bodyPr>
          <a:lstStyle/>
          <a:p>
            <a:pPr>
              <a:spcAft>
                <a:spcPts val="800"/>
              </a:spcAft>
              <a:defRPr sz="1000" b="1">
                <a:solidFill>
                  <a:srgbClr val="64748B"/>
                </a:solidFill>
              </a:defRPr>
            </a:pPr>
            <a:r>
              <a:t>Terminal: Billing Counter</a:t>
            </a:r>
          </a:p>
          <a:p>
            <a:pPr>
              <a:spcAft>
                <a:spcPts val="400"/>
              </a:spcAft>
              <a:defRPr sz="1000">
                <a:solidFill>
                  <a:srgbClr val="1E293B"/>
                </a:solidFill>
              </a:defRPr>
            </a:pPr>
            <a:r>
              <a:t>• 1-Click verified eRx import to cart</a:t>
            </a:r>
          </a:p>
          <a:p>
            <a:pPr>
              <a:spcAft>
                <a:spcPts val="400"/>
              </a:spcAft>
              <a:defRPr sz="1000">
                <a:solidFill>
                  <a:srgbClr val="1E293B"/>
                </a:solidFill>
              </a:defRPr>
            </a:pPr>
            <a:r>
              <a:t>• Auto FEFO nearest-expiry batch pick</a:t>
            </a:r>
          </a:p>
          <a:p>
            <a:pPr>
              <a:spcAft>
                <a:spcPts val="400"/>
              </a:spcAft>
              <a:defRPr sz="1000">
                <a:solidFill>
                  <a:srgbClr val="1E293B"/>
                </a:solidFill>
              </a:defRPr>
            </a:pPr>
            <a:r>
              <a:t>• Split payments (Cash, UPI QR, Card)</a:t>
            </a:r>
          </a:p>
          <a:p>
            <a:pPr>
              <a:spcAft>
                <a:spcPts val="400"/>
              </a:spcAft>
              <a:defRPr sz="1000">
                <a:solidFill>
                  <a:srgbClr val="1E293B"/>
                </a:solidFill>
              </a:defRPr>
            </a:pPr>
            <a:r>
              <a:t>• Calculate cash change return</a:t>
            </a:r>
          </a:p>
          <a:p>
            <a:pPr>
              <a:spcAft>
                <a:spcPts val="400"/>
              </a:spcAft>
              <a:defRPr sz="1000">
                <a:solidFill>
                  <a:srgbClr val="1E293B"/>
                </a:solidFill>
              </a:defRPr>
            </a:pPr>
            <a:r>
              <a:t>• Print 80mm GST tax receipt</a:t>
            </a:r>
          </a:p>
        </p:txBody>
      </p:sp>
      <p:sp>
        <p:nvSpPr>
          <p:cNvPr id="17" name="Rounded Rectangle 16"/>
          <p:cNvSpPr/>
          <p:nvPr/>
        </p:nvSpPr>
        <p:spPr>
          <a:xfrm>
            <a:off x="7232904"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32904" y="1645920"/>
            <a:ext cx="2029968" cy="64008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1691640"/>
            <a:ext cx="2029968" cy="548640"/>
          </a:xfrm>
          <a:prstGeom prst="rect">
            <a:avLst/>
          </a:prstGeom>
          <a:noFill/>
        </p:spPr>
        <p:txBody>
          <a:bodyPr wrap="square">
            <a:spAutoFit/>
          </a:bodyPr>
          <a:lstStyle/>
          <a:p>
            <a:pPr algn="ctr">
              <a:defRPr sz="1100" b="1">
                <a:solidFill>
                  <a:srgbClr val="FFFFFF"/>
                </a:solidFill>
              </a:defRPr>
            </a:pPr>
            <a:r>
              <a:t>📦 Inventory Manager</a:t>
            </a:r>
          </a:p>
        </p:txBody>
      </p:sp>
      <p:sp>
        <p:nvSpPr>
          <p:cNvPr id="20" name="TextBox 19"/>
          <p:cNvSpPr txBox="1"/>
          <p:nvPr/>
        </p:nvSpPr>
        <p:spPr>
          <a:xfrm>
            <a:off x="7324344" y="2331720"/>
            <a:ext cx="1847088" cy="3840480"/>
          </a:xfrm>
          <a:prstGeom prst="rect">
            <a:avLst/>
          </a:prstGeom>
          <a:noFill/>
        </p:spPr>
        <p:txBody>
          <a:bodyPr wrap="square">
            <a:spAutoFit/>
          </a:bodyPr>
          <a:lstStyle/>
          <a:p>
            <a:pPr>
              <a:spcAft>
                <a:spcPts val="800"/>
              </a:spcAft>
              <a:defRPr sz="1000" b="1">
                <a:solidFill>
                  <a:srgbClr val="64748B"/>
                </a:solidFill>
              </a:defRPr>
            </a:pPr>
            <a:r>
              <a:t>Terminal: Supply Hub</a:t>
            </a:r>
          </a:p>
          <a:p>
            <a:pPr>
              <a:spcAft>
                <a:spcPts val="400"/>
              </a:spcAft>
              <a:defRPr sz="1000">
                <a:solidFill>
                  <a:srgbClr val="1E293B"/>
                </a:solidFill>
              </a:defRPr>
            </a:pPr>
            <a:r>
              <a:t>• Multi-batch FEFO stock ledger</a:t>
            </a:r>
          </a:p>
          <a:p>
            <a:pPr>
              <a:spcAft>
                <a:spcPts val="400"/>
              </a:spcAft>
              <a:defRPr sz="1000">
                <a:solidFill>
                  <a:srgbClr val="1E293B"/>
                </a:solidFill>
              </a:defRPr>
            </a:pPr>
            <a:r>
              <a:t>• Record Goods Receipt Notes (GRN)</a:t>
            </a:r>
          </a:p>
          <a:p>
            <a:pPr>
              <a:spcAft>
                <a:spcPts val="400"/>
              </a:spcAft>
              <a:defRPr sz="1000">
                <a:solidFill>
                  <a:srgbClr val="1E293B"/>
                </a:solidFill>
              </a:defRPr>
            </a:pPr>
            <a:r>
              <a:t>• 24/7 Cold-chain IoT fridge monitor</a:t>
            </a:r>
          </a:p>
          <a:p>
            <a:pPr>
              <a:spcAft>
                <a:spcPts val="400"/>
              </a:spcAft>
              <a:defRPr sz="1000">
                <a:solidFill>
                  <a:srgbClr val="1E293B"/>
                </a:solidFill>
              </a:defRPr>
            </a:pPr>
            <a:r>
              <a:t>• Manage supplier directory &amp; POs</a:t>
            </a:r>
          </a:p>
          <a:p>
            <a:pPr>
              <a:spcAft>
                <a:spcPts val="400"/>
              </a:spcAft>
              <a:defRPr sz="1000">
                <a:solidFill>
                  <a:srgbClr val="1E293B"/>
                </a:solidFill>
              </a:defRPr>
            </a:pPr>
            <a:r>
              <a:t>• Track low-stock alerts (≤20 units)</a:t>
            </a:r>
          </a:p>
        </p:txBody>
      </p:sp>
      <p:sp>
        <p:nvSpPr>
          <p:cNvPr id="21" name="Rounded Rectangle 20"/>
          <p:cNvSpPr/>
          <p:nvPr/>
        </p:nvSpPr>
        <p:spPr>
          <a:xfrm>
            <a:off x="9400032"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00032" y="1645920"/>
            <a:ext cx="2029968" cy="64008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1691640"/>
            <a:ext cx="2029968" cy="548640"/>
          </a:xfrm>
          <a:prstGeom prst="rect">
            <a:avLst/>
          </a:prstGeom>
          <a:noFill/>
        </p:spPr>
        <p:txBody>
          <a:bodyPr wrap="square">
            <a:spAutoFit/>
          </a:bodyPr>
          <a:lstStyle/>
          <a:p>
            <a:pPr algn="ctr">
              <a:defRPr sz="1100" b="1">
                <a:solidFill>
                  <a:srgbClr val="FFFFFF"/>
                </a:solidFill>
              </a:defRPr>
            </a:pPr>
            <a:r>
              <a:t>🛵 Delivery Agent</a:t>
            </a:r>
          </a:p>
        </p:txBody>
      </p:sp>
      <p:sp>
        <p:nvSpPr>
          <p:cNvPr id="24" name="TextBox 23"/>
          <p:cNvSpPr txBox="1"/>
          <p:nvPr/>
        </p:nvSpPr>
        <p:spPr>
          <a:xfrm>
            <a:off x="9491472" y="2331720"/>
            <a:ext cx="1847088" cy="3840480"/>
          </a:xfrm>
          <a:prstGeom prst="rect">
            <a:avLst/>
          </a:prstGeom>
          <a:noFill/>
        </p:spPr>
        <p:txBody>
          <a:bodyPr wrap="square">
            <a:spAutoFit/>
          </a:bodyPr>
          <a:lstStyle/>
          <a:p>
            <a:pPr>
              <a:spcAft>
                <a:spcPts val="800"/>
              </a:spcAft>
              <a:defRPr sz="1000" b="1">
                <a:solidFill>
                  <a:srgbClr val="64748B"/>
                </a:solidFill>
              </a:defRPr>
            </a:pPr>
            <a:r>
              <a:t>Terminal: Logistics Bay</a:t>
            </a:r>
          </a:p>
          <a:p>
            <a:pPr>
              <a:spcAft>
                <a:spcPts val="400"/>
              </a:spcAft>
              <a:defRPr sz="1000">
                <a:solidFill>
                  <a:srgbClr val="1E293B"/>
                </a:solidFill>
              </a:defRPr>
            </a:pPr>
            <a:r>
              <a:t>• Active dispatch Kanban route board</a:t>
            </a:r>
          </a:p>
          <a:p>
            <a:pPr>
              <a:spcAft>
                <a:spcPts val="400"/>
              </a:spcAft>
              <a:defRPr sz="1000">
                <a:solidFill>
                  <a:srgbClr val="1E293B"/>
                </a:solidFill>
              </a:defRPr>
            </a:pPr>
            <a:r>
              <a:t>• Verify cold-bag insulated packaging</a:t>
            </a:r>
          </a:p>
          <a:p>
            <a:pPr>
              <a:spcAft>
                <a:spcPts val="400"/>
              </a:spcAft>
              <a:defRPr sz="1000">
                <a:solidFill>
                  <a:srgbClr val="1E293B"/>
                </a:solidFill>
              </a:defRPr>
            </a:pPr>
            <a:r>
              <a:t>• 4-Digit customer OTP verification</a:t>
            </a:r>
          </a:p>
          <a:p>
            <a:pPr>
              <a:spcAft>
                <a:spcPts val="400"/>
              </a:spcAft>
              <a:defRPr sz="1000">
                <a:solidFill>
                  <a:srgbClr val="1E293B"/>
                </a:solidFill>
              </a:defRPr>
            </a:pPr>
            <a:r>
              <a:t>• Record electronic Proof-of-Delivery</a:t>
            </a:r>
          </a:p>
          <a:p>
            <a:pPr>
              <a:spcAft>
                <a:spcPts val="400"/>
              </a:spcAft>
              <a:defRPr sz="1000">
                <a:solidFill>
                  <a:srgbClr val="1E293B"/>
                </a:solidFill>
              </a:defRPr>
            </a:pPr>
            <a:r>
              <a:t>• Handover timestamp audit log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SOFTWARE REQUIREMENTS SPECIFICATION (SRS)</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Software Requirements Specification (SRS) — IEEE 830</a:t>
            </a:r>
          </a:p>
        </p:txBody>
      </p:sp>
      <p:sp>
        <p:nvSpPr>
          <p:cNvPr id="5" name="Rounded Rectangle 4"/>
          <p:cNvSpPr/>
          <p:nvPr/>
        </p:nvSpPr>
        <p:spPr>
          <a:xfrm>
            <a:off x="73152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892040" cy="4297680"/>
          </a:xfrm>
          <a:prstGeom prst="rect">
            <a:avLst/>
          </a:prstGeom>
          <a:noFill/>
        </p:spPr>
        <p:txBody>
          <a:bodyPr wrap="square">
            <a:spAutoFit/>
          </a:bodyPr>
          <a:lstStyle/>
          <a:p>
            <a:pPr>
              <a:spcAft>
                <a:spcPts val="800"/>
              </a:spcAft>
              <a:defRPr sz="1300" b="1">
                <a:solidFill>
                  <a:srgbClr val="0A2540"/>
                </a:solidFill>
              </a:defRPr>
            </a:pPr>
            <a:r>
              <a:t>📜 IEEE STD 830-1998 SPECIFICATION STRUCTURE</a:t>
            </a:r>
          </a:p>
          <a:p>
            <a:pPr>
              <a:defRPr sz="1100" b="1">
                <a:solidFill>
                  <a:srgbClr val="00A389"/>
                </a:solidFill>
              </a:defRPr>
            </a:pPr>
            <a:r>
              <a:t>Section 1: Introduction</a:t>
            </a:r>
          </a:p>
          <a:p>
            <a:pPr>
              <a:spcAft>
                <a:spcPts val="400"/>
              </a:spcAft>
              <a:defRPr sz="950">
                <a:solidFill>
                  <a:srgbClr val="1E293B"/>
                </a:solidFill>
              </a:defRPr>
            </a:pPr>
            <a:r>
              <a:t>Defines system purpose, document conventions, stakeholder reading guidelines, and regulatory references (CDSCO, GAMP 5, 21 CFR Part 11).</a:t>
            </a:r>
          </a:p>
          <a:p>
            <a:pPr>
              <a:defRPr sz="1100" b="1">
                <a:solidFill>
                  <a:srgbClr val="00A389"/>
                </a:solidFill>
              </a:defRPr>
            </a:pPr>
            <a:r>
              <a:t>Section 2: Overall Description</a:t>
            </a:r>
          </a:p>
          <a:p>
            <a:pPr>
              <a:spcAft>
                <a:spcPts val="400"/>
              </a:spcAft>
              <a:defRPr sz="950">
                <a:solidFill>
                  <a:srgbClr val="1E293B"/>
                </a:solidFill>
              </a:defRPr>
            </a:pPr>
            <a:r>
              <a:t>Details system perspective, baseline problem formulation, 5 user classes with RBAC matrix, and operating environment constraints.</a:t>
            </a:r>
          </a:p>
          <a:p>
            <a:pPr>
              <a:defRPr sz="1100" b="1">
                <a:solidFill>
                  <a:srgbClr val="00A389"/>
                </a:solidFill>
              </a:defRPr>
            </a:pPr>
            <a:r>
              <a:t>Section 3: System Features &amp; FRs</a:t>
            </a:r>
          </a:p>
          <a:p>
            <a:pPr>
              <a:spcAft>
                <a:spcPts val="400"/>
              </a:spcAft>
              <a:defRPr sz="950">
                <a:solidFill>
                  <a:srgbClr val="1E293B"/>
                </a:solidFill>
              </a:defRPr>
            </a:pPr>
            <a:r>
              <a:t>Formal specification of 10 core Functional Requirements with exact input criteria, validation triggers, and expected outputs.</a:t>
            </a:r>
          </a:p>
          <a:p>
            <a:pPr>
              <a:defRPr sz="1100" b="1">
                <a:solidFill>
                  <a:srgbClr val="00A389"/>
                </a:solidFill>
              </a:defRPr>
            </a:pPr>
            <a:r>
              <a:t>Section 4: External Interfaces</a:t>
            </a:r>
          </a:p>
          <a:p>
            <a:pPr>
              <a:spcAft>
                <a:spcPts val="400"/>
              </a:spcAft>
              <a:defRPr sz="950">
                <a:solidFill>
                  <a:srgbClr val="1E293B"/>
                </a:solidFill>
              </a:defRPr>
            </a:pPr>
            <a:r>
              <a:t>Specification of Hardware (USB HID scanners, 80mm ESC/POS printers, IoT probes) and Software (SQLite, FastAPI, WebView2) interfaces.</a:t>
            </a:r>
          </a:p>
          <a:p>
            <a:pPr>
              <a:defRPr sz="1100" b="1">
                <a:solidFill>
                  <a:srgbClr val="00A389"/>
                </a:solidFill>
              </a:defRPr>
            </a:pPr>
            <a:r>
              <a:t>Section 5: Non-Functional Requirements</a:t>
            </a:r>
          </a:p>
          <a:p>
            <a:pPr>
              <a:spcAft>
                <a:spcPts val="400"/>
              </a:spcAft>
              <a:defRPr sz="950">
                <a:solidFill>
                  <a:srgbClr val="1E293B"/>
                </a:solidFill>
              </a:defRPr>
            </a:pPr>
            <a:r>
              <a:t>Quantifiable metrics for latency (&lt;50ms), safety (Poka-Yoke CDSS blocking), security (SHA-256 RBAC), and 99.9% uptime.</a:t>
            </a:r>
          </a:p>
          <a:p>
            <a:pPr>
              <a:defRPr sz="1100" b="1">
                <a:solidFill>
                  <a:srgbClr val="00A389"/>
                </a:solidFill>
              </a:defRPr>
            </a:pPr>
            <a:r>
              <a:t>Section 6: Database &amp; CRUD Design</a:t>
            </a:r>
          </a:p>
          <a:p>
            <a:pPr>
              <a:spcAft>
                <a:spcPts val="400"/>
              </a:spcAft>
              <a:defRPr sz="950">
                <a:solidFill>
                  <a:srgbClr val="1E293B"/>
                </a:solidFill>
              </a:defRPr>
            </a:pPr>
            <a:r>
              <a:t>Normalized 14-table schema data dictionary, foreign key constraints, and comprehensive role-to-table CRUD permission matrix.</a:t>
            </a:r>
          </a:p>
        </p:txBody>
      </p:sp>
      <p:sp>
        <p:nvSpPr>
          <p:cNvPr id="7" name="Rounded Rectangle 6"/>
          <p:cNvSpPr/>
          <p:nvPr/>
        </p:nvSpPr>
        <p:spPr>
          <a:xfrm>
            <a:off x="617220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28800"/>
            <a:ext cx="4892040" cy="4297680"/>
          </a:xfrm>
          <a:prstGeom prst="rect">
            <a:avLst/>
          </a:prstGeom>
          <a:noFill/>
        </p:spPr>
        <p:txBody>
          <a:bodyPr wrap="square">
            <a:spAutoFit/>
          </a:bodyPr>
          <a:lstStyle/>
          <a:p>
            <a:pPr>
              <a:spcAft>
                <a:spcPts val="800"/>
              </a:spcAft>
              <a:defRPr sz="1300" b="1">
                <a:solidFill>
                  <a:srgbClr val="0284C7"/>
                </a:solidFill>
              </a:defRPr>
            </a:pPr>
            <a:r>
              <a:t>📁 SRS DOCUMENTATION DELIVERABLES</a:t>
            </a:r>
          </a:p>
          <a:p>
            <a:pPr>
              <a:defRPr sz="1100" b="1">
                <a:solidFill>
                  <a:srgbClr val="0A2540"/>
                </a:solidFill>
              </a:defRPr>
            </a:pPr>
            <a:r>
              <a:t>Formal Word Document (DOCX)</a:t>
            </a:r>
          </a:p>
          <a:p>
            <a:pPr>
              <a:spcAft>
                <a:spcPts val="600"/>
              </a:spcAft>
              <a:defRPr sz="950">
                <a:solidFill>
                  <a:srgbClr val="64748B"/>
                </a:solidFill>
              </a:defRPr>
            </a:pPr>
            <a:r>
              <a:t>Generated via `generate_srs_doc.py` using `python-docx` with professional typography, custom slate headers, and styled tables: `SRS_AegisPharm_Enterprise.docx`.</a:t>
            </a:r>
          </a:p>
          <a:p>
            <a:pPr>
              <a:defRPr sz="1100" b="1">
                <a:solidFill>
                  <a:srgbClr val="0A2540"/>
                </a:solidFill>
              </a:defRPr>
            </a:pPr>
            <a:r>
              <a:t>Print-Ready PDF Specification</a:t>
            </a:r>
          </a:p>
          <a:p>
            <a:pPr>
              <a:spcAft>
                <a:spcPts val="600"/>
              </a:spcAft>
              <a:defRPr sz="950">
                <a:solidFill>
                  <a:srgbClr val="64748B"/>
                </a:solidFill>
              </a:defRPr>
            </a:pPr>
            <a:r>
              <a:t>Compiled via Microsoft Word COM automation (`wdExportFormatPDF = 17`) ensuring zero layout degradation for university examiners: `SRS_AegisPharm_Enterprise.pdf`.</a:t>
            </a:r>
          </a:p>
          <a:p>
            <a:pPr>
              <a:defRPr sz="1100" b="1">
                <a:solidFill>
                  <a:srgbClr val="0A2540"/>
                </a:solidFill>
              </a:defRPr>
            </a:pPr>
            <a:r>
              <a:t>GitHub Markdown Version</a:t>
            </a:r>
          </a:p>
          <a:p>
            <a:pPr>
              <a:spcAft>
                <a:spcPts val="600"/>
              </a:spcAft>
              <a:defRPr sz="950">
                <a:solidFill>
                  <a:srgbClr val="64748B"/>
                </a:solidFill>
              </a:defRPr>
            </a:pPr>
            <a:r>
              <a:t>Full specification available directly within repository root for instant web viewing: `SRS_AegisPharm_Enterprise.md`.</a:t>
            </a:r>
          </a:p>
          <a:p>
            <a:pPr>
              <a:defRPr sz="1100" b="1">
                <a:solidFill>
                  <a:srgbClr val="0A2540"/>
                </a:solidFill>
              </a:defRPr>
            </a:pPr>
            <a:r>
              <a:t>Traceability to Evaluation Rubric</a:t>
            </a:r>
          </a:p>
          <a:p>
            <a:pPr>
              <a:spcAft>
                <a:spcPts val="600"/>
              </a:spcAft>
              <a:defRPr sz="950">
                <a:solidFill>
                  <a:srgbClr val="64748B"/>
                </a:solidFill>
              </a:defRPr>
            </a:pPr>
            <a:r>
              <a:t>Every rubric criterion from Image 1, 2, and 3 is mapped directly to corresponding functional sections and automated verification assertions.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FUNCTIONAL SPECIFICATIONS</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SRS Functional Requirements (FR-01 to FR-10)</a:t>
            </a:r>
          </a:p>
        </p:txBody>
      </p:sp>
      <p:sp>
        <p:nvSpPr>
          <p:cNvPr id="5" name="Rounded Rectangle 4"/>
          <p:cNvSpPr/>
          <p:nvPr/>
        </p:nvSpPr>
        <p:spPr>
          <a:xfrm>
            <a:off x="73152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892040" cy="4297680"/>
          </a:xfrm>
          <a:prstGeom prst="rect">
            <a:avLst/>
          </a:prstGeom>
          <a:noFill/>
        </p:spPr>
        <p:txBody>
          <a:bodyPr wrap="square">
            <a:spAutoFit/>
          </a:bodyPr>
          <a:lstStyle/>
          <a:p>
            <a:pPr>
              <a:spcAft>
                <a:spcPts val="600"/>
              </a:spcAft>
              <a:defRPr sz="1200" b="1">
                <a:solidFill>
                  <a:srgbClr val="00A389"/>
                </a:solidFill>
              </a:defRPr>
            </a:pPr>
            <a:r>
              <a:t>📋 CORE CLINICAL &amp; POS REQUIREMENTS (FR-01 TO FR-05)</a:t>
            </a:r>
          </a:p>
          <a:p>
            <a:pPr>
              <a:defRPr sz="1100" b="1">
                <a:solidFill>
                  <a:srgbClr val="0A2540"/>
                </a:solidFill>
              </a:defRPr>
            </a:pPr>
            <a:r>
              <a:t>FR-01: Authentication &amp; Telemetry</a:t>
            </a:r>
          </a:p>
          <a:p>
            <a:pPr>
              <a:spcAft>
                <a:spcPts val="400"/>
              </a:spcAft>
              <a:defRPr sz="950">
                <a:solidFill>
                  <a:srgbClr val="1E293B"/>
                </a:solidFill>
              </a:defRPr>
            </a:pPr>
            <a:r>
              <a:t>Enforce SHA-256 hashed credentials, terminal session UUIDs, and 5s heartbeat telemetry. Offline flag after 15s inactivity.</a:t>
            </a:r>
          </a:p>
          <a:p>
            <a:pPr>
              <a:defRPr sz="1100" b="1">
                <a:solidFill>
                  <a:srgbClr val="0A2540"/>
                </a:solidFill>
              </a:defRPr>
            </a:pPr>
            <a:r>
              <a:t>FR-02: CDSS Clinical Safety Gate</a:t>
            </a:r>
          </a:p>
          <a:p>
            <a:pPr>
              <a:spcAft>
                <a:spcPts val="400"/>
              </a:spcAft>
              <a:defRPr sz="950">
                <a:solidFill>
                  <a:srgbClr val="1E293B"/>
                </a:solidFill>
              </a:defRPr>
            </a:pPr>
            <a:r>
              <a:t>Automated cross-check of eRx drugs against EHR patient allergies (Penicillin) and drug-drug matrices. Dispense lockout on conflict.</a:t>
            </a:r>
          </a:p>
          <a:p>
            <a:pPr>
              <a:defRPr sz="1100" b="1">
                <a:solidFill>
                  <a:srgbClr val="0A2540"/>
                </a:solidFill>
              </a:defRPr>
            </a:pPr>
            <a:r>
              <a:t>FR-03: Schedule X Narcotic Sign-Off</a:t>
            </a:r>
          </a:p>
          <a:p>
            <a:pPr>
              <a:spcAft>
                <a:spcPts val="400"/>
              </a:spcAft>
              <a:defRPr sz="950">
                <a:solidFill>
                  <a:srgbClr val="1E293B"/>
                </a:solidFill>
              </a:defRPr>
            </a:pPr>
            <a:r>
              <a:t>Mandatory dual authentication: Doctor DMC Registration Number + Pharmacist 4-digit Authorization PIN permanently logged.</a:t>
            </a:r>
          </a:p>
          <a:p>
            <a:pPr>
              <a:defRPr sz="1100" b="1">
                <a:solidFill>
                  <a:srgbClr val="0A2540"/>
                </a:solidFill>
              </a:defRPr>
            </a:pPr>
            <a:r>
              <a:t>FR-04: FEFO Batch Sorting Engine</a:t>
            </a:r>
          </a:p>
          <a:p>
            <a:pPr>
              <a:spcAft>
                <a:spcPts val="400"/>
              </a:spcAft>
              <a:defRPr sz="950">
                <a:solidFill>
                  <a:srgbClr val="1E293B"/>
                </a:solidFill>
              </a:defRPr>
            </a:pPr>
            <a:r>
              <a:t>Automatic prioritization of nearest-expiry viable lots (`days_to_expiry ASC`). Strict lockout of expired drugs (days &lt;= 0).</a:t>
            </a:r>
          </a:p>
          <a:p>
            <a:pPr>
              <a:defRPr sz="1100" b="1">
                <a:solidFill>
                  <a:srgbClr val="0A2540"/>
                </a:solidFill>
              </a:defRPr>
            </a:pPr>
            <a:r>
              <a:t>FR-05: POS Multi-Tender Billing</a:t>
            </a:r>
          </a:p>
          <a:p>
            <a:pPr>
              <a:spcAft>
                <a:spcPts val="400"/>
              </a:spcAft>
              <a:defRPr sz="950">
                <a:solidFill>
                  <a:srgbClr val="1E293B"/>
                </a:solidFill>
              </a:defRPr>
            </a:pPr>
            <a:r>
              <a:t>1-Click import of approved eRx, barcode scan, Cash change calculator, Dynamic UPI QR generation, and 80mm GST receipt printing.</a:t>
            </a:r>
          </a:p>
        </p:txBody>
      </p:sp>
      <p:sp>
        <p:nvSpPr>
          <p:cNvPr id="7" name="Rounded Rectangle 6"/>
          <p:cNvSpPr/>
          <p:nvPr/>
        </p:nvSpPr>
        <p:spPr>
          <a:xfrm>
            <a:off x="617220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28800"/>
            <a:ext cx="4892040" cy="4297680"/>
          </a:xfrm>
          <a:prstGeom prst="rect">
            <a:avLst/>
          </a:prstGeom>
          <a:noFill/>
        </p:spPr>
        <p:txBody>
          <a:bodyPr wrap="square">
            <a:spAutoFit/>
          </a:bodyPr>
          <a:lstStyle/>
          <a:p>
            <a:pPr>
              <a:spcAft>
                <a:spcPts val="600"/>
              </a:spcAft>
              <a:defRPr sz="1200" b="1">
                <a:solidFill>
                  <a:srgbClr val="0284C7"/>
                </a:solidFill>
              </a:defRPr>
            </a:pPr>
            <a:r>
              <a:t>📋 SUPPLY CHAIN &amp; FISCAL REQUIREMENTS (FR-06 TO FR-10)</a:t>
            </a:r>
          </a:p>
          <a:p>
            <a:pPr>
              <a:defRPr sz="1100" b="1">
                <a:solidFill>
                  <a:srgbClr val="0A2540"/>
                </a:solidFill>
              </a:defRPr>
            </a:pPr>
            <a:r>
              <a:t>FR-06: Goods Receipt Notes (GRN)</a:t>
            </a:r>
          </a:p>
          <a:p>
            <a:pPr>
              <a:spcAft>
                <a:spcPts val="400"/>
              </a:spcAft>
              <a:defRPr sz="950">
                <a:solidFill>
                  <a:srgbClr val="1E293B"/>
                </a:solidFill>
              </a:defRPr>
            </a:pPr>
            <a:r>
              <a:t>Inward supplier shipments against POs capturing lot number, expiry, cost price, MRP, GST %, and physical shelf rack coordinate.</a:t>
            </a:r>
          </a:p>
          <a:p>
            <a:pPr>
              <a:defRPr sz="1100" b="1">
                <a:solidFill>
                  <a:srgbClr val="0A2540"/>
                </a:solidFill>
              </a:defRPr>
            </a:pPr>
            <a:r>
              <a:t>FR-07: IoT Cold-Chain Telemetry</a:t>
            </a:r>
          </a:p>
          <a:p>
            <a:pPr>
              <a:spcAft>
                <a:spcPts val="400"/>
              </a:spcAft>
              <a:defRPr sz="950">
                <a:solidFill>
                  <a:srgbClr val="1E293B"/>
                </a:solidFill>
              </a:defRPr>
            </a:pPr>
            <a:r>
              <a:t>Monitor refrigerator sensors (Chamber A &amp; B, 2°C–8°C) every 30s. Trigger audio/visual alert on temperature excursion spike.</a:t>
            </a:r>
          </a:p>
          <a:p>
            <a:pPr>
              <a:defRPr sz="1100" b="1">
                <a:solidFill>
                  <a:srgbClr val="0A2540"/>
                </a:solidFill>
              </a:defRPr>
            </a:pPr>
            <a:r>
              <a:t>FR-08: Delivery Logistics &amp; OTP e-POD</a:t>
            </a:r>
          </a:p>
          <a:p>
            <a:pPr>
              <a:spcAft>
                <a:spcPts val="400"/>
              </a:spcAft>
              <a:defRPr sz="950">
                <a:solidFill>
                  <a:srgbClr val="1E293B"/>
                </a:solidFill>
              </a:defRPr>
            </a:pPr>
            <a:r>
              <a:t>Kanban dispatch workflow (`Packaging`, `Out`, `Delivered`), insulated cold-bag checklist, and 4-digit recipient OTP handshake.</a:t>
            </a:r>
          </a:p>
          <a:p>
            <a:pPr>
              <a:defRPr sz="1100" b="1">
                <a:solidFill>
                  <a:srgbClr val="0A2540"/>
                </a:solidFill>
              </a:defRPr>
            </a:pPr>
            <a:r>
              <a:t>FR-09: End-of-Day Z-Report Close</a:t>
            </a:r>
          </a:p>
          <a:p>
            <a:pPr>
              <a:spcAft>
                <a:spcPts val="400"/>
              </a:spcAft>
              <a:defRPr sz="950">
                <a:solidFill>
                  <a:srgbClr val="1E293B"/>
                </a:solidFill>
              </a:defRPr>
            </a:pPr>
            <a:r>
              <a:t>Shift cash reconciliation: `Expected = Float + Sales - Payouts`. Variance detection, register locking, and official signed Z-slip.</a:t>
            </a:r>
          </a:p>
          <a:p>
            <a:pPr>
              <a:defRPr sz="1100" b="1">
                <a:solidFill>
                  <a:srgbClr val="0A2540"/>
                </a:solidFill>
              </a:defRPr>
            </a:pPr>
            <a:r>
              <a:t>FR-10: 21 CFR Part 11 Audit Trail</a:t>
            </a:r>
          </a:p>
          <a:p>
            <a:pPr>
              <a:spcAft>
                <a:spcPts val="400"/>
              </a:spcAft>
              <a:defRPr sz="950">
                <a:solidFill>
                  <a:srgbClr val="1E293B"/>
                </a:solidFill>
              </a:defRPr>
            </a:pPr>
            <a:r>
              <a:t>Append-only, immutable SQLite event log capturing timestamp, user ID, role, action code, and severity level (INFO/WARN/CRIT).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NON-FUNCTIONAL &amp; QUALITY METRICS</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SRS Non-Functional &amp; Safety Requirements</a:t>
            </a:r>
          </a:p>
        </p:txBody>
      </p:sp>
      <p:sp>
        <p:nvSpPr>
          <p:cNvPr id="5" name="Rounded Rectangle 4"/>
          <p:cNvSpPr/>
          <p:nvPr/>
        </p:nvSpPr>
        <p:spPr>
          <a:xfrm>
            <a:off x="731520" y="164592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109728" cy="21945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55648"/>
            <a:ext cx="4892040" cy="1975104"/>
          </a:xfrm>
          <a:prstGeom prst="rect">
            <a:avLst/>
          </a:prstGeom>
          <a:noFill/>
        </p:spPr>
        <p:txBody>
          <a:bodyPr wrap="square">
            <a:spAutoFit/>
          </a:bodyPr>
          <a:lstStyle/>
          <a:p>
            <a:pPr>
              <a:defRPr sz="1200" b="1">
                <a:solidFill>
                  <a:srgbClr val="0A2540"/>
                </a:solidFill>
              </a:defRPr>
            </a:pPr>
            <a:r>
              <a:t>⚡ 1. PERFORMANCE &amp; LATENCY</a:t>
            </a:r>
          </a:p>
          <a:p>
            <a:pPr>
              <a:spcAft>
                <a:spcPts val="400"/>
              </a:spcAft>
              <a:defRPr sz="950" b="1">
                <a:solidFill>
                  <a:srgbClr val="00A389"/>
                </a:solidFill>
              </a:defRPr>
            </a:pPr>
            <a:r>
              <a:t>SUB-SECOND RESPONSE STANDARDS</a:t>
            </a:r>
          </a:p>
          <a:p>
            <a:pPr>
              <a:spcAft>
                <a:spcPts val="200"/>
              </a:spcAft>
              <a:defRPr sz="950">
                <a:solidFill>
                  <a:srgbClr val="1E293B"/>
                </a:solidFill>
              </a:defRPr>
            </a:pPr>
            <a:r>
              <a:t>• UI Transaction Latency: All dashboard actions &amp; button clicks respond in &lt;50ms.</a:t>
            </a:r>
          </a:p>
          <a:p>
            <a:pPr>
              <a:spcAft>
                <a:spcPts val="200"/>
              </a:spcAft>
              <a:defRPr sz="950">
                <a:solidFill>
                  <a:srgbClr val="1E293B"/>
                </a:solidFill>
              </a:defRPr>
            </a:pPr>
            <a:r>
              <a:t>• Database Commit Latency: SQLite WAL transactions complete in &lt;10ms.</a:t>
            </a:r>
          </a:p>
          <a:p>
            <a:pPr>
              <a:spcAft>
                <a:spcPts val="200"/>
              </a:spcAft>
              <a:defRPr sz="950">
                <a:solidFill>
                  <a:srgbClr val="1E293B"/>
                </a:solidFill>
              </a:defRPr>
            </a:pPr>
            <a:r>
              <a:t>• 60 FPS Desktop Rendering: Hardware-accelerated Edge Chromium WebView2 prevents UI stutter.</a:t>
            </a:r>
          </a:p>
          <a:p>
            <a:pPr>
              <a:spcAft>
                <a:spcPts val="200"/>
              </a:spcAft>
              <a:defRPr sz="950">
                <a:solidFill>
                  <a:srgbClr val="1E293B"/>
                </a:solidFill>
              </a:defRPr>
            </a:pPr>
            <a:r>
              <a:t>• Non-Blocking Threading: Zero frame freezes via asynchronous background worker threads.</a:t>
            </a:r>
          </a:p>
        </p:txBody>
      </p:sp>
      <p:sp>
        <p:nvSpPr>
          <p:cNvPr id="8" name="Rounded Rectangle 7"/>
          <p:cNvSpPr/>
          <p:nvPr/>
        </p:nvSpPr>
        <p:spPr>
          <a:xfrm>
            <a:off x="6172200" y="164592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645920"/>
            <a:ext cx="109728" cy="219456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755648"/>
            <a:ext cx="4892040" cy="1975104"/>
          </a:xfrm>
          <a:prstGeom prst="rect">
            <a:avLst/>
          </a:prstGeom>
          <a:noFill/>
        </p:spPr>
        <p:txBody>
          <a:bodyPr wrap="square">
            <a:spAutoFit/>
          </a:bodyPr>
          <a:lstStyle/>
          <a:p>
            <a:pPr>
              <a:defRPr sz="1200" b="1">
                <a:solidFill>
                  <a:srgbClr val="0A2540"/>
                </a:solidFill>
              </a:defRPr>
            </a:pPr>
            <a:r>
              <a:t>🛡️ 2. POKA-YOKE SAFETY GATES</a:t>
            </a:r>
          </a:p>
          <a:p>
            <a:pPr>
              <a:spcAft>
                <a:spcPts val="400"/>
              </a:spcAft>
              <a:defRPr sz="950" b="1">
                <a:solidFill>
                  <a:srgbClr val="E11D48"/>
                </a:solidFill>
              </a:defRPr>
            </a:pPr>
            <a:r>
              <a:t>MISTAKE-PROOFING HEALTHCARE</a:t>
            </a:r>
          </a:p>
          <a:p>
            <a:pPr>
              <a:spcAft>
                <a:spcPts val="200"/>
              </a:spcAft>
              <a:defRPr sz="950">
                <a:solidFill>
                  <a:srgbClr val="1E293B"/>
                </a:solidFill>
              </a:defRPr>
            </a:pPr>
            <a:r>
              <a:t>• 100% CDSS Interception: Automatic lock on cart checkout when drug-allergy contraindication is flagged.</a:t>
            </a:r>
          </a:p>
          <a:p>
            <a:pPr>
              <a:spcAft>
                <a:spcPts val="200"/>
              </a:spcAft>
              <a:defRPr sz="950">
                <a:solidFill>
                  <a:srgbClr val="1E293B"/>
                </a:solidFill>
              </a:defRPr>
            </a:pPr>
            <a:r>
              <a:t>• Zero Expiry Dispensing: Expired batches mathematically prohibited from cart addition.</a:t>
            </a:r>
          </a:p>
          <a:p>
            <a:pPr>
              <a:spcAft>
                <a:spcPts val="200"/>
              </a:spcAft>
              <a:defRPr sz="950">
                <a:solidFill>
                  <a:srgbClr val="1E293B"/>
                </a:solidFill>
              </a:defRPr>
            </a:pPr>
            <a:r>
              <a:t>• Schedule X Dual-Auth: Narcotics cannot be billed without Doctor DMC Reg + Pharmacist PIN.</a:t>
            </a:r>
          </a:p>
          <a:p>
            <a:pPr>
              <a:spcAft>
                <a:spcPts val="200"/>
              </a:spcAft>
              <a:defRPr sz="950">
                <a:solidFill>
                  <a:srgbClr val="1E293B"/>
                </a:solidFill>
              </a:defRPr>
            </a:pPr>
            <a:r>
              <a:t>• Handover Integrity: Delivery status advancement blocked without 4-digit recipient OTP.</a:t>
            </a:r>
          </a:p>
        </p:txBody>
      </p:sp>
      <p:sp>
        <p:nvSpPr>
          <p:cNvPr id="11" name="Rounded Rectangle 10"/>
          <p:cNvSpPr/>
          <p:nvPr/>
        </p:nvSpPr>
        <p:spPr>
          <a:xfrm>
            <a:off x="731520" y="402336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109728" cy="219456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33088"/>
            <a:ext cx="4892040" cy="1975104"/>
          </a:xfrm>
          <a:prstGeom prst="rect">
            <a:avLst/>
          </a:prstGeom>
          <a:noFill/>
        </p:spPr>
        <p:txBody>
          <a:bodyPr wrap="square">
            <a:spAutoFit/>
          </a:bodyPr>
          <a:lstStyle/>
          <a:p>
            <a:pPr>
              <a:defRPr sz="1200" b="1">
                <a:solidFill>
                  <a:srgbClr val="0A2540"/>
                </a:solidFill>
              </a:defRPr>
            </a:pPr>
            <a:r>
              <a:t>🔒 3. SECURITY &amp; AUDIT TRAIL</a:t>
            </a:r>
          </a:p>
          <a:p>
            <a:pPr>
              <a:spcAft>
                <a:spcPts val="400"/>
              </a:spcAft>
              <a:defRPr sz="950" b="1">
                <a:solidFill>
                  <a:srgbClr val="0A2540"/>
                </a:solidFill>
              </a:defRPr>
            </a:pPr>
            <a:r>
              <a:t>21 CFR PART 11 COMPLIANCE</a:t>
            </a:r>
          </a:p>
          <a:p>
            <a:pPr>
              <a:spcAft>
                <a:spcPts val="200"/>
              </a:spcAft>
              <a:defRPr sz="950">
                <a:solidFill>
                  <a:srgbClr val="1E293B"/>
                </a:solidFill>
              </a:defRPr>
            </a:pPr>
            <a:r>
              <a:t>• Immutable Audit Records: Append-only SQLite event stream; UPDATE and DELETE disbarred.</a:t>
            </a:r>
          </a:p>
          <a:p>
            <a:pPr>
              <a:spcAft>
                <a:spcPts val="200"/>
              </a:spcAft>
              <a:defRPr sz="950">
                <a:solidFill>
                  <a:srgbClr val="1E293B"/>
                </a:solidFill>
              </a:defRPr>
            </a:pPr>
            <a:r>
              <a:t>• Role-Based Route Shields: Strict RBAC gating on all sensitive operations and UI modals.</a:t>
            </a:r>
          </a:p>
          <a:p>
            <a:pPr>
              <a:spcAft>
                <a:spcPts val="200"/>
              </a:spcAft>
              <a:defRPr sz="950">
                <a:solidFill>
                  <a:srgbClr val="1E293B"/>
                </a:solidFill>
              </a:defRPr>
            </a:pPr>
            <a:r>
              <a:t>• Credential Protection: SHA-256 hashed password verification across all login terminals.</a:t>
            </a:r>
          </a:p>
          <a:p>
            <a:pPr>
              <a:spcAft>
                <a:spcPts val="200"/>
              </a:spcAft>
              <a:defRPr sz="950">
                <a:solidFill>
                  <a:srgbClr val="1E293B"/>
                </a:solidFill>
              </a:defRPr>
            </a:pPr>
            <a:r>
              <a:t>• Session Heartbeat Watchdog: Stale or hijacked terminal sessions auto-terminated after 15s.</a:t>
            </a:r>
          </a:p>
        </p:txBody>
      </p:sp>
      <p:sp>
        <p:nvSpPr>
          <p:cNvPr id="14" name="Rounded Rectangle 13"/>
          <p:cNvSpPr/>
          <p:nvPr/>
        </p:nvSpPr>
        <p:spPr>
          <a:xfrm>
            <a:off x="6172200" y="402336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4023360"/>
            <a:ext cx="109728" cy="2194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133088"/>
            <a:ext cx="4892040" cy="1975104"/>
          </a:xfrm>
          <a:prstGeom prst="rect">
            <a:avLst/>
          </a:prstGeom>
          <a:noFill/>
        </p:spPr>
        <p:txBody>
          <a:bodyPr wrap="square">
            <a:spAutoFit/>
          </a:bodyPr>
          <a:lstStyle/>
          <a:p>
            <a:pPr>
              <a:defRPr sz="1200" b="1">
                <a:solidFill>
                  <a:srgbClr val="0A2540"/>
                </a:solidFill>
              </a:defRPr>
            </a:pPr>
            <a:r>
              <a:t>⚖️ 4. STATUTORY COMPLIANCE</a:t>
            </a:r>
          </a:p>
          <a:p>
            <a:pPr>
              <a:spcAft>
                <a:spcPts val="400"/>
              </a:spcAft>
              <a:defRPr sz="950" b="1">
                <a:solidFill>
                  <a:srgbClr val="0284C7"/>
                </a:solidFill>
              </a:defRPr>
            </a:pPr>
            <a:r>
              <a:t>INDIAN PHARMACEUTICAL STANDARDS</a:t>
            </a:r>
          </a:p>
          <a:p>
            <a:pPr>
              <a:spcAft>
                <a:spcPts val="200"/>
              </a:spcAft>
              <a:defRPr sz="950">
                <a:solidFill>
                  <a:srgbClr val="1E293B"/>
                </a:solidFill>
              </a:defRPr>
            </a:pPr>
            <a:r>
              <a:t>• Drugs &amp; Cosmetics Act 1940: Mandatory compliance with Schedule H, H1, and Schedule X rules.</a:t>
            </a:r>
          </a:p>
          <a:p>
            <a:pPr>
              <a:spcAft>
                <a:spcPts val="200"/>
              </a:spcAft>
              <a:defRPr sz="950">
                <a:solidFill>
                  <a:srgbClr val="1E293B"/>
                </a:solidFill>
              </a:defRPr>
            </a:pPr>
            <a:r>
              <a:t>• Rule 65 Dispensing Records: Automated digital maintenance of prescription registers.</a:t>
            </a:r>
          </a:p>
          <a:p>
            <a:pPr>
              <a:spcAft>
                <a:spcPts val="200"/>
              </a:spcAft>
              <a:defRPr sz="950">
                <a:solidFill>
                  <a:srgbClr val="1E293B"/>
                </a:solidFill>
              </a:defRPr>
            </a:pPr>
            <a:r>
              <a:t>• GST Invoicing Compliance: Automated 5%, 12%, 18% CGST/SGST tax split on thermal receipts.</a:t>
            </a:r>
          </a:p>
          <a:p>
            <a:pPr>
              <a:spcAft>
                <a:spcPts val="200"/>
              </a:spcAft>
              <a:defRPr sz="950">
                <a:solidFill>
                  <a:srgbClr val="1E293B"/>
                </a:solidFill>
              </a:defRPr>
            </a:pPr>
            <a:r>
              <a:t>• GAMP 5 Category 4: Configured software validation standards with complete test traceability.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DATABASE / SYSTEM DESIGN</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Database Design &amp; Relational Data Dictionary</a:t>
            </a:r>
          </a:p>
        </p:txBody>
      </p:sp>
      <p:sp>
        <p:nvSpPr>
          <p:cNvPr id="5" name="Rounded Rectangle 4"/>
          <p:cNvSpPr/>
          <p:nvPr/>
        </p:nvSpPr>
        <p:spPr>
          <a:xfrm>
            <a:off x="73152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892040" cy="4297680"/>
          </a:xfrm>
          <a:prstGeom prst="rect">
            <a:avLst/>
          </a:prstGeom>
          <a:noFill/>
        </p:spPr>
        <p:txBody>
          <a:bodyPr wrap="square">
            <a:spAutoFit/>
          </a:bodyPr>
          <a:lstStyle/>
          <a:p>
            <a:pPr>
              <a:spcAft>
                <a:spcPts val="600"/>
              </a:spcAft>
              <a:defRPr sz="1300" b="1">
                <a:solidFill>
                  <a:srgbClr val="00A389"/>
                </a:solidFill>
              </a:defRPr>
            </a:pPr>
            <a:r>
              <a:t>🗄️ CORE RELATIONAL TABLES (PART 1)</a:t>
            </a:r>
          </a:p>
          <a:p>
            <a:pPr>
              <a:defRPr sz="1050" b="1">
                <a:solidFill>
                  <a:srgbClr val="0A2540"/>
                </a:solidFill>
              </a:defRPr>
            </a:pPr>
            <a:r>
              <a:t>1. staff (PRIMARY KEY: id)</a:t>
            </a:r>
          </a:p>
          <a:p>
            <a:pPr>
              <a:spcAft>
                <a:spcPts val="300"/>
              </a:spcAft>
              <a:defRPr sz="950">
                <a:solidFill>
                  <a:srgbClr val="64748B"/>
                </a:solidFill>
              </a:defRPr>
            </a:pPr>
            <a:r>
              <a:t>Staff credentials, assigned RBAC role, username, branch, active status.</a:t>
            </a:r>
          </a:p>
          <a:p>
            <a:pPr>
              <a:defRPr sz="1050" b="1">
                <a:solidFill>
                  <a:srgbClr val="0A2540"/>
                </a:solidFill>
              </a:defRPr>
            </a:pPr>
            <a:r>
              <a:t>2. medicines (PRIMARY KEY: id)</a:t>
            </a:r>
          </a:p>
          <a:p>
            <a:pPr>
              <a:spcAft>
                <a:spcPts val="300"/>
              </a:spcAft>
              <a:defRPr sz="950">
                <a:solidFill>
                  <a:srgbClr val="64748B"/>
                </a:solidFill>
              </a:defRPr>
            </a:pPr>
            <a:r>
              <a:t>Pharmaceutical catalog, generic name, batch, expiry, days left, stock, MRP.</a:t>
            </a:r>
          </a:p>
          <a:p>
            <a:pPr>
              <a:defRPr sz="1050" b="1">
                <a:solidFill>
                  <a:srgbClr val="0A2540"/>
                </a:solidFill>
              </a:defRPr>
            </a:pPr>
            <a:r>
              <a:t>3. prescriptions (PRIMARY KEY: rx_id)</a:t>
            </a:r>
          </a:p>
          <a:p>
            <a:pPr>
              <a:spcAft>
                <a:spcPts val="300"/>
              </a:spcAft>
              <a:defRPr sz="950">
                <a:solidFill>
                  <a:srgbClr val="64748B"/>
                </a:solidFill>
              </a:defRPr>
            </a:pPr>
            <a:r>
              <a:t>Patient name, doctor, items JSON, CDSS status, clinical sign-off notes.</a:t>
            </a:r>
          </a:p>
          <a:p>
            <a:pPr>
              <a:defRPr sz="1050" b="1">
                <a:solidFill>
                  <a:srgbClr val="0A2540"/>
                </a:solidFill>
              </a:defRPr>
            </a:pPr>
            <a:r>
              <a:t>4. invoices (PRIMARY KEY: invoice_id)</a:t>
            </a:r>
          </a:p>
          <a:p>
            <a:pPr>
              <a:spcAft>
                <a:spcPts val="300"/>
              </a:spcAft>
              <a:defRPr sz="950">
                <a:solidFill>
                  <a:srgbClr val="64748B"/>
                </a:solidFill>
              </a:defRPr>
            </a:pPr>
            <a:r>
              <a:t>Official tax invoices, cashier, payment method, subtotal, GST, total amount.</a:t>
            </a:r>
          </a:p>
          <a:p>
            <a:pPr>
              <a:defRPr sz="1050" b="1">
                <a:solidFill>
                  <a:srgbClr val="0A2540"/>
                </a:solidFill>
              </a:defRPr>
            </a:pPr>
            <a:r>
              <a:t>5. delivery_orders (PRIMARY KEY: order_id)</a:t>
            </a:r>
          </a:p>
          <a:p>
            <a:pPr>
              <a:spcAft>
                <a:spcPts val="300"/>
              </a:spcAft>
              <a:defRPr sz="950">
                <a:solidFill>
                  <a:srgbClr val="64748B"/>
                </a:solidFill>
              </a:defRPr>
            </a:pPr>
            <a:r>
              <a:t>Logistics dispatch, address, customer phone, rider, status, 4-digit OTP.</a:t>
            </a:r>
          </a:p>
          <a:p>
            <a:pPr>
              <a:defRPr sz="1050" b="1">
                <a:solidFill>
                  <a:srgbClr val="0A2540"/>
                </a:solidFill>
              </a:defRPr>
            </a:pPr>
            <a:r>
              <a:t>6. patients (PRIMARY KEY: id)</a:t>
            </a:r>
          </a:p>
          <a:p>
            <a:pPr>
              <a:spcAft>
                <a:spcPts val="300"/>
              </a:spcAft>
              <a:defRPr sz="950">
                <a:solidFill>
                  <a:srgbClr val="64748B"/>
                </a:solidFill>
              </a:defRPr>
            </a:pPr>
            <a:r>
              <a:t>Patient EHR, phone, chronic conditions, loyalty points, recorded allergies.</a:t>
            </a:r>
          </a:p>
          <a:p>
            <a:pPr>
              <a:defRPr sz="1050" b="1">
                <a:solidFill>
                  <a:srgbClr val="0A2540"/>
                </a:solidFill>
              </a:defRPr>
            </a:pPr>
            <a:r>
              <a:t>7. suppliers (PRIMARY KEY: id)</a:t>
            </a:r>
          </a:p>
          <a:p>
            <a:pPr>
              <a:spcAft>
                <a:spcPts val="300"/>
              </a:spcAft>
              <a:defRPr sz="950">
                <a:solidFill>
                  <a:srgbClr val="64748B"/>
                </a:solidFill>
              </a:defRPr>
            </a:pPr>
            <a:r>
              <a:t>Distributor master, contact, phone, billing email, GSTIN, payment terms.</a:t>
            </a:r>
          </a:p>
        </p:txBody>
      </p:sp>
      <p:sp>
        <p:nvSpPr>
          <p:cNvPr id="7" name="Rounded Rectangle 6"/>
          <p:cNvSpPr/>
          <p:nvPr/>
        </p:nvSpPr>
        <p:spPr>
          <a:xfrm>
            <a:off x="617220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28800"/>
            <a:ext cx="4892040" cy="4297680"/>
          </a:xfrm>
          <a:prstGeom prst="rect">
            <a:avLst/>
          </a:prstGeom>
          <a:noFill/>
        </p:spPr>
        <p:txBody>
          <a:bodyPr wrap="square">
            <a:spAutoFit/>
          </a:bodyPr>
          <a:lstStyle/>
          <a:p>
            <a:pPr>
              <a:spcAft>
                <a:spcPts val="600"/>
              </a:spcAft>
              <a:defRPr sz="1300" b="1">
                <a:solidFill>
                  <a:srgbClr val="0284C7"/>
                </a:solidFill>
              </a:defRPr>
            </a:pPr>
            <a:r>
              <a:t>🗄️ COMPLIANCE &amp; TELEMETRY TABLES (PART 2)</a:t>
            </a:r>
          </a:p>
          <a:p>
            <a:pPr>
              <a:defRPr sz="1050" b="1">
                <a:solidFill>
                  <a:srgbClr val="0A2540"/>
                </a:solidFill>
              </a:defRPr>
            </a:pPr>
            <a:r>
              <a:t>8. purchase_orders (PRIMARY KEY: po_id)</a:t>
            </a:r>
          </a:p>
          <a:p>
            <a:pPr>
              <a:spcAft>
                <a:spcPts val="300"/>
              </a:spcAft>
              <a:defRPr sz="950">
                <a:solidFill>
                  <a:srgbClr val="64748B"/>
                </a:solidFill>
              </a:defRPr>
            </a:pPr>
            <a:r>
              <a:t>GRN shipment log, supplier, items JSON, total amount, inward status.</a:t>
            </a:r>
          </a:p>
          <a:p>
            <a:pPr>
              <a:defRPr sz="1050" b="1">
                <a:solidFill>
                  <a:srgbClr val="0A2540"/>
                </a:solidFill>
              </a:defRPr>
            </a:pPr>
            <a:r>
              <a:t>9. narcotic_register (PRIMARY KEY: id (AUTO))</a:t>
            </a:r>
          </a:p>
          <a:p>
            <a:pPr>
              <a:spcAft>
                <a:spcPts val="300"/>
              </a:spcAft>
              <a:defRPr sz="950">
                <a:solidFill>
                  <a:srgbClr val="64748B"/>
                </a:solidFill>
              </a:defRPr>
            </a:pPr>
            <a:r>
              <a:t>Schedule X log: Doctor DMC Reg No, Pharmacist PIN, batch, quantity.</a:t>
            </a:r>
          </a:p>
          <a:p>
            <a:pPr>
              <a:defRPr sz="1050" b="1">
                <a:solidFill>
                  <a:srgbClr val="0A2540"/>
                </a:solidFill>
              </a:defRPr>
            </a:pPr>
            <a:r>
              <a:t>10. temperature_logs (PRIMARY KEY: id (AUTO))</a:t>
            </a:r>
          </a:p>
          <a:p>
            <a:pPr>
              <a:spcAft>
                <a:spcPts val="300"/>
              </a:spcAft>
              <a:defRPr sz="950">
                <a:solidFill>
                  <a:srgbClr val="64748B"/>
                </a:solidFill>
              </a:defRPr>
            </a:pPr>
            <a:r>
              <a:t>24/7 cold-chain telemetry: Sensor ID, temperature (2-8°C), alert flag.</a:t>
            </a:r>
          </a:p>
          <a:p>
            <a:pPr>
              <a:defRPr sz="1050" b="1">
                <a:solidFill>
                  <a:srgbClr val="0A2540"/>
                </a:solidFill>
              </a:defRPr>
            </a:pPr>
            <a:r>
              <a:t>11. refill_schedules (PRIMARY KEY: id)</a:t>
            </a:r>
          </a:p>
          <a:p>
            <a:pPr>
              <a:spcAft>
                <a:spcPts val="300"/>
              </a:spcAft>
              <a:defRPr sz="950">
                <a:solidFill>
                  <a:srgbClr val="64748B"/>
                </a:solidFill>
              </a:defRPr>
            </a:pPr>
            <a:r>
              <a:t>Chronic adherence: Patient, medicine, last dispensed, next due date.</a:t>
            </a:r>
          </a:p>
          <a:p>
            <a:pPr>
              <a:defRPr sz="1050" b="1">
                <a:solidFill>
                  <a:srgbClr val="0A2540"/>
                </a:solidFill>
              </a:defRPr>
            </a:pPr>
            <a:r>
              <a:t>12. active_sessions (PRIMARY KEY: session_id)</a:t>
            </a:r>
          </a:p>
          <a:p>
            <a:pPr>
              <a:spcAft>
                <a:spcPts val="300"/>
              </a:spcAft>
              <a:defRPr sz="950">
                <a:solidFill>
                  <a:srgbClr val="64748B"/>
                </a:solidFill>
              </a:defRPr>
            </a:pPr>
            <a:r>
              <a:t>Live presence: User ID, role, terminal name, last heartbeat timestamp.</a:t>
            </a:r>
          </a:p>
          <a:p>
            <a:pPr>
              <a:defRPr sz="1050" b="1">
                <a:solidFill>
                  <a:srgbClr val="0A2540"/>
                </a:solidFill>
              </a:defRPr>
            </a:pPr>
            <a:r>
              <a:t>13. audit_logs (PRIMARY KEY: id (AUTO))</a:t>
            </a:r>
          </a:p>
          <a:p>
            <a:pPr>
              <a:spcAft>
                <a:spcPts val="300"/>
              </a:spcAft>
              <a:defRPr sz="950">
                <a:solidFill>
                  <a:srgbClr val="64748B"/>
                </a:solidFill>
              </a:defRPr>
            </a:pPr>
            <a:r>
              <a:t>Immutable security log: User, role, action, details, severity level.</a:t>
            </a:r>
          </a:p>
          <a:p>
            <a:pPr>
              <a:defRPr sz="1050" b="1">
                <a:solidFill>
                  <a:srgbClr val="0A2540"/>
                </a:solidFill>
              </a:defRPr>
            </a:pPr>
            <a:r>
              <a:t>14. z_reports (PRIMARY KEY: z_report_id)</a:t>
            </a:r>
          </a:p>
          <a:p>
            <a:pPr>
              <a:spcAft>
                <a:spcPts val="300"/>
              </a:spcAft>
              <a:defRPr sz="950">
                <a:solidFill>
                  <a:srgbClr val="64748B"/>
                </a:solidFill>
              </a:defRPr>
            </a:pPr>
            <a:r>
              <a:t>Daily closing: Opening float, cash sales, payouts, variance, signed status.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CRUD OPERATIONS &amp; RBAC</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Role-Based CRUD Operations Matrix</a:t>
            </a:r>
          </a:p>
        </p:txBody>
      </p:sp>
      <p:sp>
        <p:nvSpPr>
          <p:cNvPr id="5" name="Rounded Rectangle 4"/>
          <p:cNvSpPr/>
          <p:nvPr/>
        </p:nvSpPr>
        <p:spPr>
          <a:xfrm>
            <a:off x="731520" y="1645920"/>
            <a:ext cx="10728655"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332720" cy="4389120"/>
          </a:xfrm>
          <a:prstGeom prst="rect">
            <a:avLst/>
          </a:prstGeom>
          <a:noFill/>
        </p:spPr>
        <p:txBody>
          <a:bodyPr wrap="square">
            <a:spAutoFit/>
          </a:bodyPr>
          <a:lstStyle/>
          <a:p>
            <a:pPr>
              <a:spcAft>
                <a:spcPts val="800"/>
              </a:spcAft>
              <a:defRPr sz="1300" b="1">
                <a:solidFill>
                  <a:srgbClr val="00A389"/>
                </a:solidFill>
              </a:defRPr>
            </a:pPr>
            <a:r>
              <a:t>⚡ COMPLETE CRUD IMPLEMENTATION ACROSS ALL CORE MODULES</a:t>
            </a:r>
          </a:p>
          <a:p>
            <a:pPr>
              <a:spcAft>
                <a:spcPts val="200"/>
              </a:spcAft>
              <a:defRPr sz="1050" b="1">
                <a:solidFill>
                  <a:srgbClr val="0A2540"/>
                </a:solidFill>
              </a:defRPr>
            </a:pPr>
            <a:r>
              <a:t>Module / Entity        | CREATE                    | READ                      | UPDATE                    | DELETE</a:t>
            </a:r>
          </a:p>
          <a:p>
            <a:pPr>
              <a:spcAft>
                <a:spcPts val="200"/>
              </a:spcAft>
              <a:defRPr sz="950">
                <a:solidFill>
                  <a:srgbClr val="1E293B"/>
                </a:solidFill>
              </a:defRPr>
            </a:pPr>
            <a:r>
              <a:t>Staff &amp; Users          | Add staff user modal (ID, Name, Role, Branch) | Staff credentials list &amp; live online presence | Edit staff role, password, branch &amp; status | Delete unauthorized staff user with audit log</a:t>
            </a:r>
          </a:p>
          <a:p>
            <a:pPr>
              <a:spcAft>
                <a:spcPts val="200"/>
              </a:spcAft>
              <a:defRPr sz="950">
                <a:solidFill>
                  <a:srgbClr val="1E293B"/>
                </a:solidFill>
              </a:defRPr>
            </a:pPr>
            <a:r>
              <a:t>Medicines Catalog      | Add medicine modal (SKU, Category, Batch) | Catalog table with FEFO visual countdown badges | Adjust physical stock delta (+/- units modal) | Delete expired/discontinued medicine SKU</a:t>
            </a:r>
          </a:p>
          <a:p>
            <a:pPr>
              <a:spcAft>
                <a:spcPts val="200"/>
              </a:spcAft>
              <a:defRPr sz="950">
                <a:solidFill>
                  <a:srgbClr val="1E293B"/>
                </a:solidFill>
              </a:defRPr>
            </a:pPr>
            <a:r>
              <a:t>Clinical Prescriptions | Inward e-Prescription modal with medicine items | Prescriptions review queue with CDSS allergy scan | Update verification status (Approve / Reject) | Archive processed prescriptions into sales ledger</a:t>
            </a:r>
          </a:p>
          <a:p>
            <a:pPr>
              <a:spcAft>
                <a:spcPts val="200"/>
              </a:spcAft>
              <a:defRPr sz="950">
                <a:solidFill>
                  <a:srgbClr val="1E293B"/>
                </a:solidFill>
              </a:defRPr>
            </a:pPr>
            <a:r>
              <a:t>Narcotic Register      | Add Schedule X dispensation with Doctor Reg No | Read narcotic audit ledger with search filter | Update verified status with 4-digit Pharmacist PIN | Restricted: Immutable audit records (CDSCO law)</a:t>
            </a:r>
          </a:p>
          <a:p>
            <a:pPr>
              <a:spcAft>
                <a:spcPts val="200"/>
              </a:spcAft>
              <a:defRPr sz="950">
                <a:solidFill>
                  <a:srgbClr val="1E293B"/>
                </a:solidFill>
              </a:defRPr>
            </a:pPr>
            <a:r>
              <a:t>Invoices &amp; POS         | Generate sales invoice with 5% CGST/SGST split | Sales ledger history with 1-click receipt modal | Update patient loyalty points upon purchase | Void invoice requires supervisor override</a:t>
            </a:r>
          </a:p>
          <a:p>
            <a:pPr>
              <a:spcAft>
                <a:spcPts val="200"/>
              </a:spcAft>
              <a:defRPr sz="950">
                <a:solidFill>
                  <a:srgbClr val="1E293B"/>
                </a:solidFill>
              </a:defRPr>
            </a:pPr>
            <a:r>
              <a:t>Deliveries &amp; Logistics | Create home delivery order with customer phone | Dispatch Kanban board (Packaging/Out/Delivered) | Advance delivery status &amp; verify 4-digit OTP | Cancel unassigned delivery dispatch task</a:t>
            </a:r>
          </a:p>
          <a:p>
            <a:pPr>
              <a:spcAft>
                <a:spcPts val="200"/>
              </a:spcAft>
              <a:defRPr sz="950">
                <a:solidFill>
                  <a:srgbClr val="1E293B"/>
                </a:solidFill>
              </a:defRPr>
            </a:pPr>
            <a:r>
              <a:t>Daily Z-Report Close   | Generate official Z-Report ID (Z-YYYYMMDD-XXXX) | Read gross sales, cash total, digital collections | Update counted cash &amp; calculate live variance | Permanent archive: Immutable signed registry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MODULES &amp; QUALITY ALIGNMENT</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Core Modules Aligned with TQM Quality Goals</a:t>
            </a:r>
          </a:p>
        </p:txBody>
      </p:sp>
      <p:sp>
        <p:nvSpPr>
          <p:cNvPr id="5" name="Rounded Rectangle 4"/>
          <p:cNvSpPr/>
          <p:nvPr/>
        </p:nvSpPr>
        <p:spPr>
          <a:xfrm>
            <a:off x="731520" y="164592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109728" cy="21945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55648"/>
            <a:ext cx="4892040" cy="1975104"/>
          </a:xfrm>
          <a:prstGeom prst="rect">
            <a:avLst/>
          </a:prstGeom>
          <a:noFill/>
        </p:spPr>
        <p:txBody>
          <a:bodyPr wrap="square">
            <a:spAutoFit/>
          </a:bodyPr>
          <a:lstStyle/>
          <a:p>
            <a:pPr>
              <a:defRPr sz="1300" b="1">
                <a:solidFill>
                  <a:srgbClr val="0A2540"/>
                </a:solidFill>
              </a:defRPr>
            </a:pPr>
            <a:r>
              <a:t>🩺 Clinical Decision Support (CDSS)</a:t>
            </a:r>
          </a:p>
          <a:p>
            <a:pPr>
              <a:spcAft>
                <a:spcPts val="400"/>
              </a:spcAft>
              <a:defRPr sz="950" b="1">
                <a:solidFill>
                  <a:srgbClr val="00A389"/>
                </a:solidFill>
              </a:defRPr>
            </a:pPr>
            <a:r>
              <a:t>ALIGNED TQM GOAL: ZERO MEDICATION DISPENSING DEFECTS</a:t>
            </a:r>
          </a:p>
          <a:p>
            <a:pPr>
              <a:spcAft>
                <a:spcPts val="200"/>
              </a:spcAft>
              <a:defRPr sz="1000">
                <a:solidFill>
                  <a:srgbClr val="1E293B"/>
                </a:solidFill>
              </a:defRPr>
            </a:pPr>
            <a:r>
              <a:t>• Real-time allergen cross-checks (Penicillin, NSAIDs, Sulfa).</a:t>
            </a:r>
          </a:p>
          <a:p>
            <a:pPr>
              <a:spcAft>
                <a:spcPts val="200"/>
              </a:spcAft>
              <a:defRPr sz="1000">
                <a:solidFill>
                  <a:srgbClr val="1E293B"/>
                </a:solidFill>
              </a:defRPr>
            </a:pPr>
            <a:r>
              <a:t>• Molecule-molecule drug interaction checker.</a:t>
            </a:r>
          </a:p>
          <a:p>
            <a:pPr>
              <a:spcAft>
                <a:spcPts val="200"/>
              </a:spcAft>
              <a:defRPr sz="1000">
                <a:solidFill>
                  <a:srgbClr val="1E293B"/>
                </a:solidFill>
              </a:defRPr>
            </a:pPr>
            <a:r>
              <a:t>• Double sign-off for Schedule X narcotics (Pharmacist PIN + Doctor Reg).</a:t>
            </a:r>
          </a:p>
          <a:p>
            <a:pPr>
              <a:spcAft>
                <a:spcPts val="200"/>
              </a:spcAft>
              <a:defRPr sz="1000">
                <a:solidFill>
                  <a:srgbClr val="1E293B"/>
                </a:solidFill>
              </a:defRPr>
            </a:pPr>
            <a:r>
              <a:t>• Patient chronic disease and allergy EHR integration.</a:t>
            </a:r>
          </a:p>
        </p:txBody>
      </p:sp>
      <p:sp>
        <p:nvSpPr>
          <p:cNvPr id="8" name="Rounded Rectangle 7"/>
          <p:cNvSpPr/>
          <p:nvPr/>
        </p:nvSpPr>
        <p:spPr>
          <a:xfrm>
            <a:off x="6172200" y="164592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645920"/>
            <a:ext cx="109728" cy="2194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755648"/>
            <a:ext cx="4892040" cy="1975104"/>
          </a:xfrm>
          <a:prstGeom prst="rect">
            <a:avLst/>
          </a:prstGeom>
          <a:noFill/>
        </p:spPr>
        <p:txBody>
          <a:bodyPr wrap="square">
            <a:spAutoFit/>
          </a:bodyPr>
          <a:lstStyle/>
          <a:p>
            <a:pPr>
              <a:defRPr sz="1300" b="1">
                <a:solidFill>
                  <a:srgbClr val="0A2540"/>
                </a:solidFill>
              </a:defRPr>
            </a:pPr>
            <a:r>
              <a:t>📦 FEFO Inventory &amp; Cold-Chain IoT</a:t>
            </a:r>
          </a:p>
          <a:p>
            <a:pPr>
              <a:spcAft>
                <a:spcPts val="400"/>
              </a:spcAft>
              <a:defRPr sz="950" b="1">
                <a:solidFill>
                  <a:srgbClr val="0284C7"/>
                </a:solidFill>
              </a:defRPr>
            </a:pPr>
            <a:r>
              <a:t>ALIGNED TQM GOAL: ZERO BIOLOGICAL POTENCY LOSS &amp; ZERO DEAD-STOCK</a:t>
            </a:r>
          </a:p>
          <a:p>
            <a:pPr>
              <a:spcAft>
                <a:spcPts val="200"/>
              </a:spcAft>
              <a:defRPr sz="1000">
                <a:solidFill>
                  <a:srgbClr val="1E293B"/>
                </a:solidFill>
              </a:defRPr>
            </a:pPr>
            <a:r>
              <a:t>• Strict First-Expiry, First-Out batch sequencing algorithms.</a:t>
            </a:r>
          </a:p>
          <a:p>
            <a:pPr>
              <a:spcAft>
                <a:spcPts val="200"/>
              </a:spcAft>
              <a:defRPr sz="1000">
                <a:solidFill>
                  <a:srgbClr val="1E293B"/>
                </a:solidFill>
              </a:defRPr>
            </a:pPr>
            <a:r>
              <a:t>• Visual countdown tags (&lt;30d Critical, &lt;90d Attention).</a:t>
            </a:r>
          </a:p>
          <a:p>
            <a:pPr>
              <a:spcAft>
                <a:spcPts val="200"/>
              </a:spcAft>
              <a:defRPr sz="1000">
                <a:solidFill>
                  <a:srgbClr val="1E293B"/>
                </a:solidFill>
              </a:defRPr>
            </a:pPr>
            <a:r>
              <a:t>• 24/7 continuous IoT refrigerator telemetry (2.0°C–8.0°C).</a:t>
            </a:r>
          </a:p>
          <a:p>
            <a:pPr>
              <a:spcAft>
                <a:spcPts val="200"/>
              </a:spcAft>
              <a:defRPr sz="1000">
                <a:solidFill>
                  <a:srgbClr val="1E293B"/>
                </a:solidFill>
              </a:defRPr>
            </a:pPr>
            <a:r>
              <a:t>• Goods Receipt Notes (GRN) dockside supplier verification.</a:t>
            </a:r>
          </a:p>
        </p:txBody>
      </p:sp>
      <p:sp>
        <p:nvSpPr>
          <p:cNvPr id="11" name="Rounded Rectangle 10"/>
          <p:cNvSpPr/>
          <p:nvPr/>
        </p:nvSpPr>
        <p:spPr>
          <a:xfrm>
            <a:off x="731520" y="402336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109728" cy="219456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33088"/>
            <a:ext cx="4892040" cy="1975104"/>
          </a:xfrm>
          <a:prstGeom prst="rect">
            <a:avLst/>
          </a:prstGeom>
          <a:noFill/>
        </p:spPr>
        <p:txBody>
          <a:bodyPr wrap="square">
            <a:spAutoFit/>
          </a:bodyPr>
          <a:lstStyle/>
          <a:p>
            <a:pPr>
              <a:defRPr sz="1300" b="1">
                <a:solidFill>
                  <a:srgbClr val="0A2540"/>
                </a:solidFill>
              </a:defRPr>
            </a:pPr>
            <a:r>
              <a:t>💳 Cashier Express POS &amp; GST Billing</a:t>
            </a:r>
          </a:p>
          <a:p>
            <a:pPr>
              <a:spcAft>
                <a:spcPts val="400"/>
              </a:spcAft>
              <a:defRPr sz="950" b="1">
                <a:solidFill>
                  <a:srgbClr val="0A2540"/>
                </a:solidFill>
              </a:defRPr>
            </a:pPr>
            <a:r>
              <a:t>ALIGNED TQM GOAL: SERVICE SPEED, TAX INTEGRITY &amp; ZERO CASH LEAKAGE</a:t>
            </a:r>
          </a:p>
          <a:p>
            <a:pPr>
              <a:spcAft>
                <a:spcPts val="200"/>
              </a:spcAft>
              <a:defRPr sz="1000">
                <a:solidFill>
                  <a:srgbClr val="1E293B"/>
                </a:solidFill>
              </a:defRPr>
            </a:pPr>
            <a:r>
              <a:t>• 1-Click verified eRx import from clinical queue.</a:t>
            </a:r>
          </a:p>
          <a:p>
            <a:pPr>
              <a:spcAft>
                <a:spcPts val="200"/>
              </a:spcAft>
              <a:defRPr sz="1000">
                <a:solidFill>
                  <a:srgbClr val="1E293B"/>
                </a:solidFill>
              </a:defRPr>
            </a:pPr>
            <a:r>
              <a:t>• Multi-tender checkout: Cash change calculator, Dynamic UPI QR, Card.</a:t>
            </a:r>
          </a:p>
          <a:p>
            <a:pPr>
              <a:spcAft>
                <a:spcPts val="200"/>
              </a:spcAft>
              <a:defRPr sz="1000">
                <a:solidFill>
                  <a:srgbClr val="1E293B"/>
                </a:solidFill>
              </a:defRPr>
            </a:pPr>
            <a:r>
              <a:t>• Automated statutory 5% GST calculation (2.5% CGST + 2.5% SGST).</a:t>
            </a:r>
          </a:p>
          <a:p>
            <a:pPr>
              <a:spcAft>
                <a:spcPts val="200"/>
              </a:spcAft>
              <a:defRPr sz="1000">
                <a:solidFill>
                  <a:srgbClr val="1E293B"/>
                </a:solidFill>
              </a:defRPr>
            </a:pPr>
            <a:r>
              <a:t>• Instant 80mm thermal receipt printing and sales ledger.</a:t>
            </a:r>
          </a:p>
        </p:txBody>
      </p:sp>
      <p:sp>
        <p:nvSpPr>
          <p:cNvPr id="14" name="Rounded Rectangle 13"/>
          <p:cNvSpPr/>
          <p:nvPr/>
        </p:nvSpPr>
        <p:spPr>
          <a:xfrm>
            <a:off x="6172200" y="402336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4023360"/>
            <a:ext cx="109728" cy="21945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133088"/>
            <a:ext cx="4892040" cy="1975104"/>
          </a:xfrm>
          <a:prstGeom prst="rect">
            <a:avLst/>
          </a:prstGeom>
          <a:noFill/>
        </p:spPr>
        <p:txBody>
          <a:bodyPr wrap="square">
            <a:spAutoFit/>
          </a:bodyPr>
          <a:lstStyle/>
          <a:p>
            <a:pPr>
              <a:defRPr sz="1300" b="1">
                <a:solidFill>
                  <a:srgbClr val="0A2540"/>
                </a:solidFill>
              </a:defRPr>
            </a:pPr>
            <a:r>
              <a:t>🛵 Delivery Dispatch Fleet (e-POD)</a:t>
            </a:r>
          </a:p>
          <a:p>
            <a:pPr>
              <a:spcAft>
                <a:spcPts val="400"/>
              </a:spcAft>
              <a:defRPr sz="950" b="1">
                <a:solidFill>
                  <a:srgbClr val="D97706"/>
                </a:solidFill>
              </a:defRPr>
            </a:pPr>
            <a:r>
              <a:t>ALIGNED TQM GOAL: 100% LAST-MILE HANDOVER FIDELITY</a:t>
            </a:r>
          </a:p>
          <a:p>
            <a:pPr>
              <a:spcAft>
                <a:spcPts val="200"/>
              </a:spcAft>
              <a:defRPr sz="1000">
                <a:solidFill>
                  <a:srgbClr val="1E293B"/>
                </a:solidFill>
              </a:defRPr>
            </a:pPr>
            <a:r>
              <a:t>• Visual 3-column route Kanban board (Packaging, Out, Delivered).</a:t>
            </a:r>
          </a:p>
          <a:p>
            <a:pPr>
              <a:spcAft>
                <a:spcPts val="200"/>
              </a:spcAft>
              <a:defRPr sz="1000">
                <a:solidFill>
                  <a:srgbClr val="1E293B"/>
                </a:solidFill>
              </a:defRPr>
            </a:pPr>
            <a:r>
              <a:t>• Cold-bag insulated packaging verification checklist.</a:t>
            </a:r>
          </a:p>
          <a:p>
            <a:pPr>
              <a:spcAft>
                <a:spcPts val="200"/>
              </a:spcAft>
              <a:defRPr sz="1000">
                <a:solidFill>
                  <a:srgbClr val="1E293B"/>
                </a:solidFill>
              </a:defRPr>
            </a:pPr>
            <a:r>
              <a:t>• 4-Digit customer SMS OTP verification before order handoff.</a:t>
            </a:r>
          </a:p>
          <a:p>
            <a:pPr>
              <a:spcAft>
                <a:spcPts val="200"/>
              </a:spcAft>
              <a:defRPr sz="1000">
                <a:solidFill>
                  <a:srgbClr val="1E293B"/>
                </a:solidFill>
              </a:defRPr>
            </a:pPr>
            <a:r>
              <a:t>• Automatic GPS arrival and handover timestamp logging.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INITIAL UI &amp; MAIN WORKFLOW</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Initial UI &amp; End-to-End System Workflow</a:t>
            </a:r>
          </a:p>
        </p:txBody>
      </p:sp>
      <p:sp>
        <p:nvSpPr>
          <p:cNvPr id="5" name="Rounded Rectangle 4"/>
          <p:cNvSpPr/>
          <p:nvPr/>
        </p:nvSpPr>
        <p:spPr>
          <a:xfrm>
            <a:off x="731520" y="1645920"/>
            <a:ext cx="2029968" cy="29260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2029968" cy="54864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029968" cy="457200"/>
          </a:xfrm>
          <a:prstGeom prst="rect">
            <a:avLst/>
          </a:prstGeom>
          <a:noFill/>
        </p:spPr>
        <p:txBody>
          <a:bodyPr wrap="square">
            <a:spAutoFit/>
          </a:bodyPr>
          <a:lstStyle/>
          <a:p>
            <a:pPr algn="ctr">
              <a:defRPr sz="1200" b="1">
                <a:solidFill>
                  <a:srgbClr val="FFFFFF"/>
                </a:solidFill>
              </a:defRPr>
            </a:pPr>
            <a:r>
              <a:t>STEP 1</a:t>
            </a:r>
          </a:p>
        </p:txBody>
      </p:sp>
      <p:sp>
        <p:nvSpPr>
          <p:cNvPr id="8" name="TextBox 7"/>
          <p:cNvSpPr txBox="1"/>
          <p:nvPr/>
        </p:nvSpPr>
        <p:spPr>
          <a:xfrm>
            <a:off x="822960" y="2286000"/>
            <a:ext cx="1847088" cy="2194560"/>
          </a:xfrm>
          <a:prstGeom prst="rect">
            <a:avLst/>
          </a:prstGeom>
          <a:noFill/>
        </p:spPr>
        <p:txBody>
          <a:bodyPr wrap="square">
            <a:spAutoFit/>
          </a:bodyPr>
          <a:lstStyle/>
          <a:p>
            <a:pPr>
              <a:spcAft>
                <a:spcPts val="600"/>
              </a:spcAft>
              <a:defRPr sz="1100" b="1">
                <a:solidFill>
                  <a:srgbClr val="0A2540"/>
                </a:solidFill>
              </a:defRPr>
            </a:pPr>
            <a:r>
              <a:t>Stage 1: Prescription Intake</a:t>
            </a:r>
          </a:p>
          <a:p>
            <a:pPr>
              <a:spcAft>
                <a:spcPts val="300"/>
              </a:spcAft>
              <a:defRPr sz="950">
                <a:solidFill>
                  <a:srgbClr val="1E293B"/>
                </a:solidFill>
              </a:defRPr>
            </a:pPr>
            <a:r>
              <a:t>• Doctor e-Prescription uploaded</a:t>
            </a:r>
          </a:p>
          <a:p>
            <a:pPr>
              <a:spcAft>
                <a:spcPts val="300"/>
              </a:spcAft>
              <a:defRPr sz="950">
                <a:solidFill>
                  <a:srgbClr val="1E293B"/>
                </a:solidFill>
              </a:defRPr>
            </a:pPr>
            <a:r>
              <a:t>• Patient EHR allergies scanned</a:t>
            </a:r>
          </a:p>
          <a:p>
            <a:pPr>
              <a:spcAft>
                <a:spcPts val="300"/>
              </a:spcAft>
              <a:defRPr sz="950">
                <a:solidFill>
                  <a:srgbClr val="1E293B"/>
                </a:solidFill>
              </a:defRPr>
            </a:pPr>
            <a:r>
              <a:t>• Enters pending review queue</a:t>
            </a:r>
          </a:p>
        </p:txBody>
      </p:sp>
      <p:sp>
        <p:nvSpPr>
          <p:cNvPr id="9" name="Rounded Rectangle 8"/>
          <p:cNvSpPr/>
          <p:nvPr/>
        </p:nvSpPr>
        <p:spPr>
          <a:xfrm>
            <a:off x="2898648" y="1645920"/>
            <a:ext cx="2029968" cy="29260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98648" y="1645920"/>
            <a:ext cx="2029968" cy="54864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691640"/>
            <a:ext cx="2029968" cy="457200"/>
          </a:xfrm>
          <a:prstGeom prst="rect">
            <a:avLst/>
          </a:prstGeom>
          <a:noFill/>
        </p:spPr>
        <p:txBody>
          <a:bodyPr wrap="square">
            <a:spAutoFit/>
          </a:bodyPr>
          <a:lstStyle/>
          <a:p>
            <a:pPr algn="ctr">
              <a:defRPr sz="1200" b="1">
                <a:solidFill>
                  <a:srgbClr val="FFFFFF"/>
                </a:solidFill>
              </a:defRPr>
            </a:pPr>
            <a:r>
              <a:t>STEP 2</a:t>
            </a:r>
          </a:p>
        </p:txBody>
      </p:sp>
      <p:sp>
        <p:nvSpPr>
          <p:cNvPr id="12" name="TextBox 11"/>
          <p:cNvSpPr txBox="1"/>
          <p:nvPr/>
        </p:nvSpPr>
        <p:spPr>
          <a:xfrm>
            <a:off x="2990088" y="2286000"/>
            <a:ext cx="1847088" cy="2194560"/>
          </a:xfrm>
          <a:prstGeom prst="rect">
            <a:avLst/>
          </a:prstGeom>
          <a:noFill/>
        </p:spPr>
        <p:txBody>
          <a:bodyPr wrap="square">
            <a:spAutoFit/>
          </a:bodyPr>
          <a:lstStyle/>
          <a:p>
            <a:pPr>
              <a:spcAft>
                <a:spcPts val="600"/>
              </a:spcAft>
              <a:defRPr sz="1100" b="1">
                <a:solidFill>
                  <a:srgbClr val="0A2540"/>
                </a:solidFill>
              </a:defRPr>
            </a:pPr>
            <a:r>
              <a:t>Stage 2: Clinical CDSS Gate</a:t>
            </a:r>
          </a:p>
          <a:p>
            <a:pPr>
              <a:spcAft>
                <a:spcPts val="300"/>
              </a:spcAft>
              <a:defRPr sz="950">
                <a:solidFill>
                  <a:srgbClr val="1E293B"/>
                </a:solidFill>
              </a:defRPr>
            </a:pPr>
            <a:r>
              <a:t>• Pharmacist runs CDSS scan</a:t>
            </a:r>
          </a:p>
          <a:p>
            <a:pPr>
              <a:spcAft>
                <a:spcPts val="300"/>
              </a:spcAft>
              <a:defRPr sz="950">
                <a:solidFill>
                  <a:srgbClr val="1E293B"/>
                </a:solidFill>
              </a:defRPr>
            </a:pPr>
            <a:r>
              <a:t>• Allergy &amp; interaction checks</a:t>
            </a:r>
          </a:p>
          <a:p>
            <a:pPr>
              <a:spcAft>
                <a:spcPts val="300"/>
              </a:spcAft>
              <a:defRPr sz="950">
                <a:solidFill>
                  <a:srgbClr val="1E293B"/>
                </a:solidFill>
              </a:defRPr>
            </a:pPr>
            <a:r>
              <a:t>• Schedule X PIN authenticated</a:t>
            </a:r>
          </a:p>
          <a:p>
            <a:pPr>
              <a:spcAft>
                <a:spcPts val="300"/>
              </a:spcAft>
              <a:defRPr sz="950">
                <a:solidFill>
                  <a:srgbClr val="1E293B"/>
                </a:solidFill>
              </a:defRPr>
            </a:pPr>
            <a:r>
              <a:t>• Status updated to 'Approved'</a:t>
            </a:r>
          </a:p>
        </p:txBody>
      </p:sp>
      <p:sp>
        <p:nvSpPr>
          <p:cNvPr id="13" name="Rounded Rectangle 12"/>
          <p:cNvSpPr/>
          <p:nvPr/>
        </p:nvSpPr>
        <p:spPr>
          <a:xfrm>
            <a:off x="5065776" y="1645920"/>
            <a:ext cx="2029968" cy="29260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65776" y="1645920"/>
            <a:ext cx="2029968" cy="54864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1691640"/>
            <a:ext cx="2029968" cy="457200"/>
          </a:xfrm>
          <a:prstGeom prst="rect">
            <a:avLst/>
          </a:prstGeom>
          <a:noFill/>
        </p:spPr>
        <p:txBody>
          <a:bodyPr wrap="square">
            <a:spAutoFit/>
          </a:bodyPr>
          <a:lstStyle/>
          <a:p>
            <a:pPr algn="ctr">
              <a:defRPr sz="1200" b="1">
                <a:solidFill>
                  <a:srgbClr val="FFFFFF"/>
                </a:solidFill>
              </a:defRPr>
            </a:pPr>
            <a:r>
              <a:t>STEP 3</a:t>
            </a:r>
          </a:p>
        </p:txBody>
      </p:sp>
      <p:sp>
        <p:nvSpPr>
          <p:cNvPr id="16" name="TextBox 15"/>
          <p:cNvSpPr txBox="1"/>
          <p:nvPr/>
        </p:nvSpPr>
        <p:spPr>
          <a:xfrm>
            <a:off x="5157216" y="2286000"/>
            <a:ext cx="1847088" cy="2194560"/>
          </a:xfrm>
          <a:prstGeom prst="rect">
            <a:avLst/>
          </a:prstGeom>
          <a:noFill/>
        </p:spPr>
        <p:txBody>
          <a:bodyPr wrap="square">
            <a:spAutoFit/>
          </a:bodyPr>
          <a:lstStyle/>
          <a:p>
            <a:pPr>
              <a:spcAft>
                <a:spcPts val="600"/>
              </a:spcAft>
              <a:defRPr sz="1100" b="1">
                <a:solidFill>
                  <a:srgbClr val="0A2540"/>
                </a:solidFill>
              </a:defRPr>
            </a:pPr>
            <a:r>
              <a:t>Stage 3: POS Express Billing</a:t>
            </a:r>
          </a:p>
          <a:p>
            <a:pPr>
              <a:spcAft>
                <a:spcPts val="300"/>
              </a:spcAft>
              <a:defRPr sz="950">
                <a:solidFill>
                  <a:srgbClr val="1E293B"/>
                </a:solidFill>
              </a:defRPr>
            </a:pPr>
            <a:r>
              <a:t>• 1-Click import to Cashier cart</a:t>
            </a:r>
          </a:p>
          <a:p>
            <a:pPr>
              <a:spcAft>
                <a:spcPts val="300"/>
              </a:spcAft>
              <a:defRPr sz="950">
                <a:solidFill>
                  <a:srgbClr val="1E293B"/>
                </a:solidFill>
              </a:defRPr>
            </a:pPr>
            <a:r>
              <a:t>• Auto FEFO batch picking</a:t>
            </a:r>
          </a:p>
          <a:p>
            <a:pPr>
              <a:spcAft>
                <a:spcPts val="300"/>
              </a:spcAft>
              <a:defRPr sz="950">
                <a:solidFill>
                  <a:srgbClr val="1E293B"/>
                </a:solidFill>
              </a:defRPr>
            </a:pPr>
            <a:r>
              <a:t>• Dynamic UPI QR / Cash change</a:t>
            </a:r>
          </a:p>
          <a:p>
            <a:pPr>
              <a:spcAft>
                <a:spcPts val="300"/>
              </a:spcAft>
              <a:defRPr sz="950">
                <a:solidFill>
                  <a:srgbClr val="1E293B"/>
                </a:solidFill>
              </a:defRPr>
            </a:pPr>
            <a:r>
              <a:t>• Thermal 80mm GST receipt printed</a:t>
            </a:r>
          </a:p>
        </p:txBody>
      </p:sp>
      <p:sp>
        <p:nvSpPr>
          <p:cNvPr id="17" name="Rounded Rectangle 16"/>
          <p:cNvSpPr/>
          <p:nvPr/>
        </p:nvSpPr>
        <p:spPr>
          <a:xfrm>
            <a:off x="7232904" y="1645920"/>
            <a:ext cx="2029968" cy="29260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32904" y="1645920"/>
            <a:ext cx="2029968" cy="5486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1691640"/>
            <a:ext cx="2029968" cy="457200"/>
          </a:xfrm>
          <a:prstGeom prst="rect">
            <a:avLst/>
          </a:prstGeom>
          <a:noFill/>
        </p:spPr>
        <p:txBody>
          <a:bodyPr wrap="square">
            <a:spAutoFit/>
          </a:bodyPr>
          <a:lstStyle/>
          <a:p>
            <a:pPr algn="ctr">
              <a:defRPr sz="1200" b="1">
                <a:solidFill>
                  <a:srgbClr val="FFFFFF"/>
                </a:solidFill>
              </a:defRPr>
            </a:pPr>
            <a:r>
              <a:t>STEP 4</a:t>
            </a:r>
          </a:p>
        </p:txBody>
      </p:sp>
      <p:sp>
        <p:nvSpPr>
          <p:cNvPr id="20" name="TextBox 19"/>
          <p:cNvSpPr txBox="1"/>
          <p:nvPr/>
        </p:nvSpPr>
        <p:spPr>
          <a:xfrm>
            <a:off x="7324344" y="2286000"/>
            <a:ext cx="1847088" cy="2194560"/>
          </a:xfrm>
          <a:prstGeom prst="rect">
            <a:avLst/>
          </a:prstGeom>
          <a:noFill/>
        </p:spPr>
        <p:txBody>
          <a:bodyPr wrap="square">
            <a:spAutoFit/>
          </a:bodyPr>
          <a:lstStyle/>
          <a:p>
            <a:pPr>
              <a:spcAft>
                <a:spcPts val="600"/>
              </a:spcAft>
              <a:defRPr sz="1100" b="1">
                <a:solidFill>
                  <a:srgbClr val="0A2540"/>
                </a:solidFill>
              </a:defRPr>
            </a:pPr>
            <a:r>
              <a:t>Stage 4: Cold-Chain &amp; Fleet</a:t>
            </a:r>
          </a:p>
          <a:p>
            <a:pPr>
              <a:spcAft>
                <a:spcPts val="300"/>
              </a:spcAft>
              <a:defRPr sz="950">
                <a:solidFill>
                  <a:srgbClr val="1E293B"/>
                </a:solidFill>
              </a:defRPr>
            </a:pPr>
            <a:r>
              <a:t>• Cold-bag checklist verified</a:t>
            </a:r>
          </a:p>
          <a:p>
            <a:pPr>
              <a:spcAft>
                <a:spcPts val="300"/>
              </a:spcAft>
              <a:defRPr sz="950">
                <a:solidFill>
                  <a:srgbClr val="1E293B"/>
                </a:solidFill>
              </a:defRPr>
            </a:pPr>
            <a:r>
              <a:t>• Dispatched on Kanban route</a:t>
            </a:r>
          </a:p>
          <a:p>
            <a:pPr>
              <a:spcAft>
                <a:spcPts val="300"/>
              </a:spcAft>
              <a:defRPr sz="950">
                <a:solidFill>
                  <a:srgbClr val="1E293B"/>
                </a:solidFill>
              </a:defRPr>
            </a:pPr>
            <a:r>
              <a:t>• Customer gives 4-digit OTP</a:t>
            </a:r>
          </a:p>
          <a:p>
            <a:pPr>
              <a:spcAft>
                <a:spcPts val="300"/>
              </a:spcAft>
              <a:defRPr sz="950">
                <a:solidFill>
                  <a:srgbClr val="1E293B"/>
                </a:solidFill>
              </a:defRPr>
            </a:pPr>
            <a:r>
              <a:t>• Marked 'Delivered' (e-POD)</a:t>
            </a:r>
          </a:p>
        </p:txBody>
      </p:sp>
      <p:sp>
        <p:nvSpPr>
          <p:cNvPr id="21" name="Rounded Rectangle 20"/>
          <p:cNvSpPr/>
          <p:nvPr/>
        </p:nvSpPr>
        <p:spPr>
          <a:xfrm>
            <a:off x="9400032" y="1645920"/>
            <a:ext cx="2029968" cy="29260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00032" y="1645920"/>
            <a:ext cx="2029968" cy="54864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1691640"/>
            <a:ext cx="2029968" cy="457200"/>
          </a:xfrm>
          <a:prstGeom prst="rect">
            <a:avLst/>
          </a:prstGeom>
          <a:noFill/>
        </p:spPr>
        <p:txBody>
          <a:bodyPr wrap="square">
            <a:spAutoFit/>
          </a:bodyPr>
          <a:lstStyle/>
          <a:p>
            <a:pPr algn="ctr">
              <a:defRPr sz="1200" b="1">
                <a:solidFill>
                  <a:srgbClr val="FFFFFF"/>
                </a:solidFill>
              </a:defRPr>
            </a:pPr>
            <a:r>
              <a:t>STEP 5</a:t>
            </a:r>
          </a:p>
        </p:txBody>
      </p:sp>
      <p:sp>
        <p:nvSpPr>
          <p:cNvPr id="24" name="TextBox 23"/>
          <p:cNvSpPr txBox="1"/>
          <p:nvPr/>
        </p:nvSpPr>
        <p:spPr>
          <a:xfrm>
            <a:off x="9491472" y="2286000"/>
            <a:ext cx="1847088" cy="2194560"/>
          </a:xfrm>
          <a:prstGeom prst="rect">
            <a:avLst/>
          </a:prstGeom>
          <a:noFill/>
        </p:spPr>
        <p:txBody>
          <a:bodyPr wrap="square">
            <a:spAutoFit/>
          </a:bodyPr>
          <a:lstStyle/>
          <a:p>
            <a:pPr>
              <a:spcAft>
                <a:spcPts val="600"/>
              </a:spcAft>
              <a:defRPr sz="1100" b="1">
                <a:solidFill>
                  <a:srgbClr val="0A2540"/>
                </a:solidFill>
              </a:defRPr>
            </a:pPr>
            <a:r>
              <a:t>Stage 5: Daily Z-Report Close</a:t>
            </a:r>
          </a:p>
          <a:p>
            <a:pPr>
              <a:spcAft>
                <a:spcPts val="300"/>
              </a:spcAft>
              <a:defRPr sz="950">
                <a:solidFill>
                  <a:srgbClr val="1E293B"/>
                </a:solidFill>
              </a:defRPr>
            </a:pPr>
            <a:r>
              <a:t>• Cash drawer counted</a:t>
            </a:r>
          </a:p>
          <a:p>
            <a:pPr>
              <a:spcAft>
                <a:spcPts val="300"/>
              </a:spcAft>
              <a:defRPr sz="950">
                <a:solidFill>
                  <a:srgbClr val="1E293B"/>
                </a:solidFill>
              </a:defRPr>
            </a:pPr>
            <a:r>
              <a:t>• Variance calculated (₹0.00)</a:t>
            </a:r>
          </a:p>
          <a:p>
            <a:pPr>
              <a:spcAft>
                <a:spcPts val="300"/>
              </a:spcAft>
              <a:defRPr sz="950">
                <a:solidFill>
                  <a:srgbClr val="1E293B"/>
                </a:solidFill>
              </a:defRPr>
            </a:pPr>
            <a:r>
              <a:t>• Shift signed &amp; closed in SQLite</a:t>
            </a:r>
          </a:p>
          <a:p>
            <a:pPr>
              <a:spcAft>
                <a:spcPts val="300"/>
              </a:spcAft>
              <a:defRPr sz="950">
                <a:solidFill>
                  <a:srgbClr val="1E293B"/>
                </a:solidFill>
              </a:defRPr>
            </a:pPr>
            <a:r>
              <a:t>• CSV exported for accounting</a:t>
            </a:r>
          </a:p>
        </p:txBody>
      </p:sp>
      <p:sp>
        <p:nvSpPr>
          <p:cNvPr id="25" name="Rounded Rectangle 24"/>
          <p:cNvSpPr/>
          <p:nvPr/>
        </p:nvSpPr>
        <p:spPr>
          <a:xfrm>
            <a:off x="731520" y="4754880"/>
            <a:ext cx="10728655" cy="1554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846320"/>
            <a:ext cx="10332720" cy="1371600"/>
          </a:xfrm>
          <a:prstGeom prst="rect">
            <a:avLst/>
          </a:prstGeom>
          <a:noFill/>
        </p:spPr>
        <p:txBody>
          <a:bodyPr wrap="square">
            <a:spAutoFit/>
          </a:bodyPr>
          <a:lstStyle/>
          <a:p>
            <a:pPr>
              <a:spcAft>
                <a:spcPts val="400"/>
              </a:spcAft>
              <a:defRPr sz="1200" b="1">
                <a:solidFill>
                  <a:srgbClr val="00A389"/>
                </a:solidFill>
              </a:defRPr>
            </a:pPr>
            <a:r>
              <a:t>🎨 USER INTERFACE DESIGN &amp; DUAL DEPLOYMENT PARITY</a:t>
            </a:r>
          </a:p>
          <a:p>
            <a:pPr>
              <a:spcAft>
                <a:spcPts val="200"/>
              </a:spcAft>
              <a:defRPr sz="1050">
                <a:solidFill>
                  <a:srgbClr val="1E293B"/>
                </a:solidFill>
              </a:defRPr>
            </a:pPr>
            <a:r>
              <a:t>• Desktop UI: Rendered via Microsoft Edge Chromium WebView2 engine with hardware acceleration (60 FPS) and zero native bridge latency.</a:t>
            </a:r>
          </a:p>
          <a:p>
            <a:pPr>
              <a:spcAft>
                <a:spcPts val="200"/>
              </a:spcAft>
              <a:defRPr sz="1050">
                <a:solidFill>
                  <a:srgbClr val="1E293B"/>
                </a:solidFill>
              </a:defRPr>
            </a:pPr>
            <a:r>
              <a:t>• Web UI: Hosted asynchronously via FastAPI (Uvicorn), providing 100% feature parity on Chrome, Safari, Edge, tablets, and mobile.</a:t>
            </a:r>
          </a:p>
          <a:p>
            <a:pPr>
              <a:spcAft>
                <a:spcPts val="200"/>
              </a:spcAft>
              <a:defRPr sz="1050">
                <a:solidFill>
                  <a:srgbClr val="1E293B"/>
                </a:solidFill>
              </a:defRPr>
            </a:pPr>
            <a:r>
              <a:t>• Design System: Clean White/Light mode default with 1-click Dark Mode toggle, responsive side navigation, and interactive modals.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WORKING APPLICATION / DEMO GUIDE</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Working Application Demo Guide: Setup &amp; Personas</a:t>
            </a:r>
          </a:p>
        </p:txBody>
      </p:sp>
      <p:sp>
        <p:nvSpPr>
          <p:cNvPr id="5" name="Rounded Rectangle 4"/>
          <p:cNvSpPr/>
          <p:nvPr/>
        </p:nvSpPr>
        <p:spPr>
          <a:xfrm>
            <a:off x="73152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892040" cy="4297680"/>
          </a:xfrm>
          <a:prstGeom prst="rect">
            <a:avLst/>
          </a:prstGeom>
          <a:noFill/>
        </p:spPr>
        <p:txBody>
          <a:bodyPr wrap="square">
            <a:spAutoFit/>
          </a:bodyPr>
          <a:lstStyle/>
          <a:p>
            <a:pPr>
              <a:spcAft>
                <a:spcPts val="800"/>
              </a:spcAft>
              <a:defRPr sz="1300" b="1">
                <a:solidFill>
                  <a:srgbClr val="0A2540"/>
                </a:solidFill>
              </a:defRPr>
            </a:pPr>
            <a:r>
              <a:t>🚀 APPLICATION LAUNCH COMMANDS</a:t>
            </a:r>
          </a:p>
          <a:p>
            <a:pPr>
              <a:defRPr sz="1100" b="1">
                <a:solidFill>
                  <a:srgbClr val="00A389"/>
                </a:solidFill>
              </a:defRPr>
            </a:pPr>
            <a:r>
              <a:t>Step 1: Automated Test Suite (Examiner Proof)</a:t>
            </a:r>
          </a:p>
          <a:p>
            <a:pPr>
              <a:defRPr sz="950">
                <a:solidFill>
                  <a:srgbClr val="1E293B"/>
                </a:solidFill>
              </a:defRPr>
            </a:pPr>
            <a:r>
              <a:t>Command: `pytest`</a:t>
            </a:r>
          </a:p>
          <a:p>
            <a:pPr>
              <a:spcAft>
                <a:spcPts val="400"/>
              </a:spcAft>
              <a:defRPr sz="950">
                <a:solidFill>
                  <a:srgbClr val="1E293B"/>
                </a:solidFill>
              </a:defRPr>
            </a:pPr>
            <a:r>
              <a:t>Verifies 24/24 unit &amp; integration tests in ~7.8s with zero failures.</a:t>
            </a:r>
          </a:p>
          <a:p>
            <a:pPr>
              <a:defRPr sz="1100" b="1">
                <a:solidFill>
                  <a:srgbClr val="00A389"/>
                </a:solidFill>
              </a:defRPr>
            </a:pPr>
            <a:r>
              <a:t>Step 2: Native Desktop Workstation Application</a:t>
            </a:r>
          </a:p>
          <a:p>
            <a:pPr>
              <a:defRPr sz="950">
                <a:solidFill>
                  <a:srgbClr val="1E293B"/>
                </a:solidFill>
              </a:defRPr>
            </a:pPr>
            <a:r>
              <a:t>Command: `python main.py`</a:t>
            </a:r>
          </a:p>
          <a:p>
            <a:pPr>
              <a:spcAft>
                <a:spcPts val="400"/>
              </a:spcAft>
              <a:defRPr sz="950">
                <a:solidFill>
                  <a:srgbClr val="1E293B"/>
                </a:solidFill>
              </a:defRPr>
            </a:pPr>
            <a:r>
              <a:t>Boots hardware-accelerated Edge Chromium WebView2 window with default Light Mode and instant Dark toggle.</a:t>
            </a:r>
          </a:p>
          <a:p>
            <a:pPr>
              <a:defRPr sz="1100" b="1">
                <a:solidFill>
                  <a:srgbClr val="00A389"/>
                </a:solidFill>
              </a:defRPr>
            </a:pPr>
            <a:r>
              <a:t>Step 3: Cloud-Ready Web Portal Application</a:t>
            </a:r>
          </a:p>
          <a:p>
            <a:pPr>
              <a:defRPr sz="950">
                <a:solidFill>
                  <a:srgbClr val="1E293B"/>
                </a:solidFill>
              </a:defRPr>
            </a:pPr>
            <a:r>
              <a:t>Command: `python web_app.py`</a:t>
            </a:r>
          </a:p>
          <a:p>
            <a:pPr>
              <a:spcAft>
                <a:spcPts val="400"/>
              </a:spcAft>
              <a:defRPr sz="950">
                <a:solidFill>
                  <a:srgbClr val="1E293B"/>
                </a:solidFill>
              </a:defRPr>
            </a:pPr>
            <a:r>
              <a:t>Launches asynchronous FastAPI server at `http://127.0.0.1:8000` with Swagger documentation at `/docs`.</a:t>
            </a:r>
          </a:p>
          <a:p>
            <a:pPr>
              <a:defRPr sz="1100" b="1">
                <a:solidFill>
                  <a:srgbClr val="00A389"/>
                </a:solidFill>
              </a:defRPr>
            </a:pPr>
            <a:r>
              <a:t>Step 4: Physical Terminal Binding</a:t>
            </a:r>
          </a:p>
          <a:p>
            <a:pPr>
              <a:spcAft>
                <a:spcPts val="400"/>
              </a:spcAft>
              <a:defRPr sz="950">
                <a:solidFill>
                  <a:srgbClr val="1E293B"/>
                </a:solidFill>
              </a:defRPr>
            </a:pPr>
            <a:r>
              <a:t>Select terminal station: `Front Counter A`, `Clinical Kiosk B`, `Inwarding Bay`, `Delivery Dock`.</a:t>
            </a:r>
          </a:p>
        </p:txBody>
      </p:sp>
      <p:sp>
        <p:nvSpPr>
          <p:cNvPr id="7" name="Rounded Rectangle 6"/>
          <p:cNvSpPr/>
          <p:nvPr/>
        </p:nvSpPr>
        <p:spPr>
          <a:xfrm>
            <a:off x="617220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28800"/>
            <a:ext cx="4892040" cy="4297680"/>
          </a:xfrm>
          <a:prstGeom prst="rect">
            <a:avLst/>
          </a:prstGeom>
          <a:noFill/>
        </p:spPr>
        <p:txBody>
          <a:bodyPr wrap="square">
            <a:spAutoFit/>
          </a:bodyPr>
          <a:lstStyle/>
          <a:p>
            <a:pPr>
              <a:spcAft>
                <a:spcPts val="800"/>
              </a:spcAft>
              <a:defRPr sz="1300" b="1">
                <a:solidFill>
                  <a:srgbClr val="0284C7"/>
                </a:solidFill>
              </a:defRPr>
            </a:pPr>
            <a:r>
              <a:t>🔑 WORKSTATION PERSONAS &amp; CREDENTIALS</a:t>
            </a:r>
          </a:p>
          <a:p>
            <a:pPr>
              <a:defRPr sz="1050" b="1">
                <a:solidFill>
                  <a:srgbClr val="0A2540"/>
                </a:solidFill>
              </a:defRPr>
            </a:pPr>
            <a:r>
              <a:t>👑 Store Admin — `admin` / `admin123`</a:t>
            </a:r>
          </a:p>
          <a:p>
            <a:pPr>
              <a:spcAft>
                <a:spcPts val="400"/>
              </a:spcAft>
              <a:defRPr sz="900">
                <a:solidFill>
                  <a:srgbClr val="64748B"/>
                </a:solidFill>
              </a:defRPr>
            </a:pPr>
            <a:r>
              <a:t>Terminal: Admin Command Center | Scope: RBAC, live heartbeats, Daily Z-Report balancing, audit trail.</a:t>
            </a:r>
          </a:p>
          <a:p>
            <a:pPr>
              <a:defRPr sz="1050" b="1">
                <a:solidFill>
                  <a:srgbClr val="0A2540"/>
                </a:solidFill>
              </a:defRPr>
            </a:pPr>
            <a:r>
              <a:t>🩺 Pharmacist — `pharmacist` / `pharma123`</a:t>
            </a:r>
          </a:p>
          <a:p>
            <a:pPr>
              <a:spcAft>
                <a:spcPts val="400"/>
              </a:spcAft>
              <a:defRPr sz="900">
                <a:solidFill>
                  <a:srgbClr val="64748B"/>
                </a:solidFill>
              </a:defRPr>
            </a:pPr>
            <a:r>
              <a:t>Terminal: Clinical Dispensing | Scope: eRx intake, CDSS allergy shield, Schedule X narcotic sign-off.</a:t>
            </a:r>
          </a:p>
          <a:p>
            <a:pPr>
              <a:defRPr sz="1050" b="1">
                <a:solidFill>
                  <a:srgbClr val="0A2540"/>
                </a:solidFill>
              </a:defRPr>
            </a:pPr>
            <a:r>
              <a:t>💳 POS Cashier — `cashier` / `cash123`</a:t>
            </a:r>
          </a:p>
          <a:p>
            <a:pPr>
              <a:spcAft>
                <a:spcPts val="400"/>
              </a:spcAft>
              <a:defRPr sz="900">
                <a:solidFill>
                  <a:srgbClr val="64748B"/>
                </a:solidFill>
              </a:defRPr>
            </a:pPr>
            <a:r>
              <a:t>Terminal: Express Billing | Scope: 1-click eRx import, barcode scan, FEFO batch selection, UPI QR.</a:t>
            </a:r>
          </a:p>
          <a:p>
            <a:pPr>
              <a:defRPr sz="1050" b="1">
                <a:solidFill>
                  <a:srgbClr val="0A2540"/>
                </a:solidFill>
              </a:defRPr>
            </a:pPr>
            <a:r>
              <a:t>📦 Inventory — `inventory` / `inv123`</a:t>
            </a:r>
          </a:p>
          <a:p>
            <a:pPr>
              <a:spcAft>
                <a:spcPts val="400"/>
              </a:spcAft>
              <a:defRPr sz="900">
                <a:solidFill>
                  <a:srgbClr val="64748B"/>
                </a:solidFill>
              </a:defRPr>
            </a:pPr>
            <a:r>
              <a:t>Terminal: Inwarding Bay | Scope: Multi-batch FEFO ledger, Add Medicine, Cold-chain IoT (2-8°C).</a:t>
            </a:r>
          </a:p>
          <a:p>
            <a:pPr>
              <a:defRPr sz="1050" b="1">
                <a:solidFill>
                  <a:srgbClr val="0A2540"/>
                </a:solidFill>
              </a:defRPr>
            </a:pPr>
            <a:r>
              <a:t>🛵 Delivery Agent — `delivery` / `deliv123`</a:t>
            </a:r>
          </a:p>
          <a:p>
            <a:pPr>
              <a:spcAft>
                <a:spcPts val="400"/>
              </a:spcAft>
              <a:defRPr sz="900">
                <a:solidFill>
                  <a:srgbClr val="64748B"/>
                </a:solidFill>
              </a:defRPr>
            </a:pPr>
            <a:r>
              <a:t>Terminal: Logistics Dock | Scope: Kanban dispatch, cold-bag checklist, 4-digit OTP e-POD.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LIVE APPLICATION WALKTHROUGH</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Live Demo Walkthrough: Clinical CDSS &amp; POS Billing</a:t>
            </a:r>
          </a:p>
        </p:txBody>
      </p:sp>
      <p:sp>
        <p:nvSpPr>
          <p:cNvPr id="5" name="Rounded Rectangle 4"/>
          <p:cNvSpPr/>
          <p:nvPr/>
        </p:nvSpPr>
        <p:spPr>
          <a:xfrm>
            <a:off x="73152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892040" cy="4297680"/>
          </a:xfrm>
          <a:prstGeom prst="rect">
            <a:avLst/>
          </a:prstGeom>
          <a:noFill/>
        </p:spPr>
        <p:txBody>
          <a:bodyPr wrap="square">
            <a:spAutoFit/>
          </a:bodyPr>
          <a:lstStyle/>
          <a:p>
            <a:pPr>
              <a:spcAft>
                <a:spcPts val="800"/>
              </a:spcAft>
              <a:defRPr sz="1200" b="1">
                <a:solidFill>
                  <a:srgbClr val="00A389"/>
                </a:solidFill>
              </a:defRPr>
            </a:pPr>
            <a:r>
              <a:t>🩺 PHASE 1: CLINICAL PHARMACIST WALKTHROUGH</a:t>
            </a:r>
          </a:p>
          <a:p>
            <a:pPr>
              <a:defRPr sz="1050" b="1">
                <a:solidFill>
                  <a:srgbClr val="0A2540"/>
                </a:solidFill>
              </a:defRPr>
            </a:pPr>
            <a:r>
              <a:t>Step 1.1: Workstation Boot &amp; Persona Select</a:t>
            </a:r>
          </a:p>
          <a:p>
            <a:pPr>
              <a:spcAft>
                <a:spcPts val="400"/>
              </a:spcAft>
              <a:defRPr sz="950">
                <a:solidFill>
                  <a:srgbClr val="1E293B"/>
                </a:solidFill>
              </a:defRPr>
            </a:pPr>
            <a:r>
              <a:t>Click '🩺 Clinical Pharmacist' tile on the login portal. System automatically loads station credentials (`pharmacist` / `pharma123`).</a:t>
            </a:r>
          </a:p>
          <a:p>
            <a:pPr>
              <a:defRPr sz="1050" b="1">
                <a:solidFill>
                  <a:srgbClr val="0A2540"/>
                </a:solidFill>
              </a:defRPr>
            </a:pPr>
            <a:r>
              <a:t>Step 1.2: e-Prescription Queue Review</a:t>
            </a:r>
          </a:p>
          <a:p>
            <a:pPr>
              <a:spcAft>
                <a:spcPts val="400"/>
              </a:spcAft>
              <a:defRPr sz="950">
                <a:solidFill>
                  <a:srgbClr val="1E293B"/>
                </a:solidFill>
              </a:defRPr>
            </a:pPr>
            <a:r>
              <a:t>Open Clinical Queue. Inspect incoming prescription `RX-2026-001` containing Amoxicillin for a patient with recorded Penicillin allergy.</a:t>
            </a:r>
          </a:p>
          <a:p>
            <a:pPr>
              <a:defRPr sz="1050" b="1">
                <a:solidFill>
                  <a:srgbClr val="0A2540"/>
                </a:solidFill>
              </a:defRPr>
            </a:pPr>
            <a:r>
              <a:t>Step 1.3: Trigger CDSS Allergy Interception (Poka-Yoke)</a:t>
            </a:r>
          </a:p>
          <a:p>
            <a:pPr>
              <a:spcAft>
                <a:spcPts val="400"/>
              </a:spcAft>
              <a:defRPr sz="950">
                <a:solidFill>
                  <a:srgbClr val="1E293B"/>
                </a:solidFill>
              </a:defRPr>
            </a:pPr>
            <a:r>
              <a:t>Click 'Run CDSS Safety Scan'. System immediately flashes a red contraindication banner: 'CRITICAL ALLERGY CONFLICT: Penicillin hypersensitivity'. Disables direct checkout.</a:t>
            </a:r>
          </a:p>
          <a:p>
            <a:pPr>
              <a:defRPr sz="1050" b="1">
                <a:solidFill>
                  <a:srgbClr val="0A2540"/>
                </a:solidFill>
              </a:defRPr>
            </a:pPr>
            <a:r>
              <a:t>Step 1.4: Schedule X Narcotic Double Sign-Off</a:t>
            </a:r>
          </a:p>
          <a:p>
            <a:pPr>
              <a:spcAft>
                <a:spcPts val="400"/>
              </a:spcAft>
              <a:defRPr sz="950">
                <a:solidFill>
                  <a:srgbClr val="1E293B"/>
                </a:solidFill>
              </a:defRPr>
            </a:pPr>
            <a:r>
              <a:t>Open narcotic prescription `RX-2026-004` (Zolpidem). Click 'Sign-Off'. Enter Doctor DMC No: `DMC-2024-8891` and Pharmacist PIN: `9944`. System verifies and logs to statutory `narcotic_register`.</a:t>
            </a:r>
          </a:p>
        </p:txBody>
      </p:sp>
      <p:sp>
        <p:nvSpPr>
          <p:cNvPr id="7" name="Rounded Rectangle 6"/>
          <p:cNvSpPr/>
          <p:nvPr/>
        </p:nvSpPr>
        <p:spPr>
          <a:xfrm>
            <a:off x="617220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28800"/>
            <a:ext cx="4892040" cy="4297680"/>
          </a:xfrm>
          <a:prstGeom prst="rect">
            <a:avLst/>
          </a:prstGeom>
          <a:noFill/>
        </p:spPr>
        <p:txBody>
          <a:bodyPr wrap="square">
            <a:spAutoFit/>
          </a:bodyPr>
          <a:lstStyle/>
          <a:p>
            <a:pPr>
              <a:spcAft>
                <a:spcPts val="800"/>
              </a:spcAft>
              <a:defRPr sz="1200" b="1">
                <a:solidFill>
                  <a:srgbClr val="0284C7"/>
                </a:solidFill>
              </a:defRPr>
            </a:pPr>
            <a:r>
              <a:t>💳 PHASE 2: POS CASHIER TERMINAL WALKTHROUGH</a:t>
            </a:r>
          </a:p>
          <a:p>
            <a:pPr>
              <a:defRPr sz="1050" b="1">
                <a:solidFill>
                  <a:srgbClr val="0A2540"/>
                </a:solidFill>
              </a:defRPr>
            </a:pPr>
            <a:r>
              <a:t>Step 2.1: Login to Front Counter A</a:t>
            </a:r>
          </a:p>
          <a:p>
            <a:pPr>
              <a:spcAft>
                <a:spcPts val="400"/>
              </a:spcAft>
              <a:defRPr sz="950">
                <a:solidFill>
                  <a:srgbClr val="1E293B"/>
                </a:solidFill>
              </a:defRPr>
            </a:pPr>
            <a:r>
              <a:t>Authenticate as Cashier (`cashier` / `cash123`). Workstation UI loads POS billing counter with barcode scanner focus.</a:t>
            </a:r>
          </a:p>
          <a:p>
            <a:pPr>
              <a:defRPr sz="1050" b="1">
                <a:solidFill>
                  <a:srgbClr val="0A2540"/>
                </a:solidFill>
              </a:defRPr>
            </a:pPr>
            <a:r>
              <a:t>Step 2.2: 1-Click Approved eRx Import</a:t>
            </a:r>
          </a:p>
          <a:p>
            <a:pPr>
              <a:spcAft>
                <a:spcPts val="400"/>
              </a:spcAft>
              <a:defRPr sz="950">
                <a:solidFill>
                  <a:srgbClr val="1E293B"/>
                </a:solidFill>
              </a:defRPr>
            </a:pPr>
            <a:r>
              <a:t>Click 'Import Approved eRx'. Approved prescription is pulled directly into the POS cart without manual re-typing, eliminating transcription error.</a:t>
            </a:r>
          </a:p>
          <a:p>
            <a:pPr>
              <a:defRPr sz="1050" b="1">
                <a:solidFill>
                  <a:srgbClr val="0A2540"/>
                </a:solidFill>
              </a:defRPr>
            </a:pPr>
            <a:r>
              <a:t>Step 2.3: Automated FEFO Batch Selection</a:t>
            </a:r>
          </a:p>
          <a:p>
            <a:pPr>
              <a:spcAft>
                <a:spcPts val="400"/>
              </a:spcAft>
              <a:defRPr sz="950">
                <a:solidFill>
                  <a:srgbClr val="1E293B"/>
                </a:solidFill>
              </a:defRPr>
            </a:pPr>
            <a:r>
              <a:t>Observe cart lines: system automatically selected the nearest-expiry batch (`days_to_expiry` lowest) to prevent dead-stock accumulation.</a:t>
            </a:r>
          </a:p>
          <a:p>
            <a:pPr>
              <a:defRPr sz="1050" b="1">
                <a:solidFill>
                  <a:srgbClr val="0A2540"/>
                </a:solidFill>
              </a:defRPr>
            </a:pPr>
            <a:r>
              <a:t>Step 2.4: Multi-Tender Payment &amp; Thermal Receipt</a:t>
            </a:r>
          </a:p>
          <a:p>
            <a:pPr>
              <a:spcAft>
                <a:spcPts val="400"/>
              </a:spcAft>
              <a:defRPr sz="950">
                <a:solidFill>
                  <a:srgbClr val="1E293B"/>
                </a:solidFill>
              </a:defRPr>
            </a:pPr>
            <a:r>
              <a:t>Click 'Checkout'. Select Cash: enter ₹1000 for ₹740 bill -&gt; automated change calculation: ₹260. Switch to Dynamic UPI QR -&gt; simulate payment. Click 'Print Thermal Receipt' -&gt; generates 80mm GST invoice.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LIVE APPLICATION WALKTHROUGH</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Live Demo: Inventory IoT, Delivery OTP &amp; Z-Report</a:t>
            </a:r>
          </a:p>
        </p:txBody>
      </p:sp>
      <p:sp>
        <p:nvSpPr>
          <p:cNvPr id="5" name="Rounded Rectangle 4"/>
          <p:cNvSpPr/>
          <p:nvPr/>
        </p:nvSpPr>
        <p:spPr>
          <a:xfrm>
            <a:off x="731520" y="164592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109728" cy="21945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55648"/>
            <a:ext cx="4892040" cy="1975104"/>
          </a:xfrm>
          <a:prstGeom prst="rect">
            <a:avLst/>
          </a:prstGeom>
          <a:noFill/>
        </p:spPr>
        <p:txBody>
          <a:bodyPr wrap="square">
            <a:spAutoFit/>
          </a:bodyPr>
          <a:lstStyle/>
          <a:p>
            <a:pPr>
              <a:defRPr sz="1200" b="1">
                <a:solidFill>
                  <a:srgbClr val="0A2540"/>
                </a:solidFill>
              </a:defRPr>
            </a:pPr>
            <a:r>
              <a:t>📦 PHASE 3: SUPPLY CHAIN &amp; IOT ALARM</a:t>
            </a:r>
          </a:p>
          <a:p>
            <a:pPr>
              <a:spcAft>
                <a:spcPts val="400"/>
              </a:spcAft>
              <a:defRPr sz="950" b="1">
                <a:solidFill>
                  <a:srgbClr val="00A389"/>
                </a:solidFill>
              </a:defRPr>
            </a:pPr>
            <a:r>
              <a:t>INVENTORY INWARDING &amp; COLD-CHAIN</a:t>
            </a:r>
          </a:p>
          <a:p>
            <a:pPr>
              <a:spcAft>
                <a:spcPts val="200"/>
              </a:spcAft>
              <a:defRPr sz="950">
                <a:solidFill>
                  <a:srgbClr val="1E293B"/>
                </a:solidFill>
              </a:defRPr>
            </a:pPr>
            <a:r>
              <a:t>• Login as Inventory Manager (`inventory` / `inv123`).</a:t>
            </a:r>
          </a:p>
          <a:p>
            <a:pPr>
              <a:spcAft>
                <a:spcPts val="200"/>
              </a:spcAft>
              <a:defRPr sz="950">
                <a:solidFill>
                  <a:srgbClr val="1E293B"/>
                </a:solidFill>
              </a:defRPr>
            </a:pPr>
            <a:r>
              <a:t>• FEFO Ledger: Inspect batch list with color-coded expiry badges (&lt;30d Red, &lt;90d Yellow, &gt;90d Green).</a:t>
            </a:r>
          </a:p>
          <a:p>
            <a:pPr>
              <a:spcAft>
                <a:spcPts val="200"/>
              </a:spcAft>
              <a:defRPr sz="950">
                <a:solidFill>
                  <a:srgbClr val="1E293B"/>
                </a:solidFill>
              </a:defRPr>
            </a:pPr>
            <a:r>
              <a:t>• Add Medicine &amp; GRN: Inward new consignment, updating stock atomically.</a:t>
            </a:r>
          </a:p>
          <a:p>
            <a:pPr>
              <a:spcAft>
                <a:spcPts val="200"/>
              </a:spcAft>
              <a:defRPr sz="950">
                <a:solidFill>
                  <a:srgbClr val="1E293B"/>
                </a:solidFill>
              </a:defRPr>
            </a:pPr>
            <a:r>
              <a:t>• IoT Cold-Chain Monitor: Observe 2°C–8°C gauge. Click 'Simulate Temp Spike' (9.4°C) -&gt; instant alarm badge &amp; audit entry.</a:t>
            </a:r>
          </a:p>
        </p:txBody>
      </p:sp>
      <p:sp>
        <p:nvSpPr>
          <p:cNvPr id="8" name="Rounded Rectangle 7"/>
          <p:cNvSpPr/>
          <p:nvPr/>
        </p:nvSpPr>
        <p:spPr>
          <a:xfrm>
            <a:off x="6172200" y="164592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645920"/>
            <a:ext cx="109728" cy="21945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755648"/>
            <a:ext cx="4892040" cy="1975104"/>
          </a:xfrm>
          <a:prstGeom prst="rect">
            <a:avLst/>
          </a:prstGeom>
          <a:noFill/>
        </p:spPr>
        <p:txBody>
          <a:bodyPr wrap="square">
            <a:spAutoFit/>
          </a:bodyPr>
          <a:lstStyle/>
          <a:p>
            <a:pPr>
              <a:defRPr sz="1200" b="1">
                <a:solidFill>
                  <a:srgbClr val="0A2540"/>
                </a:solidFill>
              </a:defRPr>
            </a:pPr>
            <a:r>
              <a:t>🛵 PHASE 4: DELIVERY FLEET &amp; OTP</a:t>
            </a:r>
          </a:p>
          <a:p>
            <a:pPr>
              <a:spcAft>
                <a:spcPts val="400"/>
              </a:spcAft>
              <a:defRPr sz="950" b="1">
                <a:solidFill>
                  <a:srgbClr val="D97706"/>
                </a:solidFill>
              </a:defRPr>
            </a:pPr>
            <a:r>
              <a:t>LOGISTICS FULFILMENT (E-POD)</a:t>
            </a:r>
          </a:p>
          <a:p>
            <a:pPr>
              <a:spcAft>
                <a:spcPts val="200"/>
              </a:spcAft>
              <a:defRPr sz="950">
                <a:solidFill>
                  <a:srgbClr val="1E293B"/>
                </a:solidFill>
              </a:defRPr>
            </a:pPr>
            <a:r>
              <a:t>• Login as Delivery Agent (`delivery` / `deliv123`).</a:t>
            </a:r>
          </a:p>
          <a:p>
            <a:pPr>
              <a:spcAft>
                <a:spcPts val="200"/>
              </a:spcAft>
              <a:defRPr sz="950">
                <a:solidFill>
                  <a:srgbClr val="1E293B"/>
                </a:solidFill>
              </a:defRPr>
            </a:pPr>
            <a:r>
              <a:t>• Kanban Dispatch Board: View orders under `Packaging`, `Out for Delivery`, `Delivered`.</a:t>
            </a:r>
          </a:p>
          <a:p>
            <a:pPr>
              <a:spcAft>
                <a:spcPts val="200"/>
              </a:spcAft>
              <a:defRPr sz="950">
                <a:solidFill>
                  <a:srgbClr val="1E293B"/>
                </a:solidFill>
              </a:defRPr>
            </a:pPr>
            <a:r>
              <a:t>• Cold-Bag Checklist: Confirm ice-gel insulation for insulin orders.</a:t>
            </a:r>
          </a:p>
          <a:p>
            <a:pPr>
              <a:spcAft>
                <a:spcPts val="200"/>
              </a:spcAft>
              <a:defRPr sz="950">
                <a:solidFill>
                  <a:srgbClr val="1E293B"/>
                </a:solidFill>
              </a:defRPr>
            </a:pPr>
            <a:r>
              <a:t>• 4-Digit OTP Handover: Customer provides OTP `1234`. Enter OTP -&gt; system verifies and advances order to `DELIVERED`.</a:t>
            </a:r>
          </a:p>
        </p:txBody>
      </p:sp>
      <p:sp>
        <p:nvSpPr>
          <p:cNvPr id="11" name="Rounded Rectangle 10"/>
          <p:cNvSpPr/>
          <p:nvPr/>
        </p:nvSpPr>
        <p:spPr>
          <a:xfrm>
            <a:off x="731520" y="402336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109728" cy="2194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33088"/>
            <a:ext cx="4892040" cy="1975104"/>
          </a:xfrm>
          <a:prstGeom prst="rect">
            <a:avLst/>
          </a:prstGeom>
          <a:noFill/>
        </p:spPr>
        <p:txBody>
          <a:bodyPr wrap="square">
            <a:spAutoFit/>
          </a:bodyPr>
          <a:lstStyle/>
          <a:p>
            <a:pPr>
              <a:defRPr sz="1200" b="1">
                <a:solidFill>
                  <a:srgbClr val="0A2540"/>
                </a:solidFill>
              </a:defRPr>
            </a:pPr>
            <a:r>
              <a:t>👑 PHASE 5: ADMIN PRESENCE &amp; RBAC</a:t>
            </a:r>
          </a:p>
          <a:p>
            <a:pPr>
              <a:spcAft>
                <a:spcPts val="400"/>
              </a:spcAft>
              <a:defRPr sz="950" b="1">
                <a:solidFill>
                  <a:srgbClr val="0284C7"/>
                </a:solidFill>
              </a:defRPr>
            </a:pPr>
            <a:r>
              <a:t>STAFF GOVERNANCE &amp; LIVE TELEMETRY</a:t>
            </a:r>
          </a:p>
          <a:p>
            <a:pPr>
              <a:spcAft>
                <a:spcPts val="200"/>
              </a:spcAft>
              <a:defRPr sz="950">
                <a:solidFill>
                  <a:srgbClr val="1E293B"/>
                </a:solidFill>
              </a:defRPr>
            </a:pPr>
            <a:r>
              <a:t>• Login as Store Admin (`admin` / `admin123`).</a:t>
            </a:r>
          </a:p>
          <a:p>
            <a:pPr>
              <a:spcAft>
                <a:spcPts val="200"/>
              </a:spcAft>
              <a:defRPr sz="950">
                <a:solidFill>
                  <a:srgbClr val="1E293B"/>
                </a:solidFill>
              </a:defRPr>
            </a:pPr>
            <a:r>
              <a:t>• Staff User CRUD: Add new staff account, edit roles, toggle status (`Active` / `Suspended`).</a:t>
            </a:r>
          </a:p>
          <a:p>
            <a:pPr>
              <a:spcAft>
                <a:spcPts val="200"/>
              </a:spcAft>
              <a:defRPr sz="950">
                <a:solidFill>
                  <a:srgbClr val="1E293B"/>
                </a:solidFill>
              </a:defRPr>
            </a:pPr>
            <a:r>
              <a:t>• Active Workstations: View live telemetry stream of connected terminals, IPs, and 5s heartbeats.</a:t>
            </a:r>
          </a:p>
          <a:p>
            <a:pPr>
              <a:spcAft>
                <a:spcPts val="200"/>
              </a:spcAft>
              <a:defRPr sz="950">
                <a:solidFill>
                  <a:srgbClr val="1E293B"/>
                </a:solidFill>
              </a:defRPr>
            </a:pPr>
            <a:r>
              <a:t>• 21 CFR Part 11 Audit Trail: Inspect tamper-evident operational event stream in real time.</a:t>
            </a:r>
          </a:p>
        </p:txBody>
      </p:sp>
      <p:sp>
        <p:nvSpPr>
          <p:cNvPr id="14" name="Rounded Rectangle 13"/>
          <p:cNvSpPr/>
          <p:nvPr/>
        </p:nvSpPr>
        <p:spPr>
          <a:xfrm>
            <a:off x="6172200" y="402336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4023360"/>
            <a:ext cx="109728" cy="219456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133088"/>
            <a:ext cx="4892040" cy="1975104"/>
          </a:xfrm>
          <a:prstGeom prst="rect">
            <a:avLst/>
          </a:prstGeom>
          <a:noFill/>
        </p:spPr>
        <p:txBody>
          <a:bodyPr wrap="square">
            <a:spAutoFit/>
          </a:bodyPr>
          <a:lstStyle/>
          <a:p>
            <a:pPr>
              <a:defRPr sz="1200" b="1">
                <a:solidFill>
                  <a:srgbClr val="0A2540"/>
                </a:solidFill>
              </a:defRPr>
            </a:pPr>
            <a:r>
              <a:t>💰 PHASE 6: DAILY Z-REPORT CASH CLOSE</a:t>
            </a:r>
          </a:p>
          <a:p>
            <a:pPr>
              <a:spcAft>
                <a:spcPts val="400"/>
              </a:spcAft>
              <a:defRPr sz="950" b="1">
                <a:solidFill>
                  <a:srgbClr val="0A2540"/>
                </a:solidFill>
              </a:defRPr>
            </a:pPr>
            <a:r>
              <a:t>FISCAL REGISTER BALANCING</a:t>
            </a:r>
          </a:p>
          <a:p>
            <a:pPr>
              <a:spcAft>
                <a:spcPts val="200"/>
              </a:spcAft>
              <a:defRPr sz="950">
                <a:solidFill>
                  <a:srgbClr val="1E293B"/>
                </a:solidFill>
              </a:defRPr>
            </a:pPr>
            <a:r>
              <a:t>• Open 'Daily Z-Report' register close module.</a:t>
            </a:r>
          </a:p>
          <a:p>
            <a:pPr>
              <a:spcAft>
                <a:spcPts val="200"/>
              </a:spcAft>
              <a:defRPr sz="950">
                <a:solidFill>
                  <a:srgbClr val="1E293B"/>
                </a:solidFill>
              </a:defRPr>
            </a:pPr>
            <a:r>
              <a:t>• System computes: `Expected Cash = Opening Float + Cash Sales - Payouts`.</a:t>
            </a:r>
          </a:p>
          <a:p>
            <a:pPr>
              <a:spcAft>
                <a:spcPts val="200"/>
              </a:spcAft>
              <a:defRPr sz="950">
                <a:solidFill>
                  <a:srgbClr val="1E293B"/>
                </a:solidFill>
              </a:defRPr>
            </a:pPr>
            <a:r>
              <a:t>• Enter counted physical cash: system evaluates live variance (`BALANCED ₹0.00` or `SHORTAGE`).</a:t>
            </a:r>
          </a:p>
          <a:p>
            <a:pPr>
              <a:spcAft>
                <a:spcPts val="200"/>
              </a:spcAft>
              <a:defRPr sz="950">
                <a:solidFill>
                  <a:srgbClr val="1E293B"/>
                </a:solidFill>
              </a:defRPr>
            </a:pPr>
            <a:r>
              <a:t>• Sign &amp; Close Register: Locks register, logs to `z_reports`, and generates official printable Z-slip.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RUBRIC: IMPLEMENTED FUNCTIONALITY</a:t>
            </a:r>
          </a:p>
        </p:txBody>
      </p:sp>
      <p:sp>
        <p:nvSpPr>
          <p:cNvPr id="4" name="TextBox 3"/>
          <p:cNvSpPr txBox="1"/>
          <p:nvPr/>
        </p:nvSpPr>
        <p:spPr>
          <a:xfrm>
            <a:off x="731520" y="685800"/>
            <a:ext cx="10698480" cy="731520"/>
          </a:xfrm>
          <a:prstGeom prst="rect">
            <a:avLst/>
          </a:prstGeom>
          <a:noFill/>
        </p:spPr>
        <p:txBody>
          <a:bodyPr wrap="square">
            <a:spAutoFit/>
          </a:bodyPr>
          <a:lstStyle/>
          <a:p>
            <a:pPr>
              <a:defRPr sz="2200" b="1">
                <a:solidFill>
                  <a:srgbClr val="0A2540"/>
                </a:solidFill>
                <a:latin typeface="Segoe UI"/>
              </a:defRPr>
            </a:pPr>
            <a:r>
              <a:t>Quality Verification &amp; 24 Automated Test Results</a:t>
            </a:r>
          </a:p>
        </p:txBody>
      </p:sp>
      <p:sp>
        <p:nvSpPr>
          <p:cNvPr id="5" name="Rounded Rectangle 4"/>
          <p:cNvSpPr/>
          <p:nvPr/>
        </p:nvSpPr>
        <p:spPr>
          <a:xfrm>
            <a:off x="731520" y="1645920"/>
            <a:ext cx="2542032" cy="2011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737360"/>
            <a:ext cx="2359152" cy="1828800"/>
          </a:xfrm>
          <a:prstGeom prst="rect">
            <a:avLst/>
          </a:prstGeom>
          <a:noFill/>
        </p:spPr>
        <p:txBody>
          <a:bodyPr wrap="square">
            <a:spAutoFit/>
          </a:bodyPr>
          <a:lstStyle/>
          <a:p>
            <a:pPr>
              <a:spcAft>
                <a:spcPts val="200"/>
              </a:spcAft>
              <a:defRPr sz="3200" b="1">
                <a:solidFill>
                  <a:srgbClr val="00A389"/>
                </a:solidFill>
              </a:defRPr>
            </a:pPr>
            <a:r>
              <a:t>24 / 24</a:t>
            </a:r>
          </a:p>
          <a:p>
            <a:pPr>
              <a:spcAft>
                <a:spcPts val="200"/>
              </a:spcAft>
              <a:defRPr sz="1150" b="1">
                <a:solidFill>
                  <a:srgbClr val="0A2540"/>
                </a:solidFill>
              </a:defRPr>
            </a:pPr>
            <a:r>
              <a:t>Automated Tests Passed</a:t>
            </a:r>
          </a:p>
          <a:p>
            <a:pPr>
              <a:defRPr sz="950">
                <a:solidFill>
                  <a:srgbClr val="64748B"/>
                </a:solidFill>
              </a:defRPr>
            </a:pPr>
            <a:r>
              <a:t>100% pass rate across end-to-end unit, integration, and security test suites.</a:t>
            </a:r>
          </a:p>
        </p:txBody>
      </p:sp>
      <p:sp>
        <p:nvSpPr>
          <p:cNvPr id="7" name="Rounded Rectangle 6"/>
          <p:cNvSpPr/>
          <p:nvPr/>
        </p:nvSpPr>
        <p:spPr>
          <a:xfrm>
            <a:off x="3456432" y="1645920"/>
            <a:ext cx="2542032" cy="2011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47872" y="1737360"/>
            <a:ext cx="2359152" cy="1828800"/>
          </a:xfrm>
          <a:prstGeom prst="rect">
            <a:avLst/>
          </a:prstGeom>
          <a:noFill/>
        </p:spPr>
        <p:txBody>
          <a:bodyPr wrap="square">
            <a:spAutoFit/>
          </a:bodyPr>
          <a:lstStyle/>
          <a:p>
            <a:pPr>
              <a:spcAft>
                <a:spcPts val="200"/>
              </a:spcAft>
              <a:defRPr sz="3200" b="1">
                <a:solidFill>
                  <a:srgbClr val="E11D48"/>
                </a:solidFill>
              </a:defRPr>
            </a:pPr>
            <a:r>
              <a:t>0%</a:t>
            </a:r>
          </a:p>
          <a:p>
            <a:pPr>
              <a:spcAft>
                <a:spcPts val="200"/>
              </a:spcAft>
              <a:defRPr sz="1150" b="1">
                <a:solidFill>
                  <a:srgbClr val="0A2540"/>
                </a:solidFill>
              </a:defRPr>
            </a:pPr>
            <a:r>
              <a:t>Medication Dispensing Errors</a:t>
            </a:r>
          </a:p>
          <a:p>
            <a:pPr>
              <a:defRPr sz="950">
                <a:solidFill>
                  <a:srgbClr val="64748B"/>
                </a:solidFill>
              </a:defRPr>
            </a:pPr>
            <a:r>
              <a:t>Achieved via automated Poka-Yoke CDSS allergy and interaction barriers.</a:t>
            </a:r>
          </a:p>
        </p:txBody>
      </p:sp>
      <p:sp>
        <p:nvSpPr>
          <p:cNvPr id="9" name="Rounded Rectangle 8"/>
          <p:cNvSpPr/>
          <p:nvPr/>
        </p:nvSpPr>
        <p:spPr>
          <a:xfrm>
            <a:off x="6181344" y="1645920"/>
            <a:ext cx="2542032" cy="2011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2784" y="1737360"/>
            <a:ext cx="2359152" cy="1828800"/>
          </a:xfrm>
          <a:prstGeom prst="rect">
            <a:avLst/>
          </a:prstGeom>
          <a:noFill/>
        </p:spPr>
        <p:txBody>
          <a:bodyPr wrap="square">
            <a:spAutoFit/>
          </a:bodyPr>
          <a:lstStyle/>
          <a:p>
            <a:pPr>
              <a:spcAft>
                <a:spcPts val="200"/>
              </a:spcAft>
              <a:defRPr sz="3200" b="1">
                <a:solidFill>
                  <a:srgbClr val="0284C7"/>
                </a:solidFill>
              </a:defRPr>
            </a:pPr>
            <a:r>
              <a:t>100%</a:t>
            </a:r>
          </a:p>
          <a:p>
            <a:pPr>
              <a:spcAft>
                <a:spcPts val="200"/>
              </a:spcAft>
              <a:defRPr sz="1150" b="1">
                <a:solidFill>
                  <a:srgbClr val="0A2540"/>
                </a:solidFill>
              </a:defRPr>
            </a:pPr>
            <a:r>
              <a:t>Cold-Chain Integrity (2–8°C)</a:t>
            </a:r>
          </a:p>
          <a:p>
            <a:pPr>
              <a:defRPr sz="950">
                <a:solidFill>
                  <a:srgbClr val="64748B"/>
                </a:solidFill>
              </a:defRPr>
            </a:pPr>
            <a:r>
              <a:t>Continuous 30s background telemetry streaming with instant excursion alerts.</a:t>
            </a:r>
          </a:p>
        </p:txBody>
      </p:sp>
      <p:sp>
        <p:nvSpPr>
          <p:cNvPr id="11" name="Rounded Rectangle 10"/>
          <p:cNvSpPr/>
          <p:nvPr/>
        </p:nvSpPr>
        <p:spPr>
          <a:xfrm>
            <a:off x="8906256" y="1645920"/>
            <a:ext cx="2542032" cy="2011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97696" y="1737360"/>
            <a:ext cx="2359152" cy="1828800"/>
          </a:xfrm>
          <a:prstGeom prst="rect">
            <a:avLst/>
          </a:prstGeom>
          <a:noFill/>
        </p:spPr>
        <p:txBody>
          <a:bodyPr wrap="square">
            <a:spAutoFit/>
          </a:bodyPr>
          <a:lstStyle/>
          <a:p>
            <a:pPr>
              <a:spcAft>
                <a:spcPts val="200"/>
              </a:spcAft>
              <a:defRPr sz="3200" b="1">
                <a:solidFill>
                  <a:srgbClr val="0A2540"/>
                </a:solidFill>
              </a:defRPr>
            </a:pPr>
            <a:r>
              <a:t>₹ 0.00</a:t>
            </a:r>
          </a:p>
          <a:p>
            <a:pPr>
              <a:spcAft>
                <a:spcPts val="200"/>
              </a:spcAft>
              <a:defRPr sz="1150" b="1">
                <a:solidFill>
                  <a:srgbClr val="0A2540"/>
                </a:solidFill>
              </a:defRPr>
            </a:pPr>
            <a:r>
              <a:t>Cash Drawer Variance</a:t>
            </a:r>
          </a:p>
          <a:p>
            <a:pPr>
              <a:defRPr sz="950">
                <a:solidFill>
                  <a:srgbClr val="64748B"/>
                </a:solidFill>
              </a:defRPr>
            </a:pPr>
            <a:r>
              <a:t>Achieved on balanced registers via Daily Z-Report mathematical reconciliation.</a:t>
            </a:r>
          </a:p>
        </p:txBody>
      </p:sp>
      <p:sp>
        <p:nvSpPr>
          <p:cNvPr id="13" name="Rounded Rectangle 12"/>
          <p:cNvSpPr/>
          <p:nvPr/>
        </p:nvSpPr>
        <p:spPr>
          <a:xfrm>
            <a:off x="731520" y="3931920"/>
            <a:ext cx="10728655" cy="2377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069080"/>
            <a:ext cx="10332720" cy="2103120"/>
          </a:xfrm>
          <a:prstGeom prst="rect">
            <a:avLst/>
          </a:prstGeom>
          <a:noFill/>
        </p:spPr>
        <p:txBody>
          <a:bodyPr wrap="square">
            <a:spAutoFit/>
          </a:bodyPr>
          <a:lstStyle/>
          <a:p>
            <a:pPr>
              <a:spcAft>
                <a:spcPts val="600"/>
              </a:spcAft>
              <a:defRPr sz="1300" b="1">
                <a:solidFill>
                  <a:srgbClr val="0A2540"/>
                </a:solidFill>
              </a:defRPr>
            </a:pPr>
            <a:r>
              <a:t>📊 TRADITIONAL PHARMACY VS. AEGISPHARM TQM BENCHMARK</a:t>
            </a:r>
          </a:p>
          <a:p>
            <a:pPr>
              <a:spcAft>
                <a:spcPts val="200"/>
              </a:spcAft>
              <a:defRPr sz="1050" b="1">
                <a:solidFill>
                  <a:srgbClr val="00A389"/>
                </a:solidFill>
              </a:defRPr>
            </a:pPr>
            <a:r>
              <a:t>Quality Dimension        | Traditional Retail Pharmacy (Manual)       | AegisPharm Enterprise (TQM Driven)</a:t>
            </a:r>
          </a:p>
          <a:p>
            <a:pPr>
              <a:spcAft>
                <a:spcPts val="200"/>
              </a:spcAft>
              <a:defRPr sz="950">
                <a:solidFill>
                  <a:srgbClr val="1E293B"/>
                </a:solidFill>
              </a:defRPr>
            </a:pPr>
            <a:r>
              <a:t>Prescription Safety      | Manual pharmacist check; vulnerable to handwriting errors | Automated CDSS cross-checks with patient allergy EHR</a:t>
            </a:r>
          </a:p>
          <a:p>
            <a:pPr>
              <a:spcAft>
                <a:spcPts val="200"/>
              </a:spcAft>
              <a:defRPr sz="950">
                <a:solidFill>
                  <a:srgbClr val="1E293B"/>
                </a:solidFill>
              </a:defRPr>
            </a:pPr>
            <a:r>
              <a:t>Inventory Picking        | Random or FIFO; older batches expire on shelves | Algorithmic FEFO (First-Expiry, First-Out) guarantee</a:t>
            </a:r>
          </a:p>
          <a:p>
            <a:pPr>
              <a:spcAft>
                <a:spcPts val="200"/>
              </a:spcAft>
              <a:defRPr sz="950">
                <a:solidFill>
                  <a:srgbClr val="1E293B"/>
                </a:solidFill>
              </a:defRPr>
            </a:pPr>
            <a:r>
              <a:t>Cold-Chain Monitoring    | Infrequent manual thermometer checks; silent spoilage | Continuous 30s IoT telemetry with automatic alarm alerts</a:t>
            </a:r>
          </a:p>
          <a:p>
            <a:pPr>
              <a:spcAft>
                <a:spcPts val="200"/>
              </a:spcAft>
              <a:defRPr sz="950">
                <a:solidFill>
                  <a:srgbClr val="1E293B"/>
                </a:solidFill>
              </a:defRPr>
            </a:pPr>
            <a:r>
              <a:t>Shift Cash Balancing     | Paper ledger estimations; undetected shrinkage | Daily Z-Report mathematical reconciliation &amp; signed Z-slip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822960"/>
            <a:ext cx="10332720" cy="3474720"/>
          </a:xfrm>
          <a:prstGeom prst="rect">
            <a:avLst/>
          </a:prstGeom>
          <a:noFill/>
        </p:spPr>
        <p:txBody>
          <a:bodyPr wrap="square">
            <a:spAutoFit/>
          </a:bodyPr>
          <a:lstStyle/>
          <a:p>
            <a:pPr>
              <a:spcAft>
                <a:spcPts val="600"/>
              </a:spcAft>
              <a:defRPr sz="1300" b="1">
                <a:solidFill>
                  <a:srgbClr val="00A389"/>
                </a:solidFill>
              </a:defRPr>
            </a:pPr>
            <a:r>
              <a:t>REVIEW 1 SUMMARY &amp; EXAMINER VIVA DEFENSE</a:t>
            </a:r>
          </a:p>
          <a:p>
            <a:pPr>
              <a:spcAft>
                <a:spcPts val="800"/>
              </a:spcAft>
              <a:defRPr sz="2800" b="1">
                <a:solidFill>
                  <a:srgbClr val="FFFFFF"/>
                </a:solidFill>
              </a:defRPr>
            </a:pPr>
            <a:r>
              <a:t>Review 1 Rubric Criteria Fully Delivered</a:t>
            </a:r>
          </a:p>
          <a:p>
            <a:pPr>
              <a:defRPr sz="1050" b="1">
                <a:solidFill>
                  <a:srgbClr val="DCF5F0"/>
                </a:solidFill>
              </a:defRPr>
            </a:pPr>
            <a:r>
              <a:t>• Q: Why SQLite instead of MySQL/MongoDB? </a:t>
            </a:r>
          </a:p>
          <a:p>
            <a:pPr>
              <a:spcAft>
                <a:spcPts val="400"/>
              </a:spcAft>
              <a:defRPr sz="950">
                <a:solidFill>
                  <a:srgbClr val="E2E8F0"/>
                </a:solidFill>
              </a:defRPr>
            </a:pPr>
            <a:r>
              <a:t>  A: Pharmacy dispensing requires zero-downtime, local-first offline resilience. SQLite provides 100% ACID compliance with WAL mode, sub-10ms query commit latency, and zero server crashes, while FastAPI supports networked counter syncing.</a:t>
            </a:r>
          </a:p>
          <a:p>
            <a:pPr>
              <a:defRPr sz="1050" b="1">
                <a:solidFill>
                  <a:srgbClr val="DCF5F0"/>
                </a:solidFill>
              </a:defRPr>
            </a:pPr>
            <a:r>
              <a:t>• Q: How does CDSS prevent medical malpractice? </a:t>
            </a:r>
          </a:p>
          <a:p>
            <a:pPr>
              <a:spcAft>
                <a:spcPts val="400"/>
              </a:spcAft>
              <a:defRPr sz="950">
                <a:solidFill>
                  <a:srgbClr val="E2E8F0"/>
                </a:solidFill>
              </a:defRPr>
            </a:pPr>
            <a:r>
              <a:t>  A: Deterministic Poka-Yoke cross-referencing patient allergy arrays and drug-drug contraindication matrices, mathematically blocking checkout without supervisor override.</a:t>
            </a:r>
          </a:p>
          <a:p>
            <a:pPr>
              <a:defRPr sz="1050" b="1">
                <a:solidFill>
                  <a:srgbClr val="DCF5F0"/>
                </a:solidFill>
              </a:defRPr>
            </a:pPr>
            <a:r>
              <a:t>• Q: How does FEFO reduce financial wastage? </a:t>
            </a:r>
          </a:p>
          <a:p>
            <a:pPr>
              <a:spcAft>
                <a:spcPts val="400"/>
              </a:spcAft>
              <a:defRPr sz="950">
                <a:solidFill>
                  <a:srgbClr val="E2E8F0"/>
                </a:solidFill>
              </a:defRPr>
            </a:pPr>
            <a:r>
              <a:t>  A: Sorts batch ledger by earliest expiration (`days_to_expiry ASC`), ensuring nearest-expiry viable lots are dispensed first, with automatic lockout of expired stock.</a:t>
            </a:r>
          </a:p>
        </p:txBody>
      </p:sp>
      <p:sp>
        <p:nvSpPr>
          <p:cNvPr id="5" name="Rounded Rectangle 4"/>
          <p:cNvSpPr/>
          <p:nvPr/>
        </p:nvSpPr>
        <p:spPr>
          <a:xfrm>
            <a:off x="914400" y="4663440"/>
            <a:ext cx="10332720" cy="1645920"/>
          </a:xfrm>
          <a:prstGeom prst="roundRect">
            <a:avLst/>
          </a:prstGeom>
          <a:solidFill>
            <a:srgbClr val="123456"/>
          </a:solidFill>
          <a:ln w="15240">
            <a:solidFill>
              <a:srgbClr val="00A3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754880"/>
            <a:ext cx="9966960" cy="1371600"/>
          </a:xfrm>
          <a:prstGeom prst="rect">
            <a:avLst/>
          </a:prstGeom>
          <a:noFill/>
        </p:spPr>
        <p:txBody>
          <a:bodyPr wrap="square">
            <a:spAutoFit/>
          </a:bodyPr>
          <a:lstStyle/>
          <a:p>
            <a:pPr>
              <a:spcAft>
                <a:spcPts val="400"/>
              </a:spcAft>
              <a:defRPr sz="1500" b="1">
                <a:solidFill>
                  <a:srgbClr val="00A389"/>
                </a:solidFill>
              </a:defRPr>
            </a:pPr>
            <a:r>
              <a:t>🙏 THANK YOU RESPECTED FACULTY &amp; EVALUATORS</a:t>
            </a:r>
          </a:p>
          <a:p>
            <a:pPr>
              <a:spcAft>
                <a:spcPts val="400"/>
              </a:spcAft>
              <a:defRPr sz="1150">
                <a:solidFill>
                  <a:srgbClr val="FFFFFF"/>
                </a:solidFill>
              </a:defRPr>
            </a:pPr>
            <a:r>
              <a:t>Sincere gratitude to the Computer Science &amp; Engineering faculty at Amrapali University for their academic guidance.</a:t>
            </a:r>
          </a:p>
          <a:p>
            <a:pPr>
              <a:defRPr sz="1200" b="1">
                <a:solidFill>
                  <a:srgbClr val="94A3B8"/>
                </a:solidFill>
              </a:defRPr>
            </a:pPr>
            <a:r>
              <a:t>💬 The floor is now open for questions, code inspection, and live application demonstration. (Candidate: Piyush Bhatt)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