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professors and evaluators. I am Piyush Bhatt, a proud student of Amrapali University. Today, I present my project, AegisPharm Enterprise, through the lens of Total Quality Management (TQM). In healthcare and retail pharmacy, quality is not merely about business efficiency—it is literally a matter of human life and death. I will demonstrate how foundational TQM methodologies—including Deming's PDCA cycle, Poka-Yoke mistake-proofing, Six Sigma DMAIC, and ISO traceability—are hard-coded into this enterprise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why TQM is indispensable here, we examine the three primary defect categories in pharmacy operations: First, clinical dispensing errors: giving penicillin to an allergic patient can be fatal. Second, thermal spoilage: vaccines stored at room temperature lose potency silently. Third, compliance and cash leakage: illegal narcotic diversion and unbalanced cash drawers. AegisPharm addresses these through structured total quality principles.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map the 5 classic pillars of Total Quality Management—pioneered by Deming, Juran, and Crosby—directly into our software architecture. Notice how Customer Focus becomes Patient Safety; Total Employee Involvement becomes our 5 role-based workstations; and Fact-Based Decision Making becomes our automated IoT telemetry and Daily Z-Report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Rather than having a single chaotic screen where everyone does everything, AegisPharm implements 5 Quality Inspection Gates. Each gate represents a specialized persona with defined quality obligations: Admin governs credentials; Pharmacist clinical safety; Cashier financial settlement; Inventory shelf-life; and Delivery final patient handoff.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Poka-Yoke is the Japanese philosophy of mistake-proofing created by Shigeo Shingo in the Toyota Production System. In our software, Poka-Yoke prevents catastrophic human errors: A cashier cannot dispense penicillin to an allergic patient; a rider cannot falsely mark an order delivered without the customer's 4-digit OTP; and narcotics cannot be stolen without a pharmacist's authenticated PIN.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W. Edwards Deming taught that quality is never static—it moves in a continuous Plan-Do-Check-Act loop. In AegisPharm, we Plan safety boundaries (2-8°C, minimum stock buffers); we Do the daily billing and dispensing; we Check continuously via IoT sensors, CDSS checks, and Daily Z-reports; and we Act immediately with thermal alarms, customer WhatsApp refill notifications, and stock purchase orders.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see two prime examples of TQM in inventory: First, FEFO—First-Expiry, First-Out. In regular retail, FIFO is used, but in pharmacy, expiry dates rule. If Batch B expires before Batch A, Batch B MUST be dispensed first. Second, Cold-Chain IoT: Biologics and insulin spoil silently if a refrigerator fails. Our continuous 2-8°C telemetry and excursion alarms prevent giving dead vaccines to children.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foundational TQM rule is 'Management by Facts, Not Opinions.' At the end of every business day or cashier shift, our Daily Z-Report engine aggregates total revenue, calculates CGST and SGST taxes, and mathematically verifies whether the cash counted in the drawer matches the recorded bills. It eliminates cash shrinkage and creates an audited, signed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Sigma strives for near perfection—3.4 defects per million opportunities. We align AegisPharm with the DMAIC lifecycle: Define quality targets; Measure via telemetry; Analyze using audit trails; Improve via 1-click workflows; and Control using immutable RBAC permissions and automated database snapshots.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starts at the supplier door. Following ISO 9001 guidelines on supply chain control, AegisPharm ensures that medicines come only from certified vendors, are verified at the dock via Goods Receipt Notes, and maintain 100% reverse batch traceability. If a batch is recalled anywhere in the country, we can isolate it in seconds.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does not stop inside the retail shop. For chronic patients, quality means ensuring they never run out of critical medicines like insulin or blood pressure pills. And for home delivery, quality means fail-safe last-mile execution with our 4-digit OTP electronic proof of delivery.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pharmaceutical industry, regulatory compliance is the ultimate benchmark of quality. AegisPharm digitizes Schedule H1 and Schedule X registers, provides immutable audit logs, and allows instant 1-click CSV export for Drug Inspectors. This transforms regulatory inspection from a stressful manual ordeal into an effortless click of a button.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measurable results: 0% medication dispensing errors; 100% cold-chain temperature compliance; zero cash drawer variance; and 24 out of 24 automated software tests passing with a 100% success rate. The comparison table highlights the dramatic leap from traditional error-prone retail to our automated TQM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Total Quality Management in AegisPharm Enterprise is not just an afterthought or a policy document; it is baked directly into the code and database schema. I thank my faculty and mentors at Amrapali University for their guidance. I am now ready to take your questions and defend any aspect of the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10332720" cy="2926080"/>
          </a:xfrm>
          <a:prstGeom prst="rect">
            <a:avLst/>
          </a:prstGeom>
          <a:noFill/>
        </p:spPr>
        <p:txBody>
          <a:bodyPr wrap="square">
            <a:spAutoFit/>
          </a:bodyPr>
          <a:lstStyle/>
          <a:p>
            <a:pPr>
              <a:spcAft>
                <a:spcPts val="1400"/>
              </a:spcAft>
              <a:defRPr sz="1300" b="1">
                <a:solidFill>
                  <a:srgbClr val="00A389"/>
                </a:solidFill>
                <a:latin typeface="Segoe UI"/>
              </a:defRPr>
            </a:pPr>
            <a:r>
              <a:t>ACADEMIC PROJECT DEFENSE • TOTAL QUALITY MANAGEMENT</a:t>
            </a:r>
          </a:p>
          <a:p>
            <a:pPr>
              <a:spcAft>
                <a:spcPts val="1000"/>
              </a:spcAft>
              <a:defRPr sz="3600" b="1">
                <a:solidFill>
                  <a:srgbClr val="FFFFFF"/>
                </a:solidFill>
                <a:latin typeface="Segoe UI"/>
              </a:defRPr>
            </a:pPr>
            <a:r>
              <a:t>Total Quality Management (TQM) in Healthcare Systems</a:t>
            </a:r>
          </a:p>
          <a:p>
            <a:pPr>
              <a:defRPr sz="1800">
                <a:solidFill>
                  <a:srgbClr val="94A3B8"/>
                </a:solidFill>
                <a:latin typeface="Segoe UI"/>
              </a:defRPr>
            </a:pPr>
            <a:r>
              <a:t>Case Study: AegisPharm Enterprise — Fail-Safe Clinical Pharmacy Architecture &amp; Continuous Quality Assurance</a:t>
            </a:r>
          </a:p>
        </p:txBody>
      </p:sp>
      <p:sp>
        <p:nvSpPr>
          <p:cNvPr id="5" name="Rounded Rectangle 4"/>
          <p:cNvSpPr/>
          <p:nvPr/>
        </p:nvSpPr>
        <p:spPr>
          <a:xfrm>
            <a:off x="914400" y="4663440"/>
            <a:ext cx="5486400" cy="1645920"/>
          </a:xfrm>
          <a:prstGeom prst="roundRect">
            <a:avLst/>
          </a:prstGeom>
          <a:solidFill>
            <a:srgbClr val="123456"/>
          </a:solidFill>
          <a:ln w="15240">
            <a:solidFill>
              <a:srgbClr val="00A3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800600"/>
            <a:ext cx="5120640" cy="1371600"/>
          </a:xfrm>
          <a:prstGeom prst="rect">
            <a:avLst/>
          </a:prstGeom>
          <a:noFill/>
        </p:spPr>
        <p:txBody>
          <a:bodyPr wrap="square">
            <a:spAutoFit/>
          </a:bodyPr>
          <a:lstStyle/>
          <a:p>
            <a:pPr>
              <a:defRPr sz="1100" b="1">
                <a:solidFill>
                  <a:srgbClr val="00A389"/>
                </a:solidFill>
                <a:latin typeface="Segoe UI"/>
              </a:defRPr>
            </a:pPr>
            <a:r>
              <a:t>PRESENTER INFORMATION:</a:t>
            </a:r>
          </a:p>
          <a:p>
            <a:pPr>
              <a:defRPr sz="1800" b="1">
                <a:solidFill>
                  <a:srgbClr val="FFFFFF"/>
                </a:solidFill>
                <a:latin typeface="Segoe UI"/>
              </a:defRPr>
            </a:pPr>
            <a:r>
              <a:t>👤 Piyush Bhatt</a:t>
            </a:r>
          </a:p>
          <a:p>
            <a:pPr>
              <a:defRPr sz="1300">
                <a:solidFill>
                  <a:srgbClr val="CBD5E1"/>
                </a:solidFill>
                <a:latin typeface="Segoe UI"/>
              </a:defRPr>
            </a:pPr>
            <a:r>
              <a:t>Student, Amrapali University, Haldwani, Uttarakhand</a:t>
            </a:r>
          </a:p>
        </p:txBody>
      </p:sp>
      <p:sp>
        <p:nvSpPr>
          <p:cNvPr id="7" name="Rounded Rectangle 6"/>
          <p:cNvSpPr/>
          <p:nvPr/>
        </p:nvSpPr>
        <p:spPr>
          <a:xfrm>
            <a:off x="6675120" y="4663440"/>
            <a:ext cx="4572000" cy="1645920"/>
          </a:xfrm>
          <a:prstGeom prst="roundRect">
            <a:avLst/>
          </a:prstGeom>
          <a:solidFill>
            <a:srgbClr val="123456"/>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4800600"/>
            <a:ext cx="4206240" cy="1371600"/>
          </a:xfrm>
          <a:prstGeom prst="rect">
            <a:avLst/>
          </a:prstGeom>
          <a:noFill/>
        </p:spPr>
        <p:txBody>
          <a:bodyPr wrap="square">
            <a:spAutoFit/>
          </a:bodyPr>
          <a:lstStyle/>
          <a:p>
            <a:pPr>
              <a:defRPr sz="1100" b="1">
                <a:solidFill>
                  <a:srgbClr val="00A389"/>
                </a:solidFill>
                <a:latin typeface="Segoe UI"/>
              </a:defRPr>
            </a:pPr>
            <a:r>
              <a:t>ACADEMIC CONTEXT:</a:t>
            </a:r>
          </a:p>
          <a:p>
            <a:pPr>
              <a:defRPr sz="1800" b="1">
                <a:solidFill>
                  <a:srgbClr val="FFFFFF"/>
                </a:solidFill>
                <a:latin typeface="Segoe UI"/>
              </a:defRPr>
            </a:pPr>
            <a:r>
              <a:t>🏛️ Amrapali University</a:t>
            </a:r>
          </a:p>
          <a:p>
            <a:pPr>
              <a:defRPr sz="1200">
                <a:solidFill>
                  <a:srgbClr val="CBD5E1"/>
                </a:solidFill>
                <a:latin typeface="Segoe UI"/>
              </a:defRPr>
            </a:pPr>
            <a:r>
              <a:t>Course: Total Quality Management (TQM)</a:t>
            </a:r>
            <a:br/>
            <a:r>
              <a:t>Healthcare Software Engineering &amp;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PROBLEM STATEMENT &amp; CLINICAL CONTEXT</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The Quality Crisis: Why TQM is Critical in Pharmaceutical Healthcare</a:t>
            </a:r>
          </a:p>
        </p:txBody>
      </p:sp>
      <p:sp>
        <p:nvSpPr>
          <p:cNvPr id="5" name="Rounded Rectangle 4"/>
          <p:cNvSpPr/>
          <p:nvPr/>
        </p:nvSpPr>
        <p:spPr>
          <a:xfrm>
            <a:off x="731520" y="1645920"/>
            <a:ext cx="3328416" cy="4572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2962656" cy="4206240"/>
          </a:xfrm>
          <a:prstGeom prst="rect">
            <a:avLst/>
          </a:prstGeom>
          <a:noFill/>
        </p:spPr>
        <p:txBody>
          <a:bodyPr wrap="square">
            <a:spAutoFit/>
          </a:bodyPr>
          <a:lstStyle/>
          <a:p>
            <a:pPr>
              <a:spcAft>
                <a:spcPts val="1200"/>
              </a:spcAft>
              <a:defRPr sz="1300" b="1">
                <a:solidFill>
                  <a:srgbClr val="E11D48"/>
                </a:solidFill>
              </a:defRPr>
            </a:pPr>
            <a:r>
              <a:t>🚨 DEFECT #1: MEDICATION ERRORS</a:t>
            </a:r>
          </a:p>
          <a:p>
            <a:pPr>
              <a:spcAft>
                <a:spcPts val="800"/>
              </a:spcAft>
              <a:defRPr sz="1150">
                <a:solidFill>
                  <a:srgbClr val="1E293B"/>
                </a:solidFill>
              </a:defRPr>
            </a:pPr>
            <a:r>
              <a:t>• Adverse Drug Events (ADEs): Dispensing medications contraindicated by patient allergy histories (e.g. Penicillin, NSAIDs).</a:t>
            </a:r>
          </a:p>
          <a:p>
            <a:pPr>
              <a:spcAft>
                <a:spcPts val="800"/>
              </a:spcAft>
              <a:defRPr sz="1150">
                <a:solidFill>
                  <a:srgbClr val="1E293B"/>
                </a:solidFill>
              </a:defRPr>
            </a:pPr>
            <a:r>
              <a:t>• Harmful Interactions: Overlooking severe drug-drug interactions (e.g., Warfarin + Augmentin).</a:t>
            </a:r>
          </a:p>
          <a:p>
            <a:pPr>
              <a:spcAft>
                <a:spcPts val="800"/>
              </a:spcAft>
              <a:defRPr sz="1150">
                <a:solidFill>
                  <a:srgbClr val="1E293B"/>
                </a:solidFill>
              </a:defRPr>
            </a:pPr>
            <a:r>
              <a:t>• Handwriting &amp; Transcription: Manual illegible prescription misinterpretations leading to toxic dosages.</a:t>
            </a:r>
          </a:p>
          <a:p>
            <a:pPr>
              <a:spcAft>
                <a:spcPts val="800"/>
              </a:spcAft>
              <a:defRPr sz="1150">
                <a:solidFill>
                  <a:srgbClr val="1E293B"/>
                </a:solidFill>
              </a:defRPr>
            </a:pPr>
            <a:r>
              <a:t>• TQM Remedy: Automated Clinical Decision Support System (CDSS) Poka-Yoke gate.</a:t>
            </a:r>
          </a:p>
        </p:txBody>
      </p:sp>
      <p:sp>
        <p:nvSpPr>
          <p:cNvPr id="7" name="Rounded Rectangle 6"/>
          <p:cNvSpPr/>
          <p:nvPr/>
        </p:nvSpPr>
        <p:spPr>
          <a:xfrm>
            <a:off x="4425696" y="1645920"/>
            <a:ext cx="3328416" cy="4572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08576" y="1828800"/>
            <a:ext cx="2962656" cy="4206240"/>
          </a:xfrm>
          <a:prstGeom prst="rect">
            <a:avLst/>
          </a:prstGeom>
          <a:noFill/>
        </p:spPr>
        <p:txBody>
          <a:bodyPr wrap="square">
            <a:spAutoFit/>
          </a:bodyPr>
          <a:lstStyle/>
          <a:p>
            <a:pPr>
              <a:spcAft>
                <a:spcPts val="1200"/>
              </a:spcAft>
              <a:defRPr sz="1300" b="1">
                <a:solidFill>
                  <a:srgbClr val="D97706"/>
                </a:solidFill>
              </a:defRPr>
            </a:pPr>
            <a:r>
              <a:t>❄️ DEFECT #2: THERMAL &amp; EXPIRY LOSS</a:t>
            </a:r>
          </a:p>
          <a:p>
            <a:pPr>
              <a:spcAft>
                <a:spcPts val="800"/>
              </a:spcAft>
              <a:defRPr sz="1150">
                <a:solidFill>
                  <a:srgbClr val="1E293B"/>
                </a:solidFill>
              </a:defRPr>
            </a:pPr>
            <a:r>
              <a:t>• Cold-Chain Spoilage: Vaccines, insulin, and biologics degrade irreversibly outside the critical 2.0°C–8.0°C range.</a:t>
            </a:r>
          </a:p>
          <a:p>
            <a:pPr>
              <a:spcAft>
                <a:spcPts val="800"/>
              </a:spcAft>
              <a:defRPr sz="1150">
                <a:solidFill>
                  <a:srgbClr val="1E293B"/>
                </a:solidFill>
              </a:defRPr>
            </a:pPr>
            <a:r>
              <a:t>• Dead Stock Capital: Dispensing newer batches first causes older stock to expire on shelves (FIFO vs. FEFO failure).</a:t>
            </a:r>
          </a:p>
          <a:p>
            <a:pPr>
              <a:spcAft>
                <a:spcPts val="800"/>
              </a:spcAft>
              <a:defRPr sz="1150">
                <a:solidFill>
                  <a:srgbClr val="1E293B"/>
                </a:solidFill>
              </a:defRPr>
            </a:pPr>
            <a:r>
              <a:t>• Financial Leakage: Millions lost annually in expired, unsellable inventory write-offs.</a:t>
            </a:r>
          </a:p>
          <a:p>
            <a:pPr>
              <a:spcAft>
                <a:spcPts val="800"/>
              </a:spcAft>
              <a:defRPr sz="1150">
                <a:solidFill>
                  <a:srgbClr val="1E293B"/>
                </a:solidFill>
              </a:defRPr>
            </a:pPr>
            <a:r>
              <a:t>• TQM Remedy: First-Expiry, First-Out (FEFO) batch picker + continuous 24/7 IoT thermal telemetry.</a:t>
            </a:r>
          </a:p>
        </p:txBody>
      </p:sp>
      <p:sp>
        <p:nvSpPr>
          <p:cNvPr id="9" name="Rounded Rectangle 8"/>
          <p:cNvSpPr/>
          <p:nvPr/>
        </p:nvSpPr>
        <p:spPr>
          <a:xfrm>
            <a:off x="8119872" y="1645920"/>
            <a:ext cx="3328416" cy="45720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02752" y="1828800"/>
            <a:ext cx="2962656" cy="4206240"/>
          </a:xfrm>
          <a:prstGeom prst="rect">
            <a:avLst/>
          </a:prstGeom>
          <a:noFill/>
        </p:spPr>
        <p:txBody>
          <a:bodyPr wrap="square">
            <a:spAutoFit/>
          </a:bodyPr>
          <a:lstStyle/>
          <a:p>
            <a:pPr>
              <a:spcAft>
                <a:spcPts val="1200"/>
              </a:spcAft>
              <a:defRPr sz="1300" b="1">
                <a:solidFill>
                  <a:srgbClr val="0284C7"/>
                </a:solidFill>
              </a:defRPr>
            </a:pPr>
            <a:r>
              <a:t>⚖️ DEFECT #3: COMPLIANCE &amp; SHRINK</a:t>
            </a:r>
          </a:p>
          <a:p>
            <a:pPr>
              <a:spcAft>
                <a:spcPts val="800"/>
              </a:spcAft>
              <a:defRPr sz="1150">
                <a:solidFill>
                  <a:srgbClr val="1E293B"/>
                </a:solidFill>
              </a:defRPr>
            </a:pPr>
            <a:r>
              <a:t>• Schedule X &amp; NDPS Violations: Inadequate narcotic logs invite severe regulatory penalties and license revocation.</a:t>
            </a:r>
          </a:p>
          <a:p>
            <a:pPr>
              <a:spcAft>
                <a:spcPts val="800"/>
              </a:spcAft>
              <a:defRPr sz="1150">
                <a:solidFill>
                  <a:srgbClr val="1E293B"/>
                </a:solidFill>
              </a:defRPr>
            </a:pPr>
            <a:r>
              <a:t>• Till Variance &amp; Shrinkage: Cash drawer shortages, unverified UPI transfers, and manual till closing errors.</a:t>
            </a:r>
          </a:p>
          <a:p>
            <a:pPr>
              <a:spcAft>
                <a:spcPts val="800"/>
              </a:spcAft>
              <a:defRPr sz="1150">
                <a:solidFill>
                  <a:srgbClr val="1E293B"/>
                </a:solidFill>
              </a:defRPr>
            </a:pPr>
            <a:r>
              <a:t>• Audit Trail Absence: Lack of immutable proof when regulatory drug inspectors audit stock.</a:t>
            </a:r>
          </a:p>
          <a:p>
            <a:pPr>
              <a:spcAft>
                <a:spcPts val="800"/>
              </a:spcAft>
              <a:defRPr sz="1150">
                <a:solidFill>
                  <a:srgbClr val="1E293B"/>
                </a:solidFill>
              </a:defRPr>
            </a:pPr>
            <a:r>
              <a:t>• TQM Remedy: Dual-PIN Schedule X register + Daily Z-Report financial reconciliation.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THEORETICAL FOUNDATIONS</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TQM Conceptual Framework &amp; Translation into Software</a:t>
            </a:r>
          </a:p>
        </p:txBody>
      </p:sp>
      <p:sp>
        <p:nvSpPr>
          <p:cNvPr id="5" name="Rounded Rectangle 4"/>
          <p:cNvSpPr/>
          <p:nvPr/>
        </p:nvSpPr>
        <p:spPr>
          <a:xfrm>
            <a:off x="731520" y="164592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137160" cy="8229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19072"/>
            <a:ext cx="10241280" cy="676656"/>
          </a:xfrm>
          <a:prstGeom prst="rect">
            <a:avLst/>
          </a:prstGeom>
          <a:noFill/>
        </p:spPr>
        <p:txBody>
          <a:bodyPr wrap="square">
            <a:spAutoFit/>
          </a:bodyPr>
          <a:lstStyle/>
          <a:p>
            <a:pPr>
              <a:defRPr sz="1300" b="1">
                <a:solidFill>
                  <a:srgbClr val="00A389"/>
                </a:solidFill>
                <a:latin typeface="Segoe UI"/>
              </a:defRPr>
            </a:pPr>
            <a:r>
              <a:t>1. Customer Focus (Patient Safety)</a:t>
            </a:r>
          </a:p>
          <a:p>
            <a:pPr>
              <a:defRPr sz="1100">
                <a:solidFill>
                  <a:srgbClr val="1E293B"/>
                </a:solidFill>
                <a:latin typeface="Segoe UI"/>
              </a:defRPr>
            </a:pPr>
            <a:r>
              <a:t>In healthcare TQM, the customer is the patient. Zero-defect dispensing, allergy prevention, transparent GST billing, and chronic adherence are the supreme quality metrics.</a:t>
            </a:r>
          </a:p>
        </p:txBody>
      </p:sp>
      <p:sp>
        <p:nvSpPr>
          <p:cNvPr id="8" name="Rounded Rectangle 7"/>
          <p:cNvSpPr/>
          <p:nvPr/>
        </p:nvSpPr>
        <p:spPr>
          <a:xfrm>
            <a:off x="731520" y="260604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606040"/>
            <a:ext cx="137160" cy="82296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79192"/>
            <a:ext cx="10241280" cy="676656"/>
          </a:xfrm>
          <a:prstGeom prst="rect">
            <a:avLst/>
          </a:prstGeom>
          <a:noFill/>
        </p:spPr>
        <p:txBody>
          <a:bodyPr wrap="square">
            <a:spAutoFit/>
          </a:bodyPr>
          <a:lstStyle/>
          <a:p>
            <a:pPr>
              <a:defRPr sz="1300" b="1">
                <a:solidFill>
                  <a:srgbClr val="0A2540"/>
                </a:solidFill>
                <a:latin typeface="Segoe UI"/>
              </a:defRPr>
            </a:pPr>
            <a:r>
              <a:t>2. Total Employee Involvement</a:t>
            </a:r>
          </a:p>
          <a:p>
            <a:pPr>
              <a:defRPr sz="1100">
                <a:solidFill>
                  <a:srgbClr val="1E293B"/>
                </a:solidFill>
                <a:latin typeface="Segoe UI"/>
              </a:defRPr>
            </a:pPr>
            <a:r>
              <a:t>Quality cannot be policed by one manager. AegisPharm empowers 5 distinct roles (Admin, Pharmacist, Cashier, Inventory, Delivery) with specialized workstations and quality responsibility.</a:t>
            </a:r>
          </a:p>
        </p:txBody>
      </p:sp>
      <p:sp>
        <p:nvSpPr>
          <p:cNvPr id="11" name="Rounded Rectangle 10"/>
          <p:cNvSpPr/>
          <p:nvPr/>
        </p:nvSpPr>
        <p:spPr>
          <a:xfrm>
            <a:off x="731520" y="356616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566160"/>
            <a:ext cx="137160" cy="8229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639312"/>
            <a:ext cx="10241280" cy="676656"/>
          </a:xfrm>
          <a:prstGeom prst="rect">
            <a:avLst/>
          </a:prstGeom>
          <a:noFill/>
        </p:spPr>
        <p:txBody>
          <a:bodyPr wrap="square">
            <a:spAutoFit/>
          </a:bodyPr>
          <a:lstStyle/>
          <a:p>
            <a:pPr>
              <a:defRPr sz="1300" b="1">
                <a:solidFill>
                  <a:srgbClr val="0284C7"/>
                </a:solidFill>
                <a:latin typeface="Segoe UI"/>
              </a:defRPr>
            </a:pPr>
            <a:r>
              <a:t>3. Process-Centric Approach</a:t>
            </a:r>
          </a:p>
          <a:p>
            <a:pPr>
              <a:defRPr sz="1100">
                <a:solidFill>
                  <a:srgbClr val="1E293B"/>
                </a:solidFill>
                <a:latin typeface="Segoe UI"/>
              </a:defRPr>
            </a:pPr>
            <a:r>
              <a:t>Work is governed by standardized clinical pathways. A prescription cannot move to POS billing until it passes the Clinical Verification gate and CDSS allergy check.</a:t>
            </a:r>
          </a:p>
        </p:txBody>
      </p:sp>
      <p:sp>
        <p:nvSpPr>
          <p:cNvPr id="14" name="Rounded Rectangle 13"/>
          <p:cNvSpPr/>
          <p:nvPr/>
        </p:nvSpPr>
        <p:spPr>
          <a:xfrm>
            <a:off x="731520" y="452628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4526280"/>
            <a:ext cx="137160" cy="8229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599432"/>
            <a:ext cx="10241280" cy="676656"/>
          </a:xfrm>
          <a:prstGeom prst="rect">
            <a:avLst/>
          </a:prstGeom>
          <a:noFill/>
        </p:spPr>
        <p:txBody>
          <a:bodyPr wrap="square">
            <a:spAutoFit/>
          </a:bodyPr>
          <a:lstStyle/>
          <a:p>
            <a:pPr>
              <a:defRPr sz="1300" b="1">
                <a:solidFill>
                  <a:srgbClr val="D97706"/>
                </a:solidFill>
                <a:latin typeface="Segoe UI"/>
              </a:defRPr>
            </a:pPr>
            <a:r>
              <a:t>4. Continuous Improvement (Kaizen)</a:t>
            </a:r>
          </a:p>
          <a:p>
            <a:pPr>
              <a:defRPr sz="1100">
                <a:solidFill>
                  <a:srgbClr val="1E293B"/>
                </a:solidFill>
                <a:latin typeface="Segoe UI"/>
              </a:defRPr>
            </a:pPr>
            <a:r>
              <a:t>Incremental feedback loops: real-time cold-chain alarms, customer refill WhatsApp alerts, and daily register closing ensure continuous operational refinement.</a:t>
            </a:r>
          </a:p>
        </p:txBody>
      </p:sp>
      <p:sp>
        <p:nvSpPr>
          <p:cNvPr id="17" name="Rounded Rectangle 16"/>
          <p:cNvSpPr/>
          <p:nvPr/>
        </p:nvSpPr>
        <p:spPr>
          <a:xfrm>
            <a:off x="731520" y="5486400"/>
            <a:ext cx="10728655" cy="8229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5486400"/>
            <a:ext cx="137160" cy="82296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559552"/>
            <a:ext cx="10241280" cy="676656"/>
          </a:xfrm>
          <a:prstGeom prst="rect">
            <a:avLst/>
          </a:prstGeom>
          <a:noFill/>
        </p:spPr>
        <p:txBody>
          <a:bodyPr wrap="square">
            <a:spAutoFit/>
          </a:bodyPr>
          <a:lstStyle/>
          <a:p>
            <a:pPr>
              <a:defRPr sz="1300" b="1">
                <a:solidFill>
                  <a:srgbClr val="E11D48"/>
                </a:solidFill>
                <a:latin typeface="Segoe UI"/>
              </a:defRPr>
            </a:pPr>
            <a:r>
              <a:t>5. Fact-Based Decision Making</a:t>
            </a:r>
          </a:p>
          <a:p>
            <a:pPr>
              <a:defRPr sz="1100">
                <a:solidFill>
                  <a:srgbClr val="1E293B"/>
                </a:solidFill>
                <a:latin typeface="Segoe UI"/>
              </a:defRPr>
            </a:pPr>
            <a:r>
              <a:t>Decisions are driven by empirical data: real-time IoT temperature logs, FEFO expiry analytics, and Daily Z-Report cash drawer reconciliation.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TOTAL EMPLOYEE INVOLVEMENT &amp; PROCESS QUALITY</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System Architecture: 5 Quality Inspection Gates</a:t>
            </a:r>
          </a:p>
        </p:txBody>
      </p:sp>
      <p:sp>
        <p:nvSpPr>
          <p:cNvPr id="5" name="Rounded Rectangle 4"/>
          <p:cNvSpPr/>
          <p:nvPr/>
        </p:nvSpPr>
        <p:spPr>
          <a:xfrm>
            <a:off x="731520"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2029968" cy="54864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029968" cy="457200"/>
          </a:xfrm>
          <a:prstGeom prst="rect">
            <a:avLst/>
          </a:prstGeom>
          <a:noFill/>
        </p:spPr>
        <p:txBody>
          <a:bodyPr wrap="square">
            <a:spAutoFit/>
          </a:bodyPr>
          <a:lstStyle/>
          <a:p>
            <a:pPr algn="ctr">
              <a:defRPr sz="1100" b="1">
                <a:solidFill>
                  <a:srgbClr val="FFFFFF"/>
                </a:solidFill>
              </a:defRPr>
            </a:pPr>
            <a:r>
              <a:t>Gate 1: Store Admin HQ</a:t>
            </a:r>
          </a:p>
        </p:txBody>
      </p:sp>
      <p:sp>
        <p:nvSpPr>
          <p:cNvPr id="8" name="TextBox 7"/>
          <p:cNvSpPr txBox="1"/>
          <p:nvPr/>
        </p:nvSpPr>
        <p:spPr>
          <a:xfrm>
            <a:off x="822960" y="2286000"/>
            <a:ext cx="1847088" cy="3840480"/>
          </a:xfrm>
          <a:prstGeom prst="rect">
            <a:avLst/>
          </a:prstGeom>
          <a:noFill/>
        </p:spPr>
        <p:txBody>
          <a:bodyPr wrap="square">
            <a:spAutoFit/>
          </a:bodyPr>
          <a:lstStyle/>
          <a:p>
            <a:pPr>
              <a:spcAft>
                <a:spcPts val="800"/>
              </a:spcAft>
              <a:defRPr sz="1000" b="1">
                <a:solidFill>
                  <a:srgbClr val="64748B"/>
                </a:solidFill>
              </a:defRPr>
            </a:pPr>
            <a:r>
              <a:t>Role: Store Administrator</a:t>
            </a:r>
          </a:p>
          <a:p>
            <a:pPr>
              <a:spcAft>
                <a:spcPts val="600"/>
              </a:spcAft>
              <a:defRPr sz="1050">
                <a:solidFill>
                  <a:srgbClr val="1E293B"/>
                </a:solidFill>
              </a:defRPr>
            </a:pPr>
            <a:r>
              <a:t>• Role-Based Access Control (RBAC)</a:t>
            </a:r>
          </a:p>
          <a:p>
            <a:pPr>
              <a:spcAft>
                <a:spcPts val="600"/>
              </a:spcAft>
              <a:defRPr sz="1050">
                <a:solidFill>
                  <a:srgbClr val="1E293B"/>
                </a:solidFill>
              </a:defRPr>
            </a:pPr>
            <a:r>
              <a:t>• Session presence heartbeat monitor</a:t>
            </a:r>
          </a:p>
          <a:p>
            <a:pPr>
              <a:spcAft>
                <a:spcPts val="600"/>
              </a:spcAft>
              <a:defRPr sz="1050">
                <a:solidFill>
                  <a:srgbClr val="1E293B"/>
                </a:solidFill>
              </a:defRPr>
            </a:pPr>
            <a:r>
              <a:t>• Immutable audit trail logging</a:t>
            </a:r>
          </a:p>
          <a:p>
            <a:pPr>
              <a:spcAft>
                <a:spcPts val="600"/>
              </a:spcAft>
              <a:defRPr sz="1050">
                <a:solidFill>
                  <a:srgbClr val="1E293B"/>
                </a:solidFill>
              </a:defRPr>
            </a:pPr>
            <a:r>
              <a:t>• Automated SQLite database backups</a:t>
            </a:r>
          </a:p>
        </p:txBody>
      </p:sp>
      <p:sp>
        <p:nvSpPr>
          <p:cNvPr id="9" name="Rounded Rectangle 8"/>
          <p:cNvSpPr/>
          <p:nvPr/>
        </p:nvSpPr>
        <p:spPr>
          <a:xfrm>
            <a:off x="2898648"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98648" y="1645920"/>
            <a:ext cx="2029968" cy="54864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691640"/>
            <a:ext cx="2029968" cy="457200"/>
          </a:xfrm>
          <a:prstGeom prst="rect">
            <a:avLst/>
          </a:prstGeom>
          <a:noFill/>
        </p:spPr>
        <p:txBody>
          <a:bodyPr wrap="square">
            <a:spAutoFit/>
          </a:bodyPr>
          <a:lstStyle/>
          <a:p>
            <a:pPr algn="ctr">
              <a:defRPr sz="1100" b="1">
                <a:solidFill>
                  <a:srgbClr val="FFFFFF"/>
                </a:solidFill>
              </a:defRPr>
            </a:pPr>
            <a:r>
              <a:t>Gate 2: Clinical Station</a:t>
            </a:r>
          </a:p>
        </p:txBody>
      </p:sp>
      <p:sp>
        <p:nvSpPr>
          <p:cNvPr id="12" name="TextBox 11"/>
          <p:cNvSpPr txBox="1"/>
          <p:nvPr/>
        </p:nvSpPr>
        <p:spPr>
          <a:xfrm>
            <a:off x="2990088" y="2286000"/>
            <a:ext cx="1847088" cy="3840480"/>
          </a:xfrm>
          <a:prstGeom prst="rect">
            <a:avLst/>
          </a:prstGeom>
          <a:noFill/>
        </p:spPr>
        <p:txBody>
          <a:bodyPr wrap="square">
            <a:spAutoFit/>
          </a:bodyPr>
          <a:lstStyle/>
          <a:p>
            <a:pPr>
              <a:spcAft>
                <a:spcPts val="800"/>
              </a:spcAft>
              <a:defRPr sz="1000" b="1">
                <a:solidFill>
                  <a:srgbClr val="64748B"/>
                </a:solidFill>
              </a:defRPr>
            </a:pPr>
            <a:r>
              <a:t>Role: Registered Pharmacist</a:t>
            </a:r>
          </a:p>
          <a:p>
            <a:pPr>
              <a:spcAft>
                <a:spcPts val="600"/>
              </a:spcAft>
              <a:defRPr sz="1050">
                <a:solidFill>
                  <a:srgbClr val="1E293B"/>
                </a:solidFill>
              </a:defRPr>
            </a:pPr>
            <a:r>
              <a:t>• CDSS allergy shield cross-check</a:t>
            </a:r>
          </a:p>
          <a:p>
            <a:pPr>
              <a:spcAft>
                <a:spcPts val="600"/>
              </a:spcAft>
              <a:defRPr sz="1050">
                <a:solidFill>
                  <a:srgbClr val="1E293B"/>
                </a:solidFill>
              </a:defRPr>
            </a:pPr>
            <a:r>
              <a:t>• Drug-drug interaction detector</a:t>
            </a:r>
          </a:p>
          <a:p>
            <a:pPr>
              <a:spcAft>
                <a:spcPts val="600"/>
              </a:spcAft>
              <a:defRPr sz="1050">
                <a:solidFill>
                  <a:srgbClr val="1E293B"/>
                </a:solidFill>
              </a:defRPr>
            </a:pPr>
            <a:r>
              <a:t>• Schedule X narcotic PIN sign-off</a:t>
            </a:r>
          </a:p>
          <a:p>
            <a:pPr>
              <a:spcAft>
                <a:spcPts val="600"/>
              </a:spcAft>
              <a:defRPr sz="1050">
                <a:solidFill>
                  <a:srgbClr val="1E293B"/>
                </a:solidFill>
              </a:defRPr>
            </a:pPr>
            <a:r>
              <a:t>• Chronic refill adherence tracking</a:t>
            </a:r>
          </a:p>
        </p:txBody>
      </p:sp>
      <p:sp>
        <p:nvSpPr>
          <p:cNvPr id="13" name="Rounded Rectangle 12"/>
          <p:cNvSpPr/>
          <p:nvPr/>
        </p:nvSpPr>
        <p:spPr>
          <a:xfrm>
            <a:off x="5065776"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65776" y="1645920"/>
            <a:ext cx="2029968" cy="54864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1691640"/>
            <a:ext cx="2029968" cy="457200"/>
          </a:xfrm>
          <a:prstGeom prst="rect">
            <a:avLst/>
          </a:prstGeom>
          <a:noFill/>
        </p:spPr>
        <p:txBody>
          <a:bodyPr wrap="square">
            <a:spAutoFit/>
          </a:bodyPr>
          <a:lstStyle/>
          <a:p>
            <a:pPr algn="ctr">
              <a:defRPr sz="1100" b="1">
                <a:solidFill>
                  <a:srgbClr val="FFFFFF"/>
                </a:solidFill>
              </a:defRPr>
            </a:pPr>
            <a:r>
              <a:t>Gate 3: POS Express Billing</a:t>
            </a:r>
          </a:p>
        </p:txBody>
      </p:sp>
      <p:sp>
        <p:nvSpPr>
          <p:cNvPr id="16" name="TextBox 15"/>
          <p:cNvSpPr txBox="1"/>
          <p:nvPr/>
        </p:nvSpPr>
        <p:spPr>
          <a:xfrm>
            <a:off x="5157216" y="2286000"/>
            <a:ext cx="1847088" cy="3840480"/>
          </a:xfrm>
          <a:prstGeom prst="rect">
            <a:avLst/>
          </a:prstGeom>
          <a:noFill/>
        </p:spPr>
        <p:txBody>
          <a:bodyPr wrap="square">
            <a:spAutoFit/>
          </a:bodyPr>
          <a:lstStyle/>
          <a:p>
            <a:pPr>
              <a:spcAft>
                <a:spcPts val="800"/>
              </a:spcAft>
              <a:defRPr sz="1000" b="1">
                <a:solidFill>
                  <a:srgbClr val="64748B"/>
                </a:solidFill>
              </a:defRPr>
            </a:pPr>
            <a:r>
              <a:t>Role: Cashier Station</a:t>
            </a:r>
          </a:p>
          <a:p>
            <a:pPr>
              <a:spcAft>
                <a:spcPts val="600"/>
              </a:spcAft>
              <a:defRPr sz="1050">
                <a:solidFill>
                  <a:srgbClr val="1E293B"/>
                </a:solidFill>
              </a:defRPr>
            </a:pPr>
            <a:r>
              <a:t>• 1-Click approved Rx import</a:t>
            </a:r>
          </a:p>
          <a:p>
            <a:pPr>
              <a:spcAft>
                <a:spcPts val="600"/>
              </a:spcAft>
              <a:defRPr sz="1050">
                <a:solidFill>
                  <a:srgbClr val="1E293B"/>
                </a:solidFill>
              </a:defRPr>
            </a:pPr>
            <a:r>
              <a:t>• Auto FEFO batch selection</a:t>
            </a:r>
          </a:p>
          <a:p>
            <a:pPr>
              <a:spcAft>
                <a:spcPts val="600"/>
              </a:spcAft>
              <a:defRPr sz="1050">
                <a:solidFill>
                  <a:srgbClr val="1E293B"/>
                </a:solidFill>
              </a:defRPr>
            </a:pPr>
            <a:r>
              <a:t>• Cash / UPI QR / Card multi-tender</a:t>
            </a:r>
          </a:p>
          <a:p>
            <a:pPr>
              <a:spcAft>
                <a:spcPts val="600"/>
              </a:spcAft>
              <a:defRPr sz="1050">
                <a:solidFill>
                  <a:srgbClr val="1E293B"/>
                </a:solidFill>
              </a:defRPr>
            </a:pPr>
            <a:r>
              <a:t>• Automated 5% CGST/SGST tax split</a:t>
            </a:r>
          </a:p>
        </p:txBody>
      </p:sp>
      <p:sp>
        <p:nvSpPr>
          <p:cNvPr id="17" name="Rounded Rectangle 16"/>
          <p:cNvSpPr/>
          <p:nvPr/>
        </p:nvSpPr>
        <p:spPr>
          <a:xfrm>
            <a:off x="7232904"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32904" y="1645920"/>
            <a:ext cx="2029968" cy="54864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1691640"/>
            <a:ext cx="2029968" cy="457200"/>
          </a:xfrm>
          <a:prstGeom prst="rect">
            <a:avLst/>
          </a:prstGeom>
          <a:noFill/>
        </p:spPr>
        <p:txBody>
          <a:bodyPr wrap="square">
            <a:spAutoFit/>
          </a:bodyPr>
          <a:lstStyle/>
          <a:p>
            <a:pPr algn="ctr">
              <a:defRPr sz="1100" b="1">
                <a:solidFill>
                  <a:srgbClr val="FFFFFF"/>
                </a:solidFill>
              </a:defRPr>
            </a:pPr>
            <a:r>
              <a:t>Gate 4: Inventory Hub</a:t>
            </a:r>
          </a:p>
        </p:txBody>
      </p:sp>
      <p:sp>
        <p:nvSpPr>
          <p:cNvPr id="20" name="TextBox 19"/>
          <p:cNvSpPr txBox="1"/>
          <p:nvPr/>
        </p:nvSpPr>
        <p:spPr>
          <a:xfrm>
            <a:off x="7324344" y="2286000"/>
            <a:ext cx="1847088" cy="3840480"/>
          </a:xfrm>
          <a:prstGeom prst="rect">
            <a:avLst/>
          </a:prstGeom>
          <a:noFill/>
        </p:spPr>
        <p:txBody>
          <a:bodyPr wrap="square">
            <a:spAutoFit/>
          </a:bodyPr>
          <a:lstStyle/>
          <a:p>
            <a:pPr>
              <a:spcAft>
                <a:spcPts val="800"/>
              </a:spcAft>
              <a:defRPr sz="1000" b="1">
                <a:solidFill>
                  <a:srgbClr val="64748B"/>
                </a:solidFill>
              </a:defRPr>
            </a:pPr>
            <a:r>
              <a:t>Role: Inventory Manager</a:t>
            </a:r>
          </a:p>
          <a:p>
            <a:pPr>
              <a:spcAft>
                <a:spcPts val="600"/>
              </a:spcAft>
              <a:defRPr sz="1050">
                <a:solidFill>
                  <a:srgbClr val="1E293B"/>
                </a:solidFill>
              </a:defRPr>
            </a:pPr>
            <a:r>
              <a:t>• Multi-batch FEFO stock ledger</a:t>
            </a:r>
          </a:p>
          <a:p>
            <a:pPr>
              <a:spcAft>
                <a:spcPts val="600"/>
              </a:spcAft>
              <a:defRPr sz="1050">
                <a:solidFill>
                  <a:srgbClr val="1E293B"/>
                </a:solidFill>
              </a:defRPr>
            </a:pPr>
            <a:r>
              <a:t>• Goods Receipt Notes (GRN)</a:t>
            </a:r>
          </a:p>
          <a:p>
            <a:pPr>
              <a:spcAft>
                <a:spcPts val="600"/>
              </a:spcAft>
              <a:defRPr sz="1050">
                <a:solidFill>
                  <a:srgbClr val="1E293B"/>
                </a:solidFill>
              </a:defRPr>
            </a:pPr>
            <a:r>
              <a:t>• 2.0°C–8.0°C IoT thermal telemetry</a:t>
            </a:r>
          </a:p>
          <a:p>
            <a:pPr>
              <a:spcAft>
                <a:spcPts val="600"/>
              </a:spcAft>
              <a:defRPr sz="1050">
                <a:solidFill>
                  <a:srgbClr val="1E293B"/>
                </a:solidFill>
              </a:defRPr>
            </a:pPr>
            <a:r>
              <a:t>• Expiry countdown (&lt;30d, &lt;90d)</a:t>
            </a:r>
          </a:p>
        </p:txBody>
      </p:sp>
      <p:sp>
        <p:nvSpPr>
          <p:cNvPr id="21" name="Rounded Rectangle 20"/>
          <p:cNvSpPr/>
          <p:nvPr/>
        </p:nvSpPr>
        <p:spPr>
          <a:xfrm>
            <a:off x="9400032"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00032" y="1645920"/>
            <a:ext cx="2029968" cy="54864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1691640"/>
            <a:ext cx="2029968" cy="457200"/>
          </a:xfrm>
          <a:prstGeom prst="rect">
            <a:avLst/>
          </a:prstGeom>
          <a:noFill/>
        </p:spPr>
        <p:txBody>
          <a:bodyPr wrap="square">
            <a:spAutoFit/>
          </a:bodyPr>
          <a:lstStyle/>
          <a:p>
            <a:pPr algn="ctr">
              <a:defRPr sz="1100" b="1">
                <a:solidFill>
                  <a:srgbClr val="FFFFFF"/>
                </a:solidFill>
              </a:defRPr>
            </a:pPr>
            <a:r>
              <a:t>Gate 5: Delivery Fleet</a:t>
            </a:r>
          </a:p>
        </p:txBody>
      </p:sp>
      <p:sp>
        <p:nvSpPr>
          <p:cNvPr id="24" name="TextBox 23"/>
          <p:cNvSpPr txBox="1"/>
          <p:nvPr/>
        </p:nvSpPr>
        <p:spPr>
          <a:xfrm>
            <a:off x="9491472" y="2286000"/>
            <a:ext cx="1847088" cy="3840480"/>
          </a:xfrm>
          <a:prstGeom prst="rect">
            <a:avLst/>
          </a:prstGeom>
          <a:noFill/>
        </p:spPr>
        <p:txBody>
          <a:bodyPr wrap="square">
            <a:spAutoFit/>
          </a:bodyPr>
          <a:lstStyle/>
          <a:p>
            <a:pPr>
              <a:spcAft>
                <a:spcPts val="800"/>
              </a:spcAft>
              <a:defRPr sz="1000" b="1">
                <a:solidFill>
                  <a:srgbClr val="64748B"/>
                </a:solidFill>
              </a:defRPr>
            </a:pPr>
            <a:r>
              <a:t>Role: Logistics Agent</a:t>
            </a:r>
          </a:p>
          <a:p>
            <a:pPr>
              <a:spcAft>
                <a:spcPts val="600"/>
              </a:spcAft>
              <a:defRPr sz="1050">
                <a:solidFill>
                  <a:srgbClr val="1E293B"/>
                </a:solidFill>
              </a:defRPr>
            </a:pPr>
            <a:r>
              <a:t>• Route Kanban status dispatch</a:t>
            </a:r>
          </a:p>
          <a:p>
            <a:pPr>
              <a:spcAft>
                <a:spcPts val="600"/>
              </a:spcAft>
              <a:defRPr sz="1050">
                <a:solidFill>
                  <a:srgbClr val="1E293B"/>
                </a:solidFill>
              </a:defRPr>
            </a:pPr>
            <a:r>
              <a:t>• Cold-bag packaging verification</a:t>
            </a:r>
          </a:p>
          <a:p>
            <a:pPr>
              <a:spcAft>
                <a:spcPts val="600"/>
              </a:spcAft>
              <a:defRPr sz="1050">
                <a:solidFill>
                  <a:srgbClr val="1E293B"/>
                </a:solidFill>
              </a:defRPr>
            </a:pPr>
            <a:r>
              <a:t>• 4-Digit customer OTP handshake</a:t>
            </a:r>
          </a:p>
          <a:p>
            <a:pPr>
              <a:spcAft>
                <a:spcPts val="600"/>
              </a:spcAft>
              <a:defRPr sz="1050">
                <a:solidFill>
                  <a:srgbClr val="1E293B"/>
                </a:solidFill>
              </a:defRPr>
            </a:pPr>
            <a:r>
              <a:t>• Digital Proof of Delivery (e-POD)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FAIL-SAFE QUALITY ENGINEERING</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Poka-Yoke: Mistake-Proofing Healthcare Operations</a:t>
            </a:r>
          </a:p>
        </p:txBody>
      </p:sp>
      <p:sp>
        <p:nvSpPr>
          <p:cNvPr id="5" name="Rounded Rectangle 4"/>
          <p:cNvSpPr/>
          <p:nvPr/>
        </p:nvSpPr>
        <p:spPr>
          <a:xfrm>
            <a:off x="73152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109728" cy="21945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892040" cy="1920240"/>
          </a:xfrm>
          <a:prstGeom prst="rect">
            <a:avLst/>
          </a:prstGeom>
          <a:noFill/>
        </p:spPr>
        <p:txBody>
          <a:bodyPr wrap="square">
            <a:spAutoFit/>
          </a:bodyPr>
          <a:lstStyle/>
          <a:p>
            <a:pPr>
              <a:defRPr sz="1300" b="1">
                <a:solidFill>
                  <a:srgbClr val="0A2540"/>
                </a:solidFill>
              </a:defRPr>
            </a:pPr>
            <a:r>
              <a:t>1. CDSS Patient Allergy Shield</a:t>
            </a:r>
          </a:p>
          <a:p>
            <a:pPr>
              <a:spcAft>
                <a:spcPts val="600"/>
              </a:spcAft>
              <a:defRPr sz="950" b="1">
                <a:solidFill>
                  <a:srgbClr val="00A389"/>
                </a:solidFill>
              </a:defRPr>
            </a:pPr>
            <a:r>
              <a:t>POKA-YOKE MECHANISM: AUTOMATED BLOCKING GATE</a:t>
            </a:r>
          </a:p>
          <a:p>
            <a:pPr>
              <a:defRPr sz="1100">
                <a:solidFill>
                  <a:srgbClr val="1E293B"/>
                </a:solidFill>
              </a:defRPr>
            </a:pPr>
            <a:r>
              <a:t>The cashier or pharmacist cannot bypass or dispense drugs containing penicillin, NSAIDs, or sulfas if the patient EHR contains registered hypersensitivity. Prevents anaphylaxis at the software level.</a:t>
            </a:r>
          </a:p>
        </p:txBody>
      </p:sp>
      <p:sp>
        <p:nvSpPr>
          <p:cNvPr id="8" name="Rounded Rectangle 7"/>
          <p:cNvSpPr/>
          <p:nvPr/>
        </p:nvSpPr>
        <p:spPr>
          <a:xfrm>
            <a:off x="617220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645920"/>
            <a:ext cx="109728" cy="219456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783080"/>
            <a:ext cx="4892040" cy="1920240"/>
          </a:xfrm>
          <a:prstGeom prst="rect">
            <a:avLst/>
          </a:prstGeom>
          <a:noFill/>
        </p:spPr>
        <p:txBody>
          <a:bodyPr wrap="square">
            <a:spAutoFit/>
          </a:bodyPr>
          <a:lstStyle/>
          <a:p>
            <a:pPr>
              <a:defRPr sz="1300" b="1">
                <a:solidFill>
                  <a:srgbClr val="0A2540"/>
                </a:solidFill>
              </a:defRPr>
            </a:pPr>
            <a:r>
              <a:t>2. Molecule-Molecule Interaction Guard</a:t>
            </a:r>
          </a:p>
          <a:p>
            <a:pPr>
              <a:spcAft>
                <a:spcPts val="600"/>
              </a:spcAft>
              <a:defRPr sz="950" b="1">
                <a:solidFill>
                  <a:srgbClr val="E11D48"/>
                </a:solidFill>
              </a:defRPr>
            </a:pPr>
            <a:r>
              <a:t>POKA-YOKE MECHANISM: CROSS-REFERENCE ALERT</a:t>
            </a:r>
          </a:p>
          <a:p>
            <a:pPr>
              <a:defRPr sz="1100">
                <a:solidFill>
                  <a:srgbClr val="1E293B"/>
                </a:solidFill>
              </a:defRPr>
            </a:pPr>
            <a:r>
              <a:t>When combining multiple drugs in a prescription (e.g. Warfarin + Augmentin, Glycomet + Alcohol), the Clinical Decision Support System instantly triggers a severe warning modal preventing accidental toxicity.</a:t>
            </a:r>
          </a:p>
        </p:txBody>
      </p:sp>
      <p:sp>
        <p:nvSpPr>
          <p:cNvPr id="11" name="Rounded Rectangle 10"/>
          <p:cNvSpPr/>
          <p:nvPr/>
        </p:nvSpPr>
        <p:spPr>
          <a:xfrm>
            <a:off x="73152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109728" cy="2194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60520"/>
            <a:ext cx="4892040" cy="1920240"/>
          </a:xfrm>
          <a:prstGeom prst="rect">
            <a:avLst/>
          </a:prstGeom>
          <a:noFill/>
        </p:spPr>
        <p:txBody>
          <a:bodyPr wrap="square">
            <a:spAutoFit/>
          </a:bodyPr>
          <a:lstStyle/>
          <a:p>
            <a:pPr>
              <a:defRPr sz="1300" b="1">
                <a:solidFill>
                  <a:srgbClr val="0A2540"/>
                </a:solidFill>
              </a:defRPr>
            </a:pPr>
            <a:r>
              <a:t>3. Schedule X Narcotics Dual PIN Sign-Off</a:t>
            </a:r>
          </a:p>
          <a:p>
            <a:pPr>
              <a:spcAft>
                <a:spcPts val="600"/>
              </a:spcAft>
              <a:defRPr sz="950" b="1">
                <a:solidFill>
                  <a:srgbClr val="0284C7"/>
                </a:solidFill>
              </a:defRPr>
            </a:pPr>
            <a:r>
              <a:t>POKA-YOKE MECHANISM: MANDATORY DUAL AUTHENTICATION</a:t>
            </a:r>
          </a:p>
          <a:p>
            <a:pPr>
              <a:defRPr sz="1100">
                <a:solidFill>
                  <a:srgbClr val="1E293B"/>
                </a:solidFill>
              </a:defRPr>
            </a:pPr>
            <a:r>
              <a:t>Narcotic sedatives (e.g. Alprax, Diazepam) cannot be added to the POS cart without doctor registration number validation and a 4-digit pharmacist authorization PIN, eliminating unauthorized diversion.</a:t>
            </a:r>
          </a:p>
        </p:txBody>
      </p:sp>
      <p:sp>
        <p:nvSpPr>
          <p:cNvPr id="14" name="Rounded Rectangle 13"/>
          <p:cNvSpPr/>
          <p:nvPr/>
        </p:nvSpPr>
        <p:spPr>
          <a:xfrm>
            <a:off x="617220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4023360"/>
            <a:ext cx="109728" cy="21945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160520"/>
            <a:ext cx="4892040" cy="1920240"/>
          </a:xfrm>
          <a:prstGeom prst="rect">
            <a:avLst/>
          </a:prstGeom>
          <a:noFill/>
        </p:spPr>
        <p:txBody>
          <a:bodyPr wrap="square">
            <a:spAutoFit/>
          </a:bodyPr>
          <a:lstStyle/>
          <a:p>
            <a:pPr>
              <a:defRPr sz="1300" b="1">
                <a:solidFill>
                  <a:srgbClr val="0A2540"/>
                </a:solidFill>
              </a:defRPr>
            </a:pPr>
            <a:r>
              <a:t>4. 4-Digit OTP Electronic Proof of Delivery</a:t>
            </a:r>
          </a:p>
          <a:p>
            <a:pPr>
              <a:spcAft>
                <a:spcPts val="600"/>
              </a:spcAft>
              <a:defRPr sz="950" b="1">
                <a:solidFill>
                  <a:srgbClr val="D97706"/>
                </a:solidFill>
              </a:defRPr>
            </a:pPr>
            <a:r>
              <a:t>POKA-YOKE MECHANISM: CRYPTOGRAPHIC HANDSHAKE</a:t>
            </a:r>
          </a:p>
          <a:p>
            <a:pPr>
              <a:defRPr sz="1100">
                <a:solidFill>
                  <a:srgbClr val="1E293B"/>
                </a:solidFill>
              </a:defRPr>
            </a:pPr>
            <a:r>
              <a:t>A delivery agent cannot mark an order as 'Delivered' simply by clicking a button. The customer must provide a 4-digit SMS OTP, guaranteeing medicines are handed to the rightful verified patient.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CONTINUOUS IMPROVEMENT (KAIZEN)</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Deming's PDCA Cycle Applied to Pharmacy Operations</a:t>
            </a:r>
          </a:p>
        </p:txBody>
      </p:sp>
      <p:sp>
        <p:nvSpPr>
          <p:cNvPr id="5" name="Rounded Rectangle 4"/>
          <p:cNvSpPr/>
          <p:nvPr/>
        </p:nvSpPr>
        <p:spPr>
          <a:xfrm>
            <a:off x="731520" y="1645920"/>
            <a:ext cx="2542032"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2542032" cy="73152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2542032" cy="548640"/>
          </a:xfrm>
          <a:prstGeom prst="rect">
            <a:avLst/>
          </a:prstGeom>
          <a:noFill/>
        </p:spPr>
        <p:txBody>
          <a:bodyPr wrap="square">
            <a:spAutoFit/>
          </a:bodyPr>
          <a:lstStyle/>
          <a:p>
            <a:pPr algn="ctr">
              <a:defRPr sz="1100" b="1">
                <a:solidFill>
                  <a:srgbClr val="FFFFFF"/>
                </a:solidFill>
              </a:defRPr>
            </a:pPr>
            <a:r>
              <a:t>PLAN (Setting Quality Standards)</a:t>
            </a:r>
          </a:p>
        </p:txBody>
      </p:sp>
      <p:sp>
        <p:nvSpPr>
          <p:cNvPr id="8" name="TextBox 7"/>
          <p:cNvSpPr txBox="1"/>
          <p:nvPr/>
        </p:nvSpPr>
        <p:spPr>
          <a:xfrm>
            <a:off x="868680" y="2468880"/>
            <a:ext cx="2267712" cy="3657600"/>
          </a:xfrm>
          <a:prstGeom prst="rect">
            <a:avLst/>
          </a:prstGeom>
          <a:noFill/>
        </p:spPr>
        <p:txBody>
          <a:bodyPr wrap="square">
            <a:spAutoFit/>
          </a:bodyPr>
          <a:lstStyle/>
          <a:p>
            <a:pPr>
              <a:spcAft>
                <a:spcPts val="800"/>
              </a:spcAft>
              <a:defRPr sz="1050">
                <a:solidFill>
                  <a:srgbClr val="1E293B"/>
                </a:solidFill>
              </a:defRPr>
            </a:pPr>
            <a:r>
              <a:t>• Define minimum inventory reorder buffers (≤ 20 units).</a:t>
            </a:r>
          </a:p>
          <a:p>
            <a:pPr>
              <a:spcAft>
                <a:spcPts val="800"/>
              </a:spcAft>
              <a:defRPr sz="1050">
                <a:solidFill>
                  <a:srgbClr val="1E293B"/>
                </a:solidFill>
              </a:defRPr>
            </a:pPr>
            <a:r>
              <a:t>• Configure 2.0°C–8.0°C cold-chain thermal thresholds.</a:t>
            </a:r>
          </a:p>
          <a:p>
            <a:pPr>
              <a:spcAft>
                <a:spcPts val="800"/>
              </a:spcAft>
              <a:defRPr sz="1050">
                <a:solidFill>
                  <a:srgbClr val="1E293B"/>
                </a:solidFill>
              </a:defRPr>
            </a:pPr>
            <a:r>
              <a:t>• Program chronic patient refill schedules (30/60/90 days).</a:t>
            </a:r>
          </a:p>
          <a:p>
            <a:pPr>
              <a:spcAft>
                <a:spcPts val="800"/>
              </a:spcAft>
              <a:defRPr sz="1050">
                <a:solidFill>
                  <a:srgbClr val="1E293B"/>
                </a:solidFill>
              </a:defRPr>
            </a:pPr>
            <a:r>
              <a:t>• Set default cash float drawer balance (₹2,000.00).</a:t>
            </a:r>
          </a:p>
        </p:txBody>
      </p:sp>
      <p:sp>
        <p:nvSpPr>
          <p:cNvPr id="9" name="Rounded Rectangle 8"/>
          <p:cNvSpPr/>
          <p:nvPr/>
        </p:nvSpPr>
        <p:spPr>
          <a:xfrm>
            <a:off x="3456432" y="1645920"/>
            <a:ext cx="2542032"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56432" y="1645920"/>
            <a:ext cx="2542032" cy="73152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56432" y="1737360"/>
            <a:ext cx="2542032" cy="548640"/>
          </a:xfrm>
          <a:prstGeom prst="rect">
            <a:avLst/>
          </a:prstGeom>
          <a:noFill/>
        </p:spPr>
        <p:txBody>
          <a:bodyPr wrap="square">
            <a:spAutoFit/>
          </a:bodyPr>
          <a:lstStyle/>
          <a:p>
            <a:pPr algn="ctr">
              <a:defRPr sz="1100" b="1">
                <a:solidFill>
                  <a:srgbClr val="FFFFFF"/>
                </a:solidFill>
              </a:defRPr>
            </a:pPr>
            <a:r>
              <a:t>DO (Standardized Execution)</a:t>
            </a:r>
          </a:p>
        </p:txBody>
      </p:sp>
      <p:sp>
        <p:nvSpPr>
          <p:cNvPr id="12" name="TextBox 11"/>
          <p:cNvSpPr txBox="1"/>
          <p:nvPr/>
        </p:nvSpPr>
        <p:spPr>
          <a:xfrm>
            <a:off x="3593592" y="2468880"/>
            <a:ext cx="2267712" cy="3657600"/>
          </a:xfrm>
          <a:prstGeom prst="rect">
            <a:avLst/>
          </a:prstGeom>
          <a:noFill/>
        </p:spPr>
        <p:txBody>
          <a:bodyPr wrap="square">
            <a:spAutoFit/>
          </a:bodyPr>
          <a:lstStyle/>
          <a:p>
            <a:pPr>
              <a:spcAft>
                <a:spcPts val="800"/>
              </a:spcAft>
              <a:defRPr sz="1050">
                <a:solidFill>
                  <a:srgbClr val="1E293B"/>
                </a:solidFill>
              </a:defRPr>
            </a:pPr>
            <a:r>
              <a:t>• Inward validated supplier stock via Goods Receipt Notes (GRN).</a:t>
            </a:r>
          </a:p>
          <a:p>
            <a:pPr>
              <a:spcAft>
                <a:spcPts val="800"/>
              </a:spcAft>
              <a:defRPr sz="1050">
                <a:solidFill>
                  <a:srgbClr val="1E293B"/>
                </a:solidFill>
              </a:defRPr>
            </a:pPr>
            <a:r>
              <a:t>• Intake and review digital doctor e-Prescriptions.</a:t>
            </a:r>
          </a:p>
          <a:p>
            <a:pPr>
              <a:spcAft>
                <a:spcPts val="800"/>
              </a:spcAft>
              <a:defRPr sz="1050">
                <a:solidFill>
                  <a:srgbClr val="1E293B"/>
                </a:solidFill>
              </a:defRPr>
            </a:pPr>
            <a:r>
              <a:t>• Dispense FEFO-prioritized batches via Express POS.</a:t>
            </a:r>
          </a:p>
          <a:p>
            <a:pPr>
              <a:spcAft>
                <a:spcPts val="800"/>
              </a:spcAft>
              <a:defRPr sz="1050">
                <a:solidFill>
                  <a:srgbClr val="1E293B"/>
                </a:solidFill>
              </a:defRPr>
            </a:pPr>
            <a:r>
              <a:t>• Dispatch orders in cold-insulated delivery bags.</a:t>
            </a:r>
          </a:p>
        </p:txBody>
      </p:sp>
      <p:sp>
        <p:nvSpPr>
          <p:cNvPr id="13" name="Rounded Rectangle 12"/>
          <p:cNvSpPr/>
          <p:nvPr/>
        </p:nvSpPr>
        <p:spPr>
          <a:xfrm>
            <a:off x="6181344" y="1645920"/>
            <a:ext cx="2542032"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645920"/>
            <a:ext cx="2542032" cy="7315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81344" y="1737360"/>
            <a:ext cx="2542032" cy="548640"/>
          </a:xfrm>
          <a:prstGeom prst="rect">
            <a:avLst/>
          </a:prstGeom>
          <a:noFill/>
        </p:spPr>
        <p:txBody>
          <a:bodyPr wrap="square">
            <a:spAutoFit/>
          </a:bodyPr>
          <a:lstStyle/>
          <a:p>
            <a:pPr algn="ctr">
              <a:defRPr sz="1100" b="1">
                <a:solidFill>
                  <a:srgbClr val="FFFFFF"/>
                </a:solidFill>
              </a:defRPr>
            </a:pPr>
            <a:r>
              <a:t>CHECK (Verification &amp; Auditing)</a:t>
            </a:r>
          </a:p>
        </p:txBody>
      </p:sp>
      <p:sp>
        <p:nvSpPr>
          <p:cNvPr id="16" name="TextBox 15"/>
          <p:cNvSpPr txBox="1"/>
          <p:nvPr/>
        </p:nvSpPr>
        <p:spPr>
          <a:xfrm>
            <a:off x="6318504" y="2468880"/>
            <a:ext cx="2267712" cy="3657600"/>
          </a:xfrm>
          <a:prstGeom prst="rect">
            <a:avLst/>
          </a:prstGeom>
          <a:noFill/>
        </p:spPr>
        <p:txBody>
          <a:bodyPr wrap="square">
            <a:spAutoFit/>
          </a:bodyPr>
          <a:lstStyle/>
          <a:p>
            <a:pPr>
              <a:spcAft>
                <a:spcPts val="800"/>
              </a:spcAft>
              <a:defRPr sz="1050">
                <a:solidFill>
                  <a:srgbClr val="1E293B"/>
                </a:solidFill>
              </a:defRPr>
            </a:pPr>
            <a:r>
              <a:t>• IoT temperature sensor logs cold-chain readings every 30s.</a:t>
            </a:r>
          </a:p>
          <a:p>
            <a:pPr>
              <a:spcAft>
                <a:spcPts val="800"/>
              </a:spcAft>
              <a:defRPr sz="1050">
                <a:solidFill>
                  <a:srgbClr val="1E293B"/>
                </a:solidFill>
              </a:defRPr>
            </a:pPr>
            <a:r>
              <a:t>• CDSS scans incoming prescriptions for allergies &amp; interactions.</a:t>
            </a:r>
          </a:p>
          <a:p>
            <a:pPr>
              <a:spcAft>
                <a:spcPts val="800"/>
              </a:spcAft>
              <a:defRPr sz="1050">
                <a:solidFill>
                  <a:srgbClr val="1E293B"/>
                </a:solidFill>
              </a:defRPr>
            </a:pPr>
            <a:r>
              <a:t>• Daily Z-Report compares counted cash vs. system transactions.</a:t>
            </a:r>
          </a:p>
          <a:p>
            <a:pPr>
              <a:spcAft>
                <a:spcPts val="800"/>
              </a:spcAft>
              <a:defRPr sz="1050">
                <a:solidFill>
                  <a:srgbClr val="1E293B"/>
                </a:solidFill>
              </a:defRPr>
            </a:pPr>
            <a:r>
              <a:t>• FEFO countdown flags batches expiring in &lt;30d or &lt;90d.</a:t>
            </a:r>
          </a:p>
        </p:txBody>
      </p:sp>
      <p:sp>
        <p:nvSpPr>
          <p:cNvPr id="17" name="Rounded Rectangle 16"/>
          <p:cNvSpPr/>
          <p:nvPr/>
        </p:nvSpPr>
        <p:spPr>
          <a:xfrm>
            <a:off x="8906256" y="1645920"/>
            <a:ext cx="2542032"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06256" y="1645920"/>
            <a:ext cx="2542032" cy="73152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06256" y="1737360"/>
            <a:ext cx="2542032" cy="548640"/>
          </a:xfrm>
          <a:prstGeom prst="rect">
            <a:avLst/>
          </a:prstGeom>
          <a:noFill/>
        </p:spPr>
        <p:txBody>
          <a:bodyPr wrap="square">
            <a:spAutoFit/>
          </a:bodyPr>
          <a:lstStyle/>
          <a:p>
            <a:pPr algn="ctr">
              <a:defRPr sz="1100" b="1">
                <a:solidFill>
                  <a:srgbClr val="FFFFFF"/>
                </a:solidFill>
              </a:defRPr>
            </a:pPr>
            <a:r>
              <a:t>ACT (Corrective &amp; Preventive Action)</a:t>
            </a:r>
          </a:p>
        </p:txBody>
      </p:sp>
      <p:sp>
        <p:nvSpPr>
          <p:cNvPr id="20" name="TextBox 19"/>
          <p:cNvSpPr txBox="1"/>
          <p:nvPr/>
        </p:nvSpPr>
        <p:spPr>
          <a:xfrm>
            <a:off x="9043416" y="2468880"/>
            <a:ext cx="2267712" cy="3657600"/>
          </a:xfrm>
          <a:prstGeom prst="rect">
            <a:avLst/>
          </a:prstGeom>
          <a:noFill/>
        </p:spPr>
        <p:txBody>
          <a:bodyPr wrap="square">
            <a:spAutoFit/>
          </a:bodyPr>
          <a:lstStyle/>
          <a:p>
            <a:pPr>
              <a:spcAft>
                <a:spcPts val="800"/>
              </a:spcAft>
              <a:defRPr sz="1050">
                <a:solidFill>
                  <a:srgbClr val="1E293B"/>
                </a:solidFill>
              </a:defRPr>
            </a:pPr>
            <a:r>
              <a:t>• Trigger audio/visual alarms on thermal breaches (&gt;8.0°C).</a:t>
            </a:r>
          </a:p>
          <a:p>
            <a:pPr>
              <a:spcAft>
                <a:spcPts val="800"/>
              </a:spcAft>
              <a:defRPr sz="1050">
                <a:solidFill>
                  <a:srgbClr val="1E293B"/>
                </a:solidFill>
              </a:defRPr>
            </a:pPr>
            <a:r>
              <a:t>• 1-Click WhatsApp alerts sent to chronic refill patients.</a:t>
            </a:r>
          </a:p>
          <a:p>
            <a:pPr>
              <a:spcAft>
                <a:spcPts val="800"/>
              </a:spcAft>
              <a:defRPr sz="1050">
                <a:solidFill>
                  <a:srgbClr val="1E293B"/>
                </a:solidFill>
              </a:defRPr>
            </a:pPr>
            <a:r>
              <a:t>• Reconcile cash overages/shortages during register closing.</a:t>
            </a:r>
          </a:p>
          <a:p>
            <a:pPr>
              <a:spcAft>
                <a:spcPts val="800"/>
              </a:spcAft>
              <a:defRPr sz="1050">
                <a:solidFill>
                  <a:srgbClr val="1E293B"/>
                </a:solidFill>
              </a:defRPr>
            </a:pPr>
            <a:r>
              <a:t>• Create emergency POs for depleted essential medicines.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SHELF-LIFE OPTIMIZATION &amp; BIOLOGICAL INTEGRITY</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Inventory Quality: FEFO Scheduling &amp; IoT Cold-Chain</a:t>
            </a:r>
          </a:p>
        </p:txBody>
      </p:sp>
      <p:sp>
        <p:nvSpPr>
          <p:cNvPr id="5" name="Rounded Rectangle 4"/>
          <p:cNvSpPr/>
          <p:nvPr/>
        </p:nvSpPr>
        <p:spPr>
          <a:xfrm>
            <a:off x="73152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92040" cy="4297680"/>
          </a:xfrm>
          <a:prstGeom prst="rect">
            <a:avLst/>
          </a:prstGeom>
          <a:noFill/>
        </p:spPr>
        <p:txBody>
          <a:bodyPr wrap="square">
            <a:spAutoFit/>
          </a:bodyPr>
          <a:lstStyle/>
          <a:p>
            <a:pPr>
              <a:spcAft>
                <a:spcPts val="1000"/>
              </a:spcAft>
              <a:defRPr sz="1400" b="1">
                <a:solidFill>
                  <a:srgbClr val="00A389"/>
                </a:solidFill>
              </a:defRPr>
            </a:pPr>
            <a:r>
              <a:t>📦 FEFO (FIRST-EXPIRY, FIRST-OUT) ENGINE</a:t>
            </a:r>
          </a:p>
          <a:p>
            <a:pPr>
              <a:spcAft>
                <a:spcPts val="600"/>
              </a:spcAft>
              <a:defRPr sz="1100">
                <a:solidFill>
                  <a:srgbClr val="1E293B"/>
                </a:solidFill>
              </a:defRPr>
            </a:pPr>
            <a:r>
              <a:t>Eliminating FIFO Flaws: Traditional FIFO (First-In, First-Out) fails if a distributor delivers newer stock with an earlier expiration date.</a:t>
            </a:r>
          </a:p>
          <a:p>
            <a:pPr>
              <a:spcAft>
                <a:spcPts val="600"/>
              </a:spcAft>
              <a:defRPr sz="1100">
                <a:solidFill>
                  <a:srgbClr val="1E293B"/>
                </a:solidFill>
              </a:defRPr>
            </a:pPr>
            <a:r>
              <a:t>Dynamic Batch Sequencing: Algorithms sort medicine batches strictly by earliest calendar expiry date (`expiry_date ASC`).</a:t>
            </a:r>
          </a:p>
          <a:p>
            <a:pPr>
              <a:spcAft>
                <a:spcPts val="600"/>
              </a:spcAft>
              <a:defRPr sz="1100">
                <a:solidFill>
                  <a:srgbClr val="1E293B"/>
                </a:solidFill>
              </a:defRPr>
            </a:pPr>
            <a:r>
              <a:t>Color-Coded Visual Expiry Badges:</a:t>
            </a:r>
          </a:p>
          <a:p>
            <a:pPr>
              <a:spcAft>
                <a:spcPts val="600"/>
              </a:spcAft>
              <a:defRPr sz="1100">
                <a:solidFill>
                  <a:srgbClr val="1E293B"/>
                </a:solidFill>
              </a:defRPr>
            </a:pPr>
            <a:r>
              <a:t>   • Expired (Red): Automatically locked from dispensing.</a:t>
            </a:r>
          </a:p>
          <a:p>
            <a:pPr>
              <a:spcAft>
                <a:spcPts val="600"/>
              </a:spcAft>
              <a:defRPr sz="1100">
                <a:solidFill>
                  <a:srgbClr val="1E293B"/>
                </a:solidFill>
              </a:defRPr>
            </a:pPr>
            <a:r>
              <a:t>   • Critical &lt; 30 Days (Orange): Targeted for immediate priority fulfillment.</a:t>
            </a:r>
          </a:p>
          <a:p>
            <a:pPr>
              <a:spcAft>
                <a:spcPts val="600"/>
              </a:spcAft>
              <a:defRPr sz="1100">
                <a:solidFill>
                  <a:srgbClr val="1E293B"/>
                </a:solidFill>
              </a:defRPr>
            </a:pPr>
            <a:r>
              <a:t>   • Attention &lt; 90 Days (Yellow): Monitored on the inventory dashboard.</a:t>
            </a:r>
          </a:p>
          <a:p>
            <a:pPr>
              <a:spcAft>
                <a:spcPts val="600"/>
              </a:spcAft>
              <a:defRPr sz="1100">
                <a:solidFill>
                  <a:srgbClr val="1E293B"/>
                </a:solidFill>
              </a:defRPr>
            </a:pPr>
            <a:r>
              <a:t>   • Optimal &gt; 90 Days (Green): Standard warehouse stock.</a:t>
            </a:r>
          </a:p>
          <a:p>
            <a:pPr>
              <a:spcAft>
                <a:spcPts val="600"/>
              </a:spcAft>
              <a:defRPr sz="1100">
                <a:solidFill>
                  <a:srgbClr val="1E293B"/>
                </a:solidFill>
              </a:defRPr>
            </a:pPr>
            <a:r>
              <a:t>Zero Dead-Stock Waste: Virtually eliminates annual pharmaceutical write-off losses.</a:t>
            </a:r>
          </a:p>
        </p:txBody>
      </p:sp>
      <p:sp>
        <p:nvSpPr>
          <p:cNvPr id="7" name="Rounded Rectangle 6"/>
          <p:cNvSpPr/>
          <p:nvPr/>
        </p:nvSpPr>
        <p:spPr>
          <a:xfrm>
            <a:off x="617220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28800"/>
            <a:ext cx="4892040" cy="4297680"/>
          </a:xfrm>
          <a:prstGeom prst="rect">
            <a:avLst/>
          </a:prstGeom>
          <a:noFill/>
        </p:spPr>
        <p:txBody>
          <a:bodyPr wrap="square">
            <a:spAutoFit/>
          </a:bodyPr>
          <a:lstStyle/>
          <a:p>
            <a:pPr>
              <a:spcAft>
                <a:spcPts val="1000"/>
              </a:spcAft>
              <a:defRPr sz="1400" b="1">
                <a:solidFill>
                  <a:srgbClr val="0284C7"/>
                </a:solidFill>
              </a:defRPr>
            </a:pPr>
            <a:r>
              <a:t>❄️ 24/7 COLD-CHAIN IOT TELEMETRY</a:t>
            </a:r>
          </a:p>
          <a:p>
            <a:pPr>
              <a:spcAft>
                <a:spcPts val="600"/>
              </a:spcAft>
              <a:defRPr sz="1100">
                <a:solidFill>
                  <a:srgbClr val="1E293B"/>
                </a:solidFill>
              </a:defRPr>
            </a:pPr>
            <a:r>
              <a:t>Strict Biological Range (2.0°C – 8.0°C): Vaccines (e.g. Hepatitis B, MMR), Insulin, and monoclonal antibodies denature outside this threshold.</a:t>
            </a:r>
          </a:p>
          <a:p>
            <a:pPr>
              <a:spcAft>
                <a:spcPts val="600"/>
              </a:spcAft>
              <a:defRPr sz="1100">
                <a:solidFill>
                  <a:srgbClr val="1E293B"/>
                </a:solidFill>
              </a:defRPr>
            </a:pPr>
            <a:r>
              <a:t>Continuous Telemetry Streaming: Background sensors log digital temperature readings every 30 seconds into SQLite persistence.</a:t>
            </a:r>
          </a:p>
          <a:p>
            <a:pPr>
              <a:spcAft>
                <a:spcPts val="600"/>
              </a:spcAft>
              <a:defRPr sz="1100">
                <a:solidFill>
                  <a:srgbClr val="1E293B"/>
                </a:solidFill>
              </a:defRPr>
            </a:pPr>
            <a:r>
              <a:t>Interactive Circular HUD: Visual circular gauge displays live temperature with color-coded safety states.</a:t>
            </a:r>
          </a:p>
          <a:p>
            <a:pPr>
              <a:spcAft>
                <a:spcPts val="600"/>
              </a:spcAft>
              <a:defRPr sz="1100">
                <a:solidFill>
                  <a:srgbClr val="1E293B"/>
                </a:solidFill>
              </a:defRPr>
            </a:pPr>
            <a:r>
              <a:t>Automated Thermal Spikes &amp; Alarms:</a:t>
            </a:r>
          </a:p>
          <a:p>
            <a:pPr>
              <a:spcAft>
                <a:spcPts val="600"/>
              </a:spcAft>
              <a:defRPr sz="1100">
                <a:solidFill>
                  <a:srgbClr val="1E293B"/>
                </a:solidFill>
              </a:defRPr>
            </a:pPr>
            <a:r>
              <a:t>   • Safe Zone (2.0°C – 8.0°C): Optimal storage integrity.</a:t>
            </a:r>
          </a:p>
          <a:p>
            <a:pPr>
              <a:spcAft>
                <a:spcPts val="600"/>
              </a:spcAft>
              <a:defRPr sz="1100">
                <a:solidFill>
                  <a:srgbClr val="1E293B"/>
                </a:solidFill>
              </a:defRPr>
            </a:pPr>
            <a:r>
              <a:t>   • Thermal Excursion (&gt; 8.0°C): Triggers audio-visual alarm banner and system audit record.</a:t>
            </a:r>
          </a:p>
          <a:p>
            <a:pPr>
              <a:spcAft>
                <a:spcPts val="600"/>
              </a:spcAft>
              <a:defRPr sz="1100">
                <a:solidFill>
                  <a:srgbClr val="1E293B"/>
                </a:solidFill>
              </a:defRPr>
            </a:pPr>
            <a:r>
              <a:t>Cold-Bag Logistics Checklist: Riders must verify cold-gel pack integrity before dispatching temperature-sensitive orders.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STATISTICAL CONTROL &amp; FINANCIAL GOVERNANCE</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Fact-Based Decision Making: Daily Z-Report Cash Reconciliation</a:t>
            </a:r>
          </a:p>
        </p:txBody>
      </p:sp>
      <p:sp>
        <p:nvSpPr>
          <p:cNvPr id="5" name="Rounded Rectangle 4"/>
          <p:cNvSpPr/>
          <p:nvPr/>
        </p:nvSpPr>
        <p:spPr>
          <a:xfrm>
            <a:off x="731520" y="1645920"/>
            <a:ext cx="2542032" cy="1188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91640"/>
            <a:ext cx="2359152" cy="1097280"/>
          </a:xfrm>
          <a:prstGeom prst="rect">
            <a:avLst/>
          </a:prstGeom>
          <a:noFill/>
        </p:spPr>
        <p:txBody>
          <a:bodyPr wrap="square">
            <a:spAutoFit/>
          </a:bodyPr>
          <a:lstStyle/>
          <a:p>
            <a:pPr>
              <a:defRPr sz="1000" b="1">
                <a:solidFill>
                  <a:srgbClr val="64748B"/>
                </a:solidFill>
              </a:defRPr>
            </a:pPr>
            <a:r>
              <a:t>Gross Sales Revenue</a:t>
            </a:r>
          </a:p>
          <a:p>
            <a:pPr>
              <a:defRPr sz="1800" b="1">
                <a:solidFill>
                  <a:srgbClr val="00A389"/>
                </a:solidFill>
              </a:defRPr>
            </a:pPr>
            <a:r>
              <a:t>₹ 12,081.00</a:t>
            </a:r>
          </a:p>
          <a:p>
            <a:pPr>
              <a:defRPr sz="950">
                <a:solidFill>
                  <a:srgbClr val="1E293B"/>
                </a:solidFill>
              </a:defRPr>
            </a:pPr>
            <a:r>
              <a:t>Real-Time Reconciled Total</a:t>
            </a:r>
          </a:p>
        </p:txBody>
      </p:sp>
      <p:sp>
        <p:nvSpPr>
          <p:cNvPr id="7" name="Rounded Rectangle 6"/>
          <p:cNvSpPr/>
          <p:nvPr/>
        </p:nvSpPr>
        <p:spPr>
          <a:xfrm>
            <a:off x="3456432" y="1645920"/>
            <a:ext cx="2542032" cy="1188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47872" y="1691640"/>
            <a:ext cx="2359152" cy="1097280"/>
          </a:xfrm>
          <a:prstGeom prst="rect">
            <a:avLst/>
          </a:prstGeom>
          <a:noFill/>
        </p:spPr>
        <p:txBody>
          <a:bodyPr wrap="square">
            <a:spAutoFit/>
          </a:bodyPr>
          <a:lstStyle/>
          <a:p>
            <a:pPr>
              <a:defRPr sz="1000" b="1">
                <a:solidFill>
                  <a:srgbClr val="64748B"/>
                </a:solidFill>
              </a:defRPr>
            </a:pPr>
            <a:r>
              <a:t>GST Liability (5%)</a:t>
            </a:r>
          </a:p>
          <a:p>
            <a:pPr>
              <a:defRPr sz="1800" b="1">
                <a:solidFill>
                  <a:srgbClr val="0284C7"/>
                </a:solidFill>
              </a:defRPr>
            </a:pPr>
            <a:r>
              <a:t>₹ 1,449.72</a:t>
            </a:r>
          </a:p>
          <a:p>
            <a:pPr>
              <a:defRPr sz="950">
                <a:solidFill>
                  <a:srgbClr val="1E293B"/>
                </a:solidFill>
              </a:defRPr>
            </a:pPr>
            <a:r>
              <a:t>CGST: 2.5% | SGST: 2.5%</a:t>
            </a:r>
          </a:p>
        </p:txBody>
      </p:sp>
      <p:sp>
        <p:nvSpPr>
          <p:cNvPr id="9" name="Rounded Rectangle 8"/>
          <p:cNvSpPr/>
          <p:nvPr/>
        </p:nvSpPr>
        <p:spPr>
          <a:xfrm>
            <a:off x="6181344" y="1645920"/>
            <a:ext cx="2542032" cy="1188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2784" y="1691640"/>
            <a:ext cx="2359152" cy="1097280"/>
          </a:xfrm>
          <a:prstGeom prst="rect">
            <a:avLst/>
          </a:prstGeom>
          <a:noFill/>
        </p:spPr>
        <p:txBody>
          <a:bodyPr wrap="square">
            <a:spAutoFit/>
          </a:bodyPr>
          <a:lstStyle/>
          <a:p>
            <a:pPr>
              <a:defRPr sz="1000" b="1">
                <a:solidFill>
                  <a:srgbClr val="64748B"/>
                </a:solidFill>
              </a:defRPr>
            </a:pPr>
            <a:r>
              <a:t>Cash in Drawer</a:t>
            </a:r>
          </a:p>
          <a:p>
            <a:pPr>
              <a:defRPr sz="1800" b="1">
                <a:solidFill>
                  <a:srgbClr val="0A2540"/>
                </a:solidFill>
              </a:defRPr>
            </a:pPr>
            <a:r>
              <a:t>₹ 7,427.50</a:t>
            </a:r>
          </a:p>
          <a:p>
            <a:pPr>
              <a:defRPr sz="950">
                <a:solidFill>
                  <a:srgbClr val="1E293B"/>
                </a:solidFill>
              </a:defRPr>
            </a:pPr>
            <a:r>
              <a:t>32 Cash Transactions</a:t>
            </a:r>
          </a:p>
        </p:txBody>
      </p:sp>
      <p:sp>
        <p:nvSpPr>
          <p:cNvPr id="11" name="Rounded Rectangle 10"/>
          <p:cNvSpPr/>
          <p:nvPr/>
        </p:nvSpPr>
        <p:spPr>
          <a:xfrm>
            <a:off x="8906256" y="1645920"/>
            <a:ext cx="2542032" cy="1188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97696" y="1691640"/>
            <a:ext cx="2359152" cy="1097280"/>
          </a:xfrm>
          <a:prstGeom prst="rect">
            <a:avLst/>
          </a:prstGeom>
          <a:noFill/>
        </p:spPr>
        <p:txBody>
          <a:bodyPr wrap="square">
            <a:spAutoFit/>
          </a:bodyPr>
          <a:lstStyle/>
          <a:p>
            <a:pPr>
              <a:defRPr sz="1000" b="1">
                <a:solidFill>
                  <a:srgbClr val="64748B"/>
                </a:solidFill>
              </a:defRPr>
            </a:pPr>
            <a:r>
              <a:t>Digital Payments</a:t>
            </a:r>
          </a:p>
          <a:p>
            <a:pPr>
              <a:defRPr sz="1800" b="1">
                <a:solidFill>
                  <a:srgbClr val="D97706"/>
                </a:solidFill>
              </a:defRPr>
            </a:pPr>
            <a:r>
              <a:t>₹ 4,653.50</a:t>
            </a:r>
          </a:p>
          <a:p>
            <a:pPr>
              <a:defRPr sz="950">
                <a:solidFill>
                  <a:srgbClr val="1E293B"/>
                </a:solidFill>
              </a:defRPr>
            </a:pPr>
            <a:r>
              <a:t>UPI QR &amp; Card Split</a:t>
            </a:r>
          </a:p>
        </p:txBody>
      </p:sp>
      <p:sp>
        <p:nvSpPr>
          <p:cNvPr id="13" name="Rounded Rectangle 12"/>
          <p:cNvSpPr/>
          <p:nvPr/>
        </p:nvSpPr>
        <p:spPr>
          <a:xfrm>
            <a:off x="731520" y="3017520"/>
            <a:ext cx="5257800" cy="3291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54680"/>
            <a:ext cx="4892040" cy="3017520"/>
          </a:xfrm>
          <a:prstGeom prst="rect">
            <a:avLst/>
          </a:prstGeom>
          <a:noFill/>
        </p:spPr>
        <p:txBody>
          <a:bodyPr wrap="square">
            <a:spAutoFit/>
          </a:bodyPr>
          <a:lstStyle/>
          <a:p>
            <a:pPr>
              <a:spcAft>
                <a:spcPts val="800"/>
              </a:spcAft>
              <a:defRPr sz="1300" b="1">
                <a:solidFill>
                  <a:srgbClr val="00A389"/>
                </a:solidFill>
              </a:defRPr>
            </a:pPr>
            <a:r>
              <a:t>💵 THE CASH DRAWER BALANCING FORMULA</a:t>
            </a:r>
          </a:p>
          <a:p>
            <a:pPr>
              <a:spcAft>
                <a:spcPts val="400"/>
              </a:spcAft>
              <a:defRPr sz="1050">
                <a:solidFill>
                  <a:srgbClr val="1E293B"/>
                </a:solidFill>
              </a:defRPr>
            </a:pPr>
            <a:r>
              <a:t>1. Opening Float (Configured Shift Reserve): ₹ 2,000.00</a:t>
            </a:r>
          </a:p>
          <a:p>
            <a:pPr>
              <a:spcAft>
                <a:spcPts val="400"/>
              </a:spcAft>
              <a:defRPr sz="1050">
                <a:solidFill>
                  <a:srgbClr val="1E293B"/>
                </a:solidFill>
              </a:defRPr>
            </a:pPr>
            <a:r>
              <a:t>2. (+) Total Cash Sales Processed: ₹ 7,427.50</a:t>
            </a:r>
          </a:p>
          <a:p>
            <a:pPr>
              <a:spcAft>
                <a:spcPts val="400"/>
              </a:spcAft>
              <a:defRPr sz="1050">
                <a:solidFill>
                  <a:srgbClr val="1E293B"/>
                </a:solidFill>
              </a:defRPr>
            </a:pPr>
            <a:r>
              <a:t>3. (-) Petty Payouts / Mid-Day Safe Drops: ₹ 0.00</a:t>
            </a:r>
          </a:p>
          <a:p>
            <a:pPr>
              <a:spcAft>
                <a:spcPts val="400"/>
              </a:spcAft>
              <a:defRPr sz="1050">
                <a:solidFill>
                  <a:srgbClr val="1E293B"/>
                </a:solidFill>
              </a:defRPr>
            </a:pPr>
            <a:r>
              <a:t>4. (=) Expected Physical Cash in Drawer: ₹ 9,427.50</a:t>
            </a:r>
          </a:p>
          <a:p>
            <a:pPr>
              <a:spcAft>
                <a:spcPts val="400"/>
              </a:spcAft>
              <a:defRPr sz="1050">
                <a:solidFill>
                  <a:srgbClr val="1E293B"/>
                </a:solidFill>
              </a:defRPr>
            </a:pPr>
            <a:r>
              <a:t>5. Actual Physical Currency Counted by Cashier: [User Input]</a:t>
            </a:r>
          </a:p>
          <a:p>
            <a:pPr>
              <a:spcAft>
                <a:spcPts val="400"/>
              </a:spcAft>
              <a:defRPr sz="1050">
                <a:solidFill>
                  <a:srgbClr val="1E293B"/>
                </a:solidFill>
              </a:defRPr>
            </a:pPr>
            <a:r>
              <a:t>6. Statistical Variance Indicator:</a:t>
            </a:r>
          </a:p>
          <a:p>
            <a:pPr>
              <a:spcAft>
                <a:spcPts val="400"/>
              </a:spcAft>
              <a:defRPr sz="1050">
                <a:solidFill>
                  <a:srgbClr val="1E293B"/>
                </a:solidFill>
              </a:defRPr>
            </a:pPr>
            <a:r>
              <a:t>   • 🟢 Perfect Reconciliation (₹ 0.00 Variance)</a:t>
            </a:r>
          </a:p>
          <a:p>
            <a:pPr>
              <a:spcAft>
                <a:spcPts val="400"/>
              </a:spcAft>
              <a:defRPr sz="1050">
                <a:solidFill>
                  <a:srgbClr val="1E293B"/>
                </a:solidFill>
              </a:defRPr>
            </a:pPr>
            <a:r>
              <a:t>   • 🔴 Cash Shortage Warning (-₹ X.XX Shrinkage Alert)</a:t>
            </a:r>
          </a:p>
          <a:p>
            <a:pPr>
              <a:spcAft>
                <a:spcPts val="400"/>
              </a:spcAft>
              <a:defRPr sz="1050">
                <a:solidFill>
                  <a:srgbClr val="1E293B"/>
                </a:solidFill>
              </a:defRPr>
            </a:pPr>
            <a:r>
              <a:t>   • 🔵 Cash Overage (+₹ X.XX Accounting Surplus)</a:t>
            </a:r>
          </a:p>
        </p:txBody>
      </p:sp>
      <p:sp>
        <p:nvSpPr>
          <p:cNvPr id="15" name="Rounded Rectangle 14"/>
          <p:cNvSpPr/>
          <p:nvPr/>
        </p:nvSpPr>
        <p:spPr>
          <a:xfrm>
            <a:off x="6172200" y="3017520"/>
            <a:ext cx="5257800" cy="3291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3154680"/>
            <a:ext cx="4892040" cy="3017520"/>
          </a:xfrm>
          <a:prstGeom prst="rect">
            <a:avLst/>
          </a:prstGeom>
          <a:noFill/>
        </p:spPr>
        <p:txBody>
          <a:bodyPr wrap="square">
            <a:spAutoFit/>
          </a:bodyPr>
          <a:lstStyle/>
          <a:p>
            <a:pPr>
              <a:spcAft>
                <a:spcPts val="800"/>
              </a:spcAft>
              <a:defRPr sz="1300" b="1">
                <a:solidFill>
                  <a:srgbClr val="0A2540"/>
                </a:solidFill>
              </a:defRPr>
            </a:pPr>
            <a:r>
              <a:t>🖨️ IMMUTABLE REGISTER CLOSE (Z-SLIP)</a:t>
            </a:r>
          </a:p>
          <a:p>
            <a:pPr>
              <a:spcAft>
                <a:spcPts val="600"/>
              </a:spcAft>
              <a:defRPr sz="1100">
                <a:solidFill>
                  <a:srgbClr val="1E293B"/>
                </a:solidFill>
              </a:defRPr>
            </a:pPr>
            <a:r>
              <a:t>• Cryptographic Report ID: Auto-generates unique `Z-YYYYMMDD-XXXX` ID.</a:t>
            </a:r>
          </a:p>
          <a:p>
            <a:pPr>
              <a:spcAft>
                <a:spcPts val="600"/>
              </a:spcAft>
              <a:defRPr sz="1100">
                <a:solidFill>
                  <a:srgbClr val="1E293B"/>
                </a:solidFill>
              </a:defRPr>
            </a:pPr>
            <a:r>
              <a:t>• SQLite Persistence: Stored permanently in dedicated `z_reports` relational database table.</a:t>
            </a:r>
          </a:p>
          <a:p>
            <a:pPr>
              <a:spcAft>
                <a:spcPts val="600"/>
              </a:spcAft>
              <a:defRPr sz="1100">
                <a:solidFill>
                  <a:srgbClr val="1E293B"/>
                </a:solidFill>
              </a:defRPr>
            </a:pPr>
            <a:r>
              <a:t>• Dual Sign-Off: Printable thermal 80mm slip containing Cashier Signature and Store Manager/Auditor verification lines.</a:t>
            </a:r>
          </a:p>
          <a:p>
            <a:pPr>
              <a:spcAft>
                <a:spcPts val="600"/>
              </a:spcAft>
              <a:defRPr sz="1100">
                <a:solidFill>
                  <a:srgbClr val="1E293B"/>
                </a:solidFill>
              </a:defRPr>
            </a:pPr>
            <a:r>
              <a:t>• Tally/ERP Compatibility: 1-Click CSV export containing complete shift financial ledger, tender breakdown, and tax splits.</a:t>
            </a:r>
          </a:p>
          <a:p>
            <a:pPr>
              <a:spcAft>
                <a:spcPts val="600"/>
              </a:spcAft>
              <a:defRPr sz="1100">
                <a:solidFill>
                  <a:srgbClr val="1E293B"/>
                </a:solidFill>
              </a:defRPr>
            </a:pPr>
            <a:r>
              <a:t>• POS Integration: Accessible to both Store Admin and Cashier POS workstations for shift changeovers.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DEFECT ELIMINATION &amp; METRIC CONTROL</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Six Sigma (DMAIC) Framework Alignment</a:t>
            </a:r>
          </a:p>
        </p:txBody>
      </p:sp>
      <p:sp>
        <p:nvSpPr>
          <p:cNvPr id="5" name="Rounded Rectangle 4"/>
          <p:cNvSpPr/>
          <p:nvPr/>
        </p:nvSpPr>
        <p:spPr>
          <a:xfrm>
            <a:off x="731520"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2029968" cy="54864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029968" cy="457200"/>
          </a:xfrm>
          <a:prstGeom prst="rect">
            <a:avLst/>
          </a:prstGeom>
          <a:noFill/>
        </p:spPr>
        <p:txBody>
          <a:bodyPr wrap="square">
            <a:spAutoFit/>
          </a:bodyPr>
          <a:lstStyle/>
          <a:p>
            <a:pPr algn="ctr">
              <a:defRPr sz="1300" b="1">
                <a:solidFill>
                  <a:srgbClr val="FFFFFF"/>
                </a:solidFill>
              </a:defRPr>
            </a:pPr>
            <a:r>
              <a:t>DEFINE</a:t>
            </a:r>
          </a:p>
        </p:txBody>
      </p:sp>
      <p:sp>
        <p:nvSpPr>
          <p:cNvPr id="8" name="TextBox 7"/>
          <p:cNvSpPr txBox="1"/>
          <p:nvPr/>
        </p:nvSpPr>
        <p:spPr>
          <a:xfrm>
            <a:off x="822960" y="2286000"/>
            <a:ext cx="1847088" cy="3840480"/>
          </a:xfrm>
          <a:prstGeom prst="rect">
            <a:avLst/>
          </a:prstGeom>
          <a:noFill/>
        </p:spPr>
        <p:txBody>
          <a:bodyPr wrap="square">
            <a:spAutoFit/>
          </a:bodyPr>
          <a:lstStyle/>
          <a:p>
            <a:pPr>
              <a:spcAft>
                <a:spcPts val="400"/>
              </a:spcAft>
              <a:defRPr sz="1000">
                <a:solidFill>
                  <a:srgbClr val="1E293B"/>
                </a:solidFill>
              </a:defRPr>
            </a:pPr>
            <a:r>
              <a:t>• Define Critical-to-Quality (CTQ) parameters:</a:t>
            </a:r>
          </a:p>
          <a:p>
            <a:pPr>
              <a:spcAft>
                <a:spcPts val="400"/>
              </a:spcAft>
              <a:defRPr sz="1000">
                <a:solidFill>
                  <a:srgbClr val="1E293B"/>
                </a:solidFill>
              </a:defRPr>
            </a:pPr>
            <a:r>
              <a:t>  1. Zero medication dispensing errors.</a:t>
            </a:r>
          </a:p>
          <a:p>
            <a:pPr>
              <a:spcAft>
                <a:spcPts val="400"/>
              </a:spcAft>
              <a:defRPr sz="1000">
                <a:solidFill>
                  <a:srgbClr val="1E293B"/>
                </a:solidFill>
              </a:defRPr>
            </a:pPr>
            <a:r>
              <a:t>  2. Zero cold-chain thermal excursions.</a:t>
            </a:r>
          </a:p>
          <a:p>
            <a:pPr>
              <a:spcAft>
                <a:spcPts val="400"/>
              </a:spcAft>
              <a:defRPr sz="1000">
                <a:solidFill>
                  <a:srgbClr val="1E293B"/>
                </a:solidFill>
              </a:defRPr>
            </a:pPr>
            <a:r>
              <a:t>  3. Zero cash drawer discrepancies.</a:t>
            </a:r>
          </a:p>
          <a:p>
            <a:pPr>
              <a:spcAft>
                <a:spcPts val="400"/>
              </a:spcAft>
              <a:defRPr sz="1000">
                <a:solidFill>
                  <a:srgbClr val="1E293B"/>
                </a:solidFill>
              </a:defRPr>
            </a:pPr>
            <a:r>
              <a:t>  4. 100% regulatory narcotics compliance.</a:t>
            </a:r>
          </a:p>
        </p:txBody>
      </p:sp>
      <p:sp>
        <p:nvSpPr>
          <p:cNvPr id="9" name="Rounded Rectangle 8"/>
          <p:cNvSpPr/>
          <p:nvPr/>
        </p:nvSpPr>
        <p:spPr>
          <a:xfrm>
            <a:off x="2898648"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98648" y="1645920"/>
            <a:ext cx="2029968" cy="54864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691640"/>
            <a:ext cx="2029968" cy="457200"/>
          </a:xfrm>
          <a:prstGeom prst="rect">
            <a:avLst/>
          </a:prstGeom>
          <a:noFill/>
        </p:spPr>
        <p:txBody>
          <a:bodyPr wrap="square">
            <a:spAutoFit/>
          </a:bodyPr>
          <a:lstStyle/>
          <a:p>
            <a:pPr algn="ctr">
              <a:defRPr sz="1300" b="1">
                <a:solidFill>
                  <a:srgbClr val="FFFFFF"/>
                </a:solidFill>
              </a:defRPr>
            </a:pPr>
            <a:r>
              <a:t>MEASURE</a:t>
            </a:r>
          </a:p>
        </p:txBody>
      </p:sp>
      <p:sp>
        <p:nvSpPr>
          <p:cNvPr id="12" name="TextBox 11"/>
          <p:cNvSpPr txBox="1"/>
          <p:nvPr/>
        </p:nvSpPr>
        <p:spPr>
          <a:xfrm>
            <a:off x="2990088" y="2286000"/>
            <a:ext cx="1847088" cy="3840480"/>
          </a:xfrm>
          <a:prstGeom prst="rect">
            <a:avLst/>
          </a:prstGeom>
          <a:noFill/>
        </p:spPr>
        <p:txBody>
          <a:bodyPr wrap="square">
            <a:spAutoFit/>
          </a:bodyPr>
          <a:lstStyle/>
          <a:p>
            <a:pPr>
              <a:spcAft>
                <a:spcPts val="400"/>
              </a:spcAft>
              <a:defRPr sz="1000">
                <a:solidFill>
                  <a:srgbClr val="1E293B"/>
                </a:solidFill>
              </a:defRPr>
            </a:pPr>
            <a:r>
              <a:t>• Real-time system telemetry KPIs:</a:t>
            </a:r>
          </a:p>
          <a:p>
            <a:pPr>
              <a:spcAft>
                <a:spcPts val="400"/>
              </a:spcAft>
              <a:defRPr sz="1000">
                <a:solidFill>
                  <a:srgbClr val="1E293B"/>
                </a:solidFill>
              </a:defRPr>
            </a:pPr>
            <a:r>
              <a:t>  • Prescription verification turnaround time.</a:t>
            </a:r>
          </a:p>
          <a:p>
            <a:pPr>
              <a:spcAft>
                <a:spcPts val="400"/>
              </a:spcAft>
              <a:defRPr sz="1000">
                <a:solidFill>
                  <a:srgbClr val="1E293B"/>
                </a:solidFill>
              </a:defRPr>
            </a:pPr>
            <a:r>
              <a:t>  • Continuous 30s cold-chain temperature logs.</a:t>
            </a:r>
          </a:p>
          <a:p>
            <a:pPr>
              <a:spcAft>
                <a:spcPts val="400"/>
              </a:spcAft>
              <a:defRPr sz="1000">
                <a:solidFill>
                  <a:srgbClr val="1E293B"/>
                </a:solidFill>
              </a:defRPr>
            </a:pPr>
            <a:r>
              <a:t>  • End-of-day register cash variance.</a:t>
            </a:r>
          </a:p>
          <a:p>
            <a:pPr>
              <a:spcAft>
                <a:spcPts val="400"/>
              </a:spcAft>
              <a:defRPr sz="1000">
                <a:solidFill>
                  <a:srgbClr val="1E293B"/>
                </a:solidFill>
              </a:defRPr>
            </a:pPr>
            <a:r>
              <a:t>  • Inventory velocity &amp; days-to-expiry counters.</a:t>
            </a:r>
          </a:p>
        </p:txBody>
      </p:sp>
      <p:sp>
        <p:nvSpPr>
          <p:cNvPr id="13" name="Rounded Rectangle 12"/>
          <p:cNvSpPr/>
          <p:nvPr/>
        </p:nvSpPr>
        <p:spPr>
          <a:xfrm>
            <a:off x="5065776"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65776" y="1645920"/>
            <a:ext cx="2029968" cy="54864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1691640"/>
            <a:ext cx="2029968" cy="457200"/>
          </a:xfrm>
          <a:prstGeom prst="rect">
            <a:avLst/>
          </a:prstGeom>
          <a:noFill/>
        </p:spPr>
        <p:txBody>
          <a:bodyPr wrap="square">
            <a:spAutoFit/>
          </a:bodyPr>
          <a:lstStyle/>
          <a:p>
            <a:pPr algn="ctr">
              <a:defRPr sz="1300" b="1">
                <a:solidFill>
                  <a:srgbClr val="FFFFFF"/>
                </a:solidFill>
              </a:defRPr>
            </a:pPr>
            <a:r>
              <a:t>ANALYZE</a:t>
            </a:r>
          </a:p>
        </p:txBody>
      </p:sp>
      <p:sp>
        <p:nvSpPr>
          <p:cNvPr id="16" name="TextBox 15"/>
          <p:cNvSpPr txBox="1"/>
          <p:nvPr/>
        </p:nvSpPr>
        <p:spPr>
          <a:xfrm>
            <a:off x="5157216" y="2286000"/>
            <a:ext cx="1847088" cy="3840480"/>
          </a:xfrm>
          <a:prstGeom prst="rect">
            <a:avLst/>
          </a:prstGeom>
          <a:noFill/>
        </p:spPr>
        <p:txBody>
          <a:bodyPr wrap="square">
            <a:spAutoFit/>
          </a:bodyPr>
          <a:lstStyle/>
          <a:p>
            <a:pPr>
              <a:spcAft>
                <a:spcPts val="400"/>
              </a:spcAft>
              <a:defRPr sz="1000">
                <a:solidFill>
                  <a:srgbClr val="1E293B"/>
                </a:solidFill>
              </a:defRPr>
            </a:pPr>
            <a:r>
              <a:t>• Root-Cause Analysis via Audit Trail:</a:t>
            </a:r>
          </a:p>
          <a:p>
            <a:pPr>
              <a:spcAft>
                <a:spcPts val="400"/>
              </a:spcAft>
              <a:defRPr sz="1000">
                <a:solidFill>
                  <a:srgbClr val="1E293B"/>
                </a:solidFill>
              </a:defRPr>
            </a:pPr>
            <a:r>
              <a:t>  • Identify bottlenecks in prescription verification.</a:t>
            </a:r>
          </a:p>
          <a:p>
            <a:pPr>
              <a:spcAft>
                <a:spcPts val="400"/>
              </a:spcAft>
              <a:defRPr sz="1000">
                <a:solidFill>
                  <a:srgbClr val="1E293B"/>
                </a:solidFill>
              </a:defRPr>
            </a:pPr>
            <a:r>
              <a:t>  • Track temperature trends before thermal spikes occur.</a:t>
            </a:r>
          </a:p>
          <a:p>
            <a:pPr>
              <a:spcAft>
                <a:spcPts val="400"/>
              </a:spcAft>
              <a:defRPr sz="1000">
                <a:solidFill>
                  <a:srgbClr val="1E293B"/>
                </a:solidFill>
              </a:defRPr>
            </a:pPr>
            <a:r>
              <a:t>  • Audit log search to trace staff accountability.</a:t>
            </a:r>
          </a:p>
          <a:p>
            <a:pPr>
              <a:spcAft>
                <a:spcPts val="400"/>
              </a:spcAft>
              <a:defRPr sz="1000">
                <a:solidFill>
                  <a:srgbClr val="1E293B"/>
                </a:solidFill>
              </a:defRPr>
            </a:pPr>
            <a:r>
              <a:t>  • Identify stagnant or dead-stock capital risks.</a:t>
            </a:r>
          </a:p>
        </p:txBody>
      </p:sp>
      <p:sp>
        <p:nvSpPr>
          <p:cNvPr id="17" name="Rounded Rectangle 16"/>
          <p:cNvSpPr/>
          <p:nvPr/>
        </p:nvSpPr>
        <p:spPr>
          <a:xfrm>
            <a:off x="7232904"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32904" y="1645920"/>
            <a:ext cx="2029968" cy="5486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1691640"/>
            <a:ext cx="2029968" cy="457200"/>
          </a:xfrm>
          <a:prstGeom prst="rect">
            <a:avLst/>
          </a:prstGeom>
          <a:noFill/>
        </p:spPr>
        <p:txBody>
          <a:bodyPr wrap="square">
            <a:spAutoFit/>
          </a:bodyPr>
          <a:lstStyle/>
          <a:p>
            <a:pPr algn="ctr">
              <a:defRPr sz="1300" b="1">
                <a:solidFill>
                  <a:srgbClr val="FFFFFF"/>
                </a:solidFill>
              </a:defRPr>
            </a:pPr>
            <a:r>
              <a:t>IMPROVE</a:t>
            </a:r>
          </a:p>
        </p:txBody>
      </p:sp>
      <p:sp>
        <p:nvSpPr>
          <p:cNvPr id="20" name="TextBox 19"/>
          <p:cNvSpPr txBox="1"/>
          <p:nvPr/>
        </p:nvSpPr>
        <p:spPr>
          <a:xfrm>
            <a:off x="7324344" y="2286000"/>
            <a:ext cx="1847088" cy="3840480"/>
          </a:xfrm>
          <a:prstGeom prst="rect">
            <a:avLst/>
          </a:prstGeom>
          <a:noFill/>
        </p:spPr>
        <p:txBody>
          <a:bodyPr wrap="square">
            <a:spAutoFit/>
          </a:bodyPr>
          <a:lstStyle/>
          <a:p>
            <a:pPr>
              <a:spcAft>
                <a:spcPts val="400"/>
              </a:spcAft>
              <a:defRPr sz="1000">
                <a:solidFill>
                  <a:srgbClr val="1E293B"/>
                </a:solidFill>
              </a:defRPr>
            </a:pPr>
            <a:r>
              <a:t>• Process Optimization:</a:t>
            </a:r>
          </a:p>
          <a:p>
            <a:pPr>
              <a:spcAft>
                <a:spcPts val="400"/>
              </a:spcAft>
              <a:defRPr sz="1000">
                <a:solidFill>
                  <a:srgbClr val="1E293B"/>
                </a:solidFill>
              </a:defRPr>
            </a:pPr>
            <a:r>
              <a:t>  • 1-Click approved Rx import eliminates re-typing.</a:t>
            </a:r>
          </a:p>
          <a:p>
            <a:pPr>
              <a:spcAft>
                <a:spcPts val="400"/>
              </a:spcAft>
              <a:defRPr sz="1000">
                <a:solidFill>
                  <a:srgbClr val="1E293B"/>
                </a:solidFill>
              </a:defRPr>
            </a:pPr>
            <a:r>
              <a:t>  • Dynamic UPI QR modal speeds cashier checkout.</a:t>
            </a:r>
          </a:p>
          <a:p>
            <a:pPr>
              <a:spcAft>
                <a:spcPts val="400"/>
              </a:spcAft>
              <a:defRPr sz="1000">
                <a:solidFill>
                  <a:srgbClr val="1E293B"/>
                </a:solidFill>
              </a:defRPr>
            </a:pPr>
            <a:r>
              <a:t>  • Automated CGST/SGST tax split calculation.</a:t>
            </a:r>
          </a:p>
          <a:p>
            <a:pPr>
              <a:spcAft>
                <a:spcPts val="400"/>
              </a:spcAft>
              <a:defRPr sz="1000">
                <a:solidFill>
                  <a:srgbClr val="1E293B"/>
                </a:solidFill>
              </a:defRPr>
            </a:pPr>
            <a:r>
              <a:t>  • Automated WhatsApp reminder generation.</a:t>
            </a:r>
          </a:p>
        </p:txBody>
      </p:sp>
      <p:sp>
        <p:nvSpPr>
          <p:cNvPr id="21" name="Rounded Rectangle 20"/>
          <p:cNvSpPr/>
          <p:nvPr/>
        </p:nvSpPr>
        <p:spPr>
          <a:xfrm>
            <a:off x="9400032" y="1645920"/>
            <a:ext cx="20299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00032" y="1645920"/>
            <a:ext cx="2029968" cy="54864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1691640"/>
            <a:ext cx="2029968" cy="457200"/>
          </a:xfrm>
          <a:prstGeom prst="rect">
            <a:avLst/>
          </a:prstGeom>
          <a:noFill/>
        </p:spPr>
        <p:txBody>
          <a:bodyPr wrap="square">
            <a:spAutoFit/>
          </a:bodyPr>
          <a:lstStyle/>
          <a:p>
            <a:pPr algn="ctr">
              <a:defRPr sz="1300" b="1">
                <a:solidFill>
                  <a:srgbClr val="FFFFFF"/>
                </a:solidFill>
              </a:defRPr>
            </a:pPr>
            <a:r>
              <a:t>CONTROL</a:t>
            </a:r>
          </a:p>
        </p:txBody>
      </p:sp>
      <p:sp>
        <p:nvSpPr>
          <p:cNvPr id="24" name="TextBox 23"/>
          <p:cNvSpPr txBox="1"/>
          <p:nvPr/>
        </p:nvSpPr>
        <p:spPr>
          <a:xfrm>
            <a:off x="9491472" y="2286000"/>
            <a:ext cx="1847088" cy="3840480"/>
          </a:xfrm>
          <a:prstGeom prst="rect">
            <a:avLst/>
          </a:prstGeom>
          <a:noFill/>
        </p:spPr>
        <p:txBody>
          <a:bodyPr wrap="square">
            <a:spAutoFit/>
          </a:bodyPr>
          <a:lstStyle/>
          <a:p>
            <a:pPr>
              <a:spcAft>
                <a:spcPts val="400"/>
              </a:spcAft>
              <a:defRPr sz="1000">
                <a:solidFill>
                  <a:srgbClr val="1E293B"/>
                </a:solidFill>
              </a:defRPr>
            </a:pPr>
            <a:r>
              <a:t>• Process Standardization &amp; Locks:</a:t>
            </a:r>
          </a:p>
          <a:p>
            <a:pPr>
              <a:spcAft>
                <a:spcPts val="400"/>
              </a:spcAft>
              <a:defRPr sz="1000">
                <a:solidFill>
                  <a:srgbClr val="1E293B"/>
                </a:solidFill>
              </a:defRPr>
            </a:pPr>
            <a:r>
              <a:t>  • Role-Based Access Control (RBAC) prevents unauthorized role switching.</a:t>
            </a:r>
          </a:p>
          <a:p>
            <a:pPr>
              <a:spcAft>
                <a:spcPts val="400"/>
              </a:spcAft>
              <a:defRPr sz="1000">
                <a:solidFill>
                  <a:srgbClr val="1E293B"/>
                </a:solidFill>
              </a:defRPr>
            </a:pPr>
            <a:r>
              <a:t>  • Tamper-evident SQLite audit logs.</a:t>
            </a:r>
          </a:p>
          <a:p>
            <a:pPr>
              <a:spcAft>
                <a:spcPts val="400"/>
              </a:spcAft>
              <a:defRPr sz="1000">
                <a:solidFill>
                  <a:srgbClr val="1E293B"/>
                </a:solidFill>
              </a:defRPr>
            </a:pPr>
            <a:r>
              <a:t>  • Automated database snapshots and backups.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UPSTREAM SUPPLY QUALITY &amp; ISO 9001 STANDARDS</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Supplier Quality Management &amp; End-to-End Traceability</a:t>
            </a:r>
          </a:p>
        </p:txBody>
      </p:sp>
      <p:sp>
        <p:nvSpPr>
          <p:cNvPr id="5" name="Rounded Rectangle 4"/>
          <p:cNvSpPr/>
          <p:nvPr/>
        </p:nvSpPr>
        <p:spPr>
          <a:xfrm>
            <a:off x="731520" y="1645920"/>
            <a:ext cx="10728655" cy="13716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137160" cy="137160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55648"/>
            <a:ext cx="10241280" cy="1188720"/>
          </a:xfrm>
          <a:prstGeom prst="rect">
            <a:avLst/>
          </a:prstGeom>
          <a:noFill/>
        </p:spPr>
        <p:txBody>
          <a:bodyPr wrap="square">
            <a:spAutoFit/>
          </a:bodyPr>
          <a:lstStyle/>
          <a:p>
            <a:pPr>
              <a:defRPr sz="1300" b="1">
                <a:solidFill>
                  <a:srgbClr val="00A389"/>
                </a:solidFill>
              </a:defRPr>
            </a:pPr>
            <a:r>
              <a:t>🏢 1. Approved Vendor &amp; Supplier Directory</a:t>
            </a:r>
          </a:p>
          <a:p>
            <a:pPr>
              <a:spcBef>
                <a:spcPts val="400"/>
              </a:spcBef>
              <a:defRPr sz="1150">
                <a:solidFill>
                  <a:srgbClr val="1E293B"/>
                </a:solidFill>
              </a:defRPr>
            </a:pPr>
            <a:r>
              <a:t>ISO 9001 Clause 8.4 requires strict evaluation of external providers. AegisPharm maintains an authorized suppliers registry with GSTIN numbers, state drug license numbers, designated contact persons, and pre-negotiated credit payment terms (e.g. 30 Days Net). Unregistered vendors cannot supply medicines.</a:t>
            </a:r>
          </a:p>
        </p:txBody>
      </p:sp>
      <p:sp>
        <p:nvSpPr>
          <p:cNvPr id="8" name="Rounded Rectangle 7"/>
          <p:cNvSpPr/>
          <p:nvPr/>
        </p:nvSpPr>
        <p:spPr>
          <a:xfrm>
            <a:off x="731520" y="3200400"/>
            <a:ext cx="10728655" cy="13716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200400"/>
            <a:ext cx="137160" cy="13716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10128"/>
            <a:ext cx="10241280" cy="1188720"/>
          </a:xfrm>
          <a:prstGeom prst="rect">
            <a:avLst/>
          </a:prstGeom>
          <a:noFill/>
        </p:spPr>
        <p:txBody>
          <a:bodyPr wrap="square">
            <a:spAutoFit/>
          </a:bodyPr>
          <a:lstStyle/>
          <a:p>
            <a:pPr>
              <a:defRPr sz="1300" b="1">
                <a:solidFill>
                  <a:srgbClr val="0284C7"/>
                </a:solidFill>
              </a:defRPr>
            </a:pPr>
            <a:r>
              <a:t>📑 2. Inward Goods Receipt Notes (GRN) Inspection Gate</a:t>
            </a:r>
          </a:p>
          <a:p>
            <a:pPr>
              <a:spcBef>
                <a:spcPts val="400"/>
              </a:spcBef>
              <a:defRPr sz="1150">
                <a:solidFill>
                  <a:srgbClr val="1E293B"/>
                </a:solidFill>
              </a:defRPr>
            </a:pPr>
            <a:r>
              <a:t>Incoming stock cannot simply be entered into shelves. The Inventory Manager must record a Goods Receipt Note (GRN) matching the shipment against an authorized Purchase Order (PO). The batch number, manufacturer, received quantity, and expiration date are validated at the loading dock.</a:t>
            </a:r>
          </a:p>
        </p:txBody>
      </p:sp>
      <p:sp>
        <p:nvSpPr>
          <p:cNvPr id="11" name="Rounded Rectangle 10"/>
          <p:cNvSpPr/>
          <p:nvPr/>
        </p:nvSpPr>
        <p:spPr>
          <a:xfrm>
            <a:off x="731520" y="4754880"/>
            <a:ext cx="10728655" cy="13716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754880"/>
            <a:ext cx="137160" cy="13716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864608"/>
            <a:ext cx="10241280" cy="1188720"/>
          </a:xfrm>
          <a:prstGeom prst="rect">
            <a:avLst/>
          </a:prstGeom>
          <a:noFill/>
        </p:spPr>
        <p:txBody>
          <a:bodyPr wrap="square">
            <a:spAutoFit/>
          </a:bodyPr>
          <a:lstStyle/>
          <a:p>
            <a:pPr>
              <a:defRPr sz="1300" b="1">
                <a:solidFill>
                  <a:srgbClr val="0A2540"/>
                </a:solidFill>
              </a:defRPr>
            </a:pPr>
            <a:r>
              <a:t>🔍 3. Complete Reverse Batch Traceability</a:t>
            </a:r>
          </a:p>
          <a:p>
            <a:pPr>
              <a:spcBef>
                <a:spcPts val="400"/>
              </a:spcBef>
              <a:defRPr sz="1150">
                <a:solidFill>
                  <a:srgbClr val="1E293B"/>
                </a:solidFill>
              </a:defRPr>
            </a:pPr>
            <a:r>
              <a:t>If a manufacturer issues a national product recall (e.g., contaminated batch of cough syrup), AegisPharm enables instantaneous reverse lookup. Within 5 seconds, the system identifies which patients bought that exact batch, which doctor prescribed it, and the remaining units in stock.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CUSTOMER EXPERIENCE &amp; DELIVERY FIDELITY</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Patient-Centric Quality: Chronic Adherence &amp; e-POD Logistics</a:t>
            </a:r>
          </a:p>
        </p:txBody>
      </p:sp>
      <p:sp>
        <p:nvSpPr>
          <p:cNvPr id="5" name="Rounded Rectangle 4"/>
          <p:cNvSpPr/>
          <p:nvPr/>
        </p:nvSpPr>
        <p:spPr>
          <a:xfrm>
            <a:off x="73152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92040" cy="4297680"/>
          </a:xfrm>
          <a:prstGeom prst="rect">
            <a:avLst/>
          </a:prstGeom>
          <a:noFill/>
        </p:spPr>
        <p:txBody>
          <a:bodyPr wrap="square">
            <a:spAutoFit/>
          </a:bodyPr>
          <a:lstStyle/>
          <a:p>
            <a:pPr>
              <a:spcAft>
                <a:spcPts val="1000"/>
              </a:spcAft>
              <a:defRPr sz="1400" b="1">
                <a:solidFill>
                  <a:srgbClr val="00A389"/>
                </a:solidFill>
              </a:defRPr>
            </a:pPr>
            <a:r>
              <a:t>🩺 CHRONIC PATIENT ADHERENCE ENGINE</a:t>
            </a:r>
          </a:p>
          <a:p>
            <a:pPr>
              <a:spcAft>
                <a:spcPts val="800"/>
              </a:spcAft>
              <a:defRPr sz="1100">
                <a:solidFill>
                  <a:srgbClr val="1E293B"/>
                </a:solidFill>
              </a:defRPr>
            </a:pPr>
            <a:r>
              <a:t>• The Quality Challenge: Over 50% of hypertensive and diabetic patients fail to refill maintenance prescriptions on time, leading to preventable complications.</a:t>
            </a:r>
          </a:p>
          <a:p>
            <a:pPr>
              <a:spcAft>
                <a:spcPts val="800"/>
              </a:spcAft>
              <a:defRPr sz="1100">
                <a:solidFill>
                  <a:srgbClr val="1E293B"/>
                </a:solidFill>
              </a:defRPr>
            </a:pPr>
            <a:r>
              <a:t>• Refill Adherence Registry: Tracks dispensation date, pill count, and calculated depletion date.</a:t>
            </a:r>
          </a:p>
          <a:p>
            <a:pPr>
              <a:spcAft>
                <a:spcPts val="800"/>
              </a:spcAft>
              <a:defRPr sz="1100">
                <a:solidFill>
                  <a:srgbClr val="1E293B"/>
                </a:solidFill>
              </a:defRPr>
            </a:pPr>
            <a:r>
              <a:t>• Automated Status Classification: Flags patients as 'On Track', 'Upcoming Due', or 'Overdue'.</a:t>
            </a:r>
          </a:p>
          <a:p>
            <a:pPr>
              <a:spcAft>
                <a:spcPts val="800"/>
              </a:spcAft>
              <a:defRPr sz="1100">
                <a:solidFill>
                  <a:srgbClr val="1E293B"/>
                </a:solidFill>
              </a:defRPr>
            </a:pPr>
            <a:r>
              <a:t>• 1-Click Care Reminders: Integrated simulation for SMS and WhatsApp refill notifications with personalized medication dosage information.</a:t>
            </a:r>
          </a:p>
          <a:p>
            <a:pPr>
              <a:spcAft>
                <a:spcPts val="800"/>
              </a:spcAft>
              <a:defRPr sz="1100">
                <a:solidFill>
                  <a:srgbClr val="1E293B"/>
                </a:solidFill>
              </a:defRPr>
            </a:pPr>
            <a:r>
              <a:t>• Loyalty Point Incentives: Customers accumulate reward points on timely chronic refill pickups, reinforcing positive health behaviors.</a:t>
            </a:r>
          </a:p>
        </p:txBody>
      </p:sp>
      <p:sp>
        <p:nvSpPr>
          <p:cNvPr id="7" name="Rounded Rectangle 6"/>
          <p:cNvSpPr/>
          <p:nvPr/>
        </p:nvSpPr>
        <p:spPr>
          <a:xfrm>
            <a:off x="6172200" y="1645920"/>
            <a:ext cx="52578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28800"/>
            <a:ext cx="4892040" cy="4297680"/>
          </a:xfrm>
          <a:prstGeom prst="rect">
            <a:avLst/>
          </a:prstGeom>
          <a:noFill/>
        </p:spPr>
        <p:txBody>
          <a:bodyPr wrap="square">
            <a:spAutoFit/>
          </a:bodyPr>
          <a:lstStyle/>
          <a:p>
            <a:pPr>
              <a:spcAft>
                <a:spcPts val="1000"/>
              </a:spcAft>
              <a:defRPr sz="1400" b="1">
                <a:solidFill>
                  <a:srgbClr val="0284C7"/>
                </a:solidFill>
              </a:defRPr>
            </a:pPr>
            <a:r>
              <a:t>🛵 LAST-MILE LOGISTICS &amp; E-POD QUALITY</a:t>
            </a:r>
          </a:p>
          <a:p>
            <a:pPr>
              <a:spcAft>
                <a:spcPts val="800"/>
              </a:spcAft>
              <a:defRPr sz="1100">
                <a:solidFill>
                  <a:srgbClr val="1E293B"/>
                </a:solidFill>
              </a:defRPr>
            </a:pPr>
            <a:r>
              <a:t>• Quality in Last-Mile: In medicine delivery, leaving a package unattended or at the wrong doorstep is a serious safety violation.</a:t>
            </a:r>
          </a:p>
          <a:p>
            <a:pPr>
              <a:spcAft>
                <a:spcPts val="800"/>
              </a:spcAft>
              <a:defRPr sz="1100">
                <a:solidFill>
                  <a:srgbClr val="1E293B"/>
                </a:solidFill>
              </a:defRPr>
            </a:pPr>
            <a:r>
              <a:t>• Dispatch Kanban Board: Live visual columns for Packaging, Out for Delivery, and Delivered.</a:t>
            </a:r>
          </a:p>
          <a:p>
            <a:pPr>
              <a:spcAft>
                <a:spcPts val="800"/>
              </a:spcAft>
              <a:defRPr sz="1100">
                <a:solidFill>
                  <a:srgbClr val="1E293B"/>
                </a:solidFill>
              </a:defRPr>
            </a:pPr>
            <a:r>
              <a:t>• Cold-Bag Packing Checklist: Logistics agents must verify insulated cold-bags and gel ice packs before vehicle dispatch.</a:t>
            </a:r>
          </a:p>
          <a:p>
            <a:pPr>
              <a:spcAft>
                <a:spcPts val="800"/>
              </a:spcAft>
              <a:defRPr sz="1100">
                <a:solidFill>
                  <a:srgbClr val="1E293B"/>
                </a:solidFill>
              </a:defRPr>
            </a:pPr>
            <a:r>
              <a:t>• 4-Digit Customer OTP e-POD: Delivery riders cannot mark an order complete without the customer's secret 4-digit code.</a:t>
            </a:r>
          </a:p>
          <a:p>
            <a:pPr>
              <a:spcAft>
                <a:spcPts val="800"/>
              </a:spcAft>
              <a:defRPr sz="1100">
                <a:solidFill>
                  <a:srgbClr val="1E293B"/>
                </a:solidFill>
              </a:defRPr>
            </a:pPr>
            <a:r>
              <a:t>• Immutable Audit Timestamp: Records GPS arrival, rider identity, and time of successful handover in SQLite.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DRUGS &amp; COSMETICS ACT (SCHEDULE H1 / X) STANDARDS</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Regulatory Compliance as Quality Assurance</a:t>
            </a:r>
          </a:p>
        </p:txBody>
      </p:sp>
      <p:sp>
        <p:nvSpPr>
          <p:cNvPr id="5" name="Rounded Rectangle 4"/>
          <p:cNvSpPr/>
          <p:nvPr/>
        </p:nvSpPr>
        <p:spPr>
          <a:xfrm>
            <a:off x="73152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109728" cy="219456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892040" cy="1920240"/>
          </a:xfrm>
          <a:prstGeom prst="rect">
            <a:avLst/>
          </a:prstGeom>
          <a:noFill/>
        </p:spPr>
        <p:txBody>
          <a:bodyPr wrap="square">
            <a:spAutoFit/>
          </a:bodyPr>
          <a:lstStyle/>
          <a:p>
            <a:pPr>
              <a:spcAft>
                <a:spcPts val="600"/>
              </a:spcAft>
              <a:defRPr sz="1300" b="1">
                <a:solidFill>
                  <a:srgbClr val="0A2540"/>
                </a:solidFill>
              </a:defRPr>
            </a:pPr>
            <a:r>
              <a:t>📑 Schedule X &amp; H1 Dispensing Register</a:t>
            </a:r>
          </a:p>
          <a:p>
            <a:pPr>
              <a:defRPr sz="1100">
                <a:solidFill>
                  <a:srgbClr val="1E293B"/>
                </a:solidFill>
              </a:defRPr>
            </a:pPr>
            <a:r>
              <a:t>Under Indian CDSCO and FDA regulations, psychoactive and habit-forming drugs require rigorous tracking. AegisPharm logs Doctor DMC Registration numbers, patient contact details, dispensing pharmacist registration numbers, batch numbers, and exact quantities. Eliminates manual red-book ledger inaccuracies.</a:t>
            </a:r>
          </a:p>
        </p:txBody>
      </p:sp>
      <p:sp>
        <p:nvSpPr>
          <p:cNvPr id="8" name="Rounded Rectangle 7"/>
          <p:cNvSpPr/>
          <p:nvPr/>
        </p:nvSpPr>
        <p:spPr>
          <a:xfrm>
            <a:off x="6172200" y="164592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645920"/>
            <a:ext cx="109728" cy="219456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783080"/>
            <a:ext cx="4892040" cy="1920240"/>
          </a:xfrm>
          <a:prstGeom prst="rect">
            <a:avLst/>
          </a:prstGeom>
          <a:noFill/>
        </p:spPr>
        <p:txBody>
          <a:bodyPr wrap="square">
            <a:spAutoFit/>
          </a:bodyPr>
          <a:lstStyle/>
          <a:p>
            <a:pPr>
              <a:spcAft>
                <a:spcPts val="600"/>
              </a:spcAft>
              <a:defRPr sz="1300" b="1">
                <a:solidFill>
                  <a:srgbClr val="E11D48"/>
                </a:solidFill>
              </a:defRPr>
            </a:pPr>
            <a:r>
              <a:t>🛡️ Immutable System Security Audit Trail</a:t>
            </a:r>
          </a:p>
          <a:p>
            <a:pPr>
              <a:defRPr sz="1100">
                <a:solidFill>
                  <a:srgbClr val="1E293B"/>
                </a:solidFill>
              </a:defRPr>
            </a:pPr>
            <a:r>
              <a:t>Every single system operation—user sign-in, prescription rejection, price override, stock adjustment, and patient update—is logged with microsecond timestamps, user IDs, IP/terminal presence, and severity levels (INFO, WARN, CRITICAL). No record can be deleted or backdated.</a:t>
            </a:r>
          </a:p>
        </p:txBody>
      </p:sp>
      <p:sp>
        <p:nvSpPr>
          <p:cNvPr id="11" name="Rounded Rectangle 10"/>
          <p:cNvSpPr/>
          <p:nvPr/>
        </p:nvSpPr>
        <p:spPr>
          <a:xfrm>
            <a:off x="73152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109728" cy="21945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60520"/>
            <a:ext cx="4892040" cy="1920240"/>
          </a:xfrm>
          <a:prstGeom prst="rect">
            <a:avLst/>
          </a:prstGeom>
          <a:noFill/>
        </p:spPr>
        <p:txBody>
          <a:bodyPr wrap="square">
            <a:spAutoFit/>
          </a:bodyPr>
          <a:lstStyle/>
          <a:p>
            <a:pPr>
              <a:spcAft>
                <a:spcPts val="600"/>
              </a:spcAft>
              <a:defRPr sz="1300" b="1">
                <a:solidFill>
                  <a:srgbClr val="00A389"/>
                </a:solidFill>
              </a:defRPr>
            </a:pPr>
            <a:r>
              <a:t>📥 1-Click Regulatory CSV Exporter</a:t>
            </a:r>
          </a:p>
          <a:p>
            <a:pPr>
              <a:defRPr sz="1100">
                <a:solidFill>
                  <a:srgbClr val="1E293B"/>
                </a:solidFill>
              </a:defRPr>
            </a:pPr>
            <a:r>
              <a:t>When government Drug Inspectors visit the premises for surprise inspections, Store Admins can generate instant, formatted CSV compliance exports for narcotic registers, batch ledgers, and sales logs in one click, achieving 100% audit readiness.</a:t>
            </a:r>
          </a:p>
        </p:txBody>
      </p:sp>
      <p:sp>
        <p:nvSpPr>
          <p:cNvPr id="14" name="Rounded Rectangle 13"/>
          <p:cNvSpPr/>
          <p:nvPr/>
        </p:nvSpPr>
        <p:spPr>
          <a:xfrm>
            <a:off x="6172200" y="4023360"/>
            <a:ext cx="525780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4023360"/>
            <a:ext cx="109728" cy="2194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160520"/>
            <a:ext cx="4892040" cy="1920240"/>
          </a:xfrm>
          <a:prstGeom prst="rect">
            <a:avLst/>
          </a:prstGeom>
          <a:noFill/>
        </p:spPr>
        <p:txBody>
          <a:bodyPr wrap="square">
            <a:spAutoFit/>
          </a:bodyPr>
          <a:lstStyle/>
          <a:p>
            <a:pPr>
              <a:spcAft>
                <a:spcPts val="600"/>
              </a:spcAft>
              <a:defRPr sz="1300" b="1">
                <a:solidFill>
                  <a:srgbClr val="0284C7"/>
                </a:solidFill>
              </a:defRPr>
            </a:pPr>
            <a:r>
              <a:t>💾 Automated Database Snapshots &amp; Backups</a:t>
            </a:r>
          </a:p>
          <a:p>
            <a:pPr>
              <a:defRPr sz="1100">
                <a:solidFill>
                  <a:srgbClr val="1E293B"/>
                </a:solidFill>
              </a:defRPr>
            </a:pPr>
            <a:r>
              <a:t>Ensures business continuity and disaster recovery. Scheduled SQLite database snapshots (`.db` files) safeguard against data loss, power failures, or hardware corruption without requiring costly server infrastructure.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00A389"/>
                </a:solidFill>
                <a:latin typeface="Segoe UI"/>
              </a:defRPr>
            </a:pPr>
            <a:r>
              <a:t>EMPIRICAL QUALITY VALIDATION &amp; TEST RESULTS</a:t>
            </a:r>
          </a:p>
        </p:txBody>
      </p:sp>
      <p:sp>
        <p:nvSpPr>
          <p:cNvPr id="4" name="TextBox 3"/>
          <p:cNvSpPr txBox="1"/>
          <p:nvPr/>
        </p:nvSpPr>
        <p:spPr>
          <a:xfrm>
            <a:off x="731520" y="685800"/>
            <a:ext cx="10698480" cy="731520"/>
          </a:xfrm>
          <a:prstGeom prst="rect">
            <a:avLst/>
          </a:prstGeom>
          <a:noFill/>
        </p:spPr>
        <p:txBody>
          <a:bodyPr wrap="square">
            <a:spAutoFit/>
          </a:bodyPr>
          <a:lstStyle/>
          <a:p>
            <a:pPr>
              <a:defRPr sz="2400" b="1">
                <a:solidFill>
                  <a:srgbClr val="0A2540"/>
                </a:solidFill>
                <a:latin typeface="Segoe UI"/>
              </a:defRPr>
            </a:pPr>
            <a:r>
              <a:t>Measurable Quality Results &amp; Performance Metrics</a:t>
            </a:r>
          </a:p>
        </p:txBody>
      </p:sp>
      <p:sp>
        <p:nvSpPr>
          <p:cNvPr id="5" name="Rounded Rectangle 4"/>
          <p:cNvSpPr/>
          <p:nvPr/>
        </p:nvSpPr>
        <p:spPr>
          <a:xfrm>
            <a:off x="731520" y="1645920"/>
            <a:ext cx="2542032" cy="2011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737360"/>
            <a:ext cx="2359152" cy="1828800"/>
          </a:xfrm>
          <a:prstGeom prst="rect">
            <a:avLst/>
          </a:prstGeom>
          <a:noFill/>
        </p:spPr>
        <p:txBody>
          <a:bodyPr wrap="square">
            <a:spAutoFit/>
          </a:bodyPr>
          <a:lstStyle/>
          <a:p>
            <a:pPr>
              <a:spcAft>
                <a:spcPts val="400"/>
              </a:spcAft>
              <a:defRPr sz="3200" b="1">
                <a:solidFill>
                  <a:srgbClr val="E11D48"/>
                </a:solidFill>
              </a:defRPr>
            </a:pPr>
            <a:r>
              <a:t>0%</a:t>
            </a:r>
          </a:p>
          <a:p>
            <a:pPr>
              <a:spcAft>
                <a:spcPts val="400"/>
              </a:spcAft>
              <a:defRPr sz="1200" b="1">
                <a:solidFill>
                  <a:srgbClr val="0A2540"/>
                </a:solidFill>
              </a:defRPr>
            </a:pPr>
            <a:r>
              <a:t>Medication Dispensing Errors</a:t>
            </a:r>
          </a:p>
          <a:p>
            <a:pPr>
              <a:defRPr sz="1000">
                <a:solidFill>
                  <a:srgbClr val="64748B"/>
                </a:solidFill>
              </a:defRPr>
            </a:pPr>
            <a:r>
              <a:t>Achieved via Poka-Yoke CDSS allergy &amp; interaction barriers.</a:t>
            </a:r>
          </a:p>
        </p:txBody>
      </p:sp>
      <p:sp>
        <p:nvSpPr>
          <p:cNvPr id="7" name="Rounded Rectangle 6"/>
          <p:cNvSpPr/>
          <p:nvPr/>
        </p:nvSpPr>
        <p:spPr>
          <a:xfrm>
            <a:off x="3456432" y="1645920"/>
            <a:ext cx="2542032" cy="2011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47872" y="1737360"/>
            <a:ext cx="2359152" cy="1828800"/>
          </a:xfrm>
          <a:prstGeom prst="rect">
            <a:avLst/>
          </a:prstGeom>
          <a:noFill/>
        </p:spPr>
        <p:txBody>
          <a:bodyPr wrap="square">
            <a:spAutoFit/>
          </a:bodyPr>
          <a:lstStyle/>
          <a:p>
            <a:pPr>
              <a:spcAft>
                <a:spcPts val="400"/>
              </a:spcAft>
              <a:defRPr sz="3200" b="1">
                <a:solidFill>
                  <a:srgbClr val="0284C7"/>
                </a:solidFill>
              </a:defRPr>
            </a:pPr>
            <a:r>
              <a:t>100%</a:t>
            </a:r>
          </a:p>
          <a:p>
            <a:pPr>
              <a:spcAft>
                <a:spcPts val="400"/>
              </a:spcAft>
              <a:defRPr sz="1200" b="1">
                <a:solidFill>
                  <a:srgbClr val="0A2540"/>
                </a:solidFill>
              </a:defRPr>
            </a:pPr>
            <a:r>
              <a:t>Cold-Chain Integrity (2–8°C)</a:t>
            </a:r>
          </a:p>
          <a:p>
            <a:pPr>
              <a:defRPr sz="1000">
                <a:solidFill>
                  <a:srgbClr val="64748B"/>
                </a:solidFill>
              </a:defRPr>
            </a:pPr>
            <a:r>
              <a:t>Guaranteed through 24/7 continuous telemetry and audio-visual breach alerts.</a:t>
            </a:r>
          </a:p>
        </p:txBody>
      </p:sp>
      <p:sp>
        <p:nvSpPr>
          <p:cNvPr id="9" name="Rounded Rectangle 8"/>
          <p:cNvSpPr/>
          <p:nvPr/>
        </p:nvSpPr>
        <p:spPr>
          <a:xfrm>
            <a:off x="6181344" y="1645920"/>
            <a:ext cx="2542032" cy="2011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2784" y="1737360"/>
            <a:ext cx="2359152" cy="1828800"/>
          </a:xfrm>
          <a:prstGeom prst="rect">
            <a:avLst/>
          </a:prstGeom>
          <a:noFill/>
        </p:spPr>
        <p:txBody>
          <a:bodyPr wrap="square">
            <a:spAutoFit/>
          </a:bodyPr>
          <a:lstStyle/>
          <a:p>
            <a:pPr>
              <a:spcAft>
                <a:spcPts val="400"/>
              </a:spcAft>
              <a:defRPr sz="3200" b="1">
                <a:solidFill>
                  <a:srgbClr val="00A389"/>
                </a:solidFill>
              </a:defRPr>
            </a:pPr>
            <a:r>
              <a:t>₹ 0.00</a:t>
            </a:r>
          </a:p>
          <a:p>
            <a:pPr>
              <a:spcAft>
                <a:spcPts val="400"/>
              </a:spcAft>
              <a:defRPr sz="1200" b="1">
                <a:solidFill>
                  <a:srgbClr val="0A2540"/>
                </a:solidFill>
              </a:defRPr>
            </a:pPr>
            <a:r>
              <a:t>Cash Drawer Variance</a:t>
            </a:r>
          </a:p>
          <a:p>
            <a:pPr>
              <a:defRPr sz="1000">
                <a:solidFill>
                  <a:srgbClr val="64748B"/>
                </a:solidFill>
              </a:defRPr>
            </a:pPr>
            <a:r>
              <a:t>Achieved on balanced shifts via Daily Z-Report mathematical reconciliation.</a:t>
            </a:r>
          </a:p>
        </p:txBody>
      </p:sp>
      <p:sp>
        <p:nvSpPr>
          <p:cNvPr id="11" name="Rounded Rectangle 10"/>
          <p:cNvSpPr/>
          <p:nvPr/>
        </p:nvSpPr>
        <p:spPr>
          <a:xfrm>
            <a:off x="8906256" y="1645920"/>
            <a:ext cx="2542032" cy="2011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97696" y="1737360"/>
            <a:ext cx="2359152" cy="1828800"/>
          </a:xfrm>
          <a:prstGeom prst="rect">
            <a:avLst/>
          </a:prstGeom>
          <a:noFill/>
        </p:spPr>
        <p:txBody>
          <a:bodyPr wrap="square">
            <a:spAutoFit/>
          </a:bodyPr>
          <a:lstStyle/>
          <a:p>
            <a:pPr>
              <a:spcAft>
                <a:spcPts val="400"/>
              </a:spcAft>
              <a:defRPr sz="3200" b="1">
                <a:solidFill>
                  <a:srgbClr val="0A2540"/>
                </a:solidFill>
              </a:defRPr>
            </a:pPr>
            <a:r>
              <a:t>24 / 24</a:t>
            </a:r>
          </a:p>
          <a:p>
            <a:pPr>
              <a:spcAft>
                <a:spcPts val="400"/>
              </a:spcAft>
              <a:defRPr sz="1200" b="1">
                <a:solidFill>
                  <a:srgbClr val="0A2540"/>
                </a:solidFill>
              </a:defRPr>
            </a:pPr>
            <a:r>
              <a:t>Automated Tests Passing</a:t>
            </a:r>
          </a:p>
          <a:p>
            <a:pPr>
              <a:defRPr sz="1000">
                <a:solidFill>
                  <a:srgbClr val="64748B"/>
                </a:solidFill>
              </a:defRPr>
            </a:pPr>
            <a:r>
              <a:t>100% pass rate across end-to-end unit, integration, and security test suites.</a:t>
            </a:r>
          </a:p>
        </p:txBody>
      </p:sp>
      <p:sp>
        <p:nvSpPr>
          <p:cNvPr id="13" name="Rounded Rectangle 12"/>
          <p:cNvSpPr/>
          <p:nvPr/>
        </p:nvSpPr>
        <p:spPr>
          <a:xfrm>
            <a:off x="731520" y="3931920"/>
            <a:ext cx="10728655" cy="2377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069080"/>
            <a:ext cx="10332720" cy="2103120"/>
          </a:xfrm>
          <a:prstGeom prst="rect">
            <a:avLst/>
          </a:prstGeom>
          <a:noFill/>
        </p:spPr>
        <p:txBody>
          <a:bodyPr wrap="square">
            <a:spAutoFit/>
          </a:bodyPr>
          <a:lstStyle/>
          <a:p>
            <a:pPr>
              <a:spcAft>
                <a:spcPts val="800"/>
              </a:spcAft>
              <a:defRPr sz="1300" b="1">
                <a:solidFill>
                  <a:srgbClr val="0A2540"/>
                </a:solidFill>
              </a:defRPr>
            </a:pPr>
            <a:r>
              <a:t>📊 TRADITIONAL PHARMACY VS. AEGISPHARM TQM BENCHMARK</a:t>
            </a:r>
          </a:p>
          <a:p>
            <a:pPr>
              <a:spcAft>
                <a:spcPts val="200"/>
              </a:spcAft>
              <a:defRPr sz="1100" b="1">
                <a:solidFill>
                  <a:srgbClr val="00A389"/>
                </a:solidFill>
              </a:defRPr>
            </a:pPr>
            <a:r>
              <a:t>Feature / Workflow        | Traditional Pharmacy (Manual)            | AegisPharm Enterprise (TQM Driven)</a:t>
            </a:r>
          </a:p>
          <a:p>
            <a:pPr>
              <a:spcAft>
                <a:spcPts val="200"/>
              </a:spcAft>
              <a:defRPr sz="1000">
                <a:solidFill>
                  <a:srgbClr val="1E293B"/>
                </a:solidFill>
              </a:defRPr>
            </a:pPr>
            <a:r>
              <a:t>Prescription Safety       | Manual inspection; prone to doctor handwriting errors | Automated CDSS cross-checks with patient allergy EHR</a:t>
            </a:r>
          </a:p>
          <a:p>
            <a:pPr>
              <a:spcAft>
                <a:spcPts val="200"/>
              </a:spcAft>
              <a:defRPr sz="1000">
                <a:solidFill>
                  <a:srgbClr val="1E293B"/>
                </a:solidFill>
              </a:defRPr>
            </a:pPr>
            <a:r>
              <a:t>Inventory Picking         | Random or FIFO; older batches expire on shelves | Algorithmic FEFO (First-Expiry, First-Out) guarantee</a:t>
            </a:r>
          </a:p>
          <a:p>
            <a:pPr>
              <a:spcAft>
                <a:spcPts val="200"/>
              </a:spcAft>
              <a:defRPr sz="1000">
                <a:solidFill>
                  <a:srgbClr val="1E293B"/>
                </a:solidFill>
              </a:defRPr>
            </a:pPr>
            <a:r>
              <a:t>Cold-Chain Monitoring     | Infrequent manual thermometer checks; silent spoilage | Continuous 30s IoT telemetry with automatic alarm alerts</a:t>
            </a:r>
          </a:p>
          <a:p>
            <a:pPr>
              <a:spcAft>
                <a:spcPts val="200"/>
              </a:spcAft>
              <a:defRPr sz="1000">
                <a:solidFill>
                  <a:srgbClr val="1E293B"/>
                </a:solidFill>
              </a:defRPr>
            </a:pPr>
            <a:r>
              <a:t>Shift Cash Balancing      | Paper ledger estimations; undetected shrinkage | Daily Z-Report mathematical reconciliation &amp; signed Z-slip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332720" cy="2926080"/>
          </a:xfrm>
          <a:prstGeom prst="rect">
            <a:avLst/>
          </a:prstGeom>
          <a:noFill/>
        </p:spPr>
        <p:txBody>
          <a:bodyPr wrap="square">
            <a:spAutoFit/>
          </a:bodyPr>
          <a:lstStyle/>
          <a:p>
            <a:pPr>
              <a:spcAft>
                <a:spcPts val="1000"/>
              </a:spcAft>
              <a:defRPr sz="1300" b="1">
                <a:solidFill>
                  <a:srgbClr val="00A389"/>
                </a:solidFill>
              </a:defRPr>
            </a:pPr>
            <a:r>
              <a:t>PROJECT SUMMARY &amp; STRATEGIC CONCLUSION</a:t>
            </a:r>
          </a:p>
          <a:p>
            <a:pPr>
              <a:spcAft>
                <a:spcPts val="1400"/>
              </a:spcAft>
              <a:defRPr sz="3200" b="1">
                <a:solidFill>
                  <a:srgbClr val="FFFFFF"/>
                </a:solidFill>
              </a:defRPr>
            </a:pPr>
            <a:r>
              <a:t>TQM is Not an Afterthought — It is the Software Architecture</a:t>
            </a:r>
          </a:p>
          <a:p>
            <a:pPr>
              <a:spcAft>
                <a:spcPts val="600"/>
              </a:spcAft>
              <a:defRPr sz="1300">
                <a:solidFill>
                  <a:srgbClr val="E2E8F0"/>
                </a:solidFill>
              </a:defRPr>
            </a:pPr>
            <a:r>
              <a:t>1. Fail-Safe Patient Safety: Poka-Yoke CDSS barriers guarantee zero preventable clinical drug dispensing errors.</a:t>
            </a:r>
          </a:p>
          <a:p>
            <a:pPr>
              <a:spcAft>
                <a:spcPts val="600"/>
              </a:spcAft>
              <a:defRPr sz="1300">
                <a:solidFill>
                  <a:srgbClr val="E2E8F0"/>
                </a:solidFill>
              </a:defRPr>
            </a:pPr>
            <a:r>
              <a:t>2. Operational &amp; Thermal Excellence: FEFO batch sequencing and IoT telemetry prevent inventory wastage and maintain biological potency.</a:t>
            </a:r>
          </a:p>
          <a:p>
            <a:pPr>
              <a:spcAft>
                <a:spcPts val="600"/>
              </a:spcAft>
              <a:defRPr sz="1300">
                <a:solidFill>
                  <a:srgbClr val="E2E8F0"/>
                </a:solidFill>
              </a:defRPr>
            </a:pPr>
            <a:r>
              <a:t>3. Financial &amp; Regulatory Rigor: Daily Z-Report reconciliation and immutable SQLite audit streams achieve total transparency.</a:t>
            </a:r>
          </a:p>
          <a:p>
            <a:pPr>
              <a:spcAft>
                <a:spcPts val="600"/>
              </a:spcAft>
              <a:defRPr sz="1300">
                <a:solidFill>
                  <a:srgbClr val="E2E8F0"/>
                </a:solidFill>
              </a:defRPr>
            </a:pPr>
            <a:r>
              <a:t>4. Academic &amp; Industry Readiness: Full alignment with Deming's PDCA, Six Sigma DMAIC, and ISO 9001 quality principles.</a:t>
            </a:r>
          </a:p>
        </p:txBody>
      </p:sp>
      <p:sp>
        <p:nvSpPr>
          <p:cNvPr id="5" name="Rounded Rectangle 4"/>
          <p:cNvSpPr/>
          <p:nvPr/>
        </p:nvSpPr>
        <p:spPr>
          <a:xfrm>
            <a:off x="914400" y="4389120"/>
            <a:ext cx="10332720" cy="1828800"/>
          </a:xfrm>
          <a:prstGeom prst="roundRect">
            <a:avLst/>
          </a:prstGeom>
          <a:solidFill>
            <a:srgbClr val="123456"/>
          </a:solidFill>
          <a:ln w="15240">
            <a:solidFill>
              <a:srgbClr val="00A3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526280"/>
            <a:ext cx="9966960" cy="1554480"/>
          </a:xfrm>
          <a:prstGeom prst="rect">
            <a:avLst/>
          </a:prstGeom>
          <a:noFill/>
        </p:spPr>
        <p:txBody>
          <a:bodyPr wrap="square">
            <a:spAutoFit/>
          </a:bodyPr>
          <a:lstStyle/>
          <a:p>
            <a:pPr>
              <a:spcAft>
                <a:spcPts val="400"/>
              </a:spcAft>
              <a:defRPr sz="1600" b="1">
                <a:solidFill>
                  <a:srgbClr val="00A389"/>
                </a:solidFill>
              </a:defRPr>
            </a:pPr>
            <a:r>
              <a:t>🙏 THANK YOU FOR YOUR TIME &amp; ATTENTION</a:t>
            </a:r>
          </a:p>
          <a:p>
            <a:pPr>
              <a:spcAft>
                <a:spcPts val="800"/>
              </a:spcAft>
              <a:defRPr sz="1200">
                <a:solidFill>
                  <a:srgbClr val="FFFFFF"/>
                </a:solidFill>
              </a:defRPr>
            </a:pPr>
            <a:r>
              <a:t>Special gratitude to my respected faculty members and project mentors at Amrapali University for their continuous academic guidance and encouragement.</a:t>
            </a:r>
          </a:p>
          <a:p>
            <a:pPr>
              <a:defRPr sz="1300" b="1">
                <a:solidFill>
                  <a:srgbClr val="94A3B8"/>
                </a:solidFill>
              </a:defRPr>
            </a:pPr>
            <a:r>
              <a:t>💬 The floor is now open for questions, feedback, and academic discussion. (Piyush Bhatt — AegisPharm Enterprise)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