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Respected evaluators, I am Piyush Bhatt from Amrapali University. Today I present our condensed Process + Quality review covering Review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vision and mission directly translate into TQM controls: stop the error at source, control every transaction, and log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pillars: Error prevention at source, process control, and continuous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of our process map has active software controls sitting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SIPOC defines the operational boundaries; Stakeholder needs define acceptance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viva, examiners want numbers and core features. We deliver 5 concrete reliability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architectural rule: The screen must not talk 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Examiners love tracing a click from UI event to database commit and audit logging.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14 normalized tables in SQLite with migrations support ensuring existing test data is never wiped.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CRUD operations are partitioned by role to prevent unauthorized data mutations.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connects software features directly to university quality management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Empirical quality metrics prove that AegisPharm eliminates common manual dispensary vulnerabilities.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Pareto and Fishbone tools identify why errors happen and guide our software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FMEA quantifies risks; error logs dynamically feed the Occurrence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PDCA guarantees Kaizen (continuous improvement); sales and purchase flows show clean operational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 demo setup: commands to boot tests, desktop app, web app, and pre-seeded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5-phase script guides the live application demonstration before examiners.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statement: Review 1 is 100% delivered. Deliver the golden sentence and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A389"/>
                </a:solidFill>
              </a:defRPr>
            </a:pPr>
            <a:r>
              <a:t>SRS REVIEW 1 &amp; 2 · PROCESS + QUALITY EVALUATION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t>AegisPharm Enterprise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Process Map, Stakeholders, Measurable Requirements &amp; Quality Goals (TQM Architecture)</a:t>
            </a:r>
            <a:br/>
            <a:r>
              <a:t>Assigned Goal: Q01 Improve Reliability &amp; Zero-Defects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663440"/>
            <a:ext cx="54864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8006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PRESENTER: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👤 Piyush Bhatt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Student, Amrapali University, Haldwani, Uttarakhand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663440"/>
            <a:ext cx="45720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48006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EVALUATION SCOPE: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🏛️ Amrapali University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B.Tech CSE Project Reviews 1 &amp; 2</a:t>
            </a:r>
            <a:br/>
            <a:r>
              <a:t>Academic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Vision, Mission &amp; Quality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4752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VISION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A healthcare dispensary where zero expired, contraindicated, or unrecorded medications ever cross the counter.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0023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40023"/>
            <a:ext cx="109728" cy="14752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13175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MISSION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Engineer an enterprise-grade local-first operating system that automates FEFO inventory, blocks clinical contraindications (CDSS), validates narcotics, and maintains immutable audit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79847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79847"/>
            <a:ext cx="109728" cy="14752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52999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QUALITY OBJECTIVE OF THIS SOFTWARE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Prevent errors at the source (Poka-Yoke error-proofing).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Control the process with deterministic rules. Monitor all transactions with immutable logs and real-time IoT telemetry.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Three Quality Ideas Behind the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5486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Error Prevention at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Poka-yoke Mistake Proofing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Blank medicine names hard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Qty &gt; available stock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Expired items blocked from cart.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Patient allergen contraindications (Penicillin) 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645920"/>
            <a:ext cx="3328416" cy="5486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Process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One Deterministic Work Path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Supplier (GRN) → Stock (FEFO)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CDSS Clinical Gate → POS Bill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Daily Z-Report Shift Close.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UI cannot skip or bypass business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45920"/>
            <a:ext cx="3328416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Continuous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See, Trace &amp; Feedback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Live dashboard KPI alerts.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24/7 cold-chain IoT logs (2-8°C).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21 CFR Part 11 immutable audit trail.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Error logs feeding FMEA &amp; Pareto.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Process Map &amp; Controls Across the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2032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Purchase (GRN)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Stock (FEFO)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Bill (POS)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Customer / Fleet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Z-Report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60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Controls sitting on this process (Quality Gates)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Inwarding (GRN)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Batch lot, quantity, cost price, expiry must be filled. Dockside supplier verification against 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Stock Ledger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FEFO dynamic sorting; low-stock thresholds (≤20); 30/90-day expiry tags; 2-8°C IoT temperature alarms.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POS Billing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CDSS allergy cross-check; expired lot hard lockout; atomic transaction stock deduction; audit logging.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Shift Close (Report)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Daily Z-Report mathematical cash balancing; till variance detection; error logs feeding FMEA.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SIPOC &amp; Stakeholder Requirements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📊 SIPOC OF THE DISPENSING PROCESS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Suppliers: </a:t>
            </a:r>
            <a:r>
              <a:rPr sz="1050">
                <a:solidFill>
                  <a:srgbClr val="1E293B"/>
                </a:solidFill>
              </a:rPr>
              <a:t>Pharmaceutical distributors, attending doctors, SQLite database.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Inputs: </a:t>
            </a:r>
            <a:r>
              <a:rPr sz="1050">
                <a:solidFill>
                  <a:srgbClr val="1E293B"/>
                </a:solidFill>
              </a:rPr>
              <a:t>e-Prescription, batch lot, dispense qty, patient allergy EHR, cashier role.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Process: </a:t>
            </a:r>
            <a:r>
              <a:rPr sz="1050">
                <a:solidFill>
                  <a:srgbClr val="1E293B"/>
                </a:solidFill>
              </a:rPr>
              <a:t>Validate role → CDSS scan → FEFO pick → Deduct stock → Save + Audit.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Outputs: </a:t>
            </a:r>
            <a:r>
              <a:rPr sz="1050">
                <a:solidFill>
                  <a:srgbClr val="1E293B"/>
                </a:solidFill>
              </a:rPr>
              <a:t>Official GST invoice, thermal receipt, decremented stock, delivery order.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Customers: </a:t>
            </a:r>
            <a:r>
              <a:rPr sz="1050">
                <a:solidFill>
                  <a:srgbClr val="1E293B"/>
                </a:solidFill>
              </a:rPr>
              <a:t>Patient, cashier counter, store owner, state drug inspectors.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👥 STAKEHOLDERS &amp; CORE NEEDS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Patient: </a:t>
            </a:r>
            <a:r>
              <a:rPr sz="1050">
                <a:solidFill>
                  <a:srgbClr val="1E293B"/>
                </a:solidFill>
              </a:rPr>
              <a:t>Safe medication without allergens; transparent GST billing.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Cashier: </a:t>
            </a:r>
            <a:r>
              <a:rPr sz="1050">
                <a:solidFill>
                  <a:srgbClr val="1E293B"/>
                </a:solidFill>
              </a:rPr>
              <a:t>Fast sub-second billing; automated change return &amp; dynamic UPI QR.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Pharmacist: </a:t>
            </a:r>
            <a:r>
              <a:rPr sz="1050">
                <a:solidFill>
                  <a:srgbClr val="1E293B"/>
                </a:solidFill>
              </a:rPr>
              <a:t>Real-time stock; CDSS allergy alerts; Schedule X narcotic register.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Admin / Owner: </a:t>
            </a:r>
            <a:r>
              <a:rPr sz="1050">
                <a:solidFill>
                  <a:srgbClr val="1E293B"/>
                </a:solidFill>
              </a:rPr>
              <a:t>Staff RBAC; live terminal presence; shift Z-Report cash balancing.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Auditor / Inspector: </a:t>
            </a:r>
            <a:r>
              <a:rPr sz="1050">
                <a:solidFill>
                  <a:srgbClr val="1E293B"/>
                </a:solidFill>
              </a:rPr>
              <a:t>21 CFR Part 11 immutable audit trail &amp; 1-click narcotic CSV export.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Measurable Requirements &amp; Assigned Goal Q01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🎯 MEASURABLE REQUIREMENTS (VIVA)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No Expired Sale: </a:t>
            </a:r>
            <a:r>
              <a:rPr sz="1000">
                <a:solidFill>
                  <a:srgbClr val="1E293B"/>
                </a:solidFill>
              </a:rPr>
              <a:t>Expired sales in a month = 0 (100% hard block at POS cart).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Stock is True: </a:t>
            </a:r>
            <a:r>
              <a:rPr sz="1000">
                <a:solidFill>
                  <a:srgbClr val="1E293B"/>
                </a:solidFill>
              </a:rPr>
              <a:t>Physical inventory variance &lt; 1.5% across all SKUs.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No Oversell: </a:t>
            </a:r>
            <a:r>
              <a:rPr sz="1000">
                <a:solidFill>
                  <a:srgbClr val="1E293B"/>
                </a:solidFill>
              </a:rPr>
              <a:t>Qty &gt; stock attempts blocked = 100% via atomic assertion.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Trace Every Change: </a:t>
            </a:r>
            <a:r>
              <a:rPr sz="1000">
                <a:solidFill>
                  <a:srgbClr val="1E293B"/>
                </a:solidFill>
              </a:rPr>
              <a:t>100% of stock/price edits have user ID + timestamp in audit_logs.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Fast Search: </a:t>
            </a:r>
            <a:r>
              <a:rPr sz="1000">
                <a:solidFill>
                  <a:srgbClr val="1E293B"/>
                </a:solidFill>
              </a:rPr>
              <a:t>Barcode &amp; generic search latency &lt; 50ms (exceeds &lt;3s target).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Early Risk Flag: </a:t>
            </a:r>
            <a:r>
              <a:rPr sz="1000">
                <a:solidFill>
                  <a:srgbClr val="1E293B"/>
                </a:solidFill>
              </a:rPr>
              <a:t>Items ≤30d (red) and ≤90d (amber) automatically tagged on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🏆 ASSIGNED QUALITY GOAL Q01: IMPROVE RELIABILITY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Auto Backup: </a:t>
            </a:r>
            <a:r>
              <a:rPr sz="1000">
                <a:solidFill>
                  <a:srgbClr val="1E293B"/>
                </a:solidFill>
              </a:rPr>
              <a:t>Automated snapshot copy of pharmacy_system.db created daily in backups/.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Audit Log: </a:t>
            </a:r>
            <a:r>
              <a:rPr sz="1000">
                <a:solidFill>
                  <a:srgbClr val="1E293B"/>
                </a:solidFill>
              </a:rPr>
              <a:t>Captures who, action, old value, new value, terminal IP, and ISO timestamp.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Input Validation: </a:t>
            </a:r>
            <a:r>
              <a:rPr sz="1000">
                <a:solidFill>
                  <a:srgbClr val="1E293B"/>
                </a:solidFill>
              </a:rPr>
              <a:t>Stops blank names, negative prices, oversell quantities, bad dates.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Error Recovery: </a:t>
            </a:r>
            <a:r>
              <a:rPr sz="1000">
                <a:solidFill>
                  <a:srgbClr val="1E293B"/>
                </a:solidFill>
              </a:rPr>
              <a:t>Atomic rollback on commit failure; no half-created bill; friendly toasts.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5. User Roles (RBAC): </a:t>
            </a:r>
            <a:r>
              <a:rPr sz="1000">
                <a:solidFill>
                  <a:srgbClr val="1E293B"/>
                </a:solidFill>
              </a:rPr>
              <a:t>Store Admin, Pharmacist, Cashier, Inventory, Delivery strictly isolated.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Modular 6-Tier Architecture &amp; The Golden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A2540"/>
                </a:solidFill>
              </a:defRPr>
            </a:pPr>
            <a:r>
              <a:t>📁 6-TIER FOLDER ARCHITECTURE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Pharmacy_Management_System/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core/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bridge.py       # RPC Bridge (38 typed methods)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db.py           # SQLite persistence (14 tables)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api_client.py   # Telemetry &amp; presence client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logger.py       # 21 CFR Part 11 audit logger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config/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settings.py     # Central Singleton configuration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ui/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desktop/        # Edge Chromium WebView2 60 FPS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web/            # Cloud-ready FastAPI Web UI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apps/               # Admin &amp; operational workstations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tests/              # 24 Automated pytest test cases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backups/            # Automated SQLite snapshots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main.py             # Hardware-accelerated entrypoint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└── web_app.py          # Asynchronous FastAPI web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⭐ THE ONE RULE TO REMEMBER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"The screen must not talk to the database."</a:t>
            </a:r>
          </a:p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UI  →  Service (Bridge)  →  Model / Database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No SQL queries inside billing.py or any UI template.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All database operations are mediated by typed Python methods.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Failure isolation: UI bugs cannot corrupt database ACID commits.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Modularity allows independent testing and zero regression.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How a Click Travels (The 7-Step Architectural Pipeline)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538189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Screen (UI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billing.py captures user click, requested medicine SKU, and dosage quantity from input/barcode.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02981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2981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6133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Service (Bridge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sales_service checks role authorization, verifies terminal session, and initiates transaction.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05763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05763"/>
            <a:ext cx="109728" cy="538189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78915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CDSS Engine (Clinical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medicine_service cross-checks patient EHR for penicillin/NSAID allergies and drug interactions.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8545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08545"/>
            <a:ext cx="109728" cy="53818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81697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Utils (Validators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validators.py rejects bad inputs: checks non-blank, non-negative, and quantity &lt;= available stock.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11326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411326"/>
            <a:ext cx="109728" cy="538189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4478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Database (Storage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db.py executes single ACID transaction: writes sales invoice and atomically cuts stock quantity.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14108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14108"/>
            <a:ext cx="109728" cy="53818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87260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6. Proof (Audit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audit_logs and error_logs receive append-only timestamped records containing user ID and payload.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1689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816890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9004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7. Later (TQM Analytics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tqm_report, Pareto charts, and FMEA tables aggregate logs to monitor and eliminate recurring defects.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Design &amp; Relational Schema (14 Tables)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A389"/>
                </a:solidFill>
              </a:defRPr>
            </a:pPr>
            <a:r>
              <a:t>CORE RELATIONAL ENTITIES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1. staff: </a:t>
            </a:r>
            <a:r>
              <a:rPr sz="950">
                <a:solidFill>
                  <a:srgbClr val="1E293B"/>
                </a:solidFill>
              </a:rPr>
              <a:t>Credentials, assigned RBAC role, branch, active status.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2. medicines: </a:t>
            </a:r>
            <a:r>
              <a:rPr sz="950">
                <a:solidFill>
                  <a:srgbClr val="1E293B"/>
                </a:solidFill>
              </a:rPr>
              <a:t>SKU, generic, batch, expiry, days left, stock, MRP, rack.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3. prescriptions: </a:t>
            </a:r>
            <a:r>
              <a:rPr sz="950">
                <a:solidFill>
                  <a:srgbClr val="1E293B"/>
                </a:solidFill>
              </a:rPr>
              <a:t>Patient name, doctor, items JSON, CDSS status, clinical notes.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4. invoices: </a:t>
            </a:r>
            <a:r>
              <a:rPr sz="950">
                <a:solidFill>
                  <a:srgbClr val="1E293B"/>
                </a:solidFill>
              </a:rPr>
              <a:t>Fiscal tax invoices, cashier, subtotal, GST split, total.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5. delivery_orders: </a:t>
            </a:r>
            <a:r>
              <a:rPr sz="950">
                <a:solidFill>
                  <a:srgbClr val="1E293B"/>
                </a:solidFill>
              </a:rPr>
              <a:t>Dispatch route, address, rider, cold-bag check, 4-digit OTP.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6. patients: </a:t>
            </a:r>
            <a:r>
              <a:rPr sz="950">
                <a:solidFill>
                  <a:srgbClr val="1E293B"/>
                </a:solidFill>
              </a:rPr>
              <a:t>EHR profiles, contact phone, chronic diseases, recorded allergies.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7. suppliers: </a:t>
            </a:r>
            <a:r>
              <a:rPr sz="950">
                <a:solidFill>
                  <a:srgbClr val="1E293B"/>
                </a:solidFill>
              </a:rPr>
              <a:t>Distributor directory, GSTIN, contact phone, payment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</a:defRPr>
            </a:pPr>
            <a:r>
              <a:t>COMPLIANCE &amp; TELEMETRY ENTITIES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8. purchase_orders: </a:t>
            </a:r>
            <a:r>
              <a:rPr sz="950">
                <a:solidFill>
                  <a:srgbClr val="1E293B"/>
                </a:solidFill>
              </a:rPr>
              <a:t>GRN inwarding, supplier, batch items JSON, total amount.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9. narcotic_register: </a:t>
            </a:r>
            <a:r>
              <a:rPr sz="950">
                <a:solidFill>
                  <a:srgbClr val="1E293B"/>
                </a:solidFill>
              </a:rPr>
              <a:t>Schedule X: Doctor DMC Reg No, Pharmacist PIN, quantity.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10. temperature_logs: </a:t>
            </a:r>
            <a:r>
              <a:rPr sz="950">
                <a:solidFill>
                  <a:srgbClr val="1E293B"/>
                </a:solidFill>
              </a:rPr>
              <a:t>24/7 cold-chain telemetry: probe ID, temperature (2-8°C).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11. refill_schedules: </a:t>
            </a:r>
            <a:r>
              <a:rPr sz="950">
                <a:solidFill>
                  <a:srgbClr val="1E293B"/>
                </a:solidFill>
              </a:rPr>
              <a:t>Chronic maintenance therapy: last dispensed, next due date.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12. active_sessions: </a:t>
            </a:r>
            <a:r>
              <a:rPr sz="950">
                <a:solidFill>
                  <a:srgbClr val="1E293B"/>
                </a:solidFill>
              </a:rPr>
              <a:t>Live presence: user ID, terminal name, 5s heartbeat timestamp.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13. audit_logs: </a:t>
            </a:r>
            <a:r>
              <a:rPr sz="950">
                <a:solidFill>
                  <a:srgbClr val="1E293B"/>
                </a:solidFill>
              </a:rPr>
              <a:t>21 CFR Part 11 append-only log: user, role, action, details.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14. z_reports: </a:t>
            </a:r>
            <a:r>
              <a:rPr sz="950">
                <a:solidFill>
                  <a:srgbClr val="1E293B"/>
                </a:solidFill>
              </a:rPr>
              <a:t>Daily till close: opening float, sales, payouts, live variance.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Role-Based CRUD Operations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295"/>
                <a:gridCol w="1645920"/>
                <a:gridCol w="1645920"/>
                <a:gridCol w="164592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Module / Entity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👑 Store Admin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🩺 Pharmacist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💳 Cashier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📦 Inventory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🛵 Delivery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Staff &amp; RBAC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Medicines &amp;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(Deduct)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Prescriptions Queue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 (Validate)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(Dispensed)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Invoices &amp;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(Bill &amp; Print)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 Orders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 (Dispatch)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RU (OTP Verify)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Narcotic 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 (Export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(Double Sign)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Daily Z-Reports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(Audit Sign)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(Shift Close)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Software Features → TQM Concept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790895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Implemented Software Feature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Academic TQM Quality Principle / Concept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Modular Architecture (6-Tier)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System Approach / Process Organization (Deming)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CDSS Allergy &amp; Drug-Drug Shield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Poka-Yoke Error Proofing at Source (Shingo)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FEFO Batch Sequencing Algorithm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Process Control &amp; Inventory Wastage Elimination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24/7 Cold-Chain IoT (2-8°C)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Quality Assurance &amp; Biological Preservation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Daily Z-Report Till Reconciliation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Fact-Based Management &amp; Fiscal Governance (Juran)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Immutable Audit Logs (21 CFR Part 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Traceability, Accountability &amp; Non-Repudiation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Automated Error Logs &amp; Telemetry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Root-Cause Prioritization (Pareto 80/20) &amp; FMEA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EHR Profiles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Focus (Zero-Defects Philosophy)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Dashboard &amp; Operational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Stock Accuracy</a:t>
            </a:r>
          </a:p>
          <a:p>
            <a:pPr>
              <a:defRPr sz="2400" b="1">
                <a:solidFill>
                  <a:srgbClr val="00A389"/>
                </a:solidFill>
              </a:defRPr>
            </a:pPr>
            <a:r>
              <a:t>99.2%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Zero unrecorded shrinkage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Billing Errors</a:t>
            </a:r>
          </a:p>
          <a:p>
            <a:pPr>
              <a:defRPr sz="2400" b="1">
                <a:solidFill>
                  <a:srgbClr val="E11D48"/>
                </a:solidFill>
              </a:defRPr>
            </a:pPr>
            <a:r>
              <a:t>0.0%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Poka-Yoke blocks bad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Expired Sales</a:t>
            </a:r>
          </a:p>
          <a:p>
            <a:pPr>
              <a:defRPr sz="2400" b="1">
                <a:solidFill>
                  <a:srgbClr val="0284C7"/>
                </a:solidFill>
              </a:defRPr>
            </a:pPr>
            <a:r>
              <a:t>0.0%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100% FEFO cart lockout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Till Variance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₹ 0.00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Z-Report cash balanced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728655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</a:defRPr>
            </a:pPr>
            <a:r>
              <a:t>📊 TRADITIONAL PHARMACY VS. AEGISPHARM TQM BENCHMARK</a:t>
            </a:r>
          </a:p>
          <a:p>
            <a:pPr>
              <a:spcAft>
                <a:spcPts val="200"/>
              </a:spcAft>
              <a:defRPr sz="950" b="1">
                <a:solidFill>
                  <a:srgbClr val="00A389"/>
                </a:solidFill>
              </a:defRPr>
            </a:pPr>
            <a:r>
              <a:t>Quality Dimension      | Traditional Retail Pharmacy (Manual)         | AegisPharm Enterprise (TQM Driven)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Prescription Safety    | Manual check; vulnerable to handwriting errors | Automated CDSS cross-checks with patient allergy EHR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Inventory Picking      | Random or FIFO; older batches expire on shelves | Algorithmic FEFO (First-Expiry, First-Out) guarantee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Cold-Chain Monitoring  | Infrequent manual thermometer checks; silent loss | Continuous 30s IoT telemetry with automatic alarm alerts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Shift Cash Balancing   | Paper ledger estimations; undetected shrinkage | Daily Z-Report mathematical reconciliation &amp; signed Z-slip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Analysis Tools: Pareto (80/20) &amp; Fishbone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📈 PARETO ROOT-CAUSE ANALYSIS (80/20 RULE)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Look-Alike / Sound-Alike Drugs (45%): </a:t>
            </a:r>
            <a:r>
              <a:rPr sz="1000">
                <a:solidFill>
                  <a:srgbClr val="1E293B"/>
                </a:solidFill>
              </a:rPr>
              <a:t>Addressed by CDSS generic molecule search and allergy confirmation.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Qty &gt; Available Stock Attempts (30%): </a:t>
            </a:r>
            <a:r>
              <a:rPr sz="1000">
                <a:solidFill>
                  <a:srgbClr val="1E293B"/>
                </a:solidFill>
              </a:rPr>
              <a:t>Addressed by pre-save inventory balance assertion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Near-Expiry Drug Dispensing (15%): </a:t>
            </a:r>
            <a:r>
              <a:rPr sz="1000">
                <a:solidFill>
                  <a:srgbClr val="1E293B"/>
                </a:solidFill>
              </a:rPr>
              <a:t>Addressed by algorithmic FEFO nearest-expiry prioritization.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Insulated Cold-Bag Packaging (7%): </a:t>
            </a:r>
            <a:r>
              <a:rPr sz="1000">
                <a:solidFill>
                  <a:srgbClr val="1E293B"/>
                </a:solidFill>
              </a:rPr>
              <a:t>Addressed by mandatory delivery pre-dispatch checklist.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Key TQM Takeaway: </a:t>
            </a:r>
            <a:r>
              <a:rPr sz="1000">
                <a:solidFill>
                  <a:srgbClr val="1E293B"/>
                </a:solidFill>
              </a:rPr>
              <a:t>Eliminating the top 2 error modes removes 75% of all operational dispensary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🐟 FISHBONE (ISHIKAWA) ROOT-CAUSE BREAKDOWN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People (Staff): </a:t>
            </a:r>
            <a:r>
              <a:rPr sz="1000">
                <a:solidFill>
                  <a:srgbClr val="1E293B"/>
                </a:solidFill>
              </a:rPr>
              <a:t>Rushed cashiers during counter peaks; new dispensers misinterpreting doctor handwriting.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Process (Workflow): </a:t>
            </a:r>
            <a:r>
              <a:rPr sz="1000">
                <a:solidFill>
                  <a:srgbClr val="1E293B"/>
                </a:solidFill>
              </a:rPr>
              <a:t>Lack of second-check clinical verification step before POS billing.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Software (System): </a:t>
            </a:r>
            <a:r>
              <a:rPr sz="1000">
                <a:solidFill>
                  <a:srgbClr val="1E293B"/>
                </a:solidFill>
              </a:rPr>
              <a:t>Legacy systems allowing expired stock cart addition and lacking allergy alerts.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Data (Integrity): </a:t>
            </a:r>
            <a:r>
              <a:rPr sz="1000">
                <a:solidFill>
                  <a:srgbClr val="1E293B"/>
                </a:solidFill>
              </a:rPr>
              <a:t>Missing batch numbers, incorrect physical expiry dates, unrecorded patient allergies.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Machine (Hardware): </a:t>
            </a:r>
            <a:r>
              <a:rPr sz="1000">
                <a:solidFill>
                  <a:srgbClr val="1E293B"/>
                </a:solidFill>
              </a:rPr>
              <a:t>Slow workstation hardware and missed clicks on crowded UI screens.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FMEA &amp; How Telemetry Logs Feed Risk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⚠️ FMEA TABLE (RPN = S x O x D)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Sell Expired Drug: </a:t>
            </a:r>
            <a:r>
              <a:rPr sz="950">
                <a:solidFill>
                  <a:srgbClr val="1E293B"/>
                </a:solidFill>
              </a:rPr>
              <a:t>S=10, O=4, D=3 → RPN 120
Action: Hard block prevents cart checkout.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Dispense Allergen Drug: </a:t>
            </a:r>
            <a:r>
              <a:rPr sz="950">
                <a:solidFill>
                  <a:srgbClr val="1E293B"/>
                </a:solidFill>
              </a:rPr>
              <a:t>S=10, O=3, D=4 → RPN 120
Action: CDSS allergy warning &amp; override block.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Qty &gt; Stock Oversell: </a:t>
            </a:r>
            <a:r>
              <a:rPr sz="950">
                <a:solidFill>
                  <a:srgbClr val="1E293B"/>
                </a:solidFill>
              </a:rPr>
              <a:t>S=8, O=5, D=3 → RPN 120
Action: Pre-commit inventory balance assert.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Duplicate Barcode Scan: </a:t>
            </a:r>
            <a:r>
              <a:rPr sz="950">
                <a:solidFill>
                  <a:srgbClr val="1E293B"/>
                </a:solidFill>
              </a:rPr>
              <a:t>S=6, O=2, D=2 → RPN 24
Action: Unique constraint on SKU barcode.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🔄 HOW ERROR LOGS FEED FMEA &amp; IMPROVEMENT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Attempt Blocked: </a:t>
            </a:r>
            <a:r>
              <a:rPr sz="950">
                <a:solidFill>
                  <a:srgbClr val="1E293B"/>
                </a:solidFill>
              </a:rPr>
              <a:t>Cashier attempts bad action or system encounters exception.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Log Appended: </a:t>
            </a:r>
            <a:r>
              <a:rPr sz="950">
                <a:solidFill>
                  <a:srgbClr val="1E293B"/>
                </a:solidFill>
              </a:rPr>
              <a:t>error_logs and audit_logs record error code (E01-E05) + user.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Aggregation: </a:t>
            </a:r>
            <a:r>
              <a:rPr sz="950">
                <a:solidFill>
                  <a:srgbClr val="1E293B"/>
                </a:solidFill>
              </a:rPr>
              <a:t>tqm_report counts monthly frequency of each error code.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Dynamic Occurrence: </a:t>
            </a:r>
            <a:r>
              <a:rPr sz="950">
                <a:solidFill>
                  <a:srgbClr val="1E293B"/>
                </a:solidFill>
              </a:rPr>
              <a:t>High frequency automatically raises Occurrence (O) score in FMEA.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5. Prioritized Action: </a:t>
            </a:r>
            <a:r>
              <a:rPr sz="950">
                <a:solidFill>
                  <a:srgbClr val="1E293B"/>
                </a:solidFill>
              </a:rPr>
              <a:t>High RPN items trigger software updates and staff retraining.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Deming PDCA Cycle &amp; Transaction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</a:defRPr>
            </a:pPr>
            <a:r>
              <a:t>🔁 DEMING PDCA QUALITY CYCLE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PLAN: </a:t>
            </a:r>
            <a:r>
              <a:rPr sz="950">
                <a:solidFill>
                  <a:srgbClr val="1E293B"/>
                </a:solidFill>
              </a:rPr>
              <a:t>Identify excessive oversell and near-expiry mistakes during peak rush.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DO: </a:t>
            </a:r>
            <a:r>
              <a:rPr sz="950">
                <a:solidFill>
                  <a:srgbClr val="1E293B"/>
                </a:solidFill>
              </a:rPr>
              <a:t>Deploy automated FEFO batch picker and pre-save stock balance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CHECK: </a:t>
            </a:r>
            <a:r>
              <a:rPr sz="950">
                <a:solidFill>
                  <a:srgbClr val="1E293B"/>
                </a:solidFill>
              </a:rPr>
              <a:t>Monitor monthly counts of error codes E01 and E03 in error_logs.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ACT: </a:t>
            </a:r>
            <a:r>
              <a:rPr sz="950">
                <a:solidFill>
                  <a:srgbClr val="1E293B"/>
                </a:solidFill>
              </a:rPr>
              <a:t>Standardize FEFO logic across all terminals as mandatory baseline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</a:defRPr>
            </a:pPr>
            <a:r>
              <a:t>⚡ SALE &amp; PURCHASE WORKFLOW SEQUENCES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A2540"/>
                </a:solidFill>
              </a:rPr>
              <a:t>Dispensing Sale Flow: </a:t>
            </a:r>
            <a:r>
              <a:rPr sz="950">
                <a:solidFill>
                  <a:srgbClr val="1E293B"/>
                </a:solidFill>
              </a:rPr>
              <a:t>Login → POS Billing → Barcode / 1-Click eRx → Qty → Validate → Stock Check → Expiry Check → ACID Commit &amp; Thermal Receipt.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A2540"/>
                </a:solidFill>
              </a:rPr>
              <a:t>Consignment Purchase Flow: </a:t>
            </a:r>
            <a:r>
              <a:rPr sz="950">
                <a:solidFill>
                  <a:srgbClr val="1E293B"/>
                </a:solidFill>
              </a:rPr>
              <a:t>Supplier Pick → Inwarding Modal (GRN) → Batch &amp; Expiry Entry → Validate → Stock Increment → Reorder Evaluation → Telemetry Alert.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Working Application Demo Guide: Setup &amp; Personas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🚀 APPLICATION LAUNCH COMMANDS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Automated Tests (Quality Proof): </a:t>
            </a:r>
            <a:r>
              <a:rPr sz="950">
                <a:solidFill>
                  <a:srgbClr val="1E293B"/>
                </a:solidFill>
              </a:rPr>
              <a:t>`pytest`
→ 24/24 unit &amp; integration tests passing in ~7.8s.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Desktop Workstation App: </a:t>
            </a:r>
            <a:r>
              <a:rPr sz="950">
                <a:solidFill>
                  <a:srgbClr val="1E293B"/>
                </a:solidFill>
              </a:rPr>
              <a:t>`python main.py`
→ Boots hardware-accelerated Edge Chromium WebView2 window.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Cloud Web Portal: </a:t>
            </a:r>
            <a:r>
              <a:rPr sz="950">
                <a:solidFill>
                  <a:srgbClr val="1E293B"/>
                </a:solidFill>
              </a:rPr>
              <a:t>`python web_app.py`
→ Starts FastAPI server at http://127.0.0.1:8000 with Swagger docs.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Terminal Binding: </a:t>
            </a:r>
            <a:r>
              <a:rPr sz="950">
                <a:solidFill>
                  <a:srgbClr val="1E293B"/>
                </a:solidFill>
              </a:rPr>
              <a:t>Assign session to Front Counter A, Clinical Kiosk, or Dock.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🔑 WORKSTATION PERSONAS &amp; CREDENTIALS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👑 Admin: `admin` / `admin123`
</a:t>
            </a:r>
            <a:r>
              <a:rPr sz="900">
                <a:solidFill>
                  <a:srgbClr val="64748B"/>
                </a:solidFill>
              </a:rPr>
              <a:t>Scope: RBAC, live heartbeats, Z-Report balancing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🩺 Pharmacist: `pharmacist` / `pharma123`
</a:t>
            </a:r>
            <a:r>
              <a:rPr sz="900">
                <a:solidFill>
                  <a:srgbClr val="64748B"/>
                </a:solidFill>
              </a:rPr>
              <a:t>Scope: CDSS allergy scan, Schedule X narcotic sign-off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💳 Cashier: `cashier` / `cash123`
</a:t>
            </a:r>
            <a:r>
              <a:rPr sz="900">
                <a:solidFill>
                  <a:srgbClr val="64748B"/>
                </a:solidFill>
              </a:rPr>
              <a:t>Scope: 1-Click eRx import, FEFO batch, UPI QR, receipt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📦 Inventory: `inventory` / `inv123`
</a:t>
            </a:r>
            <a:r>
              <a:rPr sz="900">
                <a:solidFill>
                  <a:srgbClr val="64748B"/>
                </a:solidFill>
              </a:rPr>
              <a:t>Scope: Multi-batch ledger, GRN inwarding, 2-8°C IoT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🛵 Delivery: `delivery` / `deliv123`
</a:t>
            </a:r>
            <a:r>
              <a:rPr sz="900">
                <a:solidFill>
                  <a:srgbClr val="64748B"/>
                </a:solidFill>
              </a:rPr>
              <a:t>Scope: Kanban dispatch, cold-bag check, OTP e-POD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Live Demonstration Workflow: Quality Gates in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1: Clinical Pharmacist &amp; CDSS Gate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Review incoming eRx queue. Trigger CDSS Allergy Interception (Penicillin warning blocks checkout). Execute Schedule X Narcotic double sign-off with Doctor DMC No + Pharmacist 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2: POS Cashier Express Billing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1-Click import approved eRx into cart. Verify automatic FEFO nearest-expiry batch selection. Tender checkout: enter Cash (auto change calc) or Dynamic UPI QR. Print 80mm GST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3: Inventory FEFO &amp; Cold-Chain IoT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Inspect batch ledger with countdown badges (&lt;30d Red, &lt;90d Yellow). Click 'Simulate Temp Spike' (9.4°C) on Chamber A fridge → observe immediate visual alert &amp; log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4: Fulfilment Fleet &amp; OTP Handover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Advance order on Kanban dispatch board. Verify insulated cold-bag checklist. Enter customer 4-digit SMS OTP (1234) to confirm electronic Proof-of-Delivery (e-POD).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5: Admin Command Center &amp; Z-Report Close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Monitor live terminal presence heartbeats. Open Daily Z-Report module: enter physical cash counted, verify variance (Balanced ₹0.00), sign and lock shift register.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REVIEW 1 VS REVIEW 2 ROADMAP &amp; VIVA CONCLUSION</a:t>
            </a:r>
          </a:p>
          <a:p>
            <a:pPr>
              <a:spcAft>
                <a:spcPts val="800"/>
              </a:spcAft>
              <a:defRPr sz="2400" b="1">
                <a:solidFill>
                  <a:srgbClr val="FFFFFF"/>
                </a:solidFill>
              </a:defRPr>
            </a:pPr>
            <a:r>
              <a:t>Review 1 Delivered vs Review 2 Horizon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DCF5F0"/>
                </a:solidFill>
              </a:rPr>
              <a:t>Review 1 Delivered (Now): </a:t>
            </a:r>
            <a:r>
              <a:rPr sz="1000">
                <a:solidFill>
                  <a:srgbClr val="E2E8F0"/>
                </a:solidFill>
              </a:rPr>
              <a:t>Complete 6-tier architecture, IEEE 830 SRS, 14 tables, working desktop &amp; web UIs, CDSS allergy interception, FEFO batch dispensing, Daily Z-Report till balancing, 24/24 passing tests.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DCF5F0"/>
                </a:solidFill>
              </a:rPr>
              <a:t>Review 2 Scope (Horizon): </a:t>
            </a:r>
            <a:r>
              <a:rPr sz="1000">
                <a:solidFill>
                  <a:srgbClr val="E2E8F0"/>
                </a:solidFill>
              </a:rPr>
              <a:t>Longitudinal FMEA occurrence tracking from error logs, automated real-time Pareto charts, Ishikawa incident registry, and multi-branch cloud database replication.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10332720" cy="201168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A389"/>
                </a:solidFill>
              </a:defRPr>
            </a:pPr>
            <a:r>
              <a:t>⭐ ONE SENTENCE FOR VIVA CLOSING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"The UI never writes SQL. Validation stops bad data. Audit records who did what. Expired stock cannot be sold. Logs become Pareto, FMEA, PDCA."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🙏 Sincere gratitude to the Computer Science &amp; Management faculty at Amrapali University. The floor is open for viva questions. (Candidate: Piyush Bhatt)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