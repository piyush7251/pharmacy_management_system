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Respected evaluators, I am Piyush Bhatt from Amrapali University. Today I present our complete Review 1 &amp; 2 presentation for TQM Pharm Enterprise.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directly addresses the Problem Statement and Baseline understanding criteria from the university rubric.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satisfies the Quality Objective rubric item, mapping our 5 measurable goals to TQM principles.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satisfies Scope and User Roles: 5 specialized personas enforcing operational separation of duties.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Satisfies Modular folder architecture: clear 6-tier decoupling and enforcing the rule that the UI never writes raw 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Satisfies SRS rubric item: formal IEEE 830 specification detailing all functional and non-functional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Satisfies Modules and Features: outlines all 6 functional subsystems operating across the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Satisfies Core Features/Modules aligned with quality goals: demonstrating that software features map directly to quality objectives.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Satisfies Database/System Design: all 14 normalized tables in SQLite with relational integrity.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Satisfies Database Integration: demonstrates how SQLite is integrated with ACID guarantees, WAL concurrency, and migrations.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Satisfies CRUD operations: comprehensive matrix showing Create, Read, Update, Delete permissions across all 5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Satisfies Initial UI/Workflow: covers interface theming, workstation persona tiles, and 60 FPS desktop rendering.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Satisfies Main System Workflow: end-to-end trace from prescription intake through POS billing and daily Z-report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Demonstrates Pareto 80/20 prioritization and Fishbone cause-and-effect root cause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FMEA risk prioritization and Deming PDCA continuous improvement cycle.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Satisfies Working application: setup commands, 24 automated tests, and pre-seeded credentials for all 5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Satisfies Demonstration of implemented functionality: 5-phase live demonstration script proving all quality gates.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statement: 100% of rubric criteria delivered. Deliver the golden sentence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0A389"/>
                </a:solidFill>
              </a:defRPr>
            </a:pPr>
            <a:r>
              <a:t>REVIEW 1 &amp; 2 · SETUP, SRS &amp; WORKING APPLICATION EVALUATION</a:t>
            </a:r>
          </a:p>
          <a:p>
            <a:pPr>
              <a:spcAft>
                <a:spcPts val="800"/>
              </a:spcAft>
              <a:defRPr sz="4000" b="1">
                <a:solidFill>
                  <a:srgbClr val="FFFFFF"/>
                </a:solidFill>
              </a:defRPr>
            </a:pPr>
            <a:r>
              <a:t>TQM Pharm Enterprise</a:t>
            </a:r>
          </a:p>
          <a:p>
            <a:pPr>
              <a:defRPr sz="1600">
                <a:solidFill>
                  <a:srgbClr val="94A3B8"/>
                </a:solidFill>
              </a:defRPr>
            </a:pPr>
            <a:r>
              <a:t>Clinical &amp; Retail Pharmacy Operating System with Total Quality Management Architecture</a:t>
            </a:r>
            <a:br/>
            <a:r>
              <a:t>Quality Goal: Q01 Improve Reliability &amp; Zero-Defects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663440"/>
            <a:ext cx="5486400" cy="1645920"/>
          </a:xfrm>
          <a:prstGeom prst="roundRect">
            <a:avLst/>
          </a:prstGeom>
          <a:solidFill>
            <a:srgbClr val="123456"/>
          </a:solidFill>
          <a:ln w="15240">
            <a:solidFill>
              <a:srgbClr val="00A3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80060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</a:defRPr>
            </a:pPr>
            <a:r>
              <a:t>PRESENTER:</a:t>
            </a: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👤 Piyush Bhatt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Student, Amrapali University, Haldwani, Uttarakhand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4663440"/>
            <a:ext cx="4572000" cy="1645920"/>
          </a:xfrm>
          <a:prstGeom prst="roundRect">
            <a:avLst/>
          </a:prstGeom>
          <a:solidFill>
            <a:srgbClr val="123456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480060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</a:defRPr>
            </a:pPr>
            <a:r>
              <a:t>EVALUATION SCOPE:</a:t>
            </a: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🏛️ Amrapali University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B.Tech CSE Project Reviews 1 &amp; 2</a:t>
            </a:r>
            <a:br/>
            <a:r>
              <a:t>Academic Year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RUBRIC: PROBLEM STATEMENT &amp; BASELINE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Problem Statement &amp; Baseline Clinical Understanding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328416" cy="54864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19072"/>
            <a:ext cx="3328416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1. Medication Dispensing Errors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30540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Clinical Baseline: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• Over 1.3 million preventable patient injuries occur annually due to adverse drug events (ADEs).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• Manual interpretation of doctor prescriptions causes dosage miscalculations and transcription slips.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• Lack of automated allergy cross-checks risks fatal Penicillin anaphylaxis.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• Baseline Solution: Automated Clinical Decision Support System (CDSS) acting as an immutable quality shield.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645920"/>
            <a:ext cx="3328416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25696" y="1645920"/>
            <a:ext cx="3328416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5696" y="1719072"/>
            <a:ext cx="3328416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2. Cold-Chain &amp; Expiry Spoilage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2856" y="2331720"/>
            <a:ext cx="30540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Supply Chain Baseline: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• Vaccines, insulin, and biologics degrade silently outside the mandatory 2.0°C–8.0°C envelope.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• Standard retail FIFO picking allows older batches to sit unnoticed while newer stock is sold.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• Substantial annual capital lost in expired, unsellable inventory.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• Baseline Solution: Algorithmic FEFO (First-Expiry, First-Out) picking + 24/7 continuous IoT temperature telemetry.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1645920"/>
            <a:ext cx="3328416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9872" y="1645920"/>
            <a:ext cx="3328416" cy="54864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19872" y="1719072"/>
            <a:ext cx="3328416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3. Regulatory &amp; Till Shrinkage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2" y="2331720"/>
            <a:ext cx="30540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Operational Baseline: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• Inadequate tracking of Schedule X / NDPS controlled sedatives invites severe legal penalties and license cancellation.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• Cash drawer variances, unmonitored mid-shift payouts, and unverified digital receipts.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• Failed surprise drug inspector audits due to paper registers.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• Baseline Solution: Mandatory dual-PIN narcotic register + Daily Z-Report mathematical cash reconciliation.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RUBRIC: QUALITY 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Quality Objectives Aligned with TQM Principles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8339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833932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55064"/>
            <a:ext cx="10241280" cy="724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A2540"/>
                </a:solidFill>
              </a:defRPr>
            </a:pPr>
            <a:r>
              <a:t>Objective 1: Zero Medication Dispensing Defects (Patient Focus)</a:t>
            </a:r>
          </a:p>
          <a:p>
            <a:pPr>
              <a:spcAft>
                <a:spcPts val="100"/>
              </a:spcAft>
              <a:defRPr sz="950">
                <a:solidFill>
                  <a:srgbClr val="1E293B"/>
                </a:solidFill>
              </a:defRPr>
            </a:pPr>
            <a:r>
              <a:t>Poka-Yoke error-proofing: Automated Clinical Decision Support System (CDSS) intercepts allergen cross-reactions (Penicillin, NSAIDs) and toxic drug interactions before an invoice can be created.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80436"/>
            <a:ext cx="10728655" cy="8339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580436"/>
            <a:ext cx="109728" cy="8339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35300"/>
            <a:ext cx="10241280" cy="724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A2540"/>
                </a:solidFill>
              </a:defRPr>
            </a:pPr>
            <a:r>
              <a:t>Objective 2: 100% Cold-Chain Storage &amp; Transport Compliance</a:t>
            </a:r>
          </a:p>
          <a:p>
            <a:pPr>
              <a:spcAft>
                <a:spcPts val="100"/>
              </a:spcAft>
              <a:defRPr sz="950">
                <a:solidFill>
                  <a:srgbClr val="1E293B"/>
                </a:solidFill>
              </a:defRPr>
            </a:pPr>
            <a:r>
              <a:t>Biological Integrity: Guarantee all thermo-sensitive pharmaceuticals remain in 2.0°C–8.0°C via 30s background IoT telemetry streaming and automated thermal spike alarms.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60673"/>
            <a:ext cx="10728655" cy="8339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560673"/>
            <a:ext cx="109728" cy="8339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15537"/>
            <a:ext cx="10241280" cy="724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A2540"/>
                </a:solidFill>
              </a:defRPr>
            </a:pPr>
            <a:r>
              <a:t>Objective 3: Zero Expiry Dead-Stock Losses (FEFO Scheduling)</a:t>
            </a:r>
          </a:p>
          <a:p>
            <a:pPr>
              <a:spcAft>
                <a:spcPts val="100"/>
              </a:spcAft>
              <a:defRPr sz="950">
                <a:solidFill>
                  <a:srgbClr val="1E293B"/>
                </a:solidFill>
              </a:defRPr>
            </a:pPr>
            <a:r>
              <a:t>Process Quality: Eliminate inventory wastage by algorithmically enforcing First-Expiry, First-Out (FEFO) batch prioritization; hard-lock dispensing of expired SKUs.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40910"/>
            <a:ext cx="10728655" cy="8339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540910"/>
            <a:ext cx="109728" cy="83393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595774"/>
            <a:ext cx="10241280" cy="724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A2540"/>
                </a:solidFill>
              </a:defRPr>
            </a:pPr>
            <a:r>
              <a:t>Objective 4: Zero Cash Register Discrepancy &amp; Till Balancing</a:t>
            </a:r>
          </a:p>
          <a:p>
            <a:pPr>
              <a:spcAft>
                <a:spcPts val="100"/>
              </a:spcAft>
              <a:defRPr sz="950">
                <a:solidFill>
                  <a:srgbClr val="1E293B"/>
                </a:solidFill>
              </a:defRPr>
            </a:pPr>
            <a:r>
              <a:t>Fact-Based Management: Enforce strict shift-end financial governance through the Daily Z-Report engine, mathematically balancing opening float, sales, payouts, and counted cash.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521147"/>
            <a:ext cx="10728655" cy="8339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521147"/>
            <a:ext cx="109728" cy="833932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576011"/>
            <a:ext cx="10241280" cy="724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A2540"/>
                </a:solidFill>
              </a:defRPr>
            </a:pPr>
            <a:r>
              <a:t>Objective 5: 100% Regulatory Audit Readiness (ISO 9001 &amp; CDSCO)</a:t>
            </a:r>
          </a:p>
          <a:p>
            <a:pPr>
              <a:spcAft>
                <a:spcPts val="100"/>
              </a:spcAft>
              <a:defRPr sz="950">
                <a:solidFill>
                  <a:srgbClr val="1E293B"/>
                </a:solidFill>
              </a:defRPr>
            </a:pPr>
            <a:r>
              <a:t>Continuous Assurance: Maintain an immutable 21 CFR Part 11 SQLite audit trail, dual-PIN Schedule X narcotic register, and 1-click CSV export ready for State Drug Inspectors.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RUBRIC: SCOPE AND USER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Scope and User Roles (Role-Based Access Control)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029968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2029968" cy="59436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202996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👑 Store Admin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1847088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50" b="1">
                <a:solidFill>
                  <a:srgbClr val="64748B"/>
                </a:solidFill>
              </a:defRPr>
            </a:pPr>
            <a:r>
              <a:t>Terminal: Console HQ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Manage staff accounts &amp; passwords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Monitor live online terminal presence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Review daily Z-Report reconciliations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Execute SQLite snapshot backups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Inspect immutable system audit stream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8648" y="1645920"/>
            <a:ext cx="2029968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98648" y="1645920"/>
            <a:ext cx="2029968" cy="59436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98648" y="1691640"/>
            <a:ext cx="202996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🩺 Clinical Pharmacist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0088" y="2331720"/>
            <a:ext cx="1847088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50" b="1">
                <a:solidFill>
                  <a:srgbClr val="64748B"/>
                </a:solidFill>
              </a:defRPr>
            </a:pPr>
            <a:r>
              <a:t>Terminal: Clinical Bay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Review incoming e-Prescriptions queue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CDSS allergy shield cross-checks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Drug-drug interaction risk analysis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Schedule X narcotic PIN sign-off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Manage chronic patient refill cycles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65776" y="1645920"/>
            <a:ext cx="2029968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65776" y="1645920"/>
            <a:ext cx="2029968" cy="59436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65776" y="1691640"/>
            <a:ext cx="202996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💳 Cashier (POS)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57216" y="2331720"/>
            <a:ext cx="1847088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50" b="1">
                <a:solidFill>
                  <a:srgbClr val="64748B"/>
                </a:solidFill>
              </a:defRPr>
            </a:pPr>
            <a:r>
              <a:t>Terminal: Billing Counter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1-Click verified eRx import to cart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Auto FEFO nearest-expiry batch pick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Split payments (Cash, UPI QR, Card)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Calculate cash change return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Print 80mm GST thermal receipt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2904" y="1645920"/>
            <a:ext cx="2029968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32904" y="1645920"/>
            <a:ext cx="2029968" cy="59436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32904" y="1691640"/>
            <a:ext cx="202996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📦 Inventory Manager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24344" y="2331720"/>
            <a:ext cx="1847088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50" b="1">
                <a:solidFill>
                  <a:srgbClr val="64748B"/>
                </a:solidFill>
              </a:defRPr>
            </a:pPr>
            <a:r>
              <a:t>Terminal: Supply Hub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Multi-batch FEFO stock ledger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Record Goods Receipt Notes (GRN)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24/7 Cold-chain IoT fridge monitor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Manage supplier directory &amp; POs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Track low-stock alerts (≤20 units)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00032" y="1645920"/>
            <a:ext cx="2029968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400032" y="1645920"/>
            <a:ext cx="2029968" cy="59436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00032" y="1691640"/>
            <a:ext cx="202996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🛵 Delivery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91472" y="2331720"/>
            <a:ext cx="1847088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50" b="1">
                <a:solidFill>
                  <a:srgbClr val="64748B"/>
                </a:solidFill>
              </a:defRPr>
            </a:pPr>
            <a:r>
              <a:t>Terminal: Logistics Bay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Active dispatch Kanban route board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Verify cold-bag insulated packaging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4-Digit customer OTP verification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Record electronic Proof-of-Delivery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Handover timestamp audit log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RUBRIC: MODULAR FOLDER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Modular Folder Architecture &amp; 6-Tier System Blueprint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A2540"/>
                </a:solidFill>
              </a:defRPr>
            </a:pPr>
            <a:r>
              <a:t>📁 ENTERPRISE MODULAR REPOSITORY LAYOUT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Pharmacy_Management_System/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├── core/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├── bridge.py       # RPC Bridge (38 typed methods)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├── db.py           # SQLite persistence (14 tables)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├── api_client.py   # Telemetry &amp; presence client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└── logger.py       # 21 CFR Part 11 audit logger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├── config/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└── settings.py     # Central Singleton configuration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├── ui/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├── desktop/        # Edge Chromium WebView2 60 FPS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└── web/            # Cloud-ready FastAPI Web UI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├── apps/               # Admin &amp; operational workstations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├── tests/              # 24 Automated pytest test cases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├── backups/            # Automated SQLite snapshots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├── main.py             # Hardware-accelerated entrypoint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└── web_app.py          # Asynchronous FastAPI web server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57800" cy="4663440"/>
          </a:xfrm>
          <a:prstGeom prst="roundRect">
            <a:avLst/>
          </a:prstGeom>
          <a:solidFill>
            <a:srgbClr val="123456"/>
          </a:solidFill>
          <a:ln w="15240">
            <a:solidFill>
              <a:srgbClr val="00A3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0A389"/>
                </a:solidFill>
              </a:defRPr>
            </a:pPr>
            <a:r>
              <a:t>⭐ THE ONE RULE TO REMEMBER</a:t>
            </a:r>
          </a:p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</a:defRPr>
            </a:pPr>
            <a:r>
              <a:t>"The screen must not talk to the database."</a:t>
            </a:r>
          </a:p>
          <a:p>
            <a:pPr>
              <a:spcAft>
                <a:spcPts val="1000"/>
              </a:spcAft>
              <a:defRPr sz="1300" b="1">
                <a:solidFill>
                  <a:srgbClr val="0284C7"/>
                </a:solidFill>
              </a:defRPr>
            </a:pPr>
            <a:r>
              <a:t>UI  →  Service (Bridge)  →  Model / Database</a:t>
            </a:r>
          </a:p>
          <a:p>
            <a:pPr>
              <a:spcAft>
                <a:spcPts val="400"/>
              </a:spcAft>
              <a:defRPr sz="1000">
                <a:solidFill>
                  <a:srgbClr val="E2E8F0"/>
                </a:solidFill>
              </a:defRPr>
            </a:pPr>
            <a:r>
              <a:t>• No raw SQL queries inside billing.py or any UI template.</a:t>
            </a:r>
          </a:p>
          <a:p>
            <a:pPr>
              <a:spcAft>
                <a:spcPts val="400"/>
              </a:spcAft>
              <a:defRPr sz="1000">
                <a:solidFill>
                  <a:srgbClr val="E2E8F0"/>
                </a:solidFill>
              </a:defRPr>
            </a:pPr>
            <a:r>
              <a:t>• All database operations are mediated by typed Python methods.</a:t>
            </a:r>
          </a:p>
          <a:p>
            <a:pPr>
              <a:spcAft>
                <a:spcPts val="400"/>
              </a:spcAft>
              <a:defRPr sz="1000">
                <a:solidFill>
                  <a:srgbClr val="E2E8F0"/>
                </a:solidFill>
              </a:defRPr>
            </a:pPr>
            <a:r>
              <a:t>• Failure isolation: UI bugs cannot corrupt database ACID commits.</a:t>
            </a:r>
          </a:p>
          <a:p>
            <a:pPr>
              <a:spcAft>
                <a:spcPts val="400"/>
              </a:spcAft>
              <a:defRPr sz="1000">
                <a:solidFill>
                  <a:srgbClr val="E2E8F0"/>
                </a:solidFill>
              </a:defRPr>
            </a:pPr>
            <a:r>
              <a:t>• Validation and audit have dedicated architectural homes.</a:t>
            </a:r>
          </a:p>
          <a:p>
            <a:pPr>
              <a:spcAft>
                <a:spcPts val="400"/>
              </a:spcAft>
              <a:defRPr sz="1000">
                <a:solidFill>
                  <a:srgbClr val="E2E8F0"/>
                </a:solidFill>
              </a:defRPr>
            </a:pPr>
            <a:r>
              <a:t>• Allows layer-by-layer agile development and test-driven verification.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RUBRIC: SRS (REQUIREMENTS ENGINEERING)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Software Requirements Specification (SRS) — IEEE 830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0A389"/>
                </a:solidFill>
              </a:defRPr>
            </a:pPr>
            <a:r>
              <a:t>📋 CORE FUNCTIONAL REQUIREMENTS (FR-01 TO FR-10)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FR-01 (Auth &amp; Telemetry): SHA-256 password hash, session UUID, 5s heartbeat.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FR-02 (CDSS Safety Engine): eRx cross-check for patient Penicillin allergies.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FR-03 (Schedule X Narcotics): Doctor DMC Reg + Pharmacist 4-digit PIN log.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FR-04 (FEFO Batch Picker): Automatic sorting by earliest expiry; lock expired lot.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FR-05 (POS Express Billing): 1-Click eRx import, cash change calc, dynamic UPI QR.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FR-06 (Goods Receipt GRN): Inward supplier consignments with batch &amp; cost.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FR-07 (IoT Cold-Chain): Monitor 2-8°C sensors; trigger audible/visual excursion alert.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FR-08 (Delivery Fleet): Kanban dispatch board with customer 4-digit OTP e-POD.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FR-09 (Z-Report Shift Close): Mathematical cash balancing &amp; signed Z-slip archive.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FR-10 (Audit Logging): 21 CFR Part 11 append-only tamper-evident event stream.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284C7"/>
                </a:solidFill>
              </a:defRPr>
            </a:pPr>
            <a:r>
              <a:t>⚡ NON-FUNCTIONAL REQUIREMENTS &amp; STANDARDS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NFR-01 (Performance &amp; Latency): </a:t>
            </a:r>
            <a:r>
              <a:rPr sz="1000">
                <a:solidFill>
                  <a:srgbClr val="1E293B"/>
                </a:solidFill>
              </a:rPr>
              <a:t>UI click response &lt;50ms; SQLite transaction commit &lt;10ms; 60 FPS hardware acceleration.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NFR-02 (ACID Reliability): </a:t>
            </a:r>
            <a:r>
              <a:rPr sz="1000">
                <a:solidFill>
                  <a:srgbClr val="1E293B"/>
                </a:solidFill>
              </a:rPr>
              <a:t>100% ACID compliance with automatic daily snapshot backups in backups/.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NFR-03 (Security &amp; Non-Repudiation): </a:t>
            </a:r>
            <a:r>
              <a:rPr sz="1000">
                <a:solidFill>
                  <a:srgbClr val="1E293B"/>
                </a:solidFill>
              </a:rPr>
              <a:t>Role-based route shields, session timeout, and immutable audit logging.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NFR-04 (Statutory Compliance): </a:t>
            </a:r>
            <a:r>
              <a:rPr sz="1000">
                <a:solidFill>
                  <a:srgbClr val="1E293B"/>
                </a:solidFill>
              </a:rPr>
              <a:t>Indian Drugs &amp; Cosmetics Act 1940 (Schedule H1/X) and GST electronic tax calculation.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Formal SRS Artifacts: </a:t>
            </a:r>
            <a:r>
              <a:rPr sz="1000">
                <a:solidFill>
                  <a:srgbClr val="1E293B"/>
                </a:solidFill>
              </a:rPr>
              <a:t>Submitted as IEEE Std 830-1998 compliant DOCX (`SRS_TQM_Pharm_Enterprise.docx`) and PDF (`SRS_TQM_Pharm_Enterprise.pdf`).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RUBRIC: MODULES AND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Modules and Features Overview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109728" cy="137160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4892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A2540"/>
                </a:solidFill>
              </a:defRPr>
            </a:pPr>
            <a:r>
              <a:t>🩺 Clinical Station &amp; CDSS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eRx intake queue, allergy cross-matching, drug interaction warning modal, Schedule X double sign-off register.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45920"/>
            <a:ext cx="525780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645920"/>
            <a:ext cx="109728" cy="13716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55648"/>
            <a:ext cx="4892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A2540"/>
                </a:solidFill>
              </a:defRPr>
            </a:pPr>
            <a:r>
              <a:t>💳 POS Express Billing Counter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1-Click approved Rx import, barcode scanner, FEFO batch selection, split payments (Cash/UPI/Card), GST receipt.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00400"/>
            <a:ext cx="525780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200400"/>
            <a:ext cx="109728" cy="13716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310128"/>
            <a:ext cx="4892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A2540"/>
                </a:solidFill>
              </a:defRPr>
            </a:pPr>
            <a:r>
              <a:t>📦 Supply Chain &amp; Inventory Hub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Multi-batch FEFO ledger, low stock alerts (≤20), Goods Receipt Notes (GRN) inwarding, supplier directory.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200400"/>
            <a:ext cx="525780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200400"/>
            <a:ext cx="109728" cy="13716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310128"/>
            <a:ext cx="4892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A2540"/>
                </a:solidFill>
              </a:defRPr>
            </a:pPr>
            <a:r>
              <a:t>❄️ Cold-Chain IoT Telemetry (2-8°C)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Live circular temperature gauges for Chambers A &amp; B, 24/7 background stream, simulated temperature spike alarm.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754880"/>
            <a:ext cx="525780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754880"/>
            <a:ext cx="109728" cy="13716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864608"/>
            <a:ext cx="4892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A2540"/>
                </a:solidFill>
              </a:defRPr>
            </a:pPr>
            <a:r>
              <a:t>🛵 Delivery Fleet &amp; Fulfilment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Active dispatch Kanban board, cold-bag insulation checklist, manual route creation, 4-digit OTP e-POD.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54880"/>
            <a:ext cx="525780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754880"/>
            <a:ext cx="109728" cy="1371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4864608"/>
            <a:ext cx="4892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A2540"/>
                </a:solidFill>
              </a:defRPr>
            </a:pPr>
            <a:r>
              <a:t>👑 Admin Command Center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Staff user CRUD with role assignment, active terminal presence heartbeats, Daily Z-Report till close, audit trail.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RUBRIC: CORE FEATURES/MODULES ALIGNED WITH QUALITY GOALS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Core Features/Modules Aligned with Quality Goals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828800"/>
          <a:ext cx="1036289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5790895"/>
              </a:tblGrid>
              <a:tr h="467360"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Implemented Core Feature / Module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Aligned TQM Quality Goal &amp; Principle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CDSS Allergy &amp; Drug-Drug Shield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Zero Dispensing Defects / Poka-Yoke Error Proofing (Shingo)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Algorithmic FEFO Batch Sequencing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Zero Inventory Dead-Stock / Process Waste Elimination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24/7 IoT Cold-Chain Monitoring (2-8°C)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Zero Biological Degradation / Quality Assurance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Daily Z-Report Mathematical Balancing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Zero Till Variance / Fact-Based Management (Juran)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Statutory Schedule X Dual PIN Register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Zero Diversion / Indian Drugs &amp; Cosmetics Act 1940 Compliance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Immutable Audit Logs (21 CFR Part 11)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Complete Traceability, Accountability &amp; Non-Repudiation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Automated Error Telemetry (E01-E05)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Root-Cause Prioritization (Pareto 80/20) &amp; FMEA Risk Matrix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Customer &amp; Patient EHR Allergy Profile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Customer &amp; Patient Focus (Crosby Zero-Defects Standard)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RUBRIC: DATABASE/SYSTEM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Database/System Design &amp; Relational Data Dictionary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92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0A389"/>
                </a:solidFill>
              </a:defRPr>
            </a:pPr>
            <a:r>
              <a:t>CORE RELATIONAL ENTITIES (PART 1)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1. staff (users): </a:t>
            </a:r>
            <a:r>
              <a:rPr sz="950">
                <a:solidFill>
                  <a:srgbClr val="1E293B"/>
                </a:solidFill>
              </a:rPr>
              <a:t>Credentials, assigned RBAC role, branch, active status.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2. medicines: </a:t>
            </a:r>
            <a:r>
              <a:rPr sz="950">
                <a:solidFill>
                  <a:srgbClr val="1E293B"/>
                </a:solidFill>
              </a:rPr>
              <a:t>SKU, generic, batch lot, expiry, days left, stock, MRP, rack.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3. prescriptions: </a:t>
            </a:r>
            <a:r>
              <a:rPr sz="950">
                <a:solidFill>
                  <a:srgbClr val="1E293B"/>
                </a:solidFill>
              </a:rPr>
              <a:t>Patient name, doctor, items JSON, CDSS status, clinical notes.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4. invoices (sales): </a:t>
            </a:r>
            <a:r>
              <a:rPr sz="950">
                <a:solidFill>
                  <a:srgbClr val="1E293B"/>
                </a:solidFill>
              </a:rPr>
              <a:t>Official tax invoices, cashier, subtotal, GST split, total amount.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5. delivery_orders: </a:t>
            </a:r>
            <a:r>
              <a:rPr sz="950">
                <a:solidFill>
                  <a:srgbClr val="1E293B"/>
                </a:solidFill>
              </a:rPr>
              <a:t>Dispatch route, address, rider, cold-bag check, 4-digit OTP.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6. patients (customers): </a:t>
            </a:r>
            <a:r>
              <a:rPr sz="950">
                <a:solidFill>
                  <a:srgbClr val="1E293B"/>
                </a:solidFill>
              </a:rPr>
              <a:t>EHR profiles, contact phone, chronic diseases, recorded allergies.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7. suppliers: </a:t>
            </a:r>
            <a:r>
              <a:rPr sz="950">
                <a:solidFill>
                  <a:srgbClr val="1E293B"/>
                </a:solidFill>
              </a:rPr>
              <a:t>Distributor directory, GSTIN, contact phone, payment terms.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4892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284C7"/>
                </a:solidFill>
              </a:defRPr>
            </a:pPr>
            <a:r>
              <a:t>COMPLIANCE &amp; TELEMETRY ENTITIES (PART 2)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8. purchase_orders: </a:t>
            </a:r>
            <a:r>
              <a:rPr sz="950">
                <a:solidFill>
                  <a:srgbClr val="1E293B"/>
                </a:solidFill>
              </a:rPr>
              <a:t>GRN inwarding, supplier, batch items JSON, total amount.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9. narcotic_register: </a:t>
            </a:r>
            <a:r>
              <a:rPr sz="950">
                <a:solidFill>
                  <a:srgbClr val="1E293B"/>
                </a:solidFill>
              </a:rPr>
              <a:t>Schedule X: Doctor DMC Reg No, Pharmacist PIN, batch, qty.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10. temperature_logs: </a:t>
            </a:r>
            <a:r>
              <a:rPr sz="950">
                <a:solidFill>
                  <a:srgbClr val="1E293B"/>
                </a:solidFill>
              </a:rPr>
              <a:t>24/7 cold-chain telemetry: probe ID, temperature (2-8°C).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11. refill_schedules: </a:t>
            </a:r>
            <a:r>
              <a:rPr sz="950">
                <a:solidFill>
                  <a:srgbClr val="1E293B"/>
                </a:solidFill>
              </a:rPr>
              <a:t>Chronic maintenance therapy: last dispensed, next due date.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12. active_sessions: </a:t>
            </a:r>
            <a:r>
              <a:rPr sz="950">
                <a:solidFill>
                  <a:srgbClr val="1E293B"/>
                </a:solidFill>
              </a:rPr>
              <a:t>Live presence: user ID, terminal name, 5s heartbeat timestamp.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13. audit_logs: </a:t>
            </a:r>
            <a:r>
              <a:rPr sz="950">
                <a:solidFill>
                  <a:srgbClr val="1E293B"/>
                </a:solidFill>
              </a:rPr>
              <a:t>21 CFR Part 11 append-only log: user, role, action, details.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14. z_reports: </a:t>
            </a:r>
            <a:r>
              <a:rPr sz="950">
                <a:solidFill>
                  <a:srgbClr val="1E293B"/>
                </a:solidFill>
              </a:rPr>
              <a:t>Daily till close: opening float, sales, payouts, live variance.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RUBRIC: DATABASE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Database Integration: ACID Transactions &amp; Migrations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8339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833932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55064"/>
            <a:ext cx="10241280" cy="724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A2540"/>
                </a:solidFill>
              </a:defRPr>
            </a:pPr>
            <a:r>
              <a:t>1. ACID Transaction Integrity (Atomicity &amp; Consistency)</a:t>
            </a:r>
          </a:p>
          <a:p>
            <a:pPr>
              <a:spcAft>
                <a:spcPts val="100"/>
              </a:spcAft>
              <a:defRPr sz="950">
                <a:solidFill>
                  <a:srgbClr val="1E293B"/>
                </a:solidFill>
              </a:defRPr>
            </a:pPr>
            <a:r>
              <a:t>Transactions guarantee complete success or complete rollback: saving an invoice, cutting batch stock, and writing the audit row occur together or not at all.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80436"/>
            <a:ext cx="10728655" cy="8339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580436"/>
            <a:ext cx="109728" cy="8339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35300"/>
            <a:ext cx="10241280" cy="724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A2540"/>
                </a:solidFill>
              </a:defRPr>
            </a:pPr>
            <a:r>
              <a:t>2. SQLite WAL (Write-Ahead Logging) &amp; Concurrency</a:t>
            </a:r>
          </a:p>
          <a:p>
            <a:pPr>
              <a:spcAft>
                <a:spcPts val="100"/>
              </a:spcAft>
              <a:defRPr sz="950">
                <a:solidFill>
                  <a:srgbClr val="1E293B"/>
                </a:solidFill>
              </a:defRPr>
            </a:pPr>
            <a:r>
              <a:t>Enabled Write-Ahead Logging allows simultaneous non-blocking reads from multiple terminal UI threads while writes commit in &lt;10ms.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60673"/>
            <a:ext cx="10728655" cy="8339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560673"/>
            <a:ext cx="109728" cy="83393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15537"/>
            <a:ext cx="10241280" cy="724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A2540"/>
                </a:solidFill>
              </a:defRPr>
            </a:pPr>
            <a:r>
              <a:t>3. Relational Foreign Keys &amp; Check Constraints</a:t>
            </a:r>
          </a:p>
          <a:p>
            <a:pPr>
              <a:spcAft>
                <a:spcPts val="100"/>
              </a:spcAft>
              <a:defRPr sz="950">
                <a:solidFill>
                  <a:srgbClr val="1E293B"/>
                </a:solidFill>
              </a:defRPr>
            </a:pPr>
            <a:r>
              <a:t>Foreign keys enforce referential integrity between prescriptions, invoices, and patients. Check constraints prevent negative inventory.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40910"/>
            <a:ext cx="10728655" cy="8339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540910"/>
            <a:ext cx="109728" cy="8339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595774"/>
            <a:ext cx="10241280" cy="724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A2540"/>
                </a:solidFill>
              </a:defRPr>
            </a:pPr>
            <a:r>
              <a:t>4. Schema Migrations Without Data Loss</a:t>
            </a:r>
          </a:p>
          <a:p>
            <a:pPr>
              <a:spcAft>
                <a:spcPts val="100"/>
              </a:spcAft>
              <a:defRPr sz="950">
                <a:solidFill>
                  <a:srgbClr val="1E293B"/>
                </a:solidFill>
              </a:defRPr>
            </a:pPr>
            <a:r>
              <a:t>The migration subsystem dynamically applies ALTER TABLE schema updates without wiping student or patient test records.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521147"/>
            <a:ext cx="10728655" cy="8339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521147"/>
            <a:ext cx="109728" cy="8339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576011"/>
            <a:ext cx="10241280" cy="724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A2540"/>
                </a:solidFill>
              </a:defRPr>
            </a:pPr>
            <a:r>
              <a:t>5. Automated Database Snapshots &amp; Archival</a:t>
            </a:r>
          </a:p>
          <a:p>
            <a:pPr>
              <a:spcAft>
                <a:spcPts val="100"/>
              </a:spcAft>
              <a:defRPr sz="950">
                <a:solidFill>
                  <a:srgbClr val="1E293B"/>
                </a:solidFill>
              </a:defRPr>
            </a:pPr>
            <a:r>
              <a:t>System creates timestamped snapshot backups in backups/ daily and on application exit for disaster recovery.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RUBRIC: CRUD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CRUD Operations Implementation Across All Entities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828800"/>
          <a:ext cx="1036289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295"/>
                <a:gridCol w="1645920"/>
                <a:gridCol w="1645920"/>
                <a:gridCol w="1645920"/>
                <a:gridCol w="1645920"/>
                <a:gridCol w="1645920"/>
              </a:tblGrid>
              <a:tr h="525780"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Entity / Subsystem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👑 Store Admin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🩺 Pharmacist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💳 Cashier POS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📦 Inventory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🛵 Delivery Rider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Staff &amp; RBAC Accounts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CRUD (Add/Edit Users)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 (Staff Directory)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 (Read Profile)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 (Read Profile)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 (Read Profile)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Medicines &amp; Batch Stock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CRUD (Full Catalog)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 (Clinical View)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R, U (Dispense Deduct)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CRUD (Stock Adjust)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 (Stock Query)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Prescriptions Intake Queue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 (Audit Review)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CRUD (Validate/Reject)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R, U (Mark Dispensed)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 (Consignment)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 (Order Lines)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Invoices &amp; POS Billing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 (Sales History)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 (Rx Dispensing)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CR (Generate &amp; Print)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 (Inward Bills)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 (Delivery Note)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Delivery Orders &amp; Logistics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R, D (Fleet Admin)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 (Dispense Dispatch)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C (Dispatch Order)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 (Cold Checklist)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RU (OTP Validate)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Narcotic Register (Sched 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 (Statutory Export)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CR (Double Sign PIN)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 (Read Only)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 (Inward Only)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No Access (Blocked)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Daily Z-Report Close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R, U (Audit Sign-Off)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No Access (Blocked)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CR (Shift Cash Close)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No Access (Blocked)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No Access (Blocked)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RUBRIC: INITIAL UI/WORKFLOW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Initial UI &amp; Workstation Interface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10789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1078992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55064"/>
            <a:ext cx="10241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A2540"/>
                </a:solidFill>
              </a:defRPr>
            </a:pPr>
            <a:r>
              <a:t>1. Clean Dual Theming (Default: Light / White Mode)</a:t>
            </a:r>
          </a:p>
          <a:p>
            <a:pPr>
              <a:spcAft>
                <a:spcPts val="100"/>
              </a:spcAft>
              <a:defRPr sz="1050">
                <a:solidFill>
                  <a:srgbClr val="1E293B"/>
                </a:solidFill>
              </a:defRPr>
            </a:pPr>
            <a:r>
              <a:t>Engineered for hospital and dispensary lighting: default white theme with crisp slate borders and an instant 1-click Dark Mode toggle.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25496"/>
            <a:ext cx="10728655" cy="10789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825496"/>
            <a:ext cx="109728" cy="107899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880360"/>
            <a:ext cx="10241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A2540"/>
                </a:solidFill>
              </a:defRPr>
            </a:pPr>
            <a:r>
              <a:t>2. Workstation Persona Login Portal Grid</a:t>
            </a:r>
          </a:p>
          <a:p>
            <a:pPr>
              <a:spcAft>
                <a:spcPts val="100"/>
              </a:spcAft>
              <a:defRPr sz="1050">
                <a:solidFill>
                  <a:srgbClr val="1E293B"/>
                </a:solidFill>
              </a:defRPr>
            </a:pPr>
            <a:r>
              <a:t>Interactive visual tiles for all 5 roles pre-filling credentials instantly and assigning sessions to physical terminal counters.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50791"/>
            <a:ext cx="10728655" cy="10789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050791"/>
            <a:ext cx="109728" cy="107899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105655"/>
            <a:ext cx="10241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A2540"/>
                </a:solidFill>
              </a:defRPr>
            </a:pPr>
            <a:r>
              <a:t>3. Zero-Lag 60 FPS Edge Chromium WebView2 Rendering</a:t>
            </a:r>
          </a:p>
          <a:p>
            <a:pPr>
              <a:spcAft>
                <a:spcPts val="100"/>
              </a:spcAft>
              <a:defRPr sz="1050">
                <a:solidFill>
                  <a:srgbClr val="1E293B"/>
                </a:solidFill>
              </a:defRPr>
            </a:pPr>
            <a:r>
              <a:t>Native desktop hardware acceleration eliminates UI frame freezing; background asynchronous threads handle I/O.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76088"/>
            <a:ext cx="10728655" cy="10789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5276088"/>
            <a:ext cx="109728" cy="10789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330951"/>
            <a:ext cx="10241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A2540"/>
                </a:solidFill>
              </a:defRPr>
            </a:pPr>
            <a:r>
              <a:t>4. Responsive Dual Deployment Parity</a:t>
            </a:r>
          </a:p>
          <a:p>
            <a:pPr>
              <a:spcAft>
                <a:spcPts val="100"/>
              </a:spcAft>
              <a:defRPr sz="1050">
                <a:solidFill>
                  <a:srgbClr val="1E293B"/>
                </a:solidFill>
              </a:defRPr>
            </a:pPr>
            <a:r>
              <a:t>Desktop application (Edge WebView2) and Web application (FastAPI) share 100% UI feature parity on tablets and laptops.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RUBRIC: MAIN SYSTEM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Main System Workflow: End-to-End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029968" cy="2926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2029968" cy="54864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202996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1847088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A2540"/>
                </a:solidFill>
              </a:defRPr>
            </a:pPr>
            <a:r>
              <a:t>Stage 1: eRx Intake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Doctor prescription uploaded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Patient EHR allergies scanned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Enters pending review queue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8648" y="1645920"/>
            <a:ext cx="2029968" cy="2926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98648" y="1645920"/>
            <a:ext cx="2029968" cy="54864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98648" y="1691640"/>
            <a:ext cx="202996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STEP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0088" y="2286000"/>
            <a:ext cx="1847088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A2540"/>
                </a:solidFill>
              </a:defRPr>
            </a:pPr>
            <a:r>
              <a:t>Stage 2: Clinical Gate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Pharmacist runs CDSS scan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Allergy &amp; interaction checks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Schedule X PIN authenticated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Status updated to 'Approved'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65776" y="1645920"/>
            <a:ext cx="2029968" cy="2926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65776" y="1645920"/>
            <a:ext cx="2029968" cy="54864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65776" y="1691640"/>
            <a:ext cx="202996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STEP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57216" y="2286000"/>
            <a:ext cx="1847088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A2540"/>
                </a:solidFill>
              </a:defRPr>
            </a:pPr>
            <a:r>
              <a:t>Stage 3: POS Express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1-Click import to Cashier cart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Auto FEFO batch picking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Dynamic UPI QR / Cash change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Thermal 80mm GST receipt printed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2904" y="1645920"/>
            <a:ext cx="2029968" cy="2926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32904" y="1645920"/>
            <a:ext cx="2029968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32904" y="1691640"/>
            <a:ext cx="202996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STEP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24344" y="2286000"/>
            <a:ext cx="1847088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A2540"/>
                </a:solidFill>
              </a:defRPr>
            </a:pPr>
            <a:r>
              <a:t>Stage 4: Cold Fleet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Cold-bag checklist verified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Dispatched on Kanban route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Customer gives 4-digit OTP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Marked 'Delivered' (e-POD)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00032" y="1645920"/>
            <a:ext cx="2029968" cy="2926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400032" y="1645920"/>
            <a:ext cx="2029968" cy="54864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00032" y="1691640"/>
            <a:ext cx="202996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STEP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91472" y="2286000"/>
            <a:ext cx="1847088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A2540"/>
                </a:solidFill>
              </a:defRPr>
            </a:pPr>
            <a:r>
              <a:t>Stage 5: Z-Report Close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Cash drawer counted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Variance calculated (₹0.00)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Shift signed &amp; closed in SQLite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CSV exported for accounting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754880"/>
            <a:ext cx="10728655" cy="1554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8463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0A389"/>
                </a:solidFill>
              </a:defRPr>
            </a:pPr>
            <a:r>
              <a:t>🔄 ARCHITECTURAL PIPELINE SUMMARY: HOW A CLICK TRAVELS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1. Screen takes user click → 2. Service checks role authorization → 3. CDSS verifies patient allergy EHR → 4. Validators assert stock ceiling &amp; expiry → 5. SQLite executes atomic commit (bill + cut stock) → 6. Audit log row written → 7. Dashboard KPI tickers update.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TQM ROOT-CAUSE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TQM Quality Analytics: Pareto (80/20) &amp; Fishbone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0A389"/>
                </a:solidFill>
              </a:defRPr>
            </a:pPr>
            <a:r>
              <a:t>📈 PARETO ROOT-CAUSE ANALYSIS (80/20 RULE)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1. Look-Alike / Sound-Alike Drugs (45%): </a:t>
            </a:r>
            <a:r>
              <a:rPr sz="1000">
                <a:solidFill>
                  <a:srgbClr val="1E293B"/>
                </a:solidFill>
              </a:rPr>
              <a:t>Addressed by CDSS generic molecule search and allergy confirmation.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2. Qty &gt; Available Stock Attempts (30%): </a:t>
            </a:r>
            <a:r>
              <a:rPr sz="1000">
                <a:solidFill>
                  <a:srgbClr val="1E293B"/>
                </a:solidFill>
              </a:rPr>
              <a:t>Addressed by pre-save inventory balance assertion locks.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3. Near-Expiry Drug Dispensing (15%): </a:t>
            </a:r>
            <a:r>
              <a:rPr sz="1000">
                <a:solidFill>
                  <a:srgbClr val="1E293B"/>
                </a:solidFill>
              </a:rPr>
              <a:t>Addressed by algorithmic FEFO nearest-expiry prioritization.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4. Insulated Cold-Bag Packaging (7%): </a:t>
            </a:r>
            <a:r>
              <a:rPr sz="1000">
                <a:solidFill>
                  <a:srgbClr val="1E293B"/>
                </a:solidFill>
              </a:rPr>
              <a:t>Addressed by mandatory delivery pre-dispatch checklist.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Key TQM Takeaway: </a:t>
            </a:r>
            <a:r>
              <a:rPr sz="1000">
                <a:solidFill>
                  <a:srgbClr val="1E293B"/>
                </a:solidFill>
              </a:rPr>
              <a:t>Eliminating the top 2 error modes removes 75% of all operational dispensary defects.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</a:defRPr>
            </a:pPr>
            <a:r>
              <a:t>🐟 FISHBONE (ISHIKAWA) ROOT-CAUSE BREAKDOWN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People (Staff): </a:t>
            </a:r>
            <a:r>
              <a:rPr sz="1000">
                <a:solidFill>
                  <a:srgbClr val="1E293B"/>
                </a:solidFill>
              </a:rPr>
              <a:t>Rushed cashiers during counter peaks; new dispensers misinterpreting doctor handwriting.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Process (Workflow): </a:t>
            </a:r>
            <a:r>
              <a:rPr sz="1000">
                <a:solidFill>
                  <a:srgbClr val="1E293B"/>
                </a:solidFill>
              </a:rPr>
              <a:t>Lack of second-check clinical verification step before POS billing.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Software (System): </a:t>
            </a:r>
            <a:r>
              <a:rPr sz="1000">
                <a:solidFill>
                  <a:srgbClr val="1E293B"/>
                </a:solidFill>
              </a:rPr>
              <a:t>Legacy systems allowing expired stock cart addition and lacking allergy alerts.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Data (Integrity): </a:t>
            </a:r>
            <a:r>
              <a:rPr sz="1000">
                <a:solidFill>
                  <a:srgbClr val="1E293B"/>
                </a:solidFill>
              </a:rPr>
              <a:t>Missing batch numbers, incorrect physical expiry dates, unrecorded patient allergies.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Machine (Hardware): </a:t>
            </a:r>
            <a:r>
              <a:rPr sz="1000">
                <a:solidFill>
                  <a:srgbClr val="1E293B"/>
                </a:solidFill>
              </a:rPr>
              <a:t>Slow workstation hardware and missed clicks on crowded UI screens.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TQM QUALITY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TQM Quality Governance: FMEA Risk &amp; Deming PDCA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E11D48"/>
                </a:solidFill>
              </a:defRPr>
            </a:pPr>
            <a:r>
              <a:t>⚠️ FMEA TABLE (RPN = S x O x D)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Sell Expired Drug: </a:t>
            </a:r>
            <a:r>
              <a:rPr sz="950">
                <a:solidFill>
                  <a:srgbClr val="1E293B"/>
                </a:solidFill>
              </a:rPr>
              <a:t>S=10, O=4, D=3 → RPN 120
Action: Hard block prevents cart checkout.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Dispense Allergen Drug: </a:t>
            </a:r>
            <a:r>
              <a:rPr sz="950">
                <a:solidFill>
                  <a:srgbClr val="1E293B"/>
                </a:solidFill>
              </a:rPr>
              <a:t>S=10, O=3, D=4 → RPN 120
Action: CDSS allergy warning &amp; override block.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Qty &gt; Stock Oversell: </a:t>
            </a:r>
            <a:r>
              <a:rPr sz="950">
                <a:solidFill>
                  <a:srgbClr val="1E293B"/>
                </a:solidFill>
              </a:rPr>
              <a:t>S=8, O=5, D=3 → RPN 120
Action: Pre-commit inventory balance assert.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Duplicate Barcode Scan: </a:t>
            </a:r>
            <a:r>
              <a:rPr sz="950">
                <a:solidFill>
                  <a:srgbClr val="1E293B"/>
                </a:solidFill>
              </a:rPr>
              <a:t>S=6, O=2, D=2 → RPN 24
Action: Unique constraint on SKU barcode.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0A389"/>
                </a:solidFill>
              </a:defRPr>
            </a:pPr>
            <a:r>
              <a:t>🔁 DEMING PDCA QUALITY CYCLE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PLAN: </a:t>
            </a:r>
            <a:r>
              <a:rPr sz="950">
                <a:solidFill>
                  <a:srgbClr val="1E293B"/>
                </a:solidFill>
              </a:rPr>
              <a:t>Identify excessive oversell and near-expiry mistakes during peak rush.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DO: </a:t>
            </a:r>
            <a:r>
              <a:rPr sz="950">
                <a:solidFill>
                  <a:srgbClr val="1E293B"/>
                </a:solidFill>
              </a:rPr>
              <a:t>Deploy automated FEFO batch picker and pre-save stock balance locks.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CHECK: </a:t>
            </a:r>
            <a:r>
              <a:rPr sz="950">
                <a:solidFill>
                  <a:srgbClr val="1E293B"/>
                </a:solidFill>
              </a:rPr>
              <a:t>Monitor monthly counts of error codes E01 and E03 in error_logs.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ACT: </a:t>
            </a:r>
            <a:r>
              <a:rPr sz="950">
                <a:solidFill>
                  <a:srgbClr val="1E293B"/>
                </a:solidFill>
              </a:rPr>
              <a:t>Standardize FEFO logic across all terminals as mandatory baseline policy.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Log Feedback Loop: </a:t>
            </a:r>
            <a:r>
              <a:rPr sz="950">
                <a:solidFill>
                  <a:srgbClr val="1E293B"/>
                </a:solidFill>
              </a:rPr>
              <a:t>Blocked actions write to error_logs → tqm_report counts frequency → Occurrence score dynamically updates in FMEA table.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RUBRIC: WORKING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Working Application Setup, Verification &amp; Personas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0A389"/>
                </a:solidFill>
              </a:defRPr>
            </a:pPr>
            <a:r>
              <a:t>🚀 APPLICATION LAUNCH &amp; VERIFICATION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Automated Tests (Quality Proof): </a:t>
            </a:r>
            <a:r>
              <a:rPr sz="950">
                <a:solidFill>
                  <a:srgbClr val="1E293B"/>
                </a:solidFill>
              </a:rPr>
              <a:t>`pytest`
→ 24/24 unit &amp; integration tests passing in ~7.8s.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Desktop Workstation App: </a:t>
            </a:r>
            <a:r>
              <a:rPr sz="950">
                <a:solidFill>
                  <a:srgbClr val="1E293B"/>
                </a:solidFill>
              </a:rPr>
              <a:t>`python main.py`
→ Boots hardware-accelerated Edge Chromium WebView2 window.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Cloud Web Portal: </a:t>
            </a:r>
            <a:r>
              <a:rPr sz="950">
                <a:solidFill>
                  <a:srgbClr val="1E293B"/>
                </a:solidFill>
              </a:rPr>
              <a:t>`python web_app.py`
→ Starts FastAPI server at http://127.0.0.1:8000 with Swagger docs.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Terminal Binding: </a:t>
            </a:r>
            <a:r>
              <a:rPr sz="950">
                <a:solidFill>
                  <a:srgbClr val="1E293B"/>
                </a:solidFill>
              </a:rPr>
              <a:t>Assign session to Front Counter A, Clinical Kiosk, or Dock.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</a:defRPr>
            </a:pPr>
            <a:r>
              <a:t>🔑 WORKSTATION PERSONAS &amp; CREDENTIALS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👑 Store Admin: `admin` / `admin123`
</a:t>
            </a:r>
            <a:r>
              <a:rPr sz="900">
                <a:solidFill>
                  <a:srgbClr val="64748B"/>
                </a:solidFill>
              </a:rPr>
              <a:t>Scope: RBAC, live presence, Daily Z-Report balancing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🩺 Pharmacist: `pharmacist` / `pharma123`
</a:t>
            </a:r>
            <a:r>
              <a:rPr sz="900">
                <a:solidFill>
                  <a:srgbClr val="64748B"/>
                </a:solidFill>
              </a:rPr>
              <a:t>Scope: CDSS allergy scan, Schedule X narcotic sign-off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💳 POS Cashier: `cashier` / `cash123`
</a:t>
            </a:r>
            <a:r>
              <a:rPr sz="900">
                <a:solidFill>
                  <a:srgbClr val="64748B"/>
                </a:solidFill>
              </a:rPr>
              <a:t>Scope: 1-Click eRx import, FEFO batch, UPI QR, receipt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📦 Inventory: `inventory` / `inv123`
</a:t>
            </a:r>
            <a:r>
              <a:rPr sz="900">
                <a:solidFill>
                  <a:srgbClr val="64748B"/>
                </a:solidFill>
              </a:rPr>
              <a:t>Scope: Multi-batch ledger, GRN inwarding, 2-8°C IoT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🛵 Delivery Agent: `delivery` / `deliv123`
</a:t>
            </a:r>
            <a:r>
              <a:rPr sz="900">
                <a:solidFill>
                  <a:srgbClr val="64748B"/>
                </a:solidFill>
              </a:rPr>
              <a:t>Scope: Kanban dispatch, cold-bag check, OTP e-POD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RUBRIC: DEMONSTRATION OF IMPLEMENTED FUNCTIONALITY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Demonstration of Implemented Functionality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8339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833932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55064"/>
            <a:ext cx="10241280" cy="724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A2540"/>
                </a:solidFill>
              </a:defRPr>
            </a:pPr>
            <a:r>
              <a:t>Phase 1: Clinical Pharmacist &amp; CDSS Gate</a:t>
            </a:r>
          </a:p>
          <a:p>
            <a:pPr>
              <a:spcAft>
                <a:spcPts val="100"/>
              </a:spcAft>
              <a:defRPr sz="950">
                <a:solidFill>
                  <a:srgbClr val="1E293B"/>
                </a:solidFill>
              </a:defRPr>
            </a:pPr>
            <a:r>
              <a:t>Review incoming eRx queue. Trigger CDSS Allergy Interception (Penicillin warning blocks checkout). Execute Schedule X Narcotic double sign-off with Doctor DMC No + Pharmacist PIN.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80436"/>
            <a:ext cx="10728655" cy="8339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580436"/>
            <a:ext cx="109728" cy="8339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35300"/>
            <a:ext cx="10241280" cy="724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A2540"/>
                </a:solidFill>
              </a:defRPr>
            </a:pPr>
            <a:r>
              <a:t>Phase 2: POS Cashier Express Billing</a:t>
            </a:r>
          </a:p>
          <a:p>
            <a:pPr>
              <a:spcAft>
                <a:spcPts val="100"/>
              </a:spcAft>
              <a:defRPr sz="950">
                <a:solidFill>
                  <a:srgbClr val="1E293B"/>
                </a:solidFill>
              </a:defRPr>
            </a:pPr>
            <a:r>
              <a:t>1-Click import approved eRx into cart. Verify automatic FEFO nearest-expiry batch selection. Tender checkout: enter Cash (auto change calc) or Dynamic UPI QR. Print 80mm GST receipt.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60673"/>
            <a:ext cx="10728655" cy="8339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560673"/>
            <a:ext cx="109728" cy="833932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15537"/>
            <a:ext cx="10241280" cy="724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A2540"/>
                </a:solidFill>
              </a:defRPr>
            </a:pPr>
            <a:r>
              <a:t>Phase 3: Inventory FEFO &amp; Cold-Chain IoT</a:t>
            </a:r>
          </a:p>
          <a:p>
            <a:pPr>
              <a:spcAft>
                <a:spcPts val="100"/>
              </a:spcAft>
              <a:defRPr sz="950">
                <a:solidFill>
                  <a:srgbClr val="1E293B"/>
                </a:solidFill>
              </a:defRPr>
            </a:pPr>
            <a:r>
              <a:t>Inspect batch ledger with countdown badges (&lt;30d Red, &lt;90d Yellow). Click 'Simulate Temp Spike' (9.4°C) on Chamber A fridge → observe immediate visual alert &amp; log entry.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40910"/>
            <a:ext cx="10728655" cy="8339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540910"/>
            <a:ext cx="109728" cy="8339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595774"/>
            <a:ext cx="10241280" cy="724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A2540"/>
                </a:solidFill>
              </a:defRPr>
            </a:pPr>
            <a:r>
              <a:t>Phase 4: Fulfilment Fleet &amp; OTP Handover</a:t>
            </a:r>
          </a:p>
          <a:p>
            <a:pPr>
              <a:spcAft>
                <a:spcPts val="100"/>
              </a:spcAft>
              <a:defRPr sz="950">
                <a:solidFill>
                  <a:srgbClr val="1E293B"/>
                </a:solidFill>
              </a:defRPr>
            </a:pPr>
            <a:r>
              <a:t>Advance order on Kanban dispatch board. Verify insulated cold-bag checklist. Enter customer 4-digit SMS OTP (1234) to confirm electronic Proof-of-Delivery (e-POD).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521147"/>
            <a:ext cx="10728655" cy="8339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521147"/>
            <a:ext cx="109728" cy="83393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576011"/>
            <a:ext cx="10241280" cy="724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A2540"/>
                </a:solidFill>
              </a:defRPr>
            </a:pPr>
            <a:r>
              <a:t>Phase 5: Admin Command Center &amp; Z-Report Close</a:t>
            </a:r>
          </a:p>
          <a:p>
            <a:pPr>
              <a:spcAft>
                <a:spcPts val="100"/>
              </a:spcAft>
              <a:defRPr sz="950">
                <a:solidFill>
                  <a:srgbClr val="1E293B"/>
                </a:solidFill>
              </a:defRPr>
            </a:pPr>
            <a:r>
              <a:t>Monitor live terminal presence heartbeats. Open Daily Z-Report module: enter physical cash counted, verify variance (Balanced ₹0.00), sign and lock shift register.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31520"/>
            <a:ext cx="10332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0A389"/>
                </a:solidFill>
              </a:defRPr>
            </a:pPr>
            <a:r>
              <a:t>REVIEW 1 &amp; 2 SUMMARY, EMPIRICAL VERIFICATION &amp; VIVA CLOSING</a:t>
            </a:r>
          </a:p>
          <a:p>
            <a:pPr>
              <a:spcAft>
                <a:spcPts val="800"/>
              </a:spcAft>
              <a:defRPr sz="2400" b="1">
                <a:solidFill>
                  <a:srgbClr val="FFFFFF"/>
                </a:solidFill>
              </a:defRPr>
            </a:pPr>
            <a:r>
              <a:t>24 / 24 Automated Tests Passed (100% Reliability)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DCF5F0"/>
                </a:solidFill>
              </a:rPr>
              <a:t>Review 1 Deliverables (Now Completed): </a:t>
            </a:r>
            <a:r>
              <a:rPr sz="950">
                <a:solidFill>
                  <a:srgbClr val="E2E8F0"/>
                </a:solidFill>
              </a:rPr>
              <a:t>Problem Statement, Quality Objectives, IEEE 830 SRS, 5 User Roles, Modular 6-Tier Architecture, 14 Tables, CRUD Matrix, Initial UI, Working Desktop &amp; Web App, 24 Automated Tests.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DCF5F0"/>
                </a:solidFill>
              </a:rPr>
              <a:t>Review 2 Horizon (Next Phase): </a:t>
            </a:r>
            <a:r>
              <a:rPr sz="950">
                <a:solidFill>
                  <a:srgbClr val="E2E8F0"/>
                </a:solidFill>
              </a:rPr>
              <a:t>Longitudinal FMEA occurrence tracking from error logs, automated real-time Pareto charts, Ishikawa incident registry, and multi-branch cloud database replication.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389120"/>
            <a:ext cx="10332720" cy="2011680"/>
          </a:xfrm>
          <a:prstGeom prst="roundRect">
            <a:avLst/>
          </a:prstGeom>
          <a:solidFill>
            <a:srgbClr val="123456"/>
          </a:solidFill>
          <a:ln w="15240">
            <a:solidFill>
              <a:srgbClr val="00A3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480560"/>
            <a:ext cx="9966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0A389"/>
                </a:solidFill>
              </a:defRPr>
            </a:pPr>
            <a:r>
              <a:t>⭐ ONE SENTENCE FOR VIVA CLOSING</a:t>
            </a:r>
          </a:p>
          <a:p>
            <a:pPr>
              <a:spcAft>
                <a:spcPts val="600"/>
              </a:spcAft>
              <a:defRPr sz="1300" b="1">
                <a:solidFill>
                  <a:srgbClr val="FFFFFF"/>
                </a:solidFill>
              </a:defRPr>
            </a:pPr>
            <a:r>
              <a:t>"The UI never writes SQL. Validation stops bad data. Audit records who did what. Expired stock cannot be sold. Logs become Pareto, FMEA, PDCA."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🙏 Sincere gratitude to the Computer Science &amp; Management faculty at Amrapali University. The floor is open for viva questions. (Candidate: Piyush Bhatt)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