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Respected evaluators, I am Piyush Bhatt from Amrapali University. Today I present our complete Process + Quality review covering Review 1 and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vision and mission directly translate into TQM controls: stop the error at source, control every transaction, and log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pillars: Error prevention at source, process control, and continuous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of our process map has active software controls sitting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SIPOC defines the Suppliers, Inputs, Process, Outputs, and Customers of our dispensing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stakeholder has explicit functional and quality requirements addressed by AegisPharm.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viva, examiners want numbers: zero expired sales, &lt;1.5% variance, 100% oversell blocking, &lt;50ms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5 core quality objectives form the baseline contract for system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Goal Q01 is Improve Reliability, delivered through 5 foundational software engineering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software feature in AegisPharm maps directly to a formal TQM quality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exact logical chain for viva: Customer Need -&gt; Measurable Requirement -&gt; Process Control -&gt; Monitoring -&gt; Quality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a 10-second summary: Validate at entry, control the bill path, and monitor with audit and error 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our architectural deep-dive: examining every folder, screen, and database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folder structure strictly adheres to clean modular separation.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structure provides a dedicated home for every single responsibility.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 mental model: UI displays, Services decide, Database stores, Reports summarize, main boots.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Modularity reduces cognitive load and guarantees long-term maintainability.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architectural rule guarantees security, testability, and prevents SQL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4 questions represent the core of the evaluation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Detailed file layout mapped across Core, Services, UI, Reports, and Utils.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startup, configuration, and database layer handle infrastructure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Models represent pure business objects decoupled from presentation and raw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encapsulate all business logic, clinical rules, and transaction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screen handles user interaction and calls backend service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 provide business intelligence; utils enforce quality gates; assets ensure visual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Examiners love this slide: tracing a user click across all 7 layers of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of architectural benefits: maintainability, security, and quality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flow: requests cascade downwards through strict interfaces to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2 shows the closed quality loop: transaction data feeds TQM analysis to continuously improve.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main.py acts as the director orchestrating startup without containing business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Settings are isolated into a single dataclass singleton rather than hardcoded across the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database/db.py is our low-level persistence engine enforcing ACID guarantees.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14 normalized relational tables created automatically on first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Migrations allow schema evolution without dropping tables or losing live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Evaluation highlight: preserving test and clinical records during schema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Models represent pure business objects decoupled from presentation and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data showing all 5 active operational roles in AegisPharm.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columns guarantee non-repudiation and prevent unauthorized privilege escalation.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batch-level granularity: batch lot, stock on hand, and expiry countdown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16 schema attributes supporting clinical safety, FEFO picking, and IoT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Distributor directory storing vendor contacts, GSTIN numbers, and credit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Patient records include EHR allergy arrays directly powering CDSS Poka-Yoke error blocking.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Purchase orders record dockside inwarding against supplier consignments.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Invoices link cashier ID, sold batch items, and statutory GST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Append-only audit trail recording every clinical block, sale, and stock adjustment.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telemetry counts feed directly into our FMEA table and Pareto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represent the brain of the application mediating between UI and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Authentication and RBAC security enforced on every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Inventory rules guarantee zero expired sales and automated stock replenishment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Lightning-fast search keeps customer counter checkout under 3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Sales service manages the entire billing transaction atomically.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Inwarding service guarantees batch traceability from supplier dock to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Inventory service eliminates dead-stock write-offs and automates reorders.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service translates raw data into executive and clinical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10 UI screens adhere to the same clean event-driven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Login screen boots directly to our persona grid for seamless role-based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Dashboard displays live financial and clinical KPIs with immediate audit trail visibility.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Medicines screen shows color-coded expiry countdowns. No direct SQL on this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Inventory views allow managers to isolate stock by operational risk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Suppliers manage distributor partnerships; Customers store critical clinical EHR allergy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Purchases screen enforces dockside verification before stock enters the live inventory.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Search screen allows cashiers and pharmacists to locate medicines instantly with multi-filters.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Billing is our main operational screen with zero SQL and 100% Poka-Yoke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 screen enforces Role-Based Access Control and audit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 suite provides financial, inventory, expiry, and quality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Utils encapsulate defensive programming routines used across all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Consistency in UI design prevents operational mistakes during hectic counter shifts.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the cornerstone of Review 1 and 2: demonstrating that software features map to academic quality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dashboard provides live data-driven metrics for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Pareto 80/20 analysis: resolving the top 2 error categories eliminates 75% of all dispensing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Fishbone diagram dissects root causes across People, Process, Software, Data, and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FMEA quantifies risk: our hard blocks reduce high-RPN failure modes from 120 down to zero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feedback loop: telemetry logs automatically compute FMEA occurrence ratings.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Deming's Plan-Do-Check-Act cycle applied to continuously eliminate inventory defects.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sequential stages guaranteeing that every completed sale is clinical, fiscal, and audit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Procurement workflow ensuring accurate stock counts and automated replenishment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1 delivers 100% of the foundational architecture and live working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 demarcation between Review 1 deliverables (completed) and Review 2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Memorize this slide for your closing statement: The UI never writes SQL. Validation stops bad data. Audit records who did what. Expired stock cannot be sold. Logs become Pareto, FMEA, PDCA.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A389"/>
                </a:solidFill>
              </a:defRPr>
            </a:pPr>
            <a:r>
              <a:t>SRS REVIEW 1 &amp; 2 · PROCESS + QUALITY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</a:defRPr>
            </a:pPr>
            <a:r>
              <a:t>Process map, stakeholders,</a:t>
            </a:r>
            <a:br/>
            <a:r>
              <a:t>measurable requirements,</a:t>
            </a:r>
            <a:br/>
            <a:r>
              <a:t>quality goals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Pharmacy Management System (AegisPharm Enterprise)</a:t>
            </a:r>
            <a:br/>
            <a:r>
              <a:t>Quality Goal: Q01 Improve Reliability &amp; Zero-Defects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663440"/>
            <a:ext cx="54864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8006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PRESENTER: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👤 Piyush Bhatt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Student, Amrapali University, Haldwani, Uttarakhand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663440"/>
            <a:ext cx="45720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48006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EVALUATION SCOPE: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🏛️ Amrapali University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B.Tech CSE Project Review 1 &amp; 2</a:t>
            </a:r>
            <a:br/>
            <a:r>
              <a:t>Academic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Vision, mission, quality objective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47523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VISION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A pharmacy where no expired or wrong medicine leaves the counter.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0023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240023"/>
            <a:ext cx="109728" cy="14752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13175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MISSION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Build a high-performance desktop and web system that records stock, blocks unsafe sales via clinical CDSS, and shows who did what.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79847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879847"/>
            <a:ext cx="109728" cy="147523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52999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QUALITY OBJECTIVE OF THIS SOFTWARE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Prevent the error at the source.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Control the process. Monitor it with immutable logs and automated telemetry.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Three quality ideas behind the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28416" cy="5486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Error prevention at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Poka-yoke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Blank medicine name blocked.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Qty &gt; available stock blocked.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Expired item blocked from cart.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Allergen contraindication blocked.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1645920"/>
            <a:ext cx="3328416" cy="5486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Process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One path for work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Inwarding (GRN) → Stock (FEFO)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  → CDSS Clinical Gate → Bill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  → Z-Report Shift Close.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UI cannot skip business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645920"/>
            <a:ext cx="3328416" cy="5486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See and trace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Real-time dashboard alerts.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24/7 cold-chain telemetry logs.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Immutable append-only audit trail.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Error logs feeding FMEA &amp; Pareto.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Process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Supplier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42032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Purchase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5603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2540"/>
                </a:solidFill>
              </a:defRPr>
            </a:pPr>
            <a:r>
              <a:t>Controls sitting on this process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4612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Purchase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Batch, qty, cost, expiry must be filled. GRN dock verification against 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10896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24612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Stock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Low-stock threshold alerts (≤20) and 30/90-day expiry lists. 2-8°C IoT temperature monitor.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66344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0060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Bill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CDSS allergy scan + FEFO batch picking + expired lot block + atomic stock deduction + audit.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66344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80060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Report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Daily Z-Report cash drawer balancing. Measure transaction errors and expired stock 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SIPOC of the sale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029968" cy="5486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 (Suppliers)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Supplier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Pharmacist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Doctor (eRx)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SQLite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98648" y="1645920"/>
            <a:ext cx="2029968" cy="5486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 (Inputs)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28600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Medicine Batch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Dispense Qty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Patient EHR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Cashier Role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Payment Tender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645920"/>
            <a:ext cx="2029968" cy="5486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 (Process)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Validate Staff Role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CDSS Allergy Check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Pick FEFO Batch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Deduct Stock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Save + Write Audit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2904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32904" y="1645920"/>
            <a:ext cx="2029968" cy="5486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904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 (Outputs)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344" y="228600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Tax Invoice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80mm Receipt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Decremented Stock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Audit Log Row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Delivery Order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0032" y="1645920"/>
            <a:ext cx="2029968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00032" y="1645920"/>
            <a:ext cx="2029968" cy="5486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691640"/>
            <a:ext cx="20299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 (Customers)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286000"/>
            <a:ext cx="184708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Patient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Cashier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Store Owner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Drug Auditor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Stakeholders and their 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Patient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Safe medicine without allergens or contraindications. Correct GST bill. Transparent pricing.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0112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20112"/>
            <a:ext cx="109728" cy="6553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93264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Cashier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Fast sub-second billing. Clear block if stock is short. Automated cash change &amp; dynamic UPI QR.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0023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40023"/>
            <a:ext cx="109728" cy="6553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3175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Pharmacist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True physical stock. Expiry visible. Automated CDSS drug interaction &amp; Schedule X register.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59935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59935"/>
            <a:ext cx="109728" cy="655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7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Admin / Owner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User roles, live terminal heartbeats, daily Z-Reports, dead-stock analysis, quality numbers.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79847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79847"/>
            <a:ext cx="109728" cy="655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52999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Supplier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Received quantity recorded against Purchase Order (GRN). Payment terms tracking.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99759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699759"/>
            <a:ext cx="109728" cy="655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2911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Auditor / Inspector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Who changed stock or sold what. Immutable 21 CFR Part 11 audit trails &amp; narcotic CSV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Measurable requirements (viva)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Measurable requirements (viva) — Need → Number we can count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73352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No expired sale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Expired sales in a month = 0 (100% hard block at POS cart)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0112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20112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493264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Stock is true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Physical inventory variance &lt; 1.5% across all SKUs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40023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240023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313175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No oversell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Qty &gt; stock attempts blocked = 100% (atomic transaction validation)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59935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059935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33087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Trace every change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100% of stock, price, and dispense actions have user ID + timestamp in audit_logs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79847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879847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52999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Find a drug fast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Database barcode/generic search latency &lt; 50 milliseconds (exceeds &lt;3s target)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99759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699759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2911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See risk early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Items ≤30 days (red) and ≤90 days (amber) automatically tagged on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Measurable quality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O1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Zero expired items on any saved sales invoice.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O2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Every sale either saves fully or not at all (100% ACID transaction atomicity).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O3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Every user action on stock, billing, and credentials is recorded in immutable audit_logs.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O4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Automated database backup snapshot created at least once a day and on application exit.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O5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Authentication and operations fail safely. System catches exceptions; app does not crash.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Assigned quality goal Q01: Improve Reliability — five features we will build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Auto Backup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Automated snapshot copy of pharmacy_system.db created daily and stored in backups/.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Audit Log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Records who, action, old value, new value, terminal IP, and ISO timestamp.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Input Validation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Stops blank medicine names, negative prices, oversell quantities, and invalid 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Error Recovery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If database commit fails, show friendly toast alert; atomic rollback ensures no half-created bill.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User Roles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Store Admin, Pharmacist, Cashier, Inventory Manager, Delivery Agent only see authorized workstations.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Feature → quality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Input Validation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Error prevention at source (Poka-Yoke error-proofing).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User Roles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Process control + accountability (Role-Based Access Control).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Audit Log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Monitoring + traceability (FDA 21 CFR Part 11 immutable trail).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Error Recovery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Reliability. ACID transaction integrity; no broken or corrupted bill.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Auto Backup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Reliability &amp; Resilience. Data is never lost; disaster recovery enabled.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Crucial mapping (say this)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Customer need: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Safe medication dispensing without allergic conflicts or billing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Measurable requirement: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Expired sales = 0; Adverse interaction escapes = 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Process control: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POS billing cannot skip CDSS allergy check or inventory stock/expiry validation.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Monitoring: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Immutable audit_logs + error_logs telemetry + real-time presence dashboard.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Quality goal: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Q01 Reliability &amp; Zero-Defect architecture implemented across all 6 tiers.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One-line viva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47523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Requirement: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No expired or contraindicated medicine dispensed.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0023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240023"/>
            <a:ext cx="109728" cy="14752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13175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Objective: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Expired invoices this month = 0; Till variance = ₹0.00.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79847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879847"/>
            <a:ext cx="109728" cy="147523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52999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How: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Validate at intake (CDSS), control the dispensing path (FEFO), and monitor with audit and error logs.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CASE: Pharmacy Management System</a:t>
            </a:r>
          </a:p>
          <a:p>
            <a:pPr>
              <a:spcAft>
                <a:spcPts val="1400"/>
              </a:spcAft>
              <a:defRPr sz="2000">
                <a:solidFill>
                  <a:srgbClr val="94A3B8"/>
                </a:solidFill>
              </a:defRPr>
            </a:pPr>
            <a:r>
              <a:t>Every folder, every screen, every table.</a:t>
            </a:r>
            <a:br/>
            <a:r>
              <a:t>Simple enough to explain from the last row.</a:t>
            </a:r>
          </a:p>
          <a:p>
            <a:pPr>
              <a:defRPr sz="1500" b="1">
                <a:solidFill>
                  <a:srgbClr val="00A389"/>
                </a:solidFill>
              </a:defRPr>
            </a:pPr>
            <a:r>
              <a:t>Quality-oriented system | Modular design | TQM controls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Project folder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241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Pharmacy_Management_System/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├── core/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│   ├── bridge.py         # Unified Python RPC Bridge (38 methods)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│   ├── db.py             # SQLite persistence layer (14 normalized tables)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│   ├── api_client.py     # Presence heartbeat &amp; background connector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│   └── logger.py         # 21 CFR Part 11 append-only audit logger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├── config/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│   └── settings.py       # Thread-safe Singleton dataclass (config.json)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├── ui/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│   ├── desktop/          # Edge Chromium WebView2 60 FPS clinical frontend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│   └── web/              # Cloud-ready FastAPI Web UI (1:1 feature parity)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├── apps/                 # Standalone workstation modules (admin, cashier, pharma, inv, deliv)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├── tests/                # 24 Automated unit &amp; integration tests (pytest)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├── backups/              # Automated SQLite snapshot archives (.db) &amp; CSV logs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├── main.py               # Hardware-accelerated desktop workstation entrypoint</a:t>
            </a:r>
          </a:p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└── web_app.py            # Asynchronous FastAPI web server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His structure is already good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main.py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Application boot director. Initializes settings, connects SQLite, verifies schema, mounts bridge, opens login.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0112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20112"/>
            <a:ext cx="109728" cy="6553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93264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database/ (core/db.py)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Central data persistence: connection pooling, WAL journaling, 14 tables, migrations, and ACID transactions.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0023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40023"/>
            <a:ext cx="109728" cy="6553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3175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 (core/models)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Domain entities: Staff, Medicine, Supplier, Patient EHR, Prescriptions, Invoices, Delivery.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59935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59935"/>
            <a:ext cx="109728" cy="655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7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services/ (core/bridge.py)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Business rules: Auth service, CDSS safety, FEFO batch picker, POS billing, GRN inwarding.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79847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79847"/>
            <a:ext cx="109728" cy="655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52999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 (ui/desktop + ui/web)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User presentation: Login portal, clinical dispensing, POS cashier, inventory hub, delivery dock.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99759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699759"/>
            <a:ext cx="109728" cy="655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2911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reports/ (core/reports)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Management decisions: Daily Z-Reports, sales ledger, expiry countdowns, audit stream.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What each folder means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What the user sees (presentation layer: HTML5/CSS3 glassmorphism &amp; CustomTkinter widgets).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0112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20112"/>
            <a:ext cx="109728" cy="6553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93264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services/ (core/bridge.py)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Business rules &amp; TQM algorithms (CDSS contraindication checks, FEFO sorting, tax formulas).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0023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40023"/>
            <a:ext cx="109728" cy="6553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3175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What a User / Medicine / Sale / Prescription is (clean typed data structures).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59935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59935"/>
            <a:ext cx="109728" cy="655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7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database/ (core/db.py)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How data is stored (SQLite 3 relational engine, foreign keys, constraints, and transactions).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79847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79847"/>
            <a:ext cx="109728" cy="655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52999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reports/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Numbers for decisions (Daily Z-Reports, variance calculations, expiry risk, and tax summaries).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99759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699759"/>
            <a:ext cx="109728" cy="655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2911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main.py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Starts the program only (orchestrates startup sequence and loads UI).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Why this folder structure?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• One job per folder. Easy to explain.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Evaluators can immediately locate any feature without hunting through monolithic spaghetti 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• A bug in billing does not hide inside main.py.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Failure isolation: bugs remain contained within their domain service without corrupting startup or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• Validation and audit have a dedicated home.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Every input check lives in validators; every critical event logs to immutable audit trails.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• You can build one layer at a time.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Supports incremental agile development and test-driven verification (TDD).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0A389"/>
                </a:solidFill>
              </a:defRPr>
            </a:pPr>
            <a:r>
              <a:t>The one rule to remember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The screen must not talk to the database.</a:t>
            </a:r>
          </a:p>
          <a:p>
            <a:pPr>
              <a:spcAft>
                <a:spcPts val="1400"/>
              </a:spcAft>
              <a:defRPr sz="2200" b="1">
                <a:solidFill>
                  <a:srgbClr val="0284C7"/>
                </a:solidFill>
              </a:defRPr>
            </a:pPr>
            <a:r>
              <a:t>UI  →  Service (Bridge)  →  Model / Database</a:t>
            </a:r>
          </a:p>
          <a:p>
            <a:pPr>
              <a:defRPr sz="1500">
                <a:solidFill>
                  <a:srgbClr val="CBD5E1"/>
                </a:solidFill>
              </a:defRPr>
            </a:pPr>
            <a:r>
              <a:t>No 'SELECT * FROM medicines' inside billing.py or any UI file.</a:t>
            </a:r>
            <a:br/>
            <a:r>
              <a:t>All database queries are mediated by typed Python service methods.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What you must be able to explain (Viva Pillars)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1. What each folder is for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Explain how core, ui, config, server, and tests decouple presentation, domain logic, and persistence.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2. How a click travels: UI → Service → Database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Trace button click from UI event, through RPC Bridge validation, CDSS check, to SQLite ACID commit.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3. What data sits in each table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Explain our 14 normalized tables: staff, medicines, prescriptions, invoices, delivery, telemetry, Z-reports.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4. How this is TQM, not only CRUD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Show Poka-Yoke error blocking, FEFO batch expiry optimization, 2-8°C cold chain telemetry, and shift Z-Report balancing.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Suggested full folder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28416" cy="5486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Core &amp; 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31455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main.py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config/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settings.py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database/ (core/)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db.py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schema.py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migrations.py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models/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user.py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medicine.py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supplier.py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customer.py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sale.py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purchase.py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1645920"/>
            <a:ext cx="3328416" cy="5486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691640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Services &amp;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286000"/>
            <a:ext cx="31455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services/ (bridge.py)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auth_service.py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medicine_service.py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search_service.py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sales_service.py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purchase_service.py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inventory_service.py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report_service.py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ui/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login.py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dashboard.py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medicines.py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billing.py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users.py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645920"/>
            <a:ext cx="3328416" cy="5486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691640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Reports &amp; Utils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286000"/>
            <a:ext cx="31455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reports/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sales_report.py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inventory_report.py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expiry_report.py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tqm_report.py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utils/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validators.py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logger.py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security.py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helpers.py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assets/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icons/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logo/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What each file does — start + config + database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main.py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Starts the application. Loads settings, connects DB, verifies tables, and presents login.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config/settings.py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Application name, DB path, expiry threshold days (30/90), reorder level, invoice prefix.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database/db.py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Opens SQLite, runs parameterized queries, commits/rollbacks ACID transactions, closes connections.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database/schema.py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Creates 14 normalized tables with primary keys, checks, foreign keys, and default values.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database/migrations.py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Applies ALTER TABLE schema migrations without wiping existing patient, stock, or audit data.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What each file does —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models/user.py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Staff user entity: ID, full name, username, hashed password, assigned role, active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0112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20112"/>
            <a:ext cx="109728" cy="6553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93264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models/medicine.py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Pharmaceutical entity: SKU, generic, batch lot, stock qty, cost, MRP, expiry date, rack, cold-chain flag.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0023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40023"/>
            <a:ext cx="109728" cy="6553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3175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models/supplier.py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Distributor entity: ID, corporate name, GSTIN, phone, email, address, credit payment terms.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59935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59935"/>
            <a:ext cx="109728" cy="655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7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models/customer.py (patient)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Patient entity: ID, name, phone, allergy array (Penicillin), chronic diseases, loyalty points.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79847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79847"/>
            <a:ext cx="109728" cy="655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52999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models/sale.py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Invoice entity: Invoice ID, cashier, subtotal, GST split, payment method (Cash/UPI/Card), items JSON.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99759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699759"/>
            <a:ext cx="109728" cy="655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2911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models/purchase.py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Goods Receipt Note (GRN) entity: PO reference, supplier, received date, items list, total value.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What each file does —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538189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auth_service.py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Authentication, logout, SHA-256 password hashing, RBAC role check, session heartbeats.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02981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02981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6133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medicine_service.py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Add, edit, deactivate medicines; adjust stock delta; verify expiry dates before cart addition.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05763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05763"/>
            <a:ext cx="109728" cy="538189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78915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search_service.py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Sub-50ms search by brand name, generic molecule, manufacturer, or USB barcode scan.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08545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08545"/>
            <a:ext cx="109728" cy="53818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81697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sales_service.py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Create invoice, validate stock availability, compute GST tax split, deduct stock, append audit row.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11326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411326"/>
            <a:ext cx="109728" cy="53818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84478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purchase_service.py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Receive supplier shipment against PO, verify inward batch details, atomically increment stock.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14108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14108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87260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inventory_service.py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FEFO batch ledger, low stock alerts (≤20 units), expired list, 30/90-day countdown tags.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1689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816890"/>
            <a:ext cx="109728" cy="538189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9004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report_service.py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Aggregate revenue totals, cash drawer reconciliation (Z-Report), expiry write-offs, quality KPIs.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What each file does — UI screens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538189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ui/login.py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Workstation Persona Grid: visual station tiles for 1-click credential loading and terminal assignment.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02981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02981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6133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ui/dashboard.py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KPI command center: today's sales, low-stock count, near-expiry alerts, online terminal ticker.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05763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05763"/>
            <a:ext cx="109728" cy="538189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78915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ui/medicines.py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Pharmaceutical catalog table with Add/Edit/Deactivate modals and visual countdown badges.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08545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08545"/>
            <a:ext cx="109728" cy="53818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81697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ui/inventory.py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Stock ledger views: All batches, Low stock, Expired, 30 days, 90 days, and manual adjustments.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11326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411326"/>
            <a:ext cx="109728" cy="53818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84478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ui/suppliers.py &amp; customers.py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Distributor directory and patient EHR profiles with registered drug allergies.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14108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14108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87260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ui/purchases.py &amp; search.py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Goods Receipt Note (GRN) inwarding modal and instant multi-parameter barcode search box.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1689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816890"/>
            <a:ext cx="109728" cy="538189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9004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ui/billing.py &amp; users.py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POS checkout with 1-click eRx import, split payment, thermal receipt, and Admin user manager.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What each file does — reports + utils + assets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reports/sales_report.py &amp; inventory_report.py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Daily/weekly sales summaries, top-selling medications, stock valuation, and fast/slow movers.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reports/expiry_report.py &amp; tqm_report.py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Expired batches, 30/90-day risk lists, billing error rate, stockout %, and return accuracy.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utils/validators.py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Poka-Yoke gatekeepers: stop blank names, negative prices, oversell quantities, bad 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utils/logger.py &amp; security.py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Technical error logging into error_logs; SHA-256 password hashing; session tokens.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utils/helpers.py &amp; assets/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Currency formatting (₹), ISO date parser, thermal receipt layout, and clinical medical icons.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How a click uses these files (End-to-End Trace)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538189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1. Screen (UI)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billing.py takes dispensed medicine and quantity requested from cashier input or barcode scan.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02981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02981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6133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2. Service (Bridge)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sales_service.py checks business rules: verifies staff role authorization and cashier terminal 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05763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05763"/>
            <a:ext cx="109728" cy="538189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78915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3. Extra Service (CDSS)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medicine_service.py cross-checks patient EHR for penicillin allergies and evaluates drug-drug interactions.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08545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08545"/>
            <a:ext cx="109728" cy="538189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81697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4. Utils (Validators)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validators.py rejects negative quantities or requests exceeding available batch balance (qty &gt; stock).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11326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411326"/>
            <a:ext cx="109728" cy="53818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84478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5. Database (ACID)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db.py executes atomic transaction: creates sales invoice row and decrements inventory batch together.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14108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14108"/>
            <a:ext cx="109728" cy="53818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87260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6. Proof (Audit)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audit_logs and error_logs receive append-only timestamped event rows with user ID.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1689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816890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9004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7. Later (TQM Analytics)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tqm_report.py, Pareto chart, and FMEA table read logs to measure reliability and prevent future failures.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Why this structure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One folder = one job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Easy viva explanation. Easy bug localization. Clean separation of concerns.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UI has no SQL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Screens only show and ask. Eliminates SQL injection vulnerabilities and tight coupling.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Services hold rules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Stock limits, expiry lockouts, CDSS allergy logic, and pricing calculations live in services.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Utils + reports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Stop bad data at entry and continuously measure software reliability and process quality.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Architecture 1 — request goes 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65532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USER / ADMIN LAYER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Interacts via Workstation Persona (Admin, Pharmacist, Cashier, Inventory, Delivery).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0112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420112"/>
            <a:ext cx="109728" cy="65532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93264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UI LAYER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Login Portal / Clinical Queue / POS Billing / Inventory Hub / Delivery Dock.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0023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40023"/>
            <a:ext cx="109728" cy="6553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3175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SERVICE LAYER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Business rules, CDSS allergy scanning, FEFO batch prioritization, and tax calculations.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59935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59935"/>
            <a:ext cx="109728" cy="655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7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MODEL &amp; UTILITY LAYER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User / Medicine / Sale / Patient objects + Validators / Security / Tamper-evident Logger.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79847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79847"/>
            <a:ext cx="109728" cy="655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52999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DATABASE LAYER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SQLite 3 ACID relational engine with Write-Ahead Logging (WAL) and foreign key integrity.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99759"/>
            <a:ext cx="10728655" cy="655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699759"/>
            <a:ext cx="109728" cy="655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2911"/>
            <a:ext cx="1024128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REPORTS / ANALYTICS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Sales Ledger / Stock Valuation / Expiry Risk / Daily Z-Report Cash Reconciliation.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Architecture 2 — quality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241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0A389"/>
                </a:solidFill>
              </a:defRPr>
            </a:pPr>
            <a:r>
              <a:t>🔄 TOTAL QUALITY MANAGEMENT FEEDBACK LOOP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A2540"/>
                </a:solidFill>
              </a:rPr>
              <a:t>1. Operational Execution: </a:t>
            </a:r>
            <a:r>
              <a:rPr sz="1100">
                <a:solidFill>
                  <a:srgbClr val="1E293B"/>
                </a:solidFill>
              </a:rPr>
              <a:t>UI Layer → Service Layer → SQLite Database processes everyday sales, purchases, and dispensing.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A2540"/>
                </a:solidFill>
              </a:rPr>
              <a:t>2. Data Generation: </a:t>
            </a:r>
            <a:r>
              <a:rPr sz="1100">
                <a:solidFill>
                  <a:srgbClr val="1E293B"/>
                </a:solidFill>
              </a:rPr>
              <a:t>Every transaction generates structured transaction records, audit_logs rows, and error_logs events.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A2540"/>
                </a:solidFill>
              </a:rPr>
              <a:t>3. Continuous Quality Analysis: </a:t>
            </a:r>
            <a:r>
              <a:rPr sz="1100">
                <a:solidFill>
                  <a:srgbClr val="1E293B"/>
                </a:solidFill>
              </a:rPr>
              <a:t>Data from work automatically feeds Pareto 80/20 analysis, Fishbone root cause diagrams, and FMEA tables.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A2540"/>
                </a:solidFill>
              </a:rPr>
              <a:t>4. Process Improvement (PDCA): </a:t>
            </a:r>
            <a:r>
              <a:rPr sz="1100">
                <a:solidFill>
                  <a:srgbClr val="1E293B"/>
                </a:solidFill>
              </a:rPr>
              <a:t>Insights drive software validation updates, tighter input restrictions, and supervisor training.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A2540"/>
                </a:solidFill>
              </a:rPr>
              <a:t>5. Standardized Outcome: </a:t>
            </a:r>
            <a:r>
              <a:rPr sz="1100">
                <a:solidFill>
                  <a:srgbClr val="1E293B"/>
                </a:solidFill>
              </a:rPr>
              <a:t>Errors decrease month over month; software continuously moves toward Crosby's Zero-Defect standard.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main.py — start the program only (Director, not the worker)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1. Load settings.py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Reads config.json or initializes system default parameters (DB path, thresholds, ports).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2. Open database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Initializes SQLite connection pool with Write-Ahead Logging (WAL) and thread safety.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3. Run schema / migrations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Verifies all 14 tables exist and runs column migrations without touching existing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4. Mount Unified RPC Bridge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Exposes 38 Python methods to frontend JavaScript without external framework overhead.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5. Open login.py (Desktop Window)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Spawns 60 FPS hardware-accelerated Edge Chromium WebView2 window defaulting to Light Mode.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config / settings.py — Values that may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config / settings.py — Values that may change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705295"/>
              </a:tblGrid>
              <a:tr h="4673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Configuration Key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Runtime Value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APP_NAME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AegisPharm Enterprise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DB_PATH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data/pharmacy_system.db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EXPIRY_WARNING_DAYS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30 (Critical Red) / 90 (Attention Amber)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REORDER_LEVEL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 units (Automated low stock trigger)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COLD_CHAIN_MIN_TEMP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2.0 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COLD_CHAIN_MAX_TEMP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8.0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INVOICE_PREFIX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INV-2026-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1.0.0 (Review 1 &amp; 2 Release Candidate)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database / db.py (Core SQLite Engine)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1. Opens the SQLite file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Thread-safe connection factory (`check_same_thread=False`) with row factories returning dict-like records.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2. Runs SQL when a service asks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Executes parameterized SQL queries (`?` placeholders) strictly preventing SQL injection attacks.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3. Starts and ends an ACID transaction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Manages `BEGIN TRANSACTION`, `COMMIT`, and `ROLLBACK` ensuring full transactional atomicity.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4. Closes the connection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Clean connection lifecycle management ensuring zero database locks or memory leaks.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database / schema.py — tables we create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1: staff (users)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19072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2: medicines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04288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3: suppliers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304288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377440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4: patients (customers)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62656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35808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5: purchase_orders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962656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035808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6: prescriptions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21024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94176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7: invoices (sales)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21024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694176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8: delivery_orders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79392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52544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9: narcotic_register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279392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352544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10: temperature_logs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37759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10911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11: refill_schedules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937759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5010911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12: active_sessions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596128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669280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13: audit_logs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596128"/>
            <a:ext cx="5257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669280"/>
            <a:ext cx="4892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📁 Table 14: z_reports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database / migrations.py (important)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A2540"/>
                </a:solidFill>
              </a:defRPr>
            </a:pPr>
            <a:r>
              <a:t>VERSION 1 (Initial Release)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medicines: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id / name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price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quantity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0A389"/>
                </a:solidFill>
              </a:defRPr>
            </a:pPr>
            <a:r>
              <a:t>LATER VERSION (Migrated Schema)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Same table + Added Columns without data loss: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barcode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batch_no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expiry_date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days_to_expiry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cold_chain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interactions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Why migrations.py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1. Test data is not wiped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If you only edit schema.py and recreate the DB, existing test and patient data is wiped.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2. Migration adds columns to the live file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Executes dynamic `ALTER TABLE` checks; existing rows receive safe default values.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3. Review line for evaluators: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'The database layer can grow and adapt without destroying operational records.'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4. TQM link: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Directly implements Maintainability, Data Integrity, and Continuous Process Control.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models/ — what exists in the shop (A model is the object. Not SQL. Not screen.)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56432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user.py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Staff user: ID, name, username, hashed password, role, branch, active status.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56432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691640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medicine.py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9456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Drug item: SKU, generic, category, batch, qty, cost, MRP, expiry, cold-chain flag.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45920"/>
            <a:ext cx="3456432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0144" y="1691640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supplier.py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219456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Distributor: Who we buy stock from, phone, email, GSTIN, payment terms.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023360"/>
            <a:ext cx="3456432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customer.py (patient)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7200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Patient: Name, phone, recorded drug allergies (Penicillin), chronic conditions.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4023360"/>
            <a:ext cx="3456432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0832" y="4069080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57200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One sales invoice + its line items, cashier, payment method, tax split.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0144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4" y="4023360"/>
            <a:ext cx="3456432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0144" y="4069080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purchase.py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457200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One purchase order / GRN consignment bill from a supplier + items.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users table —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2011680"/>
                <a:gridCol w="2011680"/>
                <a:gridCol w="1767535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user_id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username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STF-01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Dr. Rajesh Kulkarni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STF-02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Pooja Sharma, R.Ph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pharmacist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Pharmacist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STF-03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Amit Deshmukh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cashier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Cashier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STF-04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Vikram Patel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STF-05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Suresh Kumar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delivery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Delivery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users table — other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password_hash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Never store plaintext '123456'. Passwords are verified against cryptographic hashes.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phone / email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Employee contact profile used for statutory shift notifications, not login handles.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branch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Assigned retail pharmacy branch (e.g. 'Apex Central - Branch #01') supporting multi-store expansion.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role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Strict Role-Based Access Control: Admin / Pharmacist / Cashier / Inventory / Delivery.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medicines table —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200400"/>
                <a:gridCol w="2011680"/>
                <a:gridCol w="1371600"/>
                <a:gridCol w="2133295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batch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expiry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Augmentin 625 Duo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AUG-2026-X1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2026-12-01 (Healthy)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Humalog Insulin 100IU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INS-2026-H2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2026-10-05 (Critical &lt;30d)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Cetirizine 10mg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CET-2027-C1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2027-03-20 (Healthy)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MED-004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ORS Hydration Sachet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ORS-2026-D1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2026-09-30 (Expired)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MED-005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Alprax 0.5mg (Sched X)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NDP-2026-A1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2026-11-15 (Dual PIN)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medicines — full field 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00784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medicine_id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00784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name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21992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76856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generic_name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221992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276856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category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98064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52928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manufacturer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98064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852928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batch_no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74136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42900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purchase_price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374136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42900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selling_price (MRP)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50208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05072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quantity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950208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005072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reorder_level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26280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581144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mfg_date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26280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81144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expiry_date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02352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57216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days_to_expiry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02352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157216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rack_coordinate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678424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33288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cold_chain (2-8°C)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5678424"/>
            <a:ext cx="5257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5733288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2540"/>
                </a:solidFill>
              </a:defRPr>
            </a:pPr>
            <a:r>
              <a:t>• interactions 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suppliers table —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2011680"/>
                <a:gridCol w="2011680"/>
                <a:gridCol w="1767535"/>
              </a:tblGrid>
              <a:tr h="10515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phone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city / branch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payment_terms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SUP-001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Apex Medico Distributors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+91 98201 11111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Mumbai HQ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30 Days Net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SUP-002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Care Pharma Logistics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+91 98201 22222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Pune 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15 Days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SUP-003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BioCold Vaccines India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+91 98201 33333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Haldwani / Delhi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Immediate COD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customers table — example (patients &amp; EHR)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  <a:gridCol w="2286000"/>
                <a:gridCol w="3779215"/>
              </a:tblGrid>
              <a:tr h="10515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phone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notes / clinical allergies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PAT-001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Walk-in Counter Patient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OTC Cash sale, no chronic history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PAT-002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Suresh Patil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+91 98220 44551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Allergic: ['Penicillin', 'Amoxicillin']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PAT-003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Ananya Verma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+91 98111 77882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Chronic: Diabetes Type 2 (Insulin Refill)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purchases + purchase_items (GRN Inwarding)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2011680"/>
                <a:gridCol w="2560320"/>
                <a:gridCol w="1401775"/>
              </a:tblGrid>
              <a:tr h="10515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purchase_id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supplier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PO-2026-01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Apex Medico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2026-09-10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Augmentin 625 Duo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100 units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PO-2026-01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Apex Medico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2026-09-10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Cetirizine 10mg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60 units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PO-2026-02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BioCold Vaccines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Humalog Insulin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 vials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sales + sale_items —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2743200"/>
                <a:gridCol w="1645920"/>
                <a:gridCol w="1676095"/>
              </a:tblGrid>
              <a:tr h="10515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invoice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cashier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INV-2026-1045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Amit (Cashier)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Augmentin 625 Duo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 strips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₹ 400.00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INV-2026-1045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Amit (Cashier)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Cetirizine 10mg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 strip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₹ 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INV-2026-1044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Amit (Cashier)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ORS Hydration Sachet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 packs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₹ 90.00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audit_logs — example (21 CFR Part 11 compliant)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4389120"/>
                <a:gridCol w="1401775"/>
              </a:tblGrid>
              <a:tr h="8412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who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Pooja (Pharma)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UPDATE_STOCK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Augmentin: 140 → 138 units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10:42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Amit (Cashier)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INV-2026-1045 ₹ 425.00 (UPI QR)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Dr. Rajesh (Admin)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ADD_USER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Created Suresh / Delivery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09:05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Pooja (Pharma)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BLOCK_SALE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BLOCKED: Amoxicillin (Penicillin allergy)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error_logs — for FMEA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2011680"/>
                <a:gridCol w="3779215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last seen / action taken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qty &gt; stock attempt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18 times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11:12 (Blocked by validators)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blank medicine 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7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10:03 (Blocked by Poka-Yoke)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expired item selected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 times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11:40 (Blocked by FEFO guard)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duplicate barcode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09:50 (Unique constraint)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login authentication failed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9 times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08:21 (Security audit)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services/ — the work happens here (UI asks. Service decides. Database stores.)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9728" cy="10058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auth_service.py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645920"/>
            <a:ext cx="109728" cy="1005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55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medicine_service.py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788920"/>
            <a:ext cx="109728" cy="10058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98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search_service.py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788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788920"/>
            <a:ext cx="109728" cy="1005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898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sales_service.py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31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931920"/>
            <a:ext cx="109728" cy="10058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41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purchase_service.py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31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931920"/>
            <a:ext cx="109728" cy="1005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041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inventory_service.py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074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074920"/>
            <a:ext cx="109728" cy="10058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184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cdss_service.py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5074920"/>
            <a:ext cx="525780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5074920"/>
            <a:ext cx="109728" cy="10058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184648"/>
            <a:ext cx="4892040" cy="7863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⚙️ report_service.py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Encapsulates domain logic, validation checks, and ACID storage calls.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auth_service.py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Login and logout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Authenticates staff against SQLite database and cleans up active sessions on exit.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Check password hash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Verifies supplied password against salted SHA-256 hash without plaintext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Read the user role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Extracts RBAC role: Admin, Pharmacist, Cashier, Inventory Manager, Delivery Agent.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Allow or block a screen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Workstation route shields enforce role authorization before UI views render.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Start a simple session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Registers terminal session UUID, machine IP, and initiates 5s presence heartbeat.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medicine_service.py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Add / update / deactivate a medicine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Manages lifecycle of pharmaceutical SKUs with category and Schedule flags.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Change stock after purchase or sale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Performs atomic stock increments on inwarding and decrements on billing.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Check expiry before a sale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Enforces strict lockout: medicines with days_to_expiry ≤ 0 cannot be added to cart.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Check reorder level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Flags low stock warning tags when on-hand quantity drops below 20 units.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Never let UI write the row directly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All inventory mutations must pass through validated service methods.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search_service.py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Search by brand name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Sub-string matching for fast autocomplete during counter prescription intake.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Search by generic molecule name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Enables therapeutic substitution (e.g. Paracetamol across brand trade names).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Search by manufacturer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Finds stock by pharmaceutical laboratory (e.g. Cipla, Sun Pharma, Abbott).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Search by barcode scanner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Instant USB HID hardware scanner lookup (&lt;10ms query execution).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Multi-parameter filter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Filter simultaneously by therapeutic category, expiry band (&lt;30d), and low stock.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sales_service.py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Create sales invoice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Initializes fiscal invoice header with unique sequence number (INV-YYYY-XXXX).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Add sale items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Attaches batch lots, sold units, unit prices, and calculates 5% GST tax split.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Check stock and expiry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Performs pre-commit assertion: guarantees viable expiry and stock availability.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Calculate totals &amp; split tender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Computes subtotal, CGST, SGST, cash change return, or dynamic UPI QR string.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Atomic Transaction Execution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Saves invoice + cuts stock + appends audit log in one single ACID commit.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purchase_service.py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Create purchase from a supplier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Records Goods Receipt Note (GRN) linked to supplier code and invoice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Add purchase items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Captures SKU, inward batch number, manufacturing date, and calendar expiry.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Increase medicine quantity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Atomically updates batch inventory ledger and re-computes days to expiry.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Save batch and expiry from the bill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Guarantees full batch traceability from distributor dock to customer handoff.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Write audit: PURCHASE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Records immutable procurement entry in audit_logs for drug inspectors.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inventory_service.py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Current stock ledger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Real-time query of all active pharmaceutical batches with storage rack coordinates.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Low stock list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Isolates SKUs with on-hand units ≤ reorder threshold (≤20) for automated purchase orders.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Expired list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Isolates expired batches (days ≤ 0) for quarantine and return to vendor.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Near-expiry 30 / 90 days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Applies FEFO priority flags to ensure oldest viable lots are dispensed first.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Stock movement analytics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Tracks velocity of fast-moving vs stagnant dead-stock items.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report_service.py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Ask database for grouped numbers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Runs optimized SQL aggregations (`SUM`, `COUNT`, `GROUP BY`) for reporting.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Give clean data to report screens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Formats raw currency, date timestamps, and tax splits for UI presentation.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Sales totals, stock value, expiry counts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Calculates gross revenue, inventory holding valuation, and expiry loss risk.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Quality counts from error_logs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Aggregates error frequency (E01-E05) directly into Pareto and FMEA metrics.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• Daily Z-Report Cash Balancing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Computes expected drawer cash and flags live physical cash variance (Balanced/Short).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ui/ — what the person sees (A screen only: shows data, takes input, calls a service, shows result.)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029968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078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login.py: Takes user events, validates input format, calls login_service.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64592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98648" y="1645920"/>
            <a:ext cx="2029968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70078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19456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dashboard.py: Takes user events, validates input format, calls dashboard_service.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64592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645920"/>
            <a:ext cx="2029968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170078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MEDICINES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19456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medicines.py: Takes user events, validates input format, calls medicines_service.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2904" y="164592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32904" y="1645920"/>
            <a:ext cx="2029968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904" y="170078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INVENTORY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344" y="219456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inventory.py: Takes user events, validates input format, calls inventory_service.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0032" y="164592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00032" y="1645920"/>
            <a:ext cx="2029968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70078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19456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suppliers.py: Takes user events, validates input format, calls suppliers_service.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02336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023360"/>
            <a:ext cx="2029968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7822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CUSTOMERS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7200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customers.py: Takes user events, validates input format, calls customers_service.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98648" y="402336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98648" y="4023360"/>
            <a:ext cx="2029968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407822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PURCHASES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0088" y="457200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purchases.py: Takes user events, validates input format, calls purchases_service.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65776" y="402336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65776" y="4023360"/>
            <a:ext cx="2029968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65776" y="407822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57216" y="457200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search.py: Takes user events, validates input format, calls search_service.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32904" y="402336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32904" y="4023360"/>
            <a:ext cx="2029968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32904" y="407822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BILLING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4344" y="457200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billing.py: Takes user events, validates input format, calls billing_service.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00032" y="4023360"/>
            <a:ext cx="20299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00032" y="4023360"/>
            <a:ext cx="2029968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00032" y="4078224"/>
            <a:ext cx="2029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USERS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91472" y="4572000"/>
            <a:ext cx="1847088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Screen users.py: Takes user events, validates input format, calls users_service.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login.py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Pharmacy Management System Login Portal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Clean White/Light theme by default with instant Dark Mode toggle.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Username &amp; Password Input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Custom styled entry fields with Show/Hide password toggle and keyboard Enter binding.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Workstation Persona Grid (Fast Login)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Interactive tiles for Admin, Pharmacist, Cashier, Inventory, and Delivery pre-filling credentials.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Terminal Location Selector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Assigns workstation to physical counter terminal (Counter A, Clinical Kiosk, Inwarding Bay).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Calls auth_service.py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Transmits credentials for SHA-256 verification and initiates presence heartbeats.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dashboard.py — Real-Time KPI Command Center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Today sales</a:t>
            </a:r>
          </a:p>
          <a:p>
            <a:pPr>
              <a:defRPr sz="2000" b="1">
                <a:solidFill>
                  <a:srgbClr val="00A389"/>
                </a:solidFill>
              </a:defRPr>
            </a:pPr>
            <a:r>
              <a:t>₹ 18,450.00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Low stock</a:t>
            </a:r>
          </a:p>
          <a:p>
            <a:pPr>
              <a:defRPr sz="2000" b="1">
                <a:solidFill>
                  <a:srgbClr val="D97706"/>
                </a:solidFill>
              </a:defRPr>
            </a:pPr>
            <a:r>
              <a:t>12 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Near expiry</a:t>
            </a:r>
          </a:p>
          <a:p>
            <a:pPr>
              <a:defRPr sz="2000" b="1">
                <a:solidFill>
                  <a:srgbClr val="0284C7"/>
                </a:solidFill>
              </a:defRPr>
            </a:pPr>
            <a:r>
              <a:t>7 batches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Expired</a:t>
            </a:r>
          </a:p>
          <a:p>
            <a:pPr>
              <a:defRPr sz="2000" b="1">
                <a:solidFill>
                  <a:srgbClr val="E11D48"/>
                </a:solidFill>
              </a:defRPr>
            </a:pPr>
            <a:r>
              <a:t>0 dispensed (3 blocked)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728655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49039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A2540"/>
                </a:solidFill>
              </a:defRPr>
            </a:pPr>
            <a:r>
              <a:t>Left Navigation Menu: Dashboard | Medicines | Inventory | Purchases | Billing | Customers | Suppliers | Reports | Quality | Users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Recent Transactions Audit Feed:</a:t>
            </a:r>
            <a:br/>
            <a:r>
              <a:t>• INV-2026-1045: ₹ 385.00 | Cashier: Amit | Tender: Dynamic UPI QR | Time: 11:15</a:t>
            </a:r>
            <a:br/>
            <a:r>
              <a:t>• INV-2026-1044: ₹ 720.00 | Cashier: Amit | Tender: Cash (Change ₹ 280) | Time: 11:10</a:t>
            </a:r>
            <a:br/>
            <a:r>
              <a:t>• BLOCKED: Amoxicillin dispense attempt for allergic patient Suresh Patil | Time: 11:05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medicines.py — Actions: Add | Edit | Deactivate | Refresh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1371600"/>
                <a:gridCol w="2011680"/>
                <a:gridCol w="2041855"/>
              </a:tblGrid>
              <a:tr h="8412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Batch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Expiry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Augmentin 625 Duo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AUG-2026-X1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2026-12-01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HEALTHY (Green)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Humalog Insulin 100IU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INS-2026-H2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2026-10-05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CRITICAL &lt;30d (Red)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Cetirizine 10mg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CET-2027-C1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2027-03-20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HEALTHY (Green)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ORS Hydration Sachet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ORS-2026-D1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2026-09-30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EXPIRED (Locked)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inventory.py — Real-Time Stock Ledger 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All Stock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Comprehensive multi-batch inventory ledger displaying rack coordinates and unit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Low Stock (Qty ≤ Reorder Level)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Filtered view showing SKUs requiring immediate distributor purchase order generation.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Expired (Days ≤ 0)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Quarantined stock mathematically locked from addition to cashier POS cart.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Expires in 30 Days (Critical Tier)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Near-expiry batches flagged in red for prioritized clearance dispensing.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Expires in 90 Days (Attention Tier)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Batches flagged in amber for supplier exchange or promotional bundling.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suppliers.py and customers.py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0A389"/>
                </a:solidFill>
              </a:defRPr>
            </a:pPr>
            <a:r>
              <a:t>📦 SUPPLIERS MANAGEMENT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Supplier Directory: List + Add + Edit vendor profiles.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Contact Data: Name, phone, city, GSTIN, and DL number.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Purchase History: Open purchase orders and shipment invoices.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Decoupling Rule: Calls no stock math directly; manages distributor contracts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🩺 CUSTOMERS &amp; PATIENT EHR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Patient Profiles: Walk-in counter clients and registered chronic patients.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EHR Allergy Registry: Tracks known allergies (e.g. Penicillin, Sulfa, NSAIDs).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Chronic Therapy: Chronic condition tags driving automated 30-day refill reminders.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Compliance: Essential for customer returns, drug recalls, and clinical safety.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purchases.py (Goods Receipt Note Workflow)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1. Pick Supplier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Select distributor from verified supplier directory (e.g. Apex Medico).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2. Add Inward Items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Input received medicine, batch lot, received quantity, cost price, and expiry date.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3. Validate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Validators ensure non-zero quantities, future expiry date, and valid PO reference.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4. purchase_service saves and increases stock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Executes single ACID transaction incrementing batch inventory and recalculating FEFO index.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5. Audit: PURCHASE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Writes immutable audit_logs row capturing inward consignment parameters.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search.py — Instant Multi-Filter Search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A389"/>
                </a:solidFill>
              </a:defRPr>
            </a:pPr>
            <a:r>
              <a:t>🔍 Search box: Brand Name / Generic Molecule / USB Barcode Scanner (&lt;50ms)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25780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Filter by Category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Isolate Antibiotics, Analgesics, Antidiabetics, Cardiovascular, or OTC products.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26080"/>
            <a:ext cx="525780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06324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11D48"/>
                </a:solidFill>
              </a:defRPr>
            </a:pPr>
            <a:r>
              <a:t>Filter by Expiry Band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Quick toggles for Critical (&lt;30 days), Attention (&lt;90 days), and Expired batches.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525780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Low Stock Only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Isolate batches with inventory ≤ reorder threshold for immediate purchase.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663440"/>
            <a:ext cx="525780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80060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1-Click Dispatch to Billing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Select search result directly into POS billing cart without manual typing.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billing.py — main process screen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456432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0784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Search medicine / 1-Click eRx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Barcode scan or 1-click import of approved prescription from clinical queue.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56432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700784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Show available qty + expiry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9456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Displays stock on hand with automated FEFO nearest-expiry batch selection.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45920"/>
            <a:ext cx="3456432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0144" y="1700784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Type quantity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219456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Cashier enters required dosage units with real-time stock ceiling validation.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023360"/>
            <a:ext cx="3456432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78224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Validate (Poka-Yoke)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7200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Blocks negative numbers, oversell requests, expired stock, and patient allergies.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4023360"/>
            <a:ext cx="3456432" cy="4572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0832" y="4078224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sales_service does the rest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57200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Atomically deducts stock, calculates 5% GST tax split, generates invoice.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0144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4" y="4023360"/>
            <a:ext cx="3456432" cy="45720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0144" y="4078224"/>
            <a:ext cx="34564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6. Print / Show thermal receipt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4572000"/>
            <a:ext cx="3182112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Generates 80mm ESC/POS receipt modal with dynamic UPI QR and change calculator.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ui / users.py (Admin only: Staff Governance &amp; RBAC)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1. Add user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Create new staff accounts with unique employee ID, full legal name, and login handle.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2. Set role: Admin / Pharmacist / Cashier / Inventory / Delivery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Assign workstation permissions strictly enforcing separation of clinical and financial duties.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3. Activate or block account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1-Click toggle (`Active` / `Suspended`) to terminate compromised credentials instantly.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4. Never show the real password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Displays password masked; stores salted cryptographic hash in database.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5. Calls auth_service + audit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Every credential creation, password reset, or status change writes to audit_logs.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reports/ — Business Intelligence &amp; Compliance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9728" cy="21945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</a:defRPr>
            </a:pPr>
            <a:r>
              <a:t>sales_report.py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Daily, weekly, monthly gross revenue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Top-selling medicines by volume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Payment tender breakdown (Cash/UPI/Card)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Tax collections (CGST / SGST liability)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645920"/>
            <a:ext cx="109728" cy="21945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5564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</a:defRPr>
            </a:pPr>
            <a:r>
              <a:t>inventory_report.py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Total stock valuation at cost &amp; MRP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Fast-moving vs slow-moving stock analysis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Reorder threshold shortfall alerts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Stock adjustment audit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23360"/>
            <a:ext cx="109728" cy="21945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3308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</a:defRPr>
            </a:pPr>
            <a:r>
              <a:t>expiry_report.py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Expired batches scheduled for quarantine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Critical 30-day countdown risk list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Attention 90-day supplier exchange list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Estimated expiry capital at risk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2336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023360"/>
            <a:ext cx="109728" cy="2194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3308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</a:defRPr>
            </a:pPr>
            <a:r>
              <a:t>tqm_report.py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Transaction error rate (E01-E05)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Stockout percentage over time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Customer return accuracy analysis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• Logs feeding Pareto and FMEA matrices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utils/ — Technical Utilities &amp; Defensive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validators.py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Is name blank? Price &lt; 0? Qty &gt; stock? Expiry &lt; mfg date? Stops malformed requests at entry.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logger.py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Tamper-evident operational logger writing technical errors to error_logs and events to audit_logs.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security.py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Cryptographic hashing (SHA-256), permission checking, session UUID tokens, and PIN verification.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helpers.py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Indian Rupee formatting (₹), ISO date parser, automatic invoice number sequencer (INV-2026-XXXX).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assets/ — Visual Identity &amp; Design Consistency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065276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icons/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Standardized clinical iconography: medicine pill, cash POS, inventory box, delivery rider, reports chart.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0068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30068"/>
            <a:ext cx="109728" cy="10652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3220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logo/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High-resolution corporate pharmacy emblem: `pharmacy_logo.png` featured on login and thermal receipts.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59935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59935"/>
            <a:ext cx="109728" cy="1065276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33087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Consistent Layout Across Screens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Same sidebar navigation, status badges, and color tokens (Green/Amber/Red) on every workstation.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89803"/>
            <a:ext cx="10728655" cy="10652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289803"/>
            <a:ext cx="109728" cy="10652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62955"/>
            <a:ext cx="10241280" cy="91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Quality Link: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Interface consistency is an essential human-factors quality point: reduces cognitive burden and operator error.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Software feature → TQM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790895"/>
              </a:tblGrid>
              <a:tr h="38238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Software Feature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Formal TQM Concept / Principle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Modular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Process / system approach (Deming)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Validation &amp; CDSS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Error prevention at source / Poka-Yoke (Shingo)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Audit log (21 CFR Part 11)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Traceability &amp; transparency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 roles &amp; RBAC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Accountability &amp; operational 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Inventory FEFO &amp; IoT 2-8°C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Process control &amp; biological preservation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Expiry risk alerts (&lt;30d)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Proactive risk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Quality dashboard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Data-driven decision making (Juran)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Pareto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Root-cause prioritization (80/20 Rule)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PDCA cycle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Continuous quality improvement (Kaizen)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Customer / patient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Customer / patient focus (Zero Defects)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Quality dashboard — Real-Time Quality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9067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Stock accuracy</a:t>
            </a:r>
          </a:p>
          <a:p>
            <a:pPr>
              <a:spcAft>
                <a:spcPts val="400"/>
              </a:spcAft>
              <a:defRPr sz="2800" b="1">
                <a:solidFill>
                  <a:srgbClr val="00A389"/>
                </a:solidFill>
              </a:defRPr>
            </a:pPr>
            <a:r>
              <a:t>99.2%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Zero unrecorded shrinkage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828800"/>
            <a:ext cx="309067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Billing errors</a:t>
            </a:r>
          </a:p>
          <a:p>
            <a:pPr>
              <a:spcAft>
                <a:spcPts val="400"/>
              </a:spcAft>
              <a:defRPr sz="2800" b="1">
                <a:solidFill>
                  <a:srgbClr val="E11D48"/>
                </a:solidFill>
              </a:defRPr>
            </a:pPr>
            <a:r>
              <a:t>0.0%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Poka-Yoke blocks bad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64592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3024" y="1828800"/>
            <a:ext cx="309067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Expired stock dispensed</a:t>
            </a:r>
          </a:p>
          <a:p>
            <a:pPr>
              <a:spcAft>
                <a:spcPts val="400"/>
              </a:spcAft>
              <a:defRPr sz="2800" b="1">
                <a:solidFill>
                  <a:srgbClr val="0284C7"/>
                </a:solidFill>
              </a:defRPr>
            </a:pPr>
            <a:r>
              <a:t>0.0%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100% FEFO cart lockout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309067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Low stock items</a:t>
            </a:r>
          </a:p>
          <a:p>
            <a:pPr>
              <a:spcAft>
                <a:spcPts val="400"/>
              </a:spcAft>
              <a:defRPr sz="2800" b="1">
                <a:solidFill>
                  <a:srgbClr val="D97706"/>
                </a:solidFill>
              </a:defRPr>
            </a:pPr>
            <a:r>
              <a:t>12 items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Automated reorder POs sent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4206240"/>
            <a:ext cx="309067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Complaints registered</a:t>
            </a:r>
          </a:p>
          <a:p>
            <a:pPr>
              <a:spcAft>
                <a:spcPts val="400"/>
              </a:spcAft>
              <a:defRPr sz="2800" b="1">
                <a:solidFill>
                  <a:srgbClr val="7C3AED"/>
                </a:solidFill>
              </a:defRPr>
            </a:pPr>
            <a:r>
              <a:t>0 items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Resolved at clinical intake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4023360"/>
            <a:ext cx="34564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4" y="4206240"/>
            <a:ext cx="309067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2540"/>
                </a:solidFill>
              </a:defRPr>
            </a:pPr>
            <a:r>
              <a:t>Returns &amp; damaged</a:t>
            </a:r>
          </a:p>
          <a:p>
            <a:pPr>
              <a:spcAft>
                <a:spcPts val="400"/>
              </a:spcAft>
              <a:defRPr sz="2800" b="1">
                <a:solidFill>
                  <a:srgbClr val="0A2540"/>
                </a:solidFill>
              </a:defRPr>
            </a:pPr>
            <a:r>
              <a:t>2 items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Logged with vendor exchange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Pareto — from error_logs and returns (Fix the top bars first. That is 80/20.)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Pareto — from error_logs and returns (Fix top bars first — 80/20)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3962095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Failure Mode (Error Type)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Incident Count &amp; Cumulative %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Software TQM Countermeasure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1. Wrong medicine attempt (Look-alike/sound-alike)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18 attempts (45%)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Targeted by CDSS allergy &amp; generic search confirmation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2. Qty &gt; available stock (Oversell attempt)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12 attempts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Targeted by atomic stock ceiling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3. Near expiry selection (&lt;30 days)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 attempts (15%)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Targeted by automated FEFO batch sorting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4. Damaged packaging on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 instances (7%)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Targeted by pre-dispatch insulated checklist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5. Other miscellaneous entry slips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 instance (3%)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Targeted by UI field format validators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Fishbone (Ishikawa) — why billing errors happen (Effect: Dispensing Error)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People (Staff)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Rushed cashiers during peak rush hours; new untrained dispensers misreading doctors' handwriting.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Process (Workflow)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Lack of pre-dispense confirmation step; absence of standardized clinical sign-off protocols.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Software (System)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Legacy search showing similar sounding medicines without allergy cross-checks; UI freezing during print.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Data (Integrity)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Missing batch lot numbers; inaccurate physical expiry dates; unrecorded customer drug allergies.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Machine (Hardware)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Slow workstation PCs; unresponsive barcode scanners; missed mouse clicks on tiny UI buttons.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FMEA — from automated error logs (RPN = Severity x Occurrence x Detection)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1097280"/>
                <a:gridCol w="1371600"/>
                <a:gridCol w="3413455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 (1-10)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 (1-10)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 (1-10)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RPN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Implemented Action / Control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Sell expired medicine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 (Fatal)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 (Occasional)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 (Moderate)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120 (Critical)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Hard block: cart checkout locked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Dispense allergen drug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 (Fatal)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 (Low)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 (Moderate)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120 (Critical)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CDSS warning dialog &amp; override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Qty &gt; stock oversell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 (Severe)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 (Frequent)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 (Moderate)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120 (Critical)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Pre-save inventory assertion check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Duplicate barcode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 (Moderate)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 (Rare)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 (High)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 (Low)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Unique constraint on SKU barcode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Login brute-force attempt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7 (High)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 (Low)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 (High)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42 (Low)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15-second lockout &amp; audit alert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How logs feed FMEA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1. Cashier attempts an invalid action or system blocks it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Operator attempts to add expired drug or dispense penicillin to allergic patient.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2. error_logs / audit_logs get an append-only row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System writes event timestamp, user ID, error code (E01-E05), and transaction details.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3. tqm_report counts each code frequency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Automated SQL aggregator groups errors and calculates monthly occurrence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4. High count = high Occurrence rating (O)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Dynamic feedback loop updates the Occurrence score in the FMEA register.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5. Prioritized engineering action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High RPN items trigger software updates and staff retraining under TQM governance.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PDCA on the same problem (Deming Cycle: Oversell &amp; Expiry Defects)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9728" cy="21945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A389"/>
                </a:solidFill>
              </a:defRPr>
            </a:pPr>
            <a:r>
              <a:t>PLAN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Problem Identified: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Too many qty &gt; stock and near-expiry selection errors occurring during peak counter hours.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645920"/>
            <a:ext cx="109728" cy="21945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5564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DO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Software Implementation: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Implement automated FEFO batch selection and display live available stock with pre-save locks.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23360"/>
            <a:ext cx="109728" cy="2194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3308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CHECK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Empirical Verification: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Monitor error_logs code E01 and E03 over the next trading month. Validate zero error escapes.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23360"/>
            <a:ext cx="525780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4023360"/>
            <a:ext cx="109728" cy="219456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33088"/>
            <a:ext cx="489204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A2540"/>
                </a:solidFill>
              </a:defRPr>
            </a:pPr>
            <a:r>
              <a:t>ACT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Standardization: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Codify the FEFO algorithm and pre-save locks as mandatory enterprise baseline standards.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Sale flow (Complete Customer Dispensing Sequence)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Cashier authenticates at Front Counter A terminal.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42032" cy="41148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Billing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Opens POS express billing terminal; barcode focus.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64592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1344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Scans barcode or 1-clicks approved prescription.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256" y="1645920"/>
            <a:ext cx="2542032" cy="41148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6256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Qty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Enters required units; auto FEFO batch selection.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023360"/>
            <a:ext cx="2542032" cy="41148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Valid?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Validators check non-blank, non-negative inputs.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432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56432" y="402336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6432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6. Stock?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Asserts quantity requested &lt;= available batch balance.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1344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1344" y="4023360"/>
            <a:ext cx="2542032" cy="41148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1344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7. Expiry?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Asserts batch days_to_expiry &gt; 0 (No expired lot).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06256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06256" y="402336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06256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8. Save + Audit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97696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Commits ACID invoice, cuts stock, writes audit_log.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Purchase flow (Goods Receipt &amp; Inwarding Pipeline)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Supplier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Select distributor from approved master directory.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42032" cy="4114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Purchase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Open consignment inwarding modal with PO reference.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64592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1344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Receive &amp; 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Inspect medicine name, batch, qty, cost, and expiry.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64592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256" y="1645920"/>
            <a:ext cx="2542032" cy="4114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6256" y="169164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Increase Stock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14884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Atomically increment stock ledger in SQLite database.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023360"/>
            <a:ext cx="2542032" cy="4114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Batch becomes available for FIFO/FEFO dispensing.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432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56432" y="402336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6432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6. Low Stock?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System evaluates if inventory remains below reorder level.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1344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1344" y="4023360"/>
            <a:ext cx="2542032" cy="4114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1344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7. Near Expiry?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Calculates days to expiry and assigns visual tag.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06256" y="4023360"/>
            <a:ext cx="2542032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06256" y="4023360"/>
            <a:ext cx="2542032" cy="41148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06256" y="4069080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8. Alert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97696" y="4526280"/>
            <a:ext cx="2359152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293B"/>
                </a:solidFill>
              </a:defRPr>
            </a:pPr>
            <a:r>
              <a:t>Updates manager dashboard with updated stock count.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Build this much first (Review 1 Scope Delivered)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1. Login + Roles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Staff authentication across 5 RBAC roles with terminal location selectors.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2. Medicines + Stock Fields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Complete batch schema (batch lot, days to expiry, rack coordinate, cold chain).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3. Billing with 3 Checks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Stock ceiling check, expiry hard lockout, and CDSS allergy interception.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20040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33756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4. Expiry + Low-Stock Tiles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Color-coded countdown badges (&lt;30d Red, &lt;90d Yellow, &gt;90d Green).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5488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5. Audit + Error Log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Append-only event stream recording every transaction and security attempt.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5488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89204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6. One Quality Page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Executive quality dashboard displaying stock accuracy and till reconciliation.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Review 1 vs later (Project Maturity Roadmap)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0A389"/>
                </a:solidFill>
              </a:defRPr>
            </a:pPr>
            <a:r>
              <a:t>NOW (Review 1 Deliverables):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✓ GitHub Repository Setup &amp; Version Control (`origin main` synced).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✓ 6-Tier Modular Architecture (`core/`, `ui/`, `server/`, `config/`, `tests/`).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✓ IEEE 830 Software Requirements Specification (SRS DOCX, PDF, and Markdown).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✓ 14 Normalized Relational Tables in SQLite with ACID transactions.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✓ Fully Operational Working Application: Native Desktop (WebView2) &amp; Web Portal (FastAPI).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✓ Complete End-to-End Sales Flow &amp; 24/24 Automated Pytest Tests Passing.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284C7"/>
                </a:solidFill>
              </a:defRPr>
            </a:pPr>
            <a:r>
              <a:t>LATER REVIEWS (Review 2 &amp; Final Review Scope):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Extended Longitudinal FMEA Analytics: Automated recalculation of Occurrence based on monthly error logs.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Automated Pareto Chart Generator: Real-time graphical generation of 80/20 root cause distributions.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Fishbone Cause-and-Effect Root Cause Registry for clinical contraindication incidents.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Deming PDCA Cycle Execution Logs: Formally tracking corrective actions from Check to Act standards.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Cloud Multi-Branch Database Replication and Mobile Patient Prescription Intake App.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0A389"/>
                </a:solidFill>
              </a:defRPr>
            </a:pPr>
            <a:r>
              <a:t>One sentence for viva</a:t>
            </a:r>
          </a:p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The UI never writes SQL.</a:t>
            </a:r>
          </a:p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Validation stops bad data.</a:t>
            </a:r>
          </a:p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Audit records who did what.</a:t>
            </a:r>
          </a:p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Expired stock cannot be sold.</a:t>
            </a:r>
          </a:p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Logs become Pareto, FMEA, PDCA.</a:t>
            </a:r>
          </a:p>
          <a:p>
            <a:br/>
            <a:pPr>
              <a:defRPr sz="1400" b="1">
                <a:solidFill>
                  <a:srgbClr val="94A3B8"/>
                </a:solidFill>
              </a:defRPr>
            </a:pPr>
            <a:r>
              <a:t>Thank you respected professors and evaluators. (Candidate: Piyush Bhatt, Amrapali University)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