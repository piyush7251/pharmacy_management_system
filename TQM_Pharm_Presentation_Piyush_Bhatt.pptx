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9" r:id="rId4"/>
  </p:sldMasterIdLst>
  <p:notesMasterIdLst>
    <p:notesMasterId r:id="rId24"/>
  </p:notesMasterIdLst>
  <p:handoutMasterIdLst>
    <p:handoutMasterId r:id="rId25"/>
  </p:handoutMasterIdLst>
  <p:sldIdLst>
    <p:sldId id="256" r:id="rId5"/>
    <p:sldId id="297" r:id="rId6"/>
    <p:sldId id="298" r:id="rId7"/>
    <p:sldId id="310" r:id="rId8"/>
    <p:sldId id="299" r:id="rId9"/>
    <p:sldId id="300" r:id="rId10"/>
    <p:sldId id="301" r:id="rId11"/>
    <p:sldId id="302" r:id="rId12"/>
    <p:sldId id="311" r:id="rId31"/>
    <p:sldId id="303" r:id="rId13"/>
    <p:sldId id="266" r:id="rId14"/>
    <p:sldId id="287" r:id="rId15"/>
    <p:sldId id="304" r:id="rId16"/>
    <p:sldId id="305" r:id="rId17"/>
    <p:sldId id="306" r:id="rId18"/>
    <p:sldId id="312" r:id="rId32"/>
    <p:sldId id="313" r:id="rId33"/>
    <p:sldId id="314" r:id="rId34"/>
    <p:sldId id="307" r:id="rId19"/>
    <p:sldId id="308" r:id="rId20"/>
    <p:sldId id="315" r:id="rId35"/>
    <p:sldId id="309" r:id="rId21"/>
    <p:sldId id="295" r:id="rId22"/>
    <p:sldId id="316" r:id="rId36"/>
    <p:sldId id="294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5359"/>
    <a:srgbClr val="969F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5388" autoAdjust="0"/>
  </p:normalViewPr>
  <p:slideViewPr>
    <p:cSldViewPr snapToGrid="0" showGuides="1">
      <p:cViewPr varScale="1">
        <p:scale>
          <a:sx n="78" d="100"/>
          <a:sy n="78" d="100"/>
        </p:scale>
        <p:origin x="869" y="72"/>
      </p:cViewPr>
      <p:guideLst/>
    </p:cSldViewPr>
  </p:slideViewPr>
  <p:outlineViewPr>
    <p:cViewPr>
      <p:scale>
        <a:sx n="33" d="100"/>
        <a:sy n="33" d="100"/>
      </p:scale>
      <p:origin x="0" y="-498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1757"/>
    </p:cViewPr>
  </p:sorterViewPr>
  <p:notesViewPr>
    <p:cSldViewPr snapToGrid="0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notesMaster" Target="notesMasters/notesMaster1.xml"/><Relationship Id="rId25" Type="http://schemas.openxmlformats.org/officeDocument/2006/relationships/handoutMaster" Target="handoutMasters/handout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microsoft.com/office/2018/10/relationships/authors" Target="authors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slide" Target="slides/slide24.xml"/><Relationship Id="rId36" Type="http://schemas.openxmlformats.org/officeDocument/2006/relationships/slide" Target="slides/slide25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4C3C3A6-B337-4D83-9CDB-B9C35780FF7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C79A68-3D73-4695-8C1E-3CDBCB536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97C6B7-F63D-48F8-8C65-A57506B0F13B}" type="datetimeFigureOut">
              <a:rPr lang="en-US" smtClean="0"/>
              <a:t>10/28/2026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F5045C-A7CE-41D4-85C5-0E9ACEEF9B2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9ABD0F-F8EA-4B9F-8647-FC7D4AE3D83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AB78DD-9481-4863-BCCC-946573546DA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50403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09A0FA-2191-4F92-A1E4-6EB4598AC4EC}" type="datetimeFigureOut">
              <a:rPr lang="en-US" smtClean="0"/>
              <a:t>10/28/2026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3359F2-43EF-4812-9DC0-98C0B1A4068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0111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35233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626C1-046C-CD20-882F-8B272D36C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DBCD8C-E77F-EF8C-46F7-F1B0291EB9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8431AB-17E9-5320-C82C-BD8DA9A990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D91A7B-7756-163C-853B-D818FC217B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93688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E529A-6C39-0331-F316-E3F6AF08F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F3FD49-80AC-C94D-B7D8-F8930C7F0C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0E5B98-7F9E-6EA6-8A03-FD895DD181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63E6AB-1283-C8DA-302B-6979034C82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28605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CF342-1B37-2439-D992-ED7A75428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FB41F2-74D0-97D0-849F-C190B6AFF8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271A4D-CD47-A820-5A4A-9764E8ACC3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8DCC0A-F9CF-97D3-404F-B0DA870584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12140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D8F07-0BDF-261D-DF2D-6CEE18CC4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5B14B8-5E4D-22D9-BCF4-44776269B8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B656E4-1764-D818-8A7B-2BF09B0A19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993954-2052-56EA-1273-94FB237FF3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1305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B5EDF-10B2-0E29-BEAA-62001EED6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CE4110-9D8A-8F58-0705-AD4918C7FF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CDE704-3E6A-9837-F001-FDD4827A5A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99F06B-A787-98CA-191C-235F7BEC8A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52918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6CA20-1D12-E197-A5F8-E71D40E91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7C11DD-35BF-0E15-279D-965F39700E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DAA924-BBFB-96B2-1B06-663067444E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6FF49A-B6E3-0590-6F28-20345393BB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68384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C3BA6-6D26-AAD3-F9B4-9146C4C50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C02171-7C0F-6A85-0A49-B347C03612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D45361-038D-6D57-5595-3070EA9E5E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3AF9A0-08A9-11A4-5D15-422F2FA6BA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2515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8E748-A605-AF96-4C32-1B75B1943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C4DC75-0FBA-70B5-1503-7D2615F7C2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12E16E-223E-C6DD-330A-21D2D4475A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1310DD-B168-BA15-0A95-4631DE2027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47434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5740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48038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84D0C-270D-6EA3-006F-C71DB00F5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D585E1-E079-EC8F-B064-76F5136685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F320D7-30EB-5946-3A36-3F9227B7B8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522702-B37C-87B9-D834-63099EB150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67881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1DD60-7549-D3AC-CC20-33B9B72CC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A1E343-D6FB-CF14-2CEF-44909A411B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D125FE-F22B-896D-99FE-33B2B10292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8772AB-7112-71E5-99FF-E8C813AB67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55427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9E174-8DEB-60F5-D3F7-B317FFC38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945E4D-EA16-AF3F-2598-0179869455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428513-9B6E-718F-19AC-5224A8E749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6F51C8-0C26-EB91-F420-354DBD3617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05804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16A92-FC40-B029-A2BB-C54925904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2042D8-A3D9-081A-A903-D3196921A2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E41D58-8D12-E63A-822F-99CD634CD3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775C8-153A-FAC3-3AA7-F1D2F62E09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2094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FED74-DDF3-E23E-DEE3-DAA93DCCB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ECA099-A4CC-0FA8-F309-C535A24493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C1A50B-AAA8-3CA7-1A76-61FC4F3D66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754379-9C8F-ACFE-A2FC-0D043F3B3F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77380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FE0A3-B88F-0526-DCCB-BC24B929B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57DCDF-7DFC-06AA-D2BC-15E2AE21B3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6B63B9-7C41-1D60-2A5A-83C386BA88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5FFC36-8218-A03A-F3BC-E86FBF6FE0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39599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97931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346479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095617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216222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620489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124459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566762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701270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6369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822553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300448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488591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630456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31937252-EACE-4232-855F-5C47E3F8B0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1070901"/>
            <a:ext cx="11265407" cy="1499616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CBA6DBC1-39A1-48A6-8B81-3CD966D06E8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8055" y="3103684"/>
            <a:ext cx="11274551" cy="3287971"/>
          </a:xfrm>
          <a:solidFill>
            <a:schemeClr val="accent2"/>
          </a:solidFill>
        </p:spPr>
        <p:txBody>
          <a:bodyPr anchor="t" anchorCtr="0">
            <a:norm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1862956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E787D40-90B5-470E-95A2-784F1CB479C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9580" y="4423702"/>
            <a:ext cx="11292839" cy="1550378"/>
          </a:xfrm>
        </p:spPr>
        <p:txBody>
          <a:bodyPr>
            <a:noAutofit/>
          </a:bodyPr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28BC27-38F1-47F3-EC35-7DD8B88A753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9580" y="705104"/>
            <a:ext cx="11292840" cy="3643376"/>
          </a:xfrm>
          <a:custGeom>
            <a:avLst/>
            <a:gdLst>
              <a:gd name="connsiteX0" fmla="*/ 7593576 w 11292840"/>
              <a:gd name="connsiteY0" fmla="*/ 0 h 3643376"/>
              <a:gd name="connsiteX1" fmla="*/ 11292840 w 11292840"/>
              <a:gd name="connsiteY1" fmla="*/ 0 h 3643376"/>
              <a:gd name="connsiteX2" fmla="*/ 11292840 w 11292840"/>
              <a:gd name="connsiteY2" fmla="*/ 3643376 h 3643376"/>
              <a:gd name="connsiteX3" fmla="*/ 7593576 w 11292840"/>
              <a:gd name="connsiteY3" fmla="*/ 3643376 h 3643376"/>
              <a:gd name="connsiteX4" fmla="*/ 0 w 11292840"/>
              <a:gd name="connsiteY4" fmla="*/ 0 h 3643376"/>
              <a:gd name="connsiteX5" fmla="*/ 7489667 w 11292840"/>
              <a:gd name="connsiteY5" fmla="*/ 0 h 3643376"/>
              <a:gd name="connsiteX6" fmla="*/ 7489667 w 11292840"/>
              <a:gd name="connsiteY6" fmla="*/ 3643376 h 3643376"/>
              <a:gd name="connsiteX7" fmla="*/ 0 w 11292840"/>
              <a:gd name="connsiteY7" fmla="*/ 3643376 h 3643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292840" h="3643376">
                <a:moveTo>
                  <a:pt x="7593576" y="0"/>
                </a:moveTo>
                <a:lnTo>
                  <a:pt x="11292840" y="0"/>
                </a:lnTo>
                <a:lnTo>
                  <a:pt x="11292840" y="3643376"/>
                </a:lnTo>
                <a:lnTo>
                  <a:pt x="7593576" y="3643376"/>
                </a:lnTo>
                <a:close/>
                <a:moveTo>
                  <a:pt x="0" y="0"/>
                </a:moveTo>
                <a:lnTo>
                  <a:pt x="7489667" y="0"/>
                </a:lnTo>
                <a:lnTo>
                  <a:pt x="7489667" y="3643376"/>
                </a:lnTo>
                <a:lnTo>
                  <a:pt x="0" y="3643376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t">
            <a:noAutofit/>
          </a:bodyPr>
          <a:lstStyle>
            <a:lvl1pPr marL="0" indent="0" algn="ctr">
              <a:buNone/>
              <a:defRPr/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 dirty="0"/>
              <a:t>Click to add picture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68087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 + pictu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6882" y="629920"/>
            <a:ext cx="3606800" cy="2809240"/>
          </a:xfrm>
        </p:spPr>
        <p:txBody>
          <a:bodyPr anchor="b">
            <a:no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6881" y="3698240"/>
            <a:ext cx="3606800" cy="2271076"/>
          </a:xfrm>
        </p:spPr>
        <p:txBody>
          <a:bodyPr anchor="t">
            <a:no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02608" y="6423914"/>
            <a:ext cx="1052510" cy="365125"/>
          </a:xfrm>
        </p:spPr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54FD2A1-D363-7C44-2A72-54E8B397D31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36720" y="650240"/>
            <a:ext cx="7518398" cy="5713918"/>
          </a:xfrm>
          <a:custGeom>
            <a:avLst/>
            <a:gdLst>
              <a:gd name="connsiteX0" fmla="*/ 3806436 w 7518398"/>
              <a:gd name="connsiteY0" fmla="*/ 4479475 h 5713918"/>
              <a:gd name="connsiteX1" fmla="*/ 7518398 w 7518398"/>
              <a:gd name="connsiteY1" fmla="*/ 4479475 h 5713918"/>
              <a:gd name="connsiteX2" fmla="*/ 7518398 w 7518398"/>
              <a:gd name="connsiteY2" fmla="*/ 5713918 h 5713918"/>
              <a:gd name="connsiteX3" fmla="*/ 3806436 w 7518398"/>
              <a:gd name="connsiteY3" fmla="*/ 5713918 h 5713918"/>
              <a:gd name="connsiteX4" fmla="*/ 0 w 7518398"/>
              <a:gd name="connsiteY4" fmla="*/ 4479475 h 5713918"/>
              <a:gd name="connsiteX5" fmla="*/ 3702527 w 7518398"/>
              <a:gd name="connsiteY5" fmla="*/ 4479475 h 5713918"/>
              <a:gd name="connsiteX6" fmla="*/ 3702527 w 7518398"/>
              <a:gd name="connsiteY6" fmla="*/ 5713918 h 5713918"/>
              <a:gd name="connsiteX7" fmla="*/ 0 w 7518398"/>
              <a:gd name="connsiteY7" fmla="*/ 5713918 h 5713918"/>
              <a:gd name="connsiteX8" fmla="*/ 3806436 w 7518398"/>
              <a:gd name="connsiteY8" fmla="*/ 0 h 5713918"/>
              <a:gd name="connsiteX9" fmla="*/ 7518398 w 7518398"/>
              <a:gd name="connsiteY9" fmla="*/ 0 h 5713918"/>
              <a:gd name="connsiteX10" fmla="*/ 7518398 w 7518398"/>
              <a:gd name="connsiteY10" fmla="*/ 4379183 h 5713918"/>
              <a:gd name="connsiteX11" fmla="*/ 3806436 w 7518398"/>
              <a:gd name="connsiteY11" fmla="*/ 4379183 h 5713918"/>
              <a:gd name="connsiteX12" fmla="*/ 0 w 7518398"/>
              <a:gd name="connsiteY12" fmla="*/ 0 h 5713918"/>
              <a:gd name="connsiteX13" fmla="*/ 3702527 w 7518398"/>
              <a:gd name="connsiteY13" fmla="*/ 0 h 5713918"/>
              <a:gd name="connsiteX14" fmla="*/ 3702527 w 7518398"/>
              <a:gd name="connsiteY14" fmla="*/ 4379183 h 5713918"/>
              <a:gd name="connsiteX15" fmla="*/ 0 w 7518398"/>
              <a:gd name="connsiteY15" fmla="*/ 4379183 h 5713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518398" h="5713918">
                <a:moveTo>
                  <a:pt x="3806436" y="4479475"/>
                </a:moveTo>
                <a:lnTo>
                  <a:pt x="7518398" y="4479475"/>
                </a:lnTo>
                <a:lnTo>
                  <a:pt x="7518398" y="5713918"/>
                </a:lnTo>
                <a:lnTo>
                  <a:pt x="3806436" y="5713918"/>
                </a:lnTo>
                <a:close/>
                <a:moveTo>
                  <a:pt x="0" y="4479475"/>
                </a:moveTo>
                <a:lnTo>
                  <a:pt x="3702527" y="4479475"/>
                </a:lnTo>
                <a:lnTo>
                  <a:pt x="3702527" y="5713918"/>
                </a:lnTo>
                <a:lnTo>
                  <a:pt x="0" y="5713918"/>
                </a:lnTo>
                <a:close/>
                <a:moveTo>
                  <a:pt x="3806436" y="0"/>
                </a:moveTo>
                <a:lnTo>
                  <a:pt x="7518398" y="0"/>
                </a:lnTo>
                <a:lnTo>
                  <a:pt x="7518398" y="4379183"/>
                </a:lnTo>
                <a:lnTo>
                  <a:pt x="3806436" y="4379183"/>
                </a:lnTo>
                <a:close/>
                <a:moveTo>
                  <a:pt x="0" y="0"/>
                </a:moveTo>
                <a:lnTo>
                  <a:pt x="3702527" y="0"/>
                </a:lnTo>
                <a:lnTo>
                  <a:pt x="3702527" y="4379183"/>
                </a:lnTo>
                <a:lnTo>
                  <a:pt x="0" y="4379183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t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8807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9CC542F-D03C-4537-9B6E-7F653B6515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878091"/>
            <a:ext cx="3729789" cy="3440485"/>
          </a:xfrm>
        </p:spPr>
        <p:txBody>
          <a:bodyPr tIns="182880" bIns="182880" anchor="ctr" anchorCtr="0">
            <a:noAutofit/>
          </a:bodyPr>
          <a:lstStyle/>
          <a:p>
            <a:r>
              <a:rPr lang="en-US" dirty="0"/>
              <a:t>Click to add title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0F1D2B-CBE7-6279-2158-7A9F3B5D5C6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57200" y="670560"/>
            <a:ext cx="11267440" cy="2139696"/>
          </a:xfrm>
          <a:custGeom>
            <a:avLst/>
            <a:gdLst>
              <a:gd name="connsiteX0" fmla="*/ 3783068 w 11267440"/>
              <a:gd name="connsiteY0" fmla="*/ 0 h 2139696"/>
              <a:gd name="connsiteX1" fmla="*/ 11267440 w 11267440"/>
              <a:gd name="connsiteY1" fmla="*/ 0 h 2139696"/>
              <a:gd name="connsiteX2" fmla="*/ 11267440 w 11267440"/>
              <a:gd name="connsiteY2" fmla="*/ 2139696 h 2139696"/>
              <a:gd name="connsiteX3" fmla="*/ 3783068 w 11267440"/>
              <a:gd name="connsiteY3" fmla="*/ 2139696 h 2139696"/>
              <a:gd name="connsiteX4" fmla="*/ 0 w 11267440"/>
              <a:gd name="connsiteY4" fmla="*/ 0 h 2139696"/>
              <a:gd name="connsiteX5" fmla="*/ 3677799 w 11267440"/>
              <a:gd name="connsiteY5" fmla="*/ 0 h 2139696"/>
              <a:gd name="connsiteX6" fmla="*/ 3677799 w 11267440"/>
              <a:gd name="connsiteY6" fmla="*/ 2139696 h 2139696"/>
              <a:gd name="connsiteX7" fmla="*/ 0 w 11267440"/>
              <a:gd name="connsiteY7" fmla="*/ 2139696 h 2139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267440" h="2139696">
                <a:moveTo>
                  <a:pt x="3783068" y="0"/>
                </a:moveTo>
                <a:lnTo>
                  <a:pt x="11267440" y="0"/>
                </a:lnTo>
                <a:lnTo>
                  <a:pt x="11267440" y="2139696"/>
                </a:lnTo>
                <a:lnTo>
                  <a:pt x="3783068" y="2139696"/>
                </a:lnTo>
                <a:close/>
                <a:moveTo>
                  <a:pt x="0" y="0"/>
                </a:moveTo>
                <a:lnTo>
                  <a:pt x="3677799" y="0"/>
                </a:lnTo>
                <a:lnTo>
                  <a:pt x="3677799" y="2139696"/>
                </a:lnTo>
                <a:lnTo>
                  <a:pt x="0" y="2139696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t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135EE74D-5A60-B83C-5C2D-7B6FEA778FCB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305827" y="2878091"/>
            <a:ext cx="7418813" cy="3440485"/>
          </a:xfrm>
        </p:spPr>
        <p:txBody>
          <a:bodyPr anchor="ctr" anchorCtr="0">
            <a:normAutofit/>
          </a:bodyPr>
          <a:lstStyle>
            <a:lvl1pPr marL="283464" indent="-283464">
              <a:buFont typeface="Arial" panose="020B0604020202020204" pitchFamily="34" charset="0"/>
              <a:buChar char="•"/>
              <a:defRPr/>
            </a:lvl1pPr>
            <a:lvl2pPr marL="283464" indent="-283464">
              <a:buFont typeface="Arial" panose="020B0604020202020204" pitchFamily="34" charset="0"/>
              <a:buChar char="•"/>
              <a:defRPr/>
            </a:lvl2pPr>
            <a:lvl3pPr marL="283464" indent="-283464">
              <a:buFont typeface="Arial" panose="020B0604020202020204" pitchFamily="34" charset="0"/>
              <a:buChar char="•"/>
              <a:defRPr/>
            </a:lvl3pPr>
            <a:lvl4pPr marL="283464" indent="-283464">
              <a:buFont typeface="Arial" panose="020B0604020202020204" pitchFamily="34" charset="0"/>
              <a:buChar char="•"/>
              <a:defRPr/>
            </a:lvl4pPr>
            <a:lvl5pPr marL="283464" indent="-283464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BCF1FAD-0BAD-2574-3352-B152DF76C15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EC328E41-645E-D257-FFF3-93344A8E4FA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EF9E45A-6561-C074-14CE-B3B63476D22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0672130" y="6423914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47036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43000"/>
            <a:ext cx="9144000" cy="2585720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99840"/>
            <a:ext cx="9144000" cy="2052320"/>
          </a:xfrm>
        </p:spPr>
        <p:txBody>
          <a:bodyPr anchor="t">
            <a:no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3641497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690880"/>
            <a:ext cx="1126744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ECA520B1-DC84-A47D-1F5E-CCD567EB2D86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57200" y="2187362"/>
            <a:ext cx="3657600" cy="3633047"/>
          </a:xfrm>
        </p:spPr>
        <p:txBody>
          <a:bodyPr anchor="t">
            <a:normAutofit/>
          </a:bodyPr>
          <a:lstStyle>
            <a:lvl1pPr marL="342900" indent="-342900">
              <a:buFont typeface="+mj-lt"/>
              <a:buAutoNum type="arabicPeriod"/>
              <a:defRPr sz="1800"/>
            </a:lvl1pPr>
            <a:lvl2pPr marL="914400" indent="-342900">
              <a:buFont typeface="+mj-lt"/>
              <a:buAutoNum type="alphaLcPeriod"/>
              <a:defRPr sz="1800"/>
            </a:lvl2pPr>
            <a:lvl3pPr marL="1371600" indent="-342900">
              <a:buFont typeface="+mj-lt"/>
              <a:buAutoNum type="arabicPeriod"/>
              <a:defRPr sz="1800"/>
            </a:lvl3pPr>
            <a:lvl4pPr marL="1600200" indent="-342900">
              <a:buFont typeface="+mj-lt"/>
              <a:buAutoNum type="alphaLcParenR"/>
              <a:defRPr sz="1800"/>
            </a:lvl4pPr>
            <a:lvl5pPr marL="2057400" indent="-400050"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282437" y="2187361"/>
            <a:ext cx="7442203" cy="3633047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0">
              <a:defRPr sz="1800"/>
            </a:lvl2pPr>
            <a:lvl3pPr marL="548640">
              <a:defRPr sz="1800"/>
            </a:lvl3pPr>
            <a:lvl4pPr marL="822960">
              <a:defRPr sz="1800"/>
            </a:lvl4pPr>
            <a:lvl5pPr marL="1097280"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7200" y="6423914"/>
            <a:ext cx="704120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558300" y="6423914"/>
            <a:ext cx="116634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20879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 +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08219" y="741363"/>
            <a:ext cx="5626579" cy="1286219"/>
          </a:xfrm>
        </p:spPr>
        <p:txBody>
          <a:bodyPr anchor="b">
            <a:noAutofit/>
          </a:bodyPr>
          <a:lstStyle>
            <a:lvl1pPr algn="l">
              <a:defRPr sz="2800"/>
            </a:lvl1pPr>
          </a:lstStyle>
          <a:p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CBE840D-FAED-31D9-AF31-112670D0FA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761684"/>
            <a:ext cx="5171440" cy="5662230"/>
          </a:xfrm>
          <a:custGeom>
            <a:avLst/>
            <a:gdLst>
              <a:gd name="connsiteX0" fmla="*/ 0 w 5171440"/>
              <a:gd name="connsiteY0" fmla="*/ 5056400 h 5662230"/>
              <a:gd name="connsiteX1" fmla="*/ 3685975 w 5171440"/>
              <a:gd name="connsiteY1" fmla="*/ 5056400 h 5662230"/>
              <a:gd name="connsiteX2" fmla="*/ 3685975 w 5171440"/>
              <a:gd name="connsiteY2" fmla="*/ 5662230 h 5662230"/>
              <a:gd name="connsiteX3" fmla="*/ 0 w 5171440"/>
              <a:gd name="connsiteY3" fmla="*/ 5662230 h 5662230"/>
              <a:gd name="connsiteX4" fmla="*/ 3789884 w 5171440"/>
              <a:gd name="connsiteY4" fmla="*/ 0 h 5662230"/>
              <a:gd name="connsiteX5" fmla="*/ 5171440 w 5171440"/>
              <a:gd name="connsiteY5" fmla="*/ 0 h 5662230"/>
              <a:gd name="connsiteX6" fmla="*/ 5171440 w 5171440"/>
              <a:gd name="connsiteY6" fmla="*/ 5662230 h 5662230"/>
              <a:gd name="connsiteX7" fmla="*/ 3789884 w 5171440"/>
              <a:gd name="connsiteY7" fmla="*/ 5662230 h 5662230"/>
              <a:gd name="connsiteX8" fmla="*/ 3789884 w 5171440"/>
              <a:gd name="connsiteY8" fmla="*/ 5056400 h 5662230"/>
              <a:gd name="connsiteX9" fmla="*/ 5168980 w 5171440"/>
              <a:gd name="connsiteY9" fmla="*/ 5056400 h 5662230"/>
              <a:gd name="connsiteX10" fmla="*/ 5168980 w 5171440"/>
              <a:gd name="connsiteY10" fmla="*/ 4956108 h 5662230"/>
              <a:gd name="connsiteX11" fmla="*/ 3789884 w 5171440"/>
              <a:gd name="connsiteY11" fmla="*/ 4956108 h 5662230"/>
              <a:gd name="connsiteX12" fmla="*/ 0 w 5171440"/>
              <a:gd name="connsiteY12" fmla="*/ 0 h 5662230"/>
              <a:gd name="connsiteX13" fmla="*/ 3685975 w 5171440"/>
              <a:gd name="connsiteY13" fmla="*/ 0 h 5662230"/>
              <a:gd name="connsiteX14" fmla="*/ 3685975 w 5171440"/>
              <a:gd name="connsiteY14" fmla="*/ 4956108 h 5662230"/>
              <a:gd name="connsiteX15" fmla="*/ 0 w 5171440"/>
              <a:gd name="connsiteY15" fmla="*/ 4956108 h 5662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71440" h="5662230">
                <a:moveTo>
                  <a:pt x="0" y="5056400"/>
                </a:moveTo>
                <a:lnTo>
                  <a:pt x="3685975" y="5056400"/>
                </a:lnTo>
                <a:lnTo>
                  <a:pt x="3685975" y="5662230"/>
                </a:lnTo>
                <a:lnTo>
                  <a:pt x="0" y="5662230"/>
                </a:lnTo>
                <a:close/>
                <a:moveTo>
                  <a:pt x="3789884" y="0"/>
                </a:moveTo>
                <a:lnTo>
                  <a:pt x="5171440" y="0"/>
                </a:lnTo>
                <a:lnTo>
                  <a:pt x="5171440" y="5662230"/>
                </a:lnTo>
                <a:lnTo>
                  <a:pt x="3789884" y="5662230"/>
                </a:lnTo>
                <a:lnTo>
                  <a:pt x="3789884" y="5056400"/>
                </a:lnTo>
                <a:lnTo>
                  <a:pt x="5168980" y="5056400"/>
                </a:lnTo>
                <a:lnTo>
                  <a:pt x="5168980" y="4956108"/>
                </a:lnTo>
                <a:lnTo>
                  <a:pt x="3789884" y="4956108"/>
                </a:lnTo>
                <a:close/>
                <a:moveTo>
                  <a:pt x="0" y="0"/>
                </a:moveTo>
                <a:lnTo>
                  <a:pt x="3685975" y="0"/>
                </a:lnTo>
                <a:lnTo>
                  <a:pt x="3685975" y="4956108"/>
                </a:lnTo>
                <a:lnTo>
                  <a:pt x="0" y="4956108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22983C-26B8-DE15-E309-D0E93B8C699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06160" y="2235200"/>
            <a:ext cx="5628639" cy="4188713"/>
          </a:xfrm>
        </p:spPr>
        <p:txBody>
          <a:bodyPr anchor="t" anchorCtr="0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82289" y="6423914"/>
            <a:ext cx="1052510" cy="365125"/>
          </a:xfrm>
        </p:spPr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92518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690880"/>
            <a:ext cx="1126744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2318490"/>
            <a:ext cx="7371083" cy="3633047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0">
              <a:defRPr sz="1800"/>
            </a:lvl2pPr>
            <a:lvl3pPr marL="548640">
              <a:defRPr sz="1800"/>
            </a:lvl3pPr>
            <a:lvl4pPr marL="822960">
              <a:defRPr sz="1800"/>
            </a:lvl4pPr>
            <a:lvl5pPr marL="1097280"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8E6EDC6B-B9AA-A4D9-A782-C38A0F84F63F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7993378" y="2318490"/>
            <a:ext cx="3731262" cy="3633047"/>
          </a:xfrm>
        </p:spPr>
        <p:txBody>
          <a:bodyPr anchor="t">
            <a:normAutofit/>
          </a:bodyPr>
          <a:lstStyle>
            <a:lvl1pPr marL="0" indent="-342900">
              <a:buFont typeface="+mj-lt"/>
              <a:buAutoNum type="arabicPeriod"/>
              <a:defRPr sz="1800"/>
            </a:lvl1pPr>
            <a:lvl2pPr marL="914400" indent="-342900">
              <a:buFont typeface="+mj-lt"/>
              <a:buAutoNum type="alphaLcPeriod"/>
              <a:defRPr sz="1800"/>
            </a:lvl2pPr>
            <a:lvl3pPr marL="1371600" indent="-342900">
              <a:buFont typeface="+mj-lt"/>
              <a:buAutoNum type="arabicPeriod"/>
              <a:defRPr sz="1800"/>
            </a:lvl3pPr>
            <a:lvl4pPr marL="1600200" indent="-342900">
              <a:buFont typeface="+mj-lt"/>
              <a:buAutoNum type="alphaLcParenR"/>
              <a:defRPr sz="1800"/>
            </a:lvl4pPr>
            <a:lvl5pPr marL="2057400" indent="-400050"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7200" y="6423914"/>
            <a:ext cx="704120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558300" y="6423914"/>
            <a:ext cx="116634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80133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705124"/>
            <a:ext cx="11272649" cy="1062716"/>
          </a:xfrm>
        </p:spPr>
        <p:txBody>
          <a:bodyPr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457201" y="2234979"/>
            <a:ext cx="11272648" cy="396960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23914"/>
            <a:ext cx="1171548" cy="365125"/>
          </a:xfrm>
        </p:spPr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22897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0F196A1-2430-4797-B656-A38302FAF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151" y="666984"/>
            <a:ext cx="3672970" cy="2125911"/>
          </a:xfrm>
        </p:spPr>
        <p:txBody>
          <a:bodyPr>
            <a:noAutofit/>
          </a:bodyPr>
          <a:lstStyle>
            <a:lvl1pPr algn="l">
              <a:defRPr/>
            </a:lvl1pPr>
          </a:lstStyle>
          <a:p>
            <a:endParaRPr lang="en-US" noProof="0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5A0AD703-0A43-5323-CCB2-832D424EF2DB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62151" y="2862479"/>
            <a:ext cx="3672970" cy="3491849"/>
          </a:xfrm>
        </p:spPr>
        <p:txBody>
          <a:bodyPr anchor="t" anchorCtr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 noProof="0" dirty="0"/>
              <a:t>Click to add text 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627B629-9CBE-3ECF-2D88-F07AACD0374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31970" y="666985"/>
            <a:ext cx="7497880" cy="5687344"/>
          </a:xfrm>
          <a:custGeom>
            <a:avLst/>
            <a:gdLst>
              <a:gd name="connsiteX0" fmla="*/ 3803282 w 7497880"/>
              <a:gd name="connsiteY0" fmla="*/ 0 h 5687344"/>
              <a:gd name="connsiteX1" fmla="*/ 7497880 w 7497880"/>
              <a:gd name="connsiteY1" fmla="*/ 0 h 5687344"/>
              <a:gd name="connsiteX2" fmla="*/ 7497880 w 7497880"/>
              <a:gd name="connsiteY2" fmla="*/ 4581885 h 5687344"/>
              <a:gd name="connsiteX3" fmla="*/ 3803282 w 7497880"/>
              <a:gd name="connsiteY3" fmla="*/ 4581885 h 5687344"/>
              <a:gd name="connsiteX4" fmla="*/ 0 w 7497880"/>
              <a:gd name="connsiteY4" fmla="*/ 0 h 5687344"/>
              <a:gd name="connsiteX5" fmla="*/ 3699373 w 7497880"/>
              <a:gd name="connsiteY5" fmla="*/ 0 h 5687344"/>
              <a:gd name="connsiteX6" fmla="*/ 3699373 w 7497880"/>
              <a:gd name="connsiteY6" fmla="*/ 4581885 h 5687344"/>
              <a:gd name="connsiteX7" fmla="*/ 2 w 7497880"/>
              <a:gd name="connsiteY7" fmla="*/ 4581885 h 5687344"/>
              <a:gd name="connsiteX8" fmla="*/ 2 w 7497880"/>
              <a:gd name="connsiteY8" fmla="*/ 4679200 h 5687344"/>
              <a:gd name="connsiteX9" fmla="*/ 3699373 w 7497880"/>
              <a:gd name="connsiteY9" fmla="*/ 4679200 h 5687344"/>
              <a:gd name="connsiteX10" fmla="*/ 3699373 w 7497880"/>
              <a:gd name="connsiteY10" fmla="*/ 5679350 h 5687344"/>
              <a:gd name="connsiteX11" fmla="*/ 3803282 w 7497880"/>
              <a:gd name="connsiteY11" fmla="*/ 5679350 h 5687344"/>
              <a:gd name="connsiteX12" fmla="*/ 3803282 w 7497880"/>
              <a:gd name="connsiteY12" fmla="*/ 4679200 h 5687344"/>
              <a:gd name="connsiteX13" fmla="*/ 7497880 w 7497880"/>
              <a:gd name="connsiteY13" fmla="*/ 4679200 h 5687344"/>
              <a:gd name="connsiteX14" fmla="*/ 7497880 w 7497880"/>
              <a:gd name="connsiteY14" fmla="*/ 5687344 h 5687344"/>
              <a:gd name="connsiteX15" fmla="*/ 0 w 7497880"/>
              <a:gd name="connsiteY15" fmla="*/ 5687344 h 5687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497880" h="5687344">
                <a:moveTo>
                  <a:pt x="3803282" y="0"/>
                </a:moveTo>
                <a:lnTo>
                  <a:pt x="7497880" y="0"/>
                </a:lnTo>
                <a:lnTo>
                  <a:pt x="7497880" y="4581885"/>
                </a:lnTo>
                <a:lnTo>
                  <a:pt x="3803282" y="4581885"/>
                </a:lnTo>
                <a:close/>
                <a:moveTo>
                  <a:pt x="0" y="0"/>
                </a:moveTo>
                <a:lnTo>
                  <a:pt x="3699373" y="0"/>
                </a:lnTo>
                <a:lnTo>
                  <a:pt x="3699373" y="4581885"/>
                </a:lnTo>
                <a:lnTo>
                  <a:pt x="2" y="4581885"/>
                </a:lnTo>
                <a:lnTo>
                  <a:pt x="2" y="4679200"/>
                </a:lnTo>
                <a:lnTo>
                  <a:pt x="3699373" y="4679200"/>
                </a:lnTo>
                <a:lnTo>
                  <a:pt x="3699373" y="5679350"/>
                </a:lnTo>
                <a:lnTo>
                  <a:pt x="3803282" y="5679350"/>
                </a:lnTo>
                <a:lnTo>
                  <a:pt x="3803282" y="4679200"/>
                </a:lnTo>
                <a:lnTo>
                  <a:pt x="7497880" y="4679200"/>
                </a:lnTo>
                <a:lnTo>
                  <a:pt x="7497880" y="5687344"/>
                </a:lnTo>
                <a:lnTo>
                  <a:pt x="0" y="5687344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t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Click to add picture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0DD7D93-4C4D-E385-9F8C-40536F0BDEA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noProof="0"/>
              <a:t>20XX</a:t>
            </a:r>
            <a:endParaRPr lang="en-US" noProof="0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C99FA72-244D-9DC3-C9B7-E7DAD50A01F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25A4F6F-66FD-CDA5-7F8F-F5FD6382CFC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677340" y="6423914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684743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B1561DF-26A0-6739-95BB-64CDC4C2C6C7}"/>
              </a:ext>
            </a:extLst>
          </p:cNvPr>
          <p:cNvGrpSpPr/>
          <p:nvPr userDrawn="1"/>
        </p:nvGrpSpPr>
        <p:grpSpPr>
          <a:xfrm>
            <a:off x="428696" y="482137"/>
            <a:ext cx="11301155" cy="81191"/>
            <a:chOff x="428696" y="482137"/>
            <a:chExt cx="11301155" cy="8119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053579F-32D7-9FD1-DC84-FA7E491BF51E}"/>
                </a:ext>
              </a:extLst>
            </p:cNvPr>
            <p:cNvSpPr/>
            <p:nvPr/>
          </p:nvSpPr>
          <p:spPr>
            <a:xfrm flipV="1">
              <a:off x="428696" y="482137"/>
              <a:ext cx="3703321" cy="81191"/>
            </a:xfrm>
            <a:prstGeom prst="rect">
              <a:avLst/>
            </a:prstGeom>
            <a:solidFill>
              <a:schemeClr val="accent3"/>
            </a:solidFill>
            <a:ln w="539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DA544AA-CD43-1627-B3BA-3D86AE3F66BA}"/>
                </a:ext>
              </a:extLst>
            </p:cNvPr>
            <p:cNvSpPr/>
            <p:nvPr/>
          </p:nvSpPr>
          <p:spPr>
            <a:xfrm flipV="1">
              <a:off x="4235926" y="482137"/>
              <a:ext cx="3703321" cy="81191"/>
            </a:xfrm>
            <a:prstGeom prst="rect">
              <a:avLst/>
            </a:prstGeom>
            <a:solidFill>
              <a:schemeClr val="accent1"/>
            </a:solidFill>
            <a:ln w="539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8B9861A-053E-6F37-B96F-66C27B486406}"/>
                </a:ext>
              </a:extLst>
            </p:cNvPr>
            <p:cNvSpPr/>
            <p:nvPr/>
          </p:nvSpPr>
          <p:spPr>
            <a:xfrm flipV="1">
              <a:off x="8026530" y="482137"/>
              <a:ext cx="3703321" cy="81191"/>
            </a:xfrm>
            <a:prstGeom prst="rect">
              <a:avLst/>
            </a:prstGeom>
            <a:solidFill>
              <a:schemeClr val="accent4"/>
            </a:solidFill>
            <a:ln w="539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041671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02" r:id="rId3"/>
    <p:sldLayoutId id="2147483803" r:id="rId4"/>
    <p:sldLayoutId id="2147483804" r:id="rId5"/>
    <p:sldLayoutId id="2147483805" r:id="rId6"/>
    <p:sldLayoutId id="2147483806" r:id="rId7"/>
    <p:sldLayoutId id="2147483807" r:id="rId8"/>
    <p:sldLayoutId id="2147483808" r:id="rId9"/>
    <p:sldLayoutId id="2147483809" r:id="rId10"/>
    <p:sldLayoutId id="2147483810" r:id="rId11"/>
    <p:sldLayoutId id="2147483811" r:id="rId12"/>
    <p:sldLayoutId id="2147483813" r:id="rId13"/>
    <p:sldLayoutId id="2147483814" r:id="rId14"/>
    <p:sldLayoutId id="2147483815" r:id="rId15"/>
    <p:sldLayoutId id="2147483816" r:id="rId16"/>
    <p:sldLayoutId id="2147483817" r:id="rId17"/>
    <p:sldLayoutId id="2147483818" r:id="rId18"/>
    <p:sldLayoutId id="2147483820" r:id="rId19"/>
    <p:sldLayoutId id="2147483821" r:id="rId20"/>
    <p:sldLayoutId id="2147483822" r:id="rId2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6C8E6EB-4C59-429B-97E4-72A058CFC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5B90362-AFCC-46A9-B41C-A257A8C5B3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71EF7F1-38BA-471D-8CD4-2A9AE8E35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0524398-BFB4-4C4A-8317-83B8729F9B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26B4480E-B7FF-4481-890E-043A69AE6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Placeholder 9" descr="A stethoscope on a clipboard">
            <a:extLst>
              <a:ext uri="{FF2B5EF4-FFF2-40B4-BE49-F238E27FC236}">
                <a16:creationId xmlns:a16="http://schemas.microsoft.com/office/drawing/2014/main" id="{CC4B82FA-2EA0-5319-6B9C-8D78349FCB0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/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64C13BAB-7C00-4D21-A857-E3D41C0A2A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34797" y="1661699"/>
            <a:ext cx="3703320" cy="94997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CA7E90F-7383-4A8D-B3B2-977D30D270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34797" y="1661699"/>
            <a:ext cx="3703320" cy="94997"/>
          </a:xfrm>
          <a:prstGeom prst="rect">
            <a:avLst/>
          </a:prstGeom>
          <a:solidFill>
            <a:srgbClr val="3BCADD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F1FF39A-AC3C-4066-9D4C-519AA2281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35983" y="1812471"/>
            <a:ext cx="3702134" cy="3383831"/>
          </a:xfrm>
          <a:prstGeom prst="rect">
            <a:avLst/>
          </a:prstGeom>
          <a:solidFill>
            <a:schemeClr val="tx1">
              <a:alpha val="50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53E7C7A-D853-434A-AA24-D8C247D80C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35983" y="1812471"/>
            <a:ext cx="3702134" cy="3383831"/>
          </a:xfrm>
          <a:prstGeom prst="rect">
            <a:avLst/>
          </a:prstGeom>
          <a:solidFill>
            <a:srgbClr val="3BCADD">
              <a:alpha val="40000"/>
            </a:srgb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79F0267-9D1C-BDA9-A152-B01CD379FC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4797" y="2324905"/>
            <a:ext cx="3557694" cy="1646459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>
              <a:spcAft>
                <a:spcPts val="800"/>
              </a:spcAft>
              <a:defRPr sz="4000" b="1">
                <a:solidFill>
                  <a:srgbClr val="FFFFFF"/>
                </a:solidFill>
              </a:defRPr>
            </a:pPr>
            <a:r>
              <a:rPr lang="en-IN" sz="4000" dirty="0"/>
              <a:t>TQM </a:t>
            </a:r>
            <a:r>
              <a:rPr lang="en-IN" sz="4000"/>
              <a:t>PharmA </a:t>
            </a:r>
            <a:r>
              <a:rPr lang="en-IN" sz="4000" dirty="0"/>
              <a:t>Enterprise</a:t>
            </a:r>
          </a:p>
        </p:txBody>
      </p:sp>
      <p:sp>
        <p:nvSpPr>
          <p:cNvPr id="3" name="Rounded Rectangle 4">
            <a:extLst>
              <a:ext uri="{FF2B5EF4-FFF2-40B4-BE49-F238E27FC236}">
                <a16:creationId xmlns:a16="http://schemas.microsoft.com/office/drawing/2014/main" id="{C33801B4-0C38-C6C5-6D89-2CF6AD4692FB}"/>
              </a:ext>
            </a:extLst>
          </p:cNvPr>
          <p:cNvSpPr/>
          <p:nvPr/>
        </p:nvSpPr>
        <p:spPr>
          <a:xfrm>
            <a:off x="107576" y="5120640"/>
            <a:ext cx="4348442" cy="1464870"/>
          </a:xfrm>
          <a:prstGeom prst="roundRect">
            <a:avLst/>
          </a:prstGeom>
          <a:solidFill>
            <a:srgbClr val="123456"/>
          </a:solidFill>
          <a:ln w="15240">
            <a:solidFill>
              <a:srgbClr val="00A3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9AE9D4-D97D-BE32-2178-B81CE18B12AB}"/>
              </a:ext>
            </a:extLst>
          </p:cNvPr>
          <p:cNvSpPr txBox="1"/>
          <p:nvPr/>
        </p:nvSpPr>
        <p:spPr>
          <a:xfrm>
            <a:off x="290456" y="5257800"/>
            <a:ext cx="405854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A389"/>
                </a:solidFill>
              </a:defRPr>
            </a:pPr>
            <a:r>
              <a:rPr sz="2000" dirty="0"/>
              <a:t>PRESENTER: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rPr sz="2000" dirty="0"/>
              <a:t>👤 Piyush Bhatt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rPr sz="2000" dirty="0"/>
              <a:t>Student, Amrapali University, Haldwani, Uttarakhand</a:t>
            </a:r>
          </a:p>
        </p:txBody>
      </p:sp>
    </p:spTree>
    <p:extLst>
      <p:ext uri="{BB962C8B-B14F-4D97-AF65-F5344CB8AC3E}">
        <p14:creationId xmlns:p14="http://schemas.microsoft.com/office/powerpoint/2010/main" val="1039759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1CE91-C267-EAD4-C28B-31086F13B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4">
            <a:extLst>
              <a:ext uri="{FF2B5EF4-FFF2-40B4-BE49-F238E27FC236}">
                <a16:creationId xmlns:a16="http://schemas.microsoft.com/office/drawing/2014/main" id="{1D58F7D4-D4A9-5A58-A5F9-7236A9B2CA3A}"/>
              </a:ext>
            </a:extLst>
          </p:cNvPr>
          <p:cNvSpPr/>
          <p:nvPr/>
        </p:nvSpPr>
        <p:spPr>
          <a:xfrm>
            <a:off x="430306" y="1645920"/>
            <a:ext cx="362963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28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ABCFE1-3382-B7A1-370A-125B01D59D1A}"/>
              </a:ext>
            </a:extLst>
          </p:cNvPr>
          <p:cNvSpPr/>
          <p:nvPr/>
        </p:nvSpPr>
        <p:spPr>
          <a:xfrm>
            <a:off x="430306" y="1645920"/>
            <a:ext cx="3629630" cy="54864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28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F6490B-5824-083A-C437-A47F807F9FD6}"/>
              </a:ext>
            </a:extLst>
          </p:cNvPr>
          <p:cNvSpPr txBox="1"/>
          <p:nvPr/>
        </p:nvSpPr>
        <p:spPr>
          <a:xfrm>
            <a:off x="447289" y="1740092"/>
            <a:ext cx="282628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rPr sz="1400" dirty="0"/>
              <a:t>1. Medication Dispensing Errors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C06278-4321-F47B-032C-41D3FCA24B6B}"/>
              </a:ext>
            </a:extLst>
          </p:cNvPr>
          <p:cNvSpPr txBox="1"/>
          <p:nvPr/>
        </p:nvSpPr>
        <p:spPr>
          <a:xfrm>
            <a:off x="430306" y="2331720"/>
            <a:ext cx="3492470" cy="3085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rPr sz="1400" dirty="0"/>
              <a:t>Clinical Baseline: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endParaRPr sz="1400" dirty="0"/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rPr sz="1400" dirty="0"/>
              <a:t>• Over 1.3 million preventable patient injuries occur annually due to adverse drug events (ADEs).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rPr sz="1400" dirty="0"/>
              <a:t>• Manual interpretation of doctor prescriptions causes dosage miscalculations and transcription slips.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rPr sz="1400" dirty="0"/>
              <a:t>• Lack of automated allergy cross-checks risks fatal Penicillin anaphylaxis.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rPr sz="1400" dirty="0"/>
              <a:t>• Baseline Solution: Automated Clinical Decision Support System (CDSS) acting as an immutable quality shield.</a:t>
            </a:r>
          </a:p>
        </p:txBody>
      </p:sp>
      <p:sp>
        <p:nvSpPr>
          <p:cNvPr id="15" name="Rounded Rectangle 8">
            <a:extLst>
              <a:ext uri="{FF2B5EF4-FFF2-40B4-BE49-F238E27FC236}">
                <a16:creationId xmlns:a16="http://schemas.microsoft.com/office/drawing/2014/main" id="{B80E0819-2187-3F60-DD5F-DCB384272FE1}"/>
              </a:ext>
            </a:extLst>
          </p:cNvPr>
          <p:cNvSpPr/>
          <p:nvPr/>
        </p:nvSpPr>
        <p:spPr>
          <a:xfrm>
            <a:off x="4197096" y="1645920"/>
            <a:ext cx="3557016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28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2066DE6-3F54-76C0-F94D-8DB39D2BC63B}"/>
              </a:ext>
            </a:extLst>
          </p:cNvPr>
          <p:cNvSpPr/>
          <p:nvPr/>
        </p:nvSpPr>
        <p:spPr>
          <a:xfrm>
            <a:off x="4197096" y="1645920"/>
            <a:ext cx="3557016" cy="548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28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6CD9EF2-4C56-5462-0F85-0AC37E78C08D}"/>
              </a:ext>
            </a:extLst>
          </p:cNvPr>
          <p:cNvSpPr txBox="1"/>
          <p:nvPr/>
        </p:nvSpPr>
        <p:spPr>
          <a:xfrm>
            <a:off x="4197096" y="1719072"/>
            <a:ext cx="35570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rPr sz="1400" dirty="0"/>
              <a:t>2. Cold-Chain &amp; Expiry Spoilage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699CE26-B896-1E18-38A9-C9EFEEF394D4}"/>
              </a:ext>
            </a:extLst>
          </p:cNvPr>
          <p:cNvSpPr txBox="1"/>
          <p:nvPr/>
        </p:nvSpPr>
        <p:spPr>
          <a:xfrm>
            <a:off x="4288536" y="2331720"/>
            <a:ext cx="3328416" cy="3085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rPr sz="1400" dirty="0"/>
              <a:t>Supply Chain Baseline: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endParaRPr sz="1400" dirty="0"/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rPr sz="1400" dirty="0"/>
              <a:t>• Vaccines, insulin, and biologics degrade silently outside the mandatory 2.0°C–8.0°C envelope.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rPr sz="1400" dirty="0"/>
              <a:t>• Standard retail FIFO picking allows older batches to sit unnoticed while newer stock is sold.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rPr sz="1400" dirty="0"/>
              <a:t>• Substantial annual capital lost in expired, unsellable inventory.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rPr sz="1400" dirty="0"/>
              <a:t>• Baseline Solution: Algorithmic FEFO (First-Expiry, First-Out) picking + 24/7 continuous IoT temperature telemetry.</a:t>
            </a:r>
          </a:p>
        </p:txBody>
      </p:sp>
      <p:sp>
        <p:nvSpPr>
          <p:cNvPr id="25" name="Rounded Rectangle 12">
            <a:extLst>
              <a:ext uri="{FF2B5EF4-FFF2-40B4-BE49-F238E27FC236}">
                <a16:creationId xmlns:a16="http://schemas.microsoft.com/office/drawing/2014/main" id="{BEE8DDC8-8E98-47A3-65C3-22AFCC271F2C}"/>
              </a:ext>
            </a:extLst>
          </p:cNvPr>
          <p:cNvSpPr/>
          <p:nvPr/>
        </p:nvSpPr>
        <p:spPr>
          <a:xfrm>
            <a:off x="8119871" y="1645920"/>
            <a:ext cx="3557015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280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045BD30-D00E-9C35-1E4E-7FAF8280C562}"/>
              </a:ext>
            </a:extLst>
          </p:cNvPr>
          <p:cNvSpPr/>
          <p:nvPr/>
        </p:nvSpPr>
        <p:spPr>
          <a:xfrm>
            <a:off x="8119871" y="1645920"/>
            <a:ext cx="3557013" cy="5486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28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2E9E53E-8CD4-A93A-E8A5-314892FDA6A8}"/>
              </a:ext>
            </a:extLst>
          </p:cNvPr>
          <p:cNvSpPr txBox="1"/>
          <p:nvPr/>
        </p:nvSpPr>
        <p:spPr>
          <a:xfrm>
            <a:off x="8119872" y="1719072"/>
            <a:ext cx="35570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rPr sz="1400" dirty="0"/>
              <a:t>3. Regulatory &amp; Till Shrinkage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2EC8DDE-23A3-70D1-2D99-BA9DA7A3758F}"/>
              </a:ext>
            </a:extLst>
          </p:cNvPr>
          <p:cNvSpPr txBox="1"/>
          <p:nvPr/>
        </p:nvSpPr>
        <p:spPr>
          <a:xfrm>
            <a:off x="8257032" y="2331720"/>
            <a:ext cx="3419852" cy="2870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rPr sz="1400"/>
              <a:t>Operational Baseline: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endParaRPr sz="1400"/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rPr sz="1400"/>
              <a:t>• Inadequate tracking of Schedule X / NDPS controlled sedatives invites severe legal penalties and license cancellation.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rPr sz="1400"/>
              <a:t>• Cash drawer variances, unmonitored mid-shift payouts, and unverified digital receipts.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rPr sz="1400"/>
              <a:t>• Failed surprise drug inspector audits due to paper registers.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rPr sz="1400"/>
              <a:t>• Baseline Solution: Mandatory dual-PIN narcotic register + Daily Z-Report mathematical cash reconciliation.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6C16199-FB84-FA5C-C0AA-1D6BCF8DE672}"/>
              </a:ext>
            </a:extLst>
          </p:cNvPr>
          <p:cNvSpPr txBox="1"/>
          <p:nvPr/>
        </p:nvSpPr>
        <p:spPr>
          <a:xfrm>
            <a:off x="430306" y="573274"/>
            <a:ext cx="1099969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2540"/>
                </a:solidFill>
                <a:latin typeface="Segoe UI"/>
              </a:defRPr>
            </a:pPr>
            <a:r>
              <a:rPr sz="3200" dirty="0"/>
              <a:t>Problem Statement </a:t>
            </a:r>
            <a:r>
              <a:rPr lang="en-US" sz="3200" dirty="0"/>
              <a:t>: High-Risk Vulnerabilities in Traditional Pharmacies</a:t>
            </a:r>
            <a:endParaRPr sz="3200" dirty="0"/>
          </a:p>
        </p:txBody>
      </p:sp>
    </p:spTree>
    <p:extLst>
      <p:ext uri="{BB962C8B-B14F-4D97-AF65-F5344CB8AC3E}">
        <p14:creationId xmlns:p14="http://schemas.microsoft.com/office/powerpoint/2010/main" val="87800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879DB-0F49-A6E7-4206-110457851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1D634EA1-E0A4-1F6C-40B9-5A961F0DFBE9}"/>
              </a:ext>
            </a:extLst>
          </p:cNvPr>
          <p:cNvSpPr txBox="1"/>
          <p:nvPr/>
        </p:nvSpPr>
        <p:spPr>
          <a:xfrm>
            <a:off x="731520" y="685800"/>
            <a:ext cx="106984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2540"/>
                </a:solidFill>
                <a:latin typeface="Segoe UI"/>
              </a:defRPr>
            </a:pPr>
            <a:r>
              <a:rPr sz="3600" dirty="0"/>
              <a:t>Quality Objectives Aligned with TQM Principles</a:t>
            </a:r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CB49A139-7EC8-6858-8404-1150677F593C}"/>
              </a:ext>
            </a:extLst>
          </p:cNvPr>
          <p:cNvSpPr/>
          <p:nvPr/>
        </p:nvSpPr>
        <p:spPr>
          <a:xfrm>
            <a:off x="731520" y="1600200"/>
            <a:ext cx="10728655" cy="8339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3C3603B-F7A8-3651-8952-7AA328073CC7}"/>
              </a:ext>
            </a:extLst>
          </p:cNvPr>
          <p:cNvSpPr/>
          <p:nvPr/>
        </p:nvSpPr>
        <p:spPr>
          <a:xfrm>
            <a:off x="731520" y="1600200"/>
            <a:ext cx="109728" cy="833932"/>
          </a:xfrm>
          <a:prstGeom prst="rect">
            <a:avLst/>
          </a:prstGeom>
          <a:solidFill>
            <a:srgbClr val="00A3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544E01-BF16-993B-FE12-34F74583D146}"/>
              </a:ext>
            </a:extLst>
          </p:cNvPr>
          <p:cNvSpPr txBox="1"/>
          <p:nvPr/>
        </p:nvSpPr>
        <p:spPr>
          <a:xfrm>
            <a:off x="1005840" y="1655064"/>
            <a:ext cx="10241280" cy="733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A2540"/>
                </a:solidFill>
              </a:defRPr>
            </a:pPr>
            <a:r>
              <a:rPr sz="1200"/>
              <a:t>Objective 1: Zero Medication Dispensing Defects (Patient Focus)</a:t>
            </a:r>
          </a:p>
          <a:p>
            <a:pPr>
              <a:spcAft>
                <a:spcPts val="100"/>
              </a:spcAft>
              <a:defRPr sz="950">
                <a:solidFill>
                  <a:srgbClr val="1E293B"/>
                </a:solidFill>
              </a:defRPr>
            </a:pPr>
            <a:r>
              <a:rPr sz="1400"/>
              <a:t>Poka-Yoke error-proofing: Automated Clinical Decision Support System (CDSS) intercepts allergen cross-reactions (Penicillin, NSAIDs) and toxic drug interactions before an invoice can be created.</a:t>
            </a:r>
          </a:p>
        </p:txBody>
      </p:sp>
      <p:sp>
        <p:nvSpPr>
          <p:cNvPr id="20" name="Rounded Rectangle 7">
            <a:extLst>
              <a:ext uri="{FF2B5EF4-FFF2-40B4-BE49-F238E27FC236}">
                <a16:creationId xmlns:a16="http://schemas.microsoft.com/office/drawing/2014/main" id="{B94E0281-05C2-BF09-63C6-5BC24FBBD350}"/>
              </a:ext>
            </a:extLst>
          </p:cNvPr>
          <p:cNvSpPr/>
          <p:nvPr/>
        </p:nvSpPr>
        <p:spPr>
          <a:xfrm>
            <a:off x="731520" y="2580436"/>
            <a:ext cx="10728655" cy="8339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6B70781-CA02-B20D-8E1F-F538D41B1621}"/>
              </a:ext>
            </a:extLst>
          </p:cNvPr>
          <p:cNvSpPr/>
          <p:nvPr/>
        </p:nvSpPr>
        <p:spPr>
          <a:xfrm>
            <a:off x="731520" y="2580436"/>
            <a:ext cx="109728" cy="8339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EB5C9B-5AFD-F79D-84FF-0C6A79086DC2}"/>
              </a:ext>
            </a:extLst>
          </p:cNvPr>
          <p:cNvSpPr txBox="1"/>
          <p:nvPr/>
        </p:nvSpPr>
        <p:spPr>
          <a:xfrm>
            <a:off x="1005840" y="2635300"/>
            <a:ext cx="10241280" cy="733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A2540"/>
                </a:solidFill>
              </a:defRPr>
            </a:pPr>
            <a:r>
              <a:rPr sz="1200"/>
              <a:t>Objective 2: 100% Cold-Chain Storage &amp; Transport Compliance</a:t>
            </a:r>
          </a:p>
          <a:p>
            <a:pPr>
              <a:spcAft>
                <a:spcPts val="100"/>
              </a:spcAft>
              <a:defRPr sz="950">
                <a:solidFill>
                  <a:srgbClr val="1E293B"/>
                </a:solidFill>
              </a:defRPr>
            </a:pPr>
            <a:r>
              <a:rPr sz="1400"/>
              <a:t>Biological Integrity: Guarantee all thermo-sensitive pharmaceuticals remain in 2.0°C–8.0°C via 30s background IoT telemetry streaming and automated thermal spike alarms.</a:t>
            </a:r>
          </a:p>
        </p:txBody>
      </p:sp>
      <p:sp>
        <p:nvSpPr>
          <p:cNvPr id="26" name="Rounded Rectangle 10">
            <a:extLst>
              <a:ext uri="{FF2B5EF4-FFF2-40B4-BE49-F238E27FC236}">
                <a16:creationId xmlns:a16="http://schemas.microsoft.com/office/drawing/2014/main" id="{D95DC876-4C82-0A05-44FD-9AC81259BDA4}"/>
              </a:ext>
            </a:extLst>
          </p:cNvPr>
          <p:cNvSpPr/>
          <p:nvPr/>
        </p:nvSpPr>
        <p:spPr>
          <a:xfrm>
            <a:off x="731520" y="3560673"/>
            <a:ext cx="10728655" cy="8339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DFA2C38-36F1-BBD3-BA4D-3EF102E3BAFF}"/>
              </a:ext>
            </a:extLst>
          </p:cNvPr>
          <p:cNvSpPr/>
          <p:nvPr/>
        </p:nvSpPr>
        <p:spPr>
          <a:xfrm>
            <a:off x="731520" y="3560673"/>
            <a:ext cx="109728" cy="8339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7DED216-05B1-561E-3A70-15CC1D40E73B}"/>
              </a:ext>
            </a:extLst>
          </p:cNvPr>
          <p:cNvSpPr txBox="1"/>
          <p:nvPr/>
        </p:nvSpPr>
        <p:spPr>
          <a:xfrm>
            <a:off x="1005840" y="3615537"/>
            <a:ext cx="10241280" cy="733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A2540"/>
                </a:solidFill>
              </a:defRPr>
            </a:pPr>
            <a:r>
              <a:rPr sz="1200"/>
              <a:t>Objective 3: Zero Expiry Dead-Stock Losses (FEFO Scheduling)</a:t>
            </a:r>
          </a:p>
          <a:p>
            <a:pPr>
              <a:spcAft>
                <a:spcPts val="100"/>
              </a:spcAft>
              <a:defRPr sz="950">
                <a:solidFill>
                  <a:srgbClr val="1E293B"/>
                </a:solidFill>
              </a:defRPr>
            </a:pPr>
            <a:r>
              <a:rPr sz="1400"/>
              <a:t>Process Quality: Eliminate inventory wastage by algorithmically enforcing First-Expiry, First-Out (FEFO) batch prioritization; hard-lock dispensing of expired SKUs.</a:t>
            </a:r>
          </a:p>
        </p:txBody>
      </p:sp>
      <p:sp>
        <p:nvSpPr>
          <p:cNvPr id="32" name="Rounded Rectangle 13">
            <a:extLst>
              <a:ext uri="{FF2B5EF4-FFF2-40B4-BE49-F238E27FC236}">
                <a16:creationId xmlns:a16="http://schemas.microsoft.com/office/drawing/2014/main" id="{BCA66A8B-518E-49BC-943F-143DD8092D96}"/>
              </a:ext>
            </a:extLst>
          </p:cNvPr>
          <p:cNvSpPr/>
          <p:nvPr/>
        </p:nvSpPr>
        <p:spPr>
          <a:xfrm>
            <a:off x="731520" y="4540910"/>
            <a:ext cx="10728655" cy="8339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D3CACB0-4110-5646-D9F4-9B35676DBF3C}"/>
              </a:ext>
            </a:extLst>
          </p:cNvPr>
          <p:cNvSpPr/>
          <p:nvPr/>
        </p:nvSpPr>
        <p:spPr>
          <a:xfrm>
            <a:off x="731520" y="4540910"/>
            <a:ext cx="109728" cy="833932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77AB8AF-CD24-C380-C17B-9AB19B97B4D2}"/>
              </a:ext>
            </a:extLst>
          </p:cNvPr>
          <p:cNvSpPr txBox="1"/>
          <p:nvPr/>
        </p:nvSpPr>
        <p:spPr>
          <a:xfrm>
            <a:off x="1005840" y="4595774"/>
            <a:ext cx="10241280" cy="733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A2540"/>
                </a:solidFill>
              </a:defRPr>
            </a:pPr>
            <a:r>
              <a:rPr sz="1200"/>
              <a:t>Objective 4: Zero Cash Register Discrepancy &amp; Till Balancing</a:t>
            </a:r>
          </a:p>
          <a:p>
            <a:pPr>
              <a:spcAft>
                <a:spcPts val="100"/>
              </a:spcAft>
              <a:defRPr sz="950">
                <a:solidFill>
                  <a:srgbClr val="1E293B"/>
                </a:solidFill>
              </a:defRPr>
            </a:pPr>
            <a:r>
              <a:rPr sz="1400"/>
              <a:t>Fact-Based Management: Enforce strict shift-end financial governance through the Daily Z-Report engine, mathematically balancing opening float, sales, payouts, and counted cash.</a:t>
            </a:r>
          </a:p>
        </p:txBody>
      </p:sp>
      <p:sp>
        <p:nvSpPr>
          <p:cNvPr id="38" name="Rounded Rectangle 16">
            <a:extLst>
              <a:ext uri="{FF2B5EF4-FFF2-40B4-BE49-F238E27FC236}">
                <a16:creationId xmlns:a16="http://schemas.microsoft.com/office/drawing/2014/main" id="{0FEF173C-F872-B694-063F-8F35D32F055E}"/>
              </a:ext>
            </a:extLst>
          </p:cNvPr>
          <p:cNvSpPr/>
          <p:nvPr/>
        </p:nvSpPr>
        <p:spPr>
          <a:xfrm>
            <a:off x="731520" y="5521147"/>
            <a:ext cx="10728655" cy="8339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39E864F-E26A-41B3-9C03-6C189110550D}"/>
              </a:ext>
            </a:extLst>
          </p:cNvPr>
          <p:cNvSpPr/>
          <p:nvPr/>
        </p:nvSpPr>
        <p:spPr>
          <a:xfrm>
            <a:off x="731520" y="5521147"/>
            <a:ext cx="109728" cy="833932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AEF44C3-2F03-DEA2-92E9-4CB772E5175E}"/>
              </a:ext>
            </a:extLst>
          </p:cNvPr>
          <p:cNvSpPr txBox="1"/>
          <p:nvPr/>
        </p:nvSpPr>
        <p:spPr>
          <a:xfrm>
            <a:off x="1005840" y="5576011"/>
            <a:ext cx="10241280" cy="733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A2540"/>
                </a:solidFill>
              </a:defRPr>
            </a:pPr>
            <a:r>
              <a:rPr sz="1200"/>
              <a:t>Objective 5: 100% Regulatory Audit Readiness (ISO 9001 &amp; CDSCO)</a:t>
            </a:r>
          </a:p>
          <a:p>
            <a:pPr>
              <a:spcAft>
                <a:spcPts val="100"/>
              </a:spcAft>
              <a:defRPr sz="950">
                <a:solidFill>
                  <a:srgbClr val="1E293B"/>
                </a:solidFill>
              </a:defRPr>
            </a:pPr>
            <a:r>
              <a:rPr sz="1400"/>
              <a:t>Continuous Assurance: Maintain an immutable 21 CFR Part 11 SQLite audit trail, dual-PIN Schedule X narcotic register, and 1-click CSV export ready for State Drug Inspectors.</a:t>
            </a:r>
          </a:p>
        </p:txBody>
      </p:sp>
    </p:spTree>
    <p:extLst>
      <p:ext uri="{BB962C8B-B14F-4D97-AF65-F5344CB8AC3E}">
        <p14:creationId xmlns:p14="http://schemas.microsoft.com/office/powerpoint/2010/main" val="1620671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1E1AF-B3A2-5A42-2D0A-C6770777B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CFC117D-71DA-D828-9E02-8412BA66B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688" y="1036337"/>
            <a:ext cx="11272649" cy="827841"/>
          </a:xfrm>
        </p:spPr>
        <p:txBody>
          <a:bodyPr/>
          <a:lstStyle/>
          <a:p>
            <a:r>
              <a:rPr lang="en-US" dirty="0"/>
              <a:t>Stakeholder Identification: Mapping Layman Needs to SRS Specifications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E433845-51B3-C078-9597-ED017B4EA7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0277305"/>
              </p:ext>
            </p:extLst>
          </p:nvPr>
        </p:nvGraphicFramePr>
        <p:xfrm>
          <a:off x="324688" y="1435510"/>
          <a:ext cx="11594596" cy="50775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87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92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5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13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5423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100"/>
                        <a:t>Stakeholder Persona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100"/>
                        <a:t>Real-World Layman Requirement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100"/>
                        <a:t>Technical SRS Functional Specification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100"/>
                        <a:t>TQM Quality Gate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316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rPr sz="1050"/>
                        <a:t>Patient / Customer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rPr sz="1050"/>
                        <a:t>"I want genuine medicine that doesn't trigger my allergies, isn't expired, and gets delivered to my doorstep safely."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rPr sz="1050" dirty="0"/>
                        <a:t>FR-CLI-01: EHR Patient Allergy Screening</a:t>
                      </a:r>
                    </a:p>
                    <a:p>
                      <a:r>
                        <a:rPr sz="1400" dirty="0"/>
                        <a:t>FR-INV-02: FEFO Expiry Lockout</a:t>
                      </a:r>
                    </a:p>
                    <a:p>
                      <a:r>
                        <a:rPr sz="1400" dirty="0"/>
                        <a:t>FR-DEL-01: Cold-Chain Fleet OTP Handover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rPr sz="1050" dirty="0"/>
                        <a:t>CDSS Hard-Stop Shield</a:t>
                      </a:r>
                    </a:p>
                    <a:p>
                      <a:r>
                        <a:rPr sz="1400" dirty="0"/>
                        <a:t>Proof-of-Delivery OTP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316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rPr sz="1050"/>
                        <a:t>Clinical Pharmacist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rPr sz="1050"/>
                        <a:t>"I need to catch toxic drug interactions instantly, verify doctor credentials, and record narcotics legally."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rPr sz="1050" dirty="0"/>
                        <a:t>FR-CLI-02: Drug-Drug Interaction Matrix</a:t>
                      </a:r>
                    </a:p>
                    <a:p>
                      <a:r>
                        <a:rPr sz="1400" dirty="0"/>
                        <a:t>FR-CLI-03: Schedule X Narcotic Dual-Auth PIN</a:t>
                      </a:r>
                    </a:p>
                    <a:p>
                      <a:r>
                        <a:rPr sz="1400" dirty="0"/>
                        <a:t>FR-CLI-04: Digital Rx Verification Queue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rPr sz="1050" dirty="0"/>
                        <a:t>Dual-Signoff Poka-Yoke</a:t>
                      </a:r>
                    </a:p>
                    <a:p>
                      <a:r>
                        <a:rPr sz="1400" dirty="0"/>
                        <a:t>Clinical Review Gate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316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rPr sz="1050"/>
                        <a:t>Cashier / POS Clerk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rPr sz="1050"/>
                        <a:t>"I need fast barcode billing, split payment (Cash/UPI/Card), automatic change calculation, and easy returns."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rPr sz="1050" dirty="0"/>
                        <a:t>FR-POS-01: High-Speed FEFO Barcode Engine</a:t>
                      </a:r>
                    </a:p>
                    <a:p>
                      <a:r>
                        <a:rPr sz="1400" dirty="0"/>
                        <a:t>FR-POS-02: Dynamic UPI QR &amp; Split Tender</a:t>
                      </a:r>
                    </a:p>
                    <a:p>
                      <a:r>
                        <a:rPr sz="1400" dirty="0"/>
                        <a:t>FR-POS-04: Return/Refund Credit Note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rPr sz="1050" dirty="0"/>
                        <a:t>Real-Time Balance Check</a:t>
                      </a:r>
                    </a:p>
                    <a:p>
                      <a:r>
                        <a:rPr sz="1400" dirty="0"/>
                        <a:t>Instant Change Calculator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316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rPr sz="1050"/>
                        <a:t>Inventory Manager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rPr sz="1050"/>
                        <a:t>"I need to know when to reorder stock, inward GRN consignments without paying upfront, and track batches."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rPr sz="1050" dirty="0"/>
                        <a:t>FR-INV-01: Reorder Point (ROP) JIT Engine</a:t>
                      </a:r>
                    </a:p>
                    <a:p>
                      <a:r>
                        <a:rPr sz="1400" dirty="0"/>
                        <a:t>FR-INV-03: Pay-on-Sale GRN </a:t>
                      </a:r>
                      <a:r>
                        <a:rPr sz="1400" dirty="0" err="1"/>
                        <a:t>Inwarding</a:t>
                      </a:r>
                      <a:endParaRPr sz="1400" dirty="0"/>
                    </a:p>
                    <a:p>
                      <a:r>
                        <a:rPr sz="1400" dirty="0"/>
                        <a:t>FR-INV-05: Cold-Chain IoT Telemetry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rPr sz="1050" dirty="0"/>
                        <a:t>Kanban Two-Bin Pull</a:t>
                      </a:r>
                    </a:p>
                    <a:p>
                      <a:r>
                        <a:rPr sz="1400" dirty="0"/>
                        <a:t>Consignment Ledger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316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rPr sz="1050"/>
                        <a:t>Delivery Fleet Agent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rPr sz="1050"/>
                        <a:t>"I need clear delivery addresses, temperature-safe bags for insulin, and OTP so customers can't deny delivery."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rPr sz="1050" dirty="0"/>
                        <a:t>FR-DEL-02: Dispatch Route Queue</a:t>
                      </a:r>
                    </a:p>
                    <a:p>
                      <a:r>
                        <a:rPr sz="1400" dirty="0"/>
                        <a:t>FR-DEL-03: Insulated Cold-Bag Checklist</a:t>
                      </a:r>
                    </a:p>
                    <a:p>
                      <a:r>
                        <a:rPr sz="1400" dirty="0"/>
                        <a:t>FR-DEL-04: 4-Digit SMS OTP Handover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rPr sz="1050" dirty="0"/>
                        <a:t>Secure Handover Verification</a:t>
                      </a:r>
                    </a:p>
                    <a:p>
                      <a:r>
                        <a:rPr sz="1400" dirty="0"/>
                        <a:t>e-POD Stamp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316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rPr sz="1050"/>
                        <a:t>Pharma Wholesaler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rPr sz="1050"/>
                        <a:t>"I want transparent accounts so when the pharmacy sells my stock, I get paid accurately without disputes."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rPr sz="1050" dirty="0"/>
                        <a:t>FR-SUP-01: Supplier Consignment Ledger</a:t>
                      </a:r>
                    </a:p>
                    <a:p>
                      <a:r>
                        <a:rPr sz="1400" dirty="0"/>
                        <a:t>FR-SUP-02: Pay-on-Sale Settlement Voucher</a:t>
                      </a:r>
                    </a:p>
                    <a:p>
                      <a:r>
                        <a:rPr sz="1400" dirty="0"/>
                        <a:t>FR-SUP-03: Supplier Return Reconciliation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rPr sz="1050" dirty="0"/>
                        <a:t>Dynamic Sales Deduction</a:t>
                      </a:r>
                    </a:p>
                    <a:p>
                      <a:r>
                        <a:rPr sz="1400" dirty="0"/>
                        <a:t>Settlement Audit Trail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8316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rPr sz="1050"/>
                        <a:t>Pharmacy Admin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rPr sz="1050"/>
                        <a:t>"I need complete oversight: daily revenue, balanced cash drawer, no theft, and full audit logs of who did what."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rPr sz="1050" dirty="0"/>
                        <a:t>FR-ADM-01: Daily Z-Report Reconciliation</a:t>
                      </a:r>
                    </a:p>
                    <a:p>
                      <a:r>
                        <a:rPr sz="1400" dirty="0"/>
                        <a:t>FR-ADM-02: Immutable Audit Log Ledger</a:t>
                      </a:r>
                    </a:p>
                    <a:p>
                      <a:r>
                        <a:rPr sz="1400" dirty="0"/>
                        <a:t>FR-ADM-03: Role-Based Access Control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rPr sz="1050" dirty="0"/>
                        <a:t>Blind Cash Till Count</a:t>
                      </a:r>
                    </a:p>
                    <a:p>
                      <a:r>
                        <a:rPr sz="1400" dirty="0"/>
                        <a:t>Cryptographic Audit Trail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4679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D218F-45EE-469E-0C00-532F8D767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Placeholder 15" descr="A group of surgeons wearing surgical caps and masks">
            <a:extLst>
              <a:ext uri="{FF2B5EF4-FFF2-40B4-BE49-F238E27FC236}">
                <a16:creationId xmlns:a16="http://schemas.microsoft.com/office/drawing/2014/main" id="{E61E8F09-4657-29C2-A7D2-F8DA3029705B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 rotWithShape="1">
          <a:blip r:embed="rId3"/>
          <a:srcRect t="35757" b="35757"/>
          <a:stretch/>
        </p:blipFill>
        <p:spPr/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2422C99-0CBA-FCBB-9482-F5CD4BAFC87A}"/>
              </a:ext>
            </a:extLst>
          </p:cNvPr>
          <p:cNvSpPr txBox="1"/>
          <p:nvPr/>
        </p:nvSpPr>
        <p:spPr>
          <a:xfrm>
            <a:off x="457200" y="2882635"/>
            <a:ext cx="10698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2540"/>
                </a:solidFill>
                <a:latin typeface="Segoe UI"/>
              </a:defRPr>
            </a:pPr>
            <a:r>
              <a:rPr sz="2800" dirty="0"/>
              <a:t>Scope and User Roles (Role-Based Access Control)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397818-4549-A133-3757-D0313D47640F}"/>
              </a:ext>
            </a:extLst>
          </p:cNvPr>
          <p:cNvSpPr/>
          <p:nvPr/>
        </p:nvSpPr>
        <p:spPr>
          <a:xfrm>
            <a:off x="480782" y="3723669"/>
            <a:ext cx="2029968" cy="5943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C9E49C-EC48-99E2-F39B-AD761687B370}"/>
              </a:ext>
            </a:extLst>
          </p:cNvPr>
          <p:cNvSpPr txBox="1"/>
          <p:nvPr/>
        </p:nvSpPr>
        <p:spPr>
          <a:xfrm>
            <a:off x="470561" y="3893856"/>
            <a:ext cx="176362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sz="1600" dirty="0"/>
              <a:t>👑 Store Admin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C72B76-22F7-0B73-5893-590FA030E6A0}"/>
              </a:ext>
            </a:extLst>
          </p:cNvPr>
          <p:cNvSpPr txBox="1"/>
          <p:nvPr/>
        </p:nvSpPr>
        <p:spPr>
          <a:xfrm>
            <a:off x="521202" y="4353890"/>
            <a:ext cx="2029967" cy="2354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50" b="1">
                <a:solidFill>
                  <a:srgbClr val="64748B"/>
                </a:solidFill>
              </a:defRPr>
            </a:pPr>
            <a:r>
              <a:rPr sz="1200" dirty="0"/>
              <a:t>Terminal: Console HQ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rPr sz="1200" dirty="0"/>
              <a:t>• Manage staff accounts &amp; passwords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rPr sz="1200" dirty="0"/>
              <a:t>• Monitor live online terminal presence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rPr sz="1200" dirty="0"/>
              <a:t>• Review daily Z-Report reconciliations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rPr sz="1200" dirty="0"/>
              <a:t>• Execute SQLite snapshot backups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rPr sz="1200" dirty="0"/>
              <a:t>• Inspect immutable system audit stream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9825E1B-9BDC-4C8C-6D5A-494ED6A7E405}"/>
              </a:ext>
            </a:extLst>
          </p:cNvPr>
          <p:cNvSpPr/>
          <p:nvPr/>
        </p:nvSpPr>
        <p:spPr>
          <a:xfrm>
            <a:off x="2767587" y="3715773"/>
            <a:ext cx="2180354" cy="594360"/>
          </a:xfrm>
          <a:prstGeom prst="rect">
            <a:avLst/>
          </a:prstGeom>
          <a:solidFill>
            <a:srgbClr val="00A3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016E4A6-8719-A175-02EA-11EC4520AB4E}"/>
              </a:ext>
            </a:extLst>
          </p:cNvPr>
          <p:cNvSpPr txBox="1"/>
          <p:nvPr/>
        </p:nvSpPr>
        <p:spPr>
          <a:xfrm>
            <a:off x="2629810" y="3905994"/>
            <a:ext cx="238238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sz="1600" dirty="0"/>
              <a:t>🩺 Clinical Pharmacist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8F78E6B-5AA6-BFA3-38B2-266EF7E36D84}"/>
              </a:ext>
            </a:extLst>
          </p:cNvPr>
          <p:cNvSpPr txBox="1"/>
          <p:nvPr/>
        </p:nvSpPr>
        <p:spPr>
          <a:xfrm>
            <a:off x="2806019" y="4352993"/>
            <a:ext cx="2029967" cy="2354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50" b="1">
                <a:solidFill>
                  <a:srgbClr val="64748B"/>
                </a:solidFill>
              </a:defRPr>
            </a:pPr>
            <a:r>
              <a:rPr sz="1200" dirty="0"/>
              <a:t>Terminal: Clinical Bay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rPr sz="1200" dirty="0"/>
              <a:t>• Review incoming e-Prescriptions queue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rPr sz="1200" dirty="0"/>
              <a:t>• CDSS allergy shield cross-checks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rPr sz="1200" dirty="0"/>
              <a:t>• Drug-drug interaction risk analysis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rPr sz="1200" dirty="0"/>
              <a:t>• Schedule X narcotic PIN sign-off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rPr sz="1200" dirty="0"/>
              <a:t>• Manage chronic patient refill cycles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B1E6015-C8EA-3CCD-0653-2AE5DBBA59E8}"/>
              </a:ext>
            </a:extLst>
          </p:cNvPr>
          <p:cNvSpPr/>
          <p:nvPr/>
        </p:nvSpPr>
        <p:spPr>
          <a:xfrm>
            <a:off x="5110512" y="3723669"/>
            <a:ext cx="2029968" cy="5943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536F46C-2E05-73A2-1008-0EFAF3C5D94A}"/>
              </a:ext>
            </a:extLst>
          </p:cNvPr>
          <p:cNvSpPr txBox="1"/>
          <p:nvPr/>
        </p:nvSpPr>
        <p:spPr>
          <a:xfrm>
            <a:off x="5047010" y="3851572"/>
            <a:ext cx="190789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sz="1600" dirty="0"/>
              <a:t>💳 Cashier (POS)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8D05A30-9105-8542-25E0-556F9D74C6B3}"/>
              </a:ext>
            </a:extLst>
          </p:cNvPr>
          <p:cNvSpPr txBox="1"/>
          <p:nvPr/>
        </p:nvSpPr>
        <p:spPr>
          <a:xfrm>
            <a:off x="5055562" y="4352993"/>
            <a:ext cx="2070716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50" b="1">
                <a:solidFill>
                  <a:srgbClr val="64748B"/>
                </a:solidFill>
              </a:defRPr>
            </a:pPr>
            <a:r>
              <a:rPr sz="1200" dirty="0"/>
              <a:t>Terminal: Billing Counter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rPr sz="1200" dirty="0"/>
              <a:t>• 1-Click verified </a:t>
            </a:r>
            <a:r>
              <a:rPr sz="1200" dirty="0" err="1"/>
              <a:t>eRx</a:t>
            </a:r>
            <a:r>
              <a:rPr sz="1200" dirty="0"/>
              <a:t> import to cart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rPr sz="1200" dirty="0"/>
              <a:t>• Auto FEFO nearest-expiry batch pick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rPr sz="1200" dirty="0"/>
              <a:t>• Split payments (Cash, UPI QR, Card)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rPr sz="1200" dirty="0"/>
              <a:t>• Calculate cash change return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rPr sz="1200" dirty="0"/>
              <a:t>• Print 80mm GST thermal receipt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20EF82E-B830-1792-012A-A5E434DFAE0F}"/>
              </a:ext>
            </a:extLst>
          </p:cNvPr>
          <p:cNvSpPr/>
          <p:nvPr/>
        </p:nvSpPr>
        <p:spPr>
          <a:xfrm>
            <a:off x="7277639" y="3723669"/>
            <a:ext cx="2192735" cy="594360"/>
          </a:xfrm>
          <a:prstGeom prst="rect">
            <a:avLst/>
          </a:prstGeom>
          <a:solidFill>
            <a:srgbClr val="00A3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C12EDE1-C25C-7391-6C71-610FC74CF12B}"/>
              </a:ext>
            </a:extLst>
          </p:cNvPr>
          <p:cNvSpPr txBox="1"/>
          <p:nvPr/>
        </p:nvSpPr>
        <p:spPr>
          <a:xfrm>
            <a:off x="7165780" y="3888065"/>
            <a:ext cx="232884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sz="1600" dirty="0"/>
              <a:t>📦 Inventory Manager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8A10408-E2B2-41B8-1938-FBA82CFE97B1}"/>
              </a:ext>
            </a:extLst>
          </p:cNvPr>
          <p:cNvSpPr txBox="1"/>
          <p:nvPr/>
        </p:nvSpPr>
        <p:spPr>
          <a:xfrm>
            <a:off x="7271028" y="4352993"/>
            <a:ext cx="2016902" cy="2354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50" b="1">
                <a:solidFill>
                  <a:srgbClr val="64748B"/>
                </a:solidFill>
              </a:defRPr>
            </a:pPr>
            <a:r>
              <a:rPr sz="1200" dirty="0"/>
              <a:t>Terminal: Supply Hub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rPr sz="1200" dirty="0"/>
              <a:t>• Multi-batch FEFO stock ledger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rPr sz="1200" dirty="0"/>
              <a:t>• Record Goods Receipt Notes (GRN)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rPr sz="1200" dirty="0"/>
              <a:t>• 24/7 Cold-chain IoT fridge monitor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rPr sz="1200" dirty="0"/>
              <a:t>• Manage supplier directory &amp; POs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rPr sz="1200" dirty="0"/>
              <a:t>• Track low-stock alerts (≤20 units)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F45D372-F088-1162-CCEE-BDA009F366BC}"/>
              </a:ext>
            </a:extLst>
          </p:cNvPr>
          <p:cNvSpPr/>
          <p:nvPr/>
        </p:nvSpPr>
        <p:spPr>
          <a:xfrm>
            <a:off x="9681250" y="3735807"/>
            <a:ext cx="2029968" cy="5943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1574478-324F-F743-714A-B789C9EF50FB}"/>
              </a:ext>
            </a:extLst>
          </p:cNvPr>
          <p:cNvSpPr txBox="1"/>
          <p:nvPr/>
        </p:nvSpPr>
        <p:spPr>
          <a:xfrm>
            <a:off x="9655950" y="3854852"/>
            <a:ext cx="196880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sz="1600" dirty="0"/>
              <a:t>🛵 Delivery Agent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DDE93CF-7E66-99DD-5C4E-1D56F42BBF0A}"/>
              </a:ext>
            </a:extLst>
          </p:cNvPr>
          <p:cNvSpPr txBox="1"/>
          <p:nvPr/>
        </p:nvSpPr>
        <p:spPr>
          <a:xfrm>
            <a:off x="9660305" y="4340174"/>
            <a:ext cx="2062667" cy="2354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50" b="1">
                <a:solidFill>
                  <a:srgbClr val="64748B"/>
                </a:solidFill>
              </a:defRPr>
            </a:pPr>
            <a:r>
              <a:rPr sz="1200" dirty="0"/>
              <a:t>Terminal: Logistics Bay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rPr sz="1200" dirty="0"/>
              <a:t>• Active dispatch Kanban route board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rPr sz="1200" dirty="0"/>
              <a:t>• Verify cold-bag insulated packaging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rPr sz="1200" dirty="0"/>
              <a:t>• 4-Digit customer OTP verification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rPr sz="1200" dirty="0"/>
              <a:t>• Record electronic Proof-of-Delivery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rPr sz="1200" dirty="0"/>
              <a:t>• Handover timestamp audit log</a:t>
            </a:r>
          </a:p>
        </p:txBody>
      </p:sp>
    </p:spTree>
    <p:extLst>
      <p:ext uri="{BB962C8B-B14F-4D97-AF65-F5344CB8AC3E}">
        <p14:creationId xmlns:p14="http://schemas.microsoft.com/office/powerpoint/2010/main" val="22489247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8CF6F-DBB2-D8B6-EB73-131525AAB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1EC55C6-E180-8AB4-53DA-58A42435BE39}"/>
              </a:ext>
            </a:extLst>
          </p:cNvPr>
          <p:cNvSpPr txBox="1"/>
          <p:nvPr/>
        </p:nvSpPr>
        <p:spPr>
          <a:xfrm>
            <a:off x="731520" y="685800"/>
            <a:ext cx="106984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2540"/>
                </a:solidFill>
                <a:latin typeface="Segoe UI"/>
              </a:defRPr>
            </a:pPr>
            <a:r>
              <a:rPr sz="3200" dirty="0"/>
              <a:t>Modular Folder Architecture &amp; 6-Tier System Blueprint</a:t>
            </a:r>
          </a:p>
        </p:txBody>
      </p:sp>
      <p:sp>
        <p:nvSpPr>
          <p:cNvPr id="9" name="Rounded Rectangle 4">
            <a:extLst>
              <a:ext uri="{FF2B5EF4-FFF2-40B4-BE49-F238E27FC236}">
                <a16:creationId xmlns:a16="http://schemas.microsoft.com/office/drawing/2014/main" id="{A872F579-8AB8-78D8-C195-F4A67AFAC9F5}"/>
              </a:ext>
            </a:extLst>
          </p:cNvPr>
          <p:cNvSpPr/>
          <p:nvPr/>
        </p:nvSpPr>
        <p:spPr>
          <a:xfrm>
            <a:off x="519953" y="1645919"/>
            <a:ext cx="5469367" cy="4817633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6DBC9C-C6A0-9103-D4B9-2FBBDB881151}"/>
              </a:ext>
            </a:extLst>
          </p:cNvPr>
          <p:cNvSpPr txBox="1"/>
          <p:nvPr/>
        </p:nvSpPr>
        <p:spPr>
          <a:xfrm>
            <a:off x="731520" y="1828800"/>
            <a:ext cx="4892040" cy="44473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A2540"/>
                </a:solidFill>
              </a:defRPr>
            </a:pPr>
            <a:r>
              <a:rPr sz="1400" dirty="0"/>
              <a:t>📁 ENTERPRISE MODULAR REPOSITORY LAYOUT</a:t>
            </a:r>
          </a:p>
          <a:p>
            <a:pPr>
              <a:defRPr sz="950">
                <a:solidFill>
                  <a:srgbClr val="1E293B"/>
                </a:solidFill>
                <a:latin typeface="Consolas"/>
              </a:defRPr>
            </a:pPr>
            <a:r>
              <a:rPr sz="1200" dirty="0" err="1"/>
              <a:t>Pharmacy_Management_System</a:t>
            </a:r>
            <a:r>
              <a:rPr sz="1200" dirty="0"/>
              <a:t>/</a:t>
            </a:r>
          </a:p>
          <a:p>
            <a:pPr>
              <a:defRPr sz="950">
                <a:solidFill>
                  <a:srgbClr val="1E293B"/>
                </a:solidFill>
                <a:latin typeface="Consolas"/>
              </a:defRPr>
            </a:pPr>
            <a:r>
              <a:rPr sz="1200" dirty="0"/>
              <a:t>├── core/</a:t>
            </a:r>
          </a:p>
          <a:p>
            <a:pPr>
              <a:defRPr sz="950">
                <a:solidFill>
                  <a:srgbClr val="1E293B"/>
                </a:solidFill>
                <a:latin typeface="Consolas"/>
              </a:defRPr>
            </a:pPr>
            <a:r>
              <a:rPr sz="1200" dirty="0"/>
              <a:t>│   ├── bridge.py       # RPC Bridge (38 typed methods)</a:t>
            </a:r>
          </a:p>
          <a:p>
            <a:pPr>
              <a:defRPr sz="950">
                <a:solidFill>
                  <a:srgbClr val="1E293B"/>
                </a:solidFill>
                <a:latin typeface="Consolas"/>
              </a:defRPr>
            </a:pPr>
            <a:r>
              <a:rPr sz="1200" dirty="0"/>
              <a:t>│   ├── db.py           # SQLite persistence (14 tables)</a:t>
            </a:r>
          </a:p>
          <a:p>
            <a:pPr>
              <a:defRPr sz="950">
                <a:solidFill>
                  <a:srgbClr val="1E293B"/>
                </a:solidFill>
                <a:latin typeface="Consolas"/>
              </a:defRPr>
            </a:pPr>
            <a:r>
              <a:rPr sz="1200" dirty="0"/>
              <a:t>│   ├── api_client.py   # Telemetry &amp; presence client</a:t>
            </a:r>
          </a:p>
          <a:p>
            <a:pPr>
              <a:defRPr sz="950">
                <a:solidFill>
                  <a:srgbClr val="1E293B"/>
                </a:solidFill>
                <a:latin typeface="Consolas"/>
              </a:defRPr>
            </a:pPr>
            <a:r>
              <a:rPr sz="1200" dirty="0"/>
              <a:t>│   └── logger.py       # 21 CFR Part 11 audit logger</a:t>
            </a:r>
          </a:p>
          <a:p>
            <a:pPr>
              <a:defRPr sz="950">
                <a:solidFill>
                  <a:srgbClr val="1E293B"/>
                </a:solidFill>
                <a:latin typeface="Consolas"/>
              </a:defRPr>
            </a:pPr>
            <a:r>
              <a:rPr sz="1200" dirty="0"/>
              <a:t>├── config/</a:t>
            </a:r>
          </a:p>
          <a:p>
            <a:pPr>
              <a:defRPr sz="950">
                <a:solidFill>
                  <a:srgbClr val="1E293B"/>
                </a:solidFill>
                <a:latin typeface="Consolas"/>
              </a:defRPr>
            </a:pPr>
            <a:r>
              <a:rPr sz="1200" dirty="0"/>
              <a:t>│   └── settings.py     # Central Singleton configuration</a:t>
            </a:r>
          </a:p>
          <a:p>
            <a:pPr>
              <a:defRPr sz="950">
                <a:solidFill>
                  <a:srgbClr val="1E293B"/>
                </a:solidFill>
                <a:latin typeface="Consolas"/>
              </a:defRPr>
            </a:pPr>
            <a:r>
              <a:rPr sz="1200" dirty="0"/>
              <a:t>├── </a:t>
            </a:r>
            <a:r>
              <a:rPr sz="1200" dirty="0" err="1"/>
              <a:t>ui</a:t>
            </a:r>
            <a:r>
              <a:rPr sz="1200" dirty="0"/>
              <a:t>/</a:t>
            </a:r>
          </a:p>
          <a:p>
            <a:pPr>
              <a:defRPr sz="950">
                <a:solidFill>
                  <a:srgbClr val="1E293B"/>
                </a:solidFill>
                <a:latin typeface="Consolas"/>
              </a:defRPr>
            </a:pPr>
            <a:r>
              <a:rPr sz="1200" dirty="0"/>
              <a:t>│   ├── desktop/        # Edge Chromium WebView2 60 FPS</a:t>
            </a:r>
          </a:p>
          <a:p>
            <a:pPr>
              <a:defRPr sz="950">
                <a:solidFill>
                  <a:srgbClr val="1E293B"/>
                </a:solidFill>
                <a:latin typeface="Consolas"/>
              </a:defRPr>
            </a:pPr>
            <a:r>
              <a:rPr sz="1200" dirty="0"/>
              <a:t>│   └── web/            # Cloud-ready </a:t>
            </a:r>
            <a:r>
              <a:rPr sz="1200" dirty="0" err="1"/>
              <a:t>FastAPI</a:t>
            </a:r>
            <a:r>
              <a:rPr sz="1200" dirty="0"/>
              <a:t> Web UI</a:t>
            </a:r>
          </a:p>
          <a:p>
            <a:pPr>
              <a:defRPr sz="950">
                <a:solidFill>
                  <a:srgbClr val="1E293B"/>
                </a:solidFill>
                <a:latin typeface="Consolas"/>
              </a:defRPr>
            </a:pPr>
            <a:r>
              <a:rPr sz="1200" dirty="0"/>
              <a:t>├── apps/               # Admin &amp; operational workstations</a:t>
            </a:r>
          </a:p>
          <a:p>
            <a:pPr>
              <a:defRPr sz="950">
                <a:solidFill>
                  <a:srgbClr val="1E293B"/>
                </a:solidFill>
                <a:latin typeface="Consolas"/>
              </a:defRPr>
            </a:pPr>
            <a:r>
              <a:rPr sz="1200" dirty="0"/>
              <a:t>├── tests/              # 24 Automated </a:t>
            </a:r>
            <a:r>
              <a:rPr sz="1200" dirty="0" err="1"/>
              <a:t>pytest</a:t>
            </a:r>
            <a:r>
              <a:rPr sz="1200" dirty="0"/>
              <a:t> test cases</a:t>
            </a:r>
          </a:p>
          <a:p>
            <a:pPr>
              <a:defRPr sz="950">
                <a:solidFill>
                  <a:srgbClr val="1E293B"/>
                </a:solidFill>
                <a:latin typeface="Consolas"/>
              </a:defRPr>
            </a:pPr>
            <a:r>
              <a:rPr sz="1200" dirty="0"/>
              <a:t>├── backups/            # Automated SQLite snapshots</a:t>
            </a:r>
          </a:p>
          <a:p>
            <a:pPr>
              <a:defRPr sz="950">
                <a:solidFill>
                  <a:srgbClr val="1E293B"/>
                </a:solidFill>
                <a:latin typeface="Consolas"/>
              </a:defRPr>
            </a:pPr>
            <a:r>
              <a:rPr sz="1200" dirty="0"/>
              <a:t>├── main.py             # Hardware-accelerated </a:t>
            </a:r>
            <a:r>
              <a:rPr sz="1200" dirty="0" err="1"/>
              <a:t>entrypoint</a:t>
            </a:r>
            <a:endParaRPr sz="1200" dirty="0"/>
          </a:p>
          <a:p>
            <a:pPr>
              <a:defRPr sz="950">
                <a:solidFill>
                  <a:srgbClr val="1E293B"/>
                </a:solidFill>
                <a:latin typeface="Consolas"/>
              </a:defRPr>
            </a:pPr>
            <a:r>
              <a:rPr sz="1200" dirty="0"/>
              <a:t>└── web_app.py          # Asynchronous </a:t>
            </a:r>
            <a:r>
              <a:rPr sz="1200" dirty="0" err="1"/>
              <a:t>FastAPI</a:t>
            </a:r>
            <a:r>
              <a:rPr sz="1200" dirty="0"/>
              <a:t> web server</a:t>
            </a:r>
          </a:p>
        </p:txBody>
      </p:sp>
      <p:sp>
        <p:nvSpPr>
          <p:cNvPr id="13" name="Rounded Rectangle 6">
            <a:extLst>
              <a:ext uri="{FF2B5EF4-FFF2-40B4-BE49-F238E27FC236}">
                <a16:creationId xmlns:a16="http://schemas.microsoft.com/office/drawing/2014/main" id="{1A7AF457-6103-141C-9DE3-E6014B3AEBBE}"/>
              </a:ext>
            </a:extLst>
          </p:cNvPr>
          <p:cNvSpPr/>
          <p:nvPr/>
        </p:nvSpPr>
        <p:spPr>
          <a:xfrm>
            <a:off x="6172200" y="1645920"/>
            <a:ext cx="5589494" cy="4817632"/>
          </a:xfrm>
          <a:prstGeom prst="roundRect">
            <a:avLst/>
          </a:prstGeom>
          <a:solidFill>
            <a:srgbClr val="123456"/>
          </a:solidFill>
          <a:ln w="15240">
            <a:solidFill>
              <a:srgbClr val="00A3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8ACCDC-EB9D-4F7A-C337-5D4C7A0ABA41}"/>
              </a:ext>
            </a:extLst>
          </p:cNvPr>
          <p:cNvSpPr txBox="1"/>
          <p:nvPr/>
        </p:nvSpPr>
        <p:spPr>
          <a:xfrm>
            <a:off x="6355079" y="1828800"/>
            <a:ext cx="5316967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0A389"/>
                </a:solidFill>
              </a:defRPr>
            </a:pPr>
            <a:r>
              <a:rPr sz="1400" dirty="0"/>
              <a:t>⭐ THE ONE RULE TO REMEMBER</a:t>
            </a:r>
          </a:p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</a:defRPr>
            </a:pPr>
            <a:r>
              <a:rPr dirty="0"/>
              <a:t>"The screen must not talk to the database."</a:t>
            </a:r>
          </a:p>
          <a:p>
            <a:pPr>
              <a:spcAft>
                <a:spcPts val="1000"/>
              </a:spcAft>
              <a:defRPr sz="1300" b="1">
                <a:solidFill>
                  <a:srgbClr val="0284C7"/>
                </a:solidFill>
              </a:defRPr>
            </a:pPr>
            <a:r>
              <a:rPr sz="1400" dirty="0"/>
              <a:t>UI  →  Service (Bridge)  →  Model / Database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rPr sz="1400" dirty="0"/>
              <a:t>• No raw SQL queries inside billing.py or any UI template.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rPr sz="1400" dirty="0"/>
              <a:t>• All database operations are mediated by typed Python methods.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rPr sz="1400" dirty="0"/>
              <a:t>• Failure isolation: UI bugs cannot corrupt database ACID commits.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rPr sz="1400" dirty="0"/>
              <a:t>• Validation and audit have dedicated architectural homes.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rPr sz="1400" dirty="0"/>
              <a:t>• Allows layer-by-layer agile development and test-driven verification.</a:t>
            </a:r>
          </a:p>
        </p:txBody>
      </p:sp>
    </p:spTree>
    <p:extLst>
      <p:ext uri="{BB962C8B-B14F-4D97-AF65-F5344CB8AC3E}">
        <p14:creationId xmlns:p14="http://schemas.microsoft.com/office/powerpoint/2010/main" val="39615268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096C0-9FA3-F438-C5DF-06FFE2662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FBB44ED-714E-DE5F-EC8A-D70ED4D79B39}"/>
              </a:ext>
            </a:extLst>
          </p:cNvPr>
          <p:cNvSpPr txBox="1"/>
          <p:nvPr/>
        </p:nvSpPr>
        <p:spPr>
          <a:xfrm>
            <a:off x="573741" y="675084"/>
            <a:ext cx="106984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2540"/>
                </a:solidFill>
                <a:latin typeface="Segoe UI"/>
              </a:defRPr>
            </a:pPr>
            <a:r>
              <a:rPr sz="3200"/>
              <a:t>Software Requirements Specification (SRS) — IEEE 830</a:t>
            </a:r>
          </a:p>
        </p:txBody>
      </p:sp>
      <p:sp>
        <p:nvSpPr>
          <p:cNvPr id="9" name="Rounded Rectangle 4">
            <a:extLst>
              <a:ext uri="{FF2B5EF4-FFF2-40B4-BE49-F238E27FC236}">
                <a16:creationId xmlns:a16="http://schemas.microsoft.com/office/drawing/2014/main" id="{B28383EB-D954-CB38-8CED-798B36990B8A}"/>
              </a:ext>
            </a:extLst>
          </p:cNvPr>
          <p:cNvSpPr/>
          <p:nvPr/>
        </p:nvSpPr>
        <p:spPr>
          <a:xfrm>
            <a:off x="457200" y="1645920"/>
            <a:ext cx="553212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C7E66D-47D0-1820-D133-3FA38DE16421}"/>
              </a:ext>
            </a:extLst>
          </p:cNvPr>
          <p:cNvSpPr txBox="1"/>
          <p:nvPr/>
        </p:nvSpPr>
        <p:spPr>
          <a:xfrm>
            <a:off x="573741" y="1951672"/>
            <a:ext cx="5226423" cy="4104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Aft>
                <a:spcPts val="600"/>
              </a:spcAft>
              <a:defRPr sz="1200" b="1">
                <a:solidFill>
                  <a:srgbClr val="00A389"/>
                </a:solidFill>
              </a:defRPr>
            </a:pPr>
            <a:r>
              <a:rPr sz="1200" dirty="0"/>
              <a:t>📋 CORE FUNCTIONAL REQUIREMENTS (FR-01 TO FR-10)</a:t>
            </a:r>
          </a:p>
          <a:p>
            <a:pPr>
              <a:lnSpc>
                <a:spcPct val="200000"/>
              </a:lnSpc>
              <a:spcAft>
                <a:spcPts val="200"/>
              </a:spcAft>
              <a:defRPr sz="950">
                <a:solidFill>
                  <a:srgbClr val="1E293B"/>
                </a:solidFill>
              </a:defRPr>
            </a:pPr>
            <a:r>
              <a:rPr sz="1100" dirty="0"/>
              <a:t>• FR-01 (Auth &amp; Telemetry): SHA-256 password hash, session UUID, 5s heartbeat.</a:t>
            </a:r>
          </a:p>
          <a:p>
            <a:pPr>
              <a:lnSpc>
                <a:spcPct val="200000"/>
              </a:lnSpc>
              <a:spcAft>
                <a:spcPts val="200"/>
              </a:spcAft>
              <a:defRPr sz="950">
                <a:solidFill>
                  <a:srgbClr val="1E293B"/>
                </a:solidFill>
              </a:defRPr>
            </a:pPr>
            <a:r>
              <a:rPr sz="1100" dirty="0"/>
              <a:t>• FR-02 (CDSS Safety Engine): </a:t>
            </a:r>
            <a:r>
              <a:rPr sz="1100" dirty="0" err="1"/>
              <a:t>eRx</a:t>
            </a:r>
            <a:r>
              <a:rPr sz="1100" dirty="0"/>
              <a:t> cross-check for patient Penicillin allergies.</a:t>
            </a:r>
          </a:p>
          <a:p>
            <a:pPr>
              <a:lnSpc>
                <a:spcPct val="200000"/>
              </a:lnSpc>
              <a:spcAft>
                <a:spcPts val="200"/>
              </a:spcAft>
              <a:defRPr sz="950">
                <a:solidFill>
                  <a:srgbClr val="1E293B"/>
                </a:solidFill>
              </a:defRPr>
            </a:pPr>
            <a:r>
              <a:rPr sz="1100" dirty="0"/>
              <a:t>• FR-03 (Schedule X Narcotics): Doctor DMC Reg + Pharmacist 4-digit PIN log.</a:t>
            </a:r>
          </a:p>
          <a:p>
            <a:pPr>
              <a:lnSpc>
                <a:spcPct val="200000"/>
              </a:lnSpc>
              <a:spcAft>
                <a:spcPts val="200"/>
              </a:spcAft>
              <a:defRPr sz="950">
                <a:solidFill>
                  <a:srgbClr val="1E293B"/>
                </a:solidFill>
              </a:defRPr>
            </a:pPr>
            <a:r>
              <a:rPr sz="1100" dirty="0"/>
              <a:t>• FR-04 (FEFO Batch Picker): Automatic sorting by earliest expiry; lock expired lot.</a:t>
            </a:r>
          </a:p>
          <a:p>
            <a:pPr>
              <a:lnSpc>
                <a:spcPct val="200000"/>
              </a:lnSpc>
              <a:spcAft>
                <a:spcPts val="200"/>
              </a:spcAft>
              <a:defRPr sz="950">
                <a:solidFill>
                  <a:srgbClr val="1E293B"/>
                </a:solidFill>
              </a:defRPr>
            </a:pPr>
            <a:r>
              <a:rPr sz="1100" dirty="0"/>
              <a:t>• FR-05 (POS Express Billing): 1-Click </a:t>
            </a:r>
            <a:r>
              <a:rPr sz="1100" dirty="0" err="1"/>
              <a:t>eRx</a:t>
            </a:r>
            <a:r>
              <a:rPr sz="1100" dirty="0"/>
              <a:t> import, cash change calc, dynamic UPI QR.</a:t>
            </a:r>
          </a:p>
          <a:p>
            <a:pPr>
              <a:lnSpc>
                <a:spcPct val="200000"/>
              </a:lnSpc>
              <a:spcAft>
                <a:spcPts val="200"/>
              </a:spcAft>
              <a:defRPr sz="950">
                <a:solidFill>
                  <a:srgbClr val="1E293B"/>
                </a:solidFill>
              </a:defRPr>
            </a:pPr>
            <a:r>
              <a:rPr sz="1100" dirty="0"/>
              <a:t>• FR-06 (Goods Receipt GRN): Inward supplier consignments with batch &amp; cost.</a:t>
            </a:r>
          </a:p>
          <a:p>
            <a:pPr>
              <a:lnSpc>
                <a:spcPct val="200000"/>
              </a:lnSpc>
              <a:spcAft>
                <a:spcPts val="200"/>
              </a:spcAft>
              <a:defRPr sz="950">
                <a:solidFill>
                  <a:srgbClr val="1E293B"/>
                </a:solidFill>
              </a:defRPr>
            </a:pPr>
            <a:r>
              <a:rPr sz="1100" dirty="0"/>
              <a:t>• FR-07 (IoT Cold-Chain): Monitor 2-8°C sensors; trigger audible/visual excursion alert.</a:t>
            </a:r>
          </a:p>
          <a:p>
            <a:pPr>
              <a:lnSpc>
                <a:spcPct val="200000"/>
              </a:lnSpc>
              <a:spcAft>
                <a:spcPts val="200"/>
              </a:spcAft>
              <a:defRPr sz="950">
                <a:solidFill>
                  <a:srgbClr val="1E293B"/>
                </a:solidFill>
              </a:defRPr>
            </a:pPr>
            <a:r>
              <a:rPr sz="1100" dirty="0"/>
              <a:t>• FR-08 (Delivery Fleet): Kanban dispatch board with customer 4-digit OTP e-POD.</a:t>
            </a:r>
          </a:p>
          <a:p>
            <a:pPr>
              <a:lnSpc>
                <a:spcPct val="200000"/>
              </a:lnSpc>
              <a:spcAft>
                <a:spcPts val="200"/>
              </a:spcAft>
              <a:defRPr sz="950">
                <a:solidFill>
                  <a:srgbClr val="1E293B"/>
                </a:solidFill>
              </a:defRPr>
            </a:pPr>
            <a:r>
              <a:rPr sz="1100" dirty="0"/>
              <a:t>• FR-09 (Z-Report Shift Close): Mathematical cash balancing &amp; signed Z-slip archive.</a:t>
            </a:r>
          </a:p>
          <a:p>
            <a:pPr>
              <a:lnSpc>
                <a:spcPct val="200000"/>
              </a:lnSpc>
              <a:spcAft>
                <a:spcPts val="200"/>
              </a:spcAft>
              <a:defRPr sz="950">
                <a:solidFill>
                  <a:srgbClr val="1E293B"/>
                </a:solidFill>
              </a:defRPr>
            </a:pPr>
            <a:r>
              <a:rPr sz="1100" dirty="0"/>
              <a:t>• FR-10 (Audit Logging): 21 CFR Part 11 append-only tamper-evident event stream.</a:t>
            </a:r>
          </a:p>
        </p:txBody>
      </p:sp>
      <p:sp>
        <p:nvSpPr>
          <p:cNvPr id="13" name="Rounded Rectangle 6">
            <a:extLst>
              <a:ext uri="{FF2B5EF4-FFF2-40B4-BE49-F238E27FC236}">
                <a16:creationId xmlns:a16="http://schemas.microsoft.com/office/drawing/2014/main" id="{5C29BF66-024E-D1FA-B1AD-FCFC1E7077D2}"/>
              </a:ext>
            </a:extLst>
          </p:cNvPr>
          <p:cNvSpPr/>
          <p:nvPr/>
        </p:nvSpPr>
        <p:spPr>
          <a:xfrm>
            <a:off x="6172199" y="1645920"/>
            <a:ext cx="5532119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A75811-5EF4-0529-2375-729356349783}"/>
              </a:ext>
            </a:extLst>
          </p:cNvPr>
          <p:cNvSpPr txBox="1"/>
          <p:nvPr/>
        </p:nvSpPr>
        <p:spPr>
          <a:xfrm>
            <a:off x="6310256" y="1951672"/>
            <a:ext cx="5245250" cy="3665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  <a:defRPr sz="1200" b="1">
                <a:solidFill>
                  <a:srgbClr val="0284C7"/>
                </a:solidFill>
              </a:defRPr>
            </a:pPr>
            <a:r>
              <a:rPr sz="1200" dirty="0"/>
              <a:t>⚡ NON-FUNCTIONAL REQUIREMENTS &amp; STANDARDS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200" b="1" dirty="0">
                <a:solidFill>
                  <a:srgbClr val="0A2540"/>
                </a:solidFill>
              </a:rPr>
              <a:t>NFR-01 (Performance &amp; Latency): </a:t>
            </a:r>
            <a:r>
              <a:rPr sz="1200" dirty="0">
                <a:solidFill>
                  <a:srgbClr val="1E293B"/>
                </a:solidFill>
              </a:rPr>
              <a:t>UI click response &lt;50ms; SQLite transaction commit &lt;10ms; 60 FPS hardware acceleration.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200" b="1" dirty="0">
                <a:solidFill>
                  <a:srgbClr val="0A2540"/>
                </a:solidFill>
              </a:rPr>
              <a:t>NFR-02 (ACID Reliability): </a:t>
            </a:r>
            <a:r>
              <a:rPr sz="1200" dirty="0">
                <a:solidFill>
                  <a:srgbClr val="1E293B"/>
                </a:solidFill>
              </a:rPr>
              <a:t>100% ACID compliance with automatic daily snapshot backups in backups/.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200" b="1" dirty="0">
                <a:solidFill>
                  <a:srgbClr val="0A2540"/>
                </a:solidFill>
              </a:rPr>
              <a:t>NFR-03 (Security &amp; Non-Repudiation): </a:t>
            </a:r>
            <a:r>
              <a:rPr sz="1200" dirty="0">
                <a:solidFill>
                  <a:srgbClr val="1E293B"/>
                </a:solidFill>
              </a:rPr>
              <a:t>Role-based route shields, session timeout, and immutable audit logging.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200" b="1" dirty="0">
                <a:solidFill>
                  <a:srgbClr val="0A2540"/>
                </a:solidFill>
              </a:rPr>
              <a:t>NFR-04 (Statutory Compliance): </a:t>
            </a:r>
            <a:r>
              <a:rPr sz="1200" dirty="0">
                <a:solidFill>
                  <a:srgbClr val="1E293B"/>
                </a:solidFill>
              </a:rPr>
              <a:t>Indian Drugs &amp; Cosmetics Act 1940 (Schedule H1/X) and GST electronic tax calculation.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200" b="1" dirty="0">
                <a:solidFill>
                  <a:srgbClr val="0A2540"/>
                </a:solidFill>
              </a:rPr>
              <a:t>Formal SRS Artifacts: </a:t>
            </a:r>
            <a:r>
              <a:rPr sz="1200" dirty="0">
                <a:solidFill>
                  <a:srgbClr val="1E293B"/>
                </a:solidFill>
              </a:rPr>
              <a:t>Submitted as IEEE Std 830-1998 compliant DOCX (`SRS_TQM_Pharm_Enterprise.docx`) and PDF (`SRS_TQM_Pharm_Enterprise.pdf`).</a:t>
            </a:r>
          </a:p>
        </p:txBody>
      </p:sp>
    </p:spTree>
    <p:extLst>
      <p:ext uri="{BB962C8B-B14F-4D97-AF65-F5344CB8AC3E}">
        <p14:creationId xmlns:p14="http://schemas.microsoft.com/office/powerpoint/2010/main" val="25231663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C7D70-A3EE-0E21-A544-9CD73BB9F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BB2611A-6948-09C8-3C0E-7C3391815084}"/>
              </a:ext>
            </a:extLst>
          </p:cNvPr>
          <p:cNvSpPr txBox="1"/>
          <p:nvPr/>
        </p:nvSpPr>
        <p:spPr>
          <a:xfrm>
            <a:off x="731520" y="685800"/>
            <a:ext cx="106984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2540"/>
                </a:solidFill>
                <a:latin typeface="Segoe UI"/>
              </a:defRPr>
            </a:pPr>
            <a:r>
              <a:rPr sz="3600"/>
              <a:t>Modules and Features Overview</a:t>
            </a:r>
          </a:p>
        </p:txBody>
      </p:sp>
      <p:sp>
        <p:nvSpPr>
          <p:cNvPr id="9" name="Rounded Rectangle 4">
            <a:extLst>
              <a:ext uri="{FF2B5EF4-FFF2-40B4-BE49-F238E27FC236}">
                <a16:creationId xmlns:a16="http://schemas.microsoft.com/office/drawing/2014/main" id="{C1D25600-E44E-E866-736E-4EE9AB11A6AB}"/>
              </a:ext>
            </a:extLst>
          </p:cNvPr>
          <p:cNvSpPr/>
          <p:nvPr/>
        </p:nvSpPr>
        <p:spPr>
          <a:xfrm>
            <a:off x="731520" y="1645920"/>
            <a:ext cx="5257800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25709E4-BCA7-07E0-1ED5-BBF2340AE454}"/>
              </a:ext>
            </a:extLst>
          </p:cNvPr>
          <p:cNvSpPr/>
          <p:nvPr/>
        </p:nvSpPr>
        <p:spPr>
          <a:xfrm>
            <a:off x="731520" y="1645920"/>
            <a:ext cx="109728" cy="1371600"/>
          </a:xfrm>
          <a:prstGeom prst="rect">
            <a:avLst/>
          </a:prstGeom>
          <a:solidFill>
            <a:srgbClr val="00A3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430E22-9FAE-8E61-BAEF-AF0CFFE248C6}"/>
              </a:ext>
            </a:extLst>
          </p:cNvPr>
          <p:cNvSpPr txBox="1"/>
          <p:nvPr/>
        </p:nvSpPr>
        <p:spPr>
          <a:xfrm>
            <a:off x="960120" y="1755648"/>
            <a:ext cx="489204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2540"/>
                </a:solidFill>
              </a:defRPr>
            </a:pPr>
            <a:r>
              <a:rPr sz="1400"/>
              <a:t>🩺 Clinical Station &amp; CDSS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rPr sz="1400"/>
              <a:t>eRx intake queue, allergy cross-matching, drug interaction warning modal, Schedule X double sign-off register.</a:t>
            </a:r>
          </a:p>
        </p:txBody>
      </p:sp>
      <p:sp>
        <p:nvSpPr>
          <p:cNvPr id="15" name="Rounded Rectangle 7">
            <a:extLst>
              <a:ext uri="{FF2B5EF4-FFF2-40B4-BE49-F238E27FC236}">
                <a16:creationId xmlns:a16="http://schemas.microsoft.com/office/drawing/2014/main" id="{4BC01804-C012-4EB2-017E-406AA04FC842}"/>
              </a:ext>
            </a:extLst>
          </p:cNvPr>
          <p:cNvSpPr/>
          <p:nvPr/>
        </p:nvSpPr>
        <p:spPr>
          <a:xfrm>
            <a:off x="6172200" y="1645920"/>
            <a:ext cx="5257800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2FDB957-AF85-2FAF-83BE-1B179CA73DA1}"/>
              </a:ext>
            </a:extLst>
          </p:cNvPr>
          <p:cNvSpPr/>
          <p:nvPr/>
        </p:nvSpPr>
        <p:spPr>
          <a:xfrm>
            <a:off x="6172200" y="1645920"/>
            <a:ext cx="109728" cy="13716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9AA432B-E459-C773-235E-D7F7967CCB94}"/>
              </a:ext>
            </a:extLst>
          </p:cNvPr>
          <p:cNvSpPr txBox="1"/>
          <p:nvPr/>
        </p:nvSpPr>
        <p:spPr>
          <a:xfrm>
            <a:off x="6400800" y="1755648"/>
            <a:ext cx="489204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2540"/>
                </a:solidFill>
              </a:defRPr>
            </a:pPr>
            <a:r>
              <a:rPr sz="1400"/>
              <a:t>💳 POS Express Billing Counter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rPr sz="1400"/>
              <a:t>1-Click approved Rx import, barcode scanner, FEFO batch selection, split payments (Cash/UPI/Card), GST receipt.</a:t>
            </a:r>
          </a:p>
        </p:txBody>
      </p:sp>
      <p:sp>
        <p:nvSpPr>
          <p:cNvPr id="23" name="Rounded Rectangle 10">
            <a:extLst>
              <a:ext uri="{FF2B5EF4-FFF2-40B4-BE49-F238E27FC236}">
                <a16:creationId xmlns:a16="http://schemas.microsoft.com/office/drawing/2014/main" id="{2BBBF0C1-7349-E800-6D59-A89332F91637}"/>
              </a:ext>
            </a:extLst>
          </p:cNvPr>
          <p:cNvSpPr/>
          <p:nvPr/>
        </p:nvSpPr>
        <p:spPr>
          <a:xfrm>
            <a:off x="731520" y="3200400"/>
            <a:ext cx="5257800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687CD64-1E4A-E39F-239E-03C649BD7840}"/>
              </a:ext>
            </a:extLst>
          </p:cNvPr>
          <p:cNvSpPr/>
          <p:nvPr/>
        </p:nvSpPr>
        <p:spPr>
          <a:xfrm>
            <a:off x="731520" y="3200400"/>
            <a:ext cx="109728" cy="13716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1B4CFD9-6306-3591-B82B-A47D71C9D359}"/>
              </a:ext>
            </a:extLst>
          </p:cNvPr>
          <p:cNvSpPr txBox="1"/>
          <p:nvPr/>
        </p:nvSpPr>
        <p:spPr>
          <a:xfrm>
            <a:off x="960120" y="3310128"/>
            <a:ext cx="489204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2540"/>
                </a:solidFill>
              </a:defRPr>
            </a:pPr>
            <a:r>
              <a:rPr sz="1400"/>
              <a:t>📦 Supply Chain &amp; Inventory Hub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rPr sz="1400"/>
              <a:t>Multi-batch FEFO ledger, low stock alerts (≤20), Goods Receipt Notes (GRN) inwarding, supplier directory.</a:t>
            </a:r>
          </a:p>
        </p:txBody>
      </p:sp>
      <p:sp>
        <p:nvSpPr>
          <p:cNvPr id="29" name="Rounded Rectangle 13">
            <a:extLst>
              <a:ext uri="{FF2B5EF4-FFF2-40B4-BE49-F238E27FC236}">
                <a16:creationId xmlns:a16="http://schemas.microsoft.com/office/drawing/2014/main" id="{19740996-9CFC-2B05-E07C-C58B9BC4CA13}"/>
              </a:ext>
            </a:extLst>
          </p:cNvPr>
          <p:cNvSpPr/>
          <p:nvPr/>
        </p:nvSpPr>
        <p:spPr>
          <a:xfrm>
            <a:off x="6172200" y="3200400"/>
            <a:ext cx="5257800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B671163-99EE-C039-8ED1-CAA744D8D0C4}"/>
              </a:ext>
            </a:extLst>
          </p:cNvPr>
          <p:cNvSpPr/>
          <p:nvPr/>
        </p:nvSpPr>
        <p:spPr>
          <a:xfrm>
            <a:off x="6172200" y="3200400"/>
            <a:ext cx="109728" cy="13716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7926716-7C60-AE55-A2ED-D6420B62FF4B}"/>
              </a:ext>
            </a:extLst>
          </p:cNvPr>
          <p:cNvSpPr txBox="1"/>
          <p:nvPr/>
        </p:nvSpPr>
        <p:spPr>
          <a:xfrm>
            <a:off x="6400800" y="3310128"/>
            <a:ext cx="489204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2540"/>
                </a:solidFill>
              </a:defRPr>
            </a:pPr>
            <a:r>
              <a:rPr sz="1400"/>
              <a:t>❄️ Cold-Chain IoT Telemetry (2-8°C)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rPr sz="1400"/>
              <a:t>Live circular temperature gauges for Chambers A &amp; B, 24/7 background stream, simulated temperature spike alarm.</a:t>
            </a:r>
          </a:p>
        </p:txBody>
      </p:sp>
      <p:sp>
        <p:nvSpPr>
          <p:cNvPr id="35" name="Rounded Rectangle 16">
            <a:extLst>
              <a:ext uri="{FF2B5EF4-FFF2-40B4-BE49-F238E27FC236}">
                <a16:creationId xmlns:a16="http://schemas.microsoft.com/office/drawing/2014/main" id="{380D3B60-52D0-9D8E-E9AF-D5309A8504DF}"/>
              </a:ext>
            </a:extLst>
          </p:cNvPr>
          <p:cNvSpPr/>
          <p:nvPr/>
        </p:nvSpPr>
        <p:spPr>
          <a:xfrm>
            <a:off x="731520" y="4754880"/>
            <a:ext cx="5257800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22BABCA-1A44-C6C1-A6A2-40B9432E3215}"/>
              </a:ext>
            </a:extLst>
          </p:cNvPr>
          <p:cNvSpPr/>
          <p:nvPr/>
        </p:nvSpPr>
        <p:spPr>
          <a:xfrm>
            <a:off x="731520" y="4754880"/>
            <a:ext cx="109728" cy="13716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DB6712D-5D7A-98D5-F5C4-0F10F27B6F02}"/>
              </a:ext>
            </a:extLst>
          </p:cNvPr>
          <p:cNvSpPr txBox="1"/>
          <p:nvPr/>
        </p:nvSpPr>
        <p:spPr>
          <a:xfrm>
            <a:off x="960120" y="4864608"/>
            <a:ext cx="489204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2540"/>
                </a:solidFill>
              </a:defRPr>
            </a:pPr>
            <a:r>
              <a:rPr sz="1400"/>
              <a:t>🛵 Delivery Fleet &amp; Fulfilment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rPr sz="1400"/>
              <a:t>Active dispatch Kanban board, cold-bag insulation checklist, manual route creation, 4-digit OTP e-POD.</a:t>
            </a:r>
          </a:p>
        </p:txBody>
      </p:sp>
      <p:sp>
        <p:nvSpPr>
          <p:cNvPr id="41" name="Rounded Rectangle 19">
            <a:extLst>
              <a:ext uri="{FF2B5EF4-FFF2-40B4-BE49-F238E27FC236}">
                <a16:creationId xmlns:a16="http://schemas.microsoft.com/office/drawing/2014/main" id="{9979C949-A905-847B-28BC-270240D94453}"/>
              </a:ext>
            </a:extLst>
          </p:cNvPr>
          <p:cNvSpPr/>
          <p:nvPr/>
        </p:nvSpPr>
        <p:spPr>
          <a:xfrm>
            <a:off x="6172200" y="4754880"/>
            <a:ext cx="5257800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F189649-3BA8-66BD-FA8A-04C995392F62}"/>
              </a:ext>
            </a:extLst>
          </p:cNvPr>
          <p:cNvSpPr/>
          <p:nvPr/>
        </p:nvSpPr>
        <p:spPr>
          <a:xfrm>
            <a:off x="6172200" y="4754880"/>
            <a:ext cx="109728" cy="1371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0CDBA1E-4E12-91F3-1EC1-527FB4C38958}"/>
              </a:ext>
            </a:extLst>
          </p:cNvPr>
          <p:cNvSpPr txBox="1"/>
          <p:nvPr/>
        </p:nvSpPr>
        <p:spPr>
          <a:xfrm>
            <a:off x="6400800" y="4864608"/>
            <a:ext cx="489204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2540"/>
                </a:solidFill>
              </a:defRPr>
            </a:pPr>
            <a:r>
              <a:rPr sz="1400"/>
              <a:t>👑 Admin Command Center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rPr sz="1400"/>
              <a:t>Staff user CRUD with role assignment, active terminal presence heartbeats, Daily Z-Report till close, audit trail.</a:t>
            </a:r>
          </a:p>
        </p:txBody>
      </p:sp>
    </p:spTree>
    <p:extLst>
      <p:ext uri="{BB962C8B-B14F-4D97-AF65-F5344CB8AC3E}">
        <p14:creationId xmlns:p14="http://schemas.microsoft.com/office/powerpoint/2010/main" val="5400214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45415-CE5A-6C69-7E5D-174917F9C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57B9C856-6C78-4911-9A4F-80FA15818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85484"/>
            <a:ext cx="11272649" cy="708212"/>
          </a:xfrm>
        </p:spPr>
        <p:txBody>
          <a:bodyPr/>
          <a:lstStyle/>
          <a:p>
            <a:pPr>
              <a:defRPr sz="2200" b="1">
                <a:solidFill>
                  <a:srgbClr val="0A2540"/>
                </a:solidFill>
                <a:latin typeface="Segoe UI"/>
              </a:defRPr>
            </a:pPr>
            <a:r>
              <a:rPr lang="en-US" dirty="0"/>
              <a:t>Core Features/Modules Aligned with Quality Goals</a:t>
            </a:r>
          </a:p>
        </p:txBody>
      </p:sp>
      <p:graphicFrame>
        <p:nvGraphicFramePr>
          <p:cNvPr id="12" name="Table Placeholder 3">
            <a:extLst>
              <a:ext uri="{FF2B5EF4-FFF2-40B4-BE49-F238E27FC236}">
                <a16:creationId xmlns:a16="http://schemas.microsoft.com/office/drawing/2014/main" id="{7F473FDE-827E-9AC4-C4AB-A53F3E9FE572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1081666746"/>
              </p:ext>
            </p:extLst>
          </p:nvPr>
        </p:nvGraphicFramePr>
        <p:xfrm>
          <a:off x="457199" y="1093696"/>
          <a:ext cx="10784542" cy="5396751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5556574">
                  <a:extLst>
                    <a:ext uri="{9D8B030D-6E8A-4147-A177-3AD203B41FA5}">
                      <a16:colId xmlns:a16="http://schemas.microsoft.com/office/drawing/2014/main" val="2382218087"/>
                    </a:ext>
                  </a:extLst>
                </a:gridCol>
                <a:gridCol w="5227968">
                  <a:extLst>
                    <a:ext uri="{9D8B030D-6E8A-4147-A177-3AD203B41FA5}">
                      <a16:colId xmlns:a16="http://schemas.microsoft.com/office/drawing/2014/main" val="2438884888"/>
                    </a:ext>
                  </a:extLst>
                </a:gridCol>
              </a:tblGrid>
              <a:tr h="609133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 dirty="0"/>
                        <a:t>Implemented Core Feature /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 dirty="0"/>
                        <a:t>Aligned TQM Quality Goal &amp; Principle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7107962"/>
                  </a:ext>
                </a:extLst>
              </a:tr>
              <a:tr h="62182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2000" dirty="0"/>
                        <a:t>CDSS Allergy &amp; Drug-Drug Shield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600"/>
                        <a:t>Zero Dispensing Defects / Poka-Yoke Error Proofing (Shingo)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7365620"/>
                  </a:ext>
                </a:extLst>
              </a:tr>
              <a:tr h="58442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2000" dirty="0"/>
                        <a:t>Algorithmic FEFO Batch Sequencing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600"/>
                        <a:t>Zero Inventory Dead-Stock / Process Waste Elimination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6743277"/>
                  </a:ext>
                </a:extLst>
              </a:tr>
              <a:tr h="58442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2000"/>
                        <a:t>24/7 IoT Cold-Chain Monitoring (2-8°C)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600"/>
                        <a:t>Zero Biological Degradation / Quality Assurance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3772091"/>
                  </a:ext>
                </a:extLst>
              </a:tr>
              <a:tr h="58442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2000"/>
                        <a:t>Daily Z-Report Mathematical Balancing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600"/>
                        <a:t>Zero Till Variance / Fact-Based Management (Juran)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1386868"/>
                  </a:ext>
                </a:extLst>
              </a:tr>
              <a:tr h="62182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2000"/>
                        <a:t>Statutory Schedule X Dual PIN 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600"/>
                        <a:t>Zero Diversion / Indian Drugs &amp; Cosmetics Act 1940 Compliance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626418"/>
                  </a:ext>
                </a:extLst>
              </a:tr>
              <a:tr h="58442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2000" dirty="0"/>
                        <a:t>Immutable Audit Logs (21 CFR Part 11)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600" dirty="0"/>
                        <a:t>Complete Traceability, Accountability &amp; Non-Repudiation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2482967"/>
                  </a:ext>
                </a:extLst>
              </a:tr>
              <a:tr h="62182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2000" dirty="0"/>
                        <a:t>Automated Error Telemetry (E01-E05)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600"/>
                        <a:t>Root-Cause Prioritization (Pareto 80/20) &amp; FMEA Risk Matrix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6251906"/>
                  </a:ext>
                </a:extLst>
              </a:tr>
              <a:tr h="58442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2000" dirty="0"/>
                        <a:t>Customer &amp; Patient EHR Allergy Profile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600" dirty="0"/>
                        <a:t>Customer &amp; Patient Focus (Crosby Zero-Defects Standard)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85371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36904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Placeholder 18" descr="A close-up of a person wearing scrubs">
            <a:extLst>
              <a:ext uri="{FF2B5EF4-FFF2-40B4-BE49-F238E27FC236}">
                <a16:creationId xmlns:a16="http://schemas.microsoft.com/office/drawing/2014/main" id="{B92D438B-6D57-86B9-0B77-0CC42EC18FF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163" b="163"/>
          <a:stretch/>
        </p:blipFill>
        <p:spPr>
          <a:xfrm>
            <a:off x="449580" y="705104"/>
            <a:ext cx="11292840" cy="2611837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D6F47BC-96FF-9B37-6439-77FF1C218C8A}"/>
              </a:ext>
            </a:extLst>
          </p:cNvPr>
          <p:cNvSpPr txBox="1"/>
          <p:nvPr/>
        </p:nvSpPr>
        <p:spPr>
          <a:xfrm>
            <a:off x="545280" y="3421799"/>
            <a:ext cx="1058328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2540"/>
                </a:solidFill>
                <a:latin typeface="Segoe UI"/>
              </a:defRPr>
            </a:pPr>
            <a:r>
              <a:rPr dirty="0"/>
              <a:t>Database/System Design &amp; Relational Data Dictionary</a:t>
            </a:r>
          </a:p>
        </p:txBody>
      </p:sp>
      <p:sp>
        <p:nvSpPr>
          <p:cNvPr id="7" name="Rounded Rectangle 4">
            <a:extLst>
              <a:ext uri="{FF2B5EF4-FFF2-40B4-BE49-F238E27FC236}">
                <a16:creationId xmlns:a16="http://schemas.microsoft.com/office/drawing/2014/main" id="{D4786566-00E3-051C-6D22-4E0CD58D760B}"/>
              </a:ext>
            </a:extLst>
          </p:cNvPr>
          <p:cNvSpPr/>
          <p:nvPr/>
        </p:nvSpPr>
        <p:spPr>
          <a:xfrm>
            <a:off x="507588" y="3957544"/>
            <a:ext cx="5329334" cy="279347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86CA42-AAFC-23B5-EA95-81DC65E34A5D}"/>
              </a:ext>
            </a:extLst>
          </p:cNvPr>
          <p:cNvSpPr txBox="1"/>
          <p:nvPr/>
        </p:nvSpPr>
        <p:spPr>
          <a:xfrm>
            <a:off x="694549" y="4091982"/>
            <a:ext cx="5007004" cy="2569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0A389"/>
                </a:solidFill>
              </a:defRPr>
            </a:pPr>
            <a:r>
              <a:rPr sz="1400" dirty="0"/>
              <a:t>CORE RELATIONAL ENTITIES (PART 1)</a:t>
            </a:r>
          </a:p>
          <a:p>
            <a:pPr>
              <a:spcAft>
                <a:spcPts val="200"/>
              </a:spcAft>
            </a:pPr>
            <a:r>
              <a:rPr sz="1200" b="1" dirty="0">
                <a:solidFill>
                  <a:srgbClr val="0A2540"/>
                </a:solidFill>
              </a:rPr>
              <a:t>• 1. staff (users): </a:t>
            </a:r>
            <a:r>
              <a:rPr sz="1200" dirty="0">
                <a:solidFill>
                  <a:srgbClr val="1E293B"/>
                </a:solidFill>
              </a:rPr>
              <a:t>Credentials, assigned RBAC role, branch, active status.</a:t>
            </a:r>
          </a:p>
          <a:p>
            <a:pPr>
              <a:spcAft>
                <a:spcPts val="200"/>
              </a:spcAft>
            </a:pPr>
            <a:r>
              <a:rPr sz="1200" b="1" dirty="0">
                <a:solidFill>
                  <a:srgbClr val="0A2540"/>
                </a:solidFill>
              </a:rPr>
              <a:t>• 2. medicines: </a:t>
            </a:r>
            <a:r>
              <a:rPr sz="1200" dirty="0">
                <a:solidFill>
                  <a:srgbClr val="1E293B"/>
                </a:solidFill>
              </a:rPr>
              <a:t>SKU, generic, batch lot, expiry, days left, stock, MRP, rack.</a:t>
            </a:r>
          </a:p>
          <a:p>
            <a:pPr>
              <a:spcAft>
                <a:spcPts val="200"/>
              </a:spcAft>
            </a:pPr>
            <a:r>
              <a:rPr sz="1200" b="1" dirty="0">
                <a:solidFill>
                  <a:srgbClr val="0A2540"/>
                </a:solidFill>
              </a:rPr>
              <a:t>• 3. prescriptions: </a:t>
            </a:r>
            <a:r>
              <a:rPr sz="1200" dirty="0">
                <a:solidFill>
                  <a:srgbClr val="1E293B"/>
                </a:solidFill>
              </a:rPr>
              <a:t>Patient name, doctor, items JSON, CDSS status, clinical notes.</a:t>
            </a:r>
          </a:p>
          <a:p>
            <a:pPr>
              <a:spcAft>
                <a:spcPts val="200"/>
              </a:spcAft>
            </a:pPr>
            <a:r>
              <a:rPr sz="1200" b="1" dirty="0">
                <a:solidFill>
                  <a:srgbClr val="0A2540"/>
                </a:solidFill>
              </a:rPr>
              <a:t>• 4. invoices (sales): </a:t>
            </a:r>
            <a:r>
              <a:rPr sz="1200" dirty="0">
                <a:solidFill>
                  <a:srgbClr val="1E293B"/>
                </a:solidFill>
              </a:rPr>
              <a:t>Official tax invoices, cashier, subtotal, GST split, total amount.</a:t>
            </a:r>
          </a:p>
          <a:p>
            <a:pPr>
              <a:spcAft>
                <a:spcPts val="200"/>
              </a:spcAft>
            </a:pPr>
            <a:r>
              <a:rPr sz="1200" b="1" dirty="0">
                <a:solidFill>
                  <a:srgbClr val="0A2540"/>
                </a:solidFill>
              </a:rPr>
              <a:t>• 5. </a:t>
            </a:r>
            <a:r>
              <a:rPr sz="1200" b="1" dirty="0" err="1">
                <a:solidFill>
                  <a:srgbClr val="0A2540"/>
                </a:solidFill>
              </a:rPr>
              <a:t>delivery_orders</a:t>
            </a:r>
            <a:r>
              <a:rPr sz="1200" b="1" dirty="0">
                <a:solidFill>
                  <a:srgbClr val="0A2540"/>
                </a:solidFill>
              </a:rPr>
              <a:t>: </a:t>
            </a:r>
            <a:r>
              <a:rPr sz="1200" dirty="0">
                <a:solidFill>
                  <a:srgbClr val="1E293B"/>
                </a:solidFill>
              </a:rPr>
              <a:t>Dispatch route, address, rider, cold-bag check, 4-digit OTP.</a:t>
            </a:r>
          </a:p>
          <a:p>
            <a:pPr>
              <a:spcAft>
                <a:spcPts val="200"/>
              </a:spcAft>
            </a:pPr>
            <a:r>
              <a:rPr sz="1200" b="1" dirty="0">
                <a:solidFill>
                  <a:srgbClr val="0A2540"/>
                </a:solidFill>
              </a:rPr>
              <a:t>• 6. patients (customers): </a:t>
            </a:r>
            <a:r>
              <a:rPr sz="1200" dirty="0">
                <a:solidFill>
                  <a:srgbClr val="1E293B"/>
                </a:solidFill>
              </a:rPr>
              <a:t>EHR profiles, contact phone, chronic diseases, recorded allergies.</a:t>
            </a:r>
          </a:p>
          <a:p>
            <a:pPr>
              <a:spcAft>
                <a:spcPts val="200"/>
              </a:spcAft>
            </a:pPr>
            <a:r>
              <a:rPr sz="1200" b="1" dirty="0">
                <a:solidFill>
                  <a:srgbClr val="0A2540"/>
                </a:solidFill>
              </a:rPr>
              <a:t>• 7. suppliers: </a:t>
            </a:r>
            <a:r>
              <a:rPr sz="1200" dirty="0">
                <a:solidFill>
                  <a:srgbClr val="1E293B"/>
                </a:solidFill>
              </a:rPr>
              <a:t>Distributor directory, GSTIN, contact phone, payment terms</a:t>
            </a:r>
            <a:r>
              <a:rPr sz="1000" dirty="0">
                <a:solidFill>
                  <a:srgbClr val="1E293B"/>
                </a:solidFill>
              </a:rPr>
              <a:t>.</a:t>
            </a:r>
          </a:p>
        </p:txBody>
      </p:sp>
      <p:sp>
        <p:nvSpPr>
          <p:cNvPr id="11" name="Rounded Rectangle 6">
            <a:extLst>
              <a:ext uri="{FF2B5EF4-FFF2-40B4-BE49-F238E27FC236}">
                <a16:creationId xmlns:a16="http://schemas.microsoft.com/office/drawing/2014/main" id="{26BD5D52-ED88-1E57-D7A8-81ECB8C15D97}"/>
              </a:ext>
            </a:extLst>
          </p:cNvPr>
          <p:cNvSpPr/>
          <p:nvPr/>
        </p:nvSpPr>
        <p:spPr>
          <a:xfrm>
            <a:off x="6259294" y="3957544"/>
            <a:ext cx="5483126" cy="279347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74BBAD-B73B-89AE-D456-C238C7AF7ADF}"/>
              </a:ext>
            </a:extLst>
          </p:cNvPr>
          <p:cNvSpPr txBox="1"/>
          <p:nvPr/>
        </p:nvSpPr>
        <p:spPr>
          <a:xfrm>
            <a:off x="6438236" y="4046342"/>
            <a:ext cx="5059215" cy="275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284C7"/>
                </a:solidFill>
              </a:defRPr>
            </a:pPr>
            <a:r>
              <a:rPr sz="1400" dirty="0"/>
              <a:t>COMPLIANCE &amp; TELEMETRY ENTITIES (PART 2)</a:t>
            </a:r>
          </a:p>
          <a:p>
            <a:pPr>
              <a:spcAft>
                <a:spcPts val="200"/>
              </a:spcAft>
            </a:pPr>
            <a:r>
              <a:rPr sz="1200" b="1" dirty="0">
                <a:solidFill>
                  <a:srgbClr val="0A2540"/>
                </a:solidFill>
              </a:rPr>
              <a:t>• 8. </a:t>
            </a:r>
            <a:r>
              <a:rPr sz="1200" b="1" dirty="0" err="1">
                <a:solidFill>
                  <a:srgbClr val="0A2540"/>
                </a:solidFill>
              </a:rPr>
              <a:t>purchase_orders</a:t>
            </a:r>
            <a:r>
              <a:rPr sz="1200" b="1" dirty="0">
                <a:solidFill>
                  <a:srgbClr val="0A2540"/>
                </a:solidFill>
              </a:rPr>
              <a:t>: </a:t>
            </a:r>
            <a:r>
              <a:rPr sz="1200" dirty="0">
                <a:solidFill>
                  <a:srgbClr val="1E293B"/>
                </a:solidFill>
              </a:rPr>
              <a:t>GRN </a:t>
            </a:r>
            <a:r>
              <a:rPr sz="1200" dirty="0" err="1">
                <a:solidFill>
                  <a:srgbClr val="1E293B"/>
                </a:solidFill>
              </a:rPr>
              <a:t>inwarding</a:t>
            </a:r>
            <a:r>
              <a:rPr sz="1200" dirty="0">
                <a:solidFill>
                  <a:srgbClr val="1E293B"/>
                </a:solidFill>
              </a:rPr>
              <a:t>, supplier, batch items JSON, total amount.</a:t>
            </a:r>
          </a:p>
          <a:p>
            <a:pPr>
              <a:spcAft>
                <a:spcPts val="200"/>
              </a:spcAft>
            </a:pPr>
            <a:r>
              <a:rPr sz="1200" b="1" dirty="0">
                <a:solidFill>
                  <a:srgbClr val="0A2540"/>
                </a:solidFill>
              </a:rPr>
              <a:t>• 9. </a:t>
            </a:r>
            <a:r>
              <a:rPr sz="1200" b="1" dirty="0" err="1">
                <a:solidFill>
                  <a:srgbClr val="0A2540"/>
                </a:solidFill>
              </a:rPr>
              <a:t>narcotic_register</a:t>
            </a:r>
            <a:r>
              <a:rPr sz="1200" b="1" dirty="0">
                <a:solidFill>
                  <a:srgbClr val="0A2540"/>
                </a:solidFill>
              </a:rPr>
              <a:t>: </a:t>
            </a:r>
            <a:r>
              <a:rPr sz="1200" dirty="0">
                <a:solidFill>
                  <a:srgbClr val="1E293B"/>
                </a:solidFill>
              </a:rPr>
              <a:t>Schedule X: Doctor DMC Reg No, Pharmacist PIN, batch, qty.</a:t>
            </a:r>
          </a:p>
          <a:p>
            <a:pPr>
              <a:spcAft>
                <a:spcPts val="200"/>
              </a:spcAft>
            </a:pPr>
            <a:r>
              <a:rPr sz="1200" b="1" dirty="0">
                <a:solidFill>
                  <a:srgbClr val="0A2540"/>
                </a:solidFill>
              </a:rPr>
              <a:t>• 10. </a:t>
            </a:r>
            <a:r>
              <a:rPr sz="1200" b="1" dirty="0" err="1">
                <a:solidFill>
                  <a:srgbClr val="0A2540"/>
                </a:solidFill>
              </a:rPr>
              <a:t>temperature_logs</a:t>
            </a:r>
            <a:r>
              <a:rPr sz="1200" b="1" dirty="0">
                <a:solidFill>
                  <a:srgbClr val="0A2540"/>
                </a:solidFill>
              </a:rPr>
              <a:t>: </a:t>
            </a:r>
            <a:r>
              <a:rPr sz="1200" dirty="0">
                <a:solidFill>
                  <a:srgbClr val="1E293B"/>
                </a:solidFill>
              </a:rPr>
              <a:t>24/7 cold-chain telemetry: probe ID, temperature (2-8°C).</a:t>
            </a:r>
          </a:p>
          <a:p>
            <a:pPr>
              <a:spcAft>
                <a:spcPts val="200"/>
              </a:spcAft>
            </a:pPr>
            <a:r>
              <a:rPr sz="1200" b="1" dirty="0">
                <a:solidFill>
                  <a:srgbClr val="0A2540"/>
                </a:solidFill>
              </a:rPr>
              <a:t>• 11. </a:t>
            </a:r>
            <a:r>
              <a:rPr sz="1200" b="1" dirty="0" err="1">
                <a:solidFill>
                  <a:srgbClr val="0A2540"/>
                </a:solidFill>
              </a:rPr>
              <a:t>refill_schedules</a:t>
            </a:r>
            <a:r>
              <a:rPr sz="1200" b="1" dirty="0">
                <a:solidFill>
                  <a:srgbClr val="0A2540"/>
                </a:solidFill>
              </a:rPr>
              <a:t>: </a:t>
            </a:r>
            <a:r>
              <a:rPr sz="1200" dirty="0">
                <a:solidFill>
                  <a:srgbClr val="1E293B"/>
                </a:solidFill>
              </a:rPr>
              <a:t>Chronic maintenance therapy: last dispensed, next due date.</a:t>
            </a:r>
          </a:p>
          <a:p>
            <a:pPr>
              <a:spcAft>
                <a:spcPts val="200"/>
              </a:spcAft>
            </a:pPr>
            <a:r>
              <a:rPr sz="1200" b="1" dirty="0">
                <a:solidFill>
                  <a:srgbClr val="0A2540"/>
                </a:solidFill>
              </a:rPr>
              <a:t>• 12. </a:t>
            </a:r>
            <a:r>
              <a:rPr sz="1200" b="1" dirty="0" err="1">
                <a:solidFill>
                  <a:srgbClr val="0A2540"/>
                </a:solidFill>
              </a:rPr>
              <a:t>active_sessions</a:t>
            </a:r>
            <a:r>
              <a:rPr sz="1200" b="1" dirty="0">
                <a:solidFill>
                  <a:srgbClr val="0A2540"/>
                </a:solidFill>
              </a:rPr>
              <a:t>: </a:t>
            </a:r>
            <a:r>
              <a:rPr sz="1200" dirty="0">
                <a:solidFill>
                  <a:srgbClr val="1E293B"/>
                </a:solidFill>
              </a:rPr>
              <a:t>Live presence: user ID, terminal name, 5s heartbeat timestamp.</a:t>
            </a:r>
          </a:p>
          <a:p>
            <a:pPr>
              <a:spcAft>
                <a:spcPts val="200"/>
              </a:spcAft>
            </a:pPr>
            <a:r>
              <a:rPr sz="1200" b="1" dirty="0">
                <a:solidFill>
                  <a:srgbClr val="0A2540"/>
                </a:solidFill>
              </a:rPr>
              <a:t>• 13. </a:t>
            </a:r>
            <a:r>
              <a:rPr sz="1200" b="1" dirty="0" err="1">
                <a:solidFill>
                  <a:srgbClr val="0A2540"/>
                </a:solidFill>
              </a:rPr>
              <a:t>audit_logs</a:t>
            </a:r>
            <a:r>
              <a:rPr sz="1200" b="1" dirty="0">
                <a:solidFill>
                  <a:srgbClr val="0A2540"/>
                </a:solidFill>
              </a:rPr>
              <a:t>: </a:t>
            </a:r>
            <a:r>
              <a:rPr sz="1200" dirty="0">
                <a:solidFill>
                  <a:srgbClr val="1E293B"/>
                </a:solidFill>
              </a:rPr>
              <a:t>21 CFR Part 11 append-only log: user, role, action, details.</a:t>
            </a:r>
          </a:p>
          <a:p>
            <a:pPr>
              <a:spcAft>
                <a:spcPts val="200"/>
              </a:spcAft>
            </a:pPr>
            <a:r>
              <a:rPr sz="1200" b="1" dirty="0">
                <a:solidFill>
                  <a:srgbClr val="0A2540"/>
                </a:solidFill>
              </a:rPr>
              <a:t>• 14. </a:t>
            </a:r>
            <a:r>
              <a:rPr sz="1200" b="1" dirty="0" err="1">
                <a:solidFill>
                  <a:srgbClr val="0A2540"/>
                </a:solidFill>
              </a:rPr>
              <a:t>z_reports</a:t>
            </a:r>
            <a:r>
              <a:rPr sz="1200" b="1" dirty="0">
                <a:solidFill>
                  <a:srgbClr val="0A2540"/>
                </a:solidFill>
              </a:rPr>
              <a:t>: </a:t>
            </a:r>
            <a:r>
              <a:rPr sz="1200" dirty="0">
                <a:solidFill>
                  <a:srgbClr val="1E293B"/>
                </a:solidFill>
              </a:rPr>
              <a:t>Daily till close: opening float, sales, payouts, live variance.</a:t>
            </a:r>
          </a:p>
        </p:txBody>
      </p:sp>
    </p:spTree>
    <p:extLst>
      <p:ext uri="{BB962C8B-B14F-4D97-AF65-F5344CB8AC3E}">
        <p14:creationId xmlns:p14="http://schemas.microsoft.com/office/powerpoint/2010/main" val="17218416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Placeholder 20" descr="Two people smiling while holding coffee">
            <a:extLst>
              <a:ext uri="{FF2B5EF4-FFF2-40B4-BE49-F238E27FC236}">
                <a16:creationId xmlns:a16="http://schemas.microsoft.com/office/drawing/2014/main" id="{75E7485A-FBCC-4222-2274-2B2A0804BC9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38" r="38"/>
          <a:stretch/>
        </p:blipFill>
        <p:spPr>
          <a:xfrm>
            <a:off x="457200" y="761684"/>
            <a:ext cx="4661647" cy="5662230"/>
          </a:xfrm>
        </p:spPr>
      </p:pic>
      <p:sp>
        <p:nvSpPr>
          <p:cNvPr id="7" name="Rounded Rectangle 4">
            <a:extLst>
              <a:ext uri="{FF2B5EF4-FFF2-40B4-BE49-F238E27FC236}">
                <a16:creationId xmlns:a16="http://schemas.microsoft.com/office/drawing/2014/main" id="{C24F9C2A-DEBF-214B-B7AB-71599CD3DD31}"/>
              </a:ext>
            </a:extLst>
          </p:cNvPr>
          <p:cNvSpPr/>
          <p:nvPr/>
        </p:nvSpPr>
        <p:spPr>
          <a:xfrm>
            <a:off x="5429025" y="1669035"/>
            <a:ext cx="6572053" cy="8339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66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6809E56-B8A2-800D-0275-D604E805A088}"/>
              </a:ext>
            </a:extLst>
          </p:cNvPr>
          <p:cNvSpPr/>
          <p:nvPr/>
        </p:nvSpPr>
        <p:spPr>
          <a:xfrm>
            <a:off x="5429024" y="1669035"/>
            <a:ext cx="67217" cy="833932"/>
          </a:xfrm>
          <a:prstGeom prst="rect">
            <a:avLst/>
          </a:prstGeom>
          <a:solidFill>
            <a:srgbClr val="00A3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66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3E2DDD-6B08-0AE5-B7EF-0670A42200C7}"/>
              </a:ext>
            </a:extLst>
          </p:cNvPr>
          <p:cNvSpPr txBox="1"/>
          <p:nvPr/>
        </p:nvSpPr>
        <p:spPr>
          <a:xfrm>
            <a:off x="5703345" y="1723899"/>
            <a:ext cx="6273502" cy="733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A2540"/>
                </a:solidFill>
              </a:defRPr>
            </a:pPr>
            <a:r>
              <a:rPr sz="1600"/>
              <a:t>1. ACID Transaction Integrity (Atomicity &amp; Consistency)</a:t>
            </a:r>
          </a:p>
          <a:p>
            <a:pPr>
              <a:spcAft>
                <a:spcPts val="100"/>
              </a:spcAft>
              <a:defRPr sz="950">
                <a:solidFill>
                  <a:srgbClr val="1E293B"/>
                </a:solidFill>
              </a:defRPr>
            </a:pPr>
            <a:r>
              <a:rPr sz="1200"/>
              <a:t>Transactions guarantee complete success or complete rollback: saving an invoice, cutting batch stock, and writing the audit row occur together or not at all.</a:t>
            </a:r>
          </a:p>
        </p:txBody>
      </p:sp>
      <p:sp>
        <p:nvSpPr>
          <p:cNvPr id="13" name="Rounded Rectangle 7">
            <a:extLst>
              <a:ext uri="{FF2B5EF4-FFF2-40B4-BE49-F238E27FC236}">
                <a16:creationId xmlns:a16="http://schemas.microsoft.com/office/drawing/2014/main" id="{AEAD80AA-C501-1BEA-BCA2-498AE6B86D1F}"/>
              </a:ext>
            </a:extLst>
          </p:cNvPr>
          <p:cNvSpPr/>
          <p:nvPr/>
        </p:nvSpPr>
        <p:spPr>
          <a:xfrm>
            <a:off x="5429025" y="2649271"/>
            <a:ext cx="6572053" cy="8339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66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23336E3-E17E-6D51-7177-35C0B3968C2B}"/>
              </a:ext>
            </a:extLst>
          </p:cNvPr>
          <p:cNvSpPr/>
          <p:nvPr/>
        </p:nvSpPr>
        <p:spPr>
          <a:xfrm>
            <a:off x="5429024" y="2649271"/>
            <a:ext cx="67217" cy="8339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66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9A286D-B22A-C9F5-84C0-E9A78B78E683}"/>
              </a:ext>
            </a:extLst>
          </p:cNvPr>
          <p:cNvSpPr txBox="1"/>
          <p:nvPr/>
        </p:nvSpPr>
        <p:spPr>
          <a:xfrm>
            <a:off x="5703345" y="2704135"/>
            <a:ext cx="6273502" cy="733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A2540"/>
                </a:solidFill>
              </a:defRPr>
            </a:pPr>
            <a:r>
              <a:rPr sz="1600"/>
              <a:t>2. SQLite WAL (Write-Ahead Logging) &amp; Concurrency</a:t>
            </a:r>
          </a:p>
          <a:p>
            <a:pPr>
              <a:spcAft>
                <a:spcPts val="100"/>
              </a:spcAft>
              <a:defRPr sz="950">
                <a:solidFill>
                  <a:srgbClr val="1E293B"/>
                </a:solidFill>
              </a:defRPr>
            </a:pPr>
            <a:r>
              <a:rPr sz="1200"/>
              <a:t>Enabled Write-Ahead Logging allows simultaneous non-blocking reads from multiple terminal UI threads while writes commit in &lt;10ms.</a:t>
            </a:r>
          </a:p>
        </p:txBody>
      </p:sp>
      <p:sp>
        <p:nvSpPr>
          <p:cNvPr id="19" name="Rounded Rectangle 10">
            <a:extLst>
              <a:ext uri="{FF2B5EF4-FFF2-40B4-BE49-F238E27FC236}">
                <a16:creationId xmlns:a16="http://schemas.microsoft.com/office/drawing/2014/main" id="{FE5CC109-6D91-5BEB-3279-0E03B4319667}"/>
              </a:ext>
            </a:extLst>
          </p:cNvPr>
          <p:cNvSpPr/>
          <p:nvPr/>
        </p:nvSpPr>
        <p:spPr>
          <a:xfrm>
            <a:off x="5429025" y="3629508"/>
            <a:ext cx="6572053" cy="8339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66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8534718-D5F7-7017-8B88-2A4F15A58F77}"/>
              </a:ext>
            </a:extLst>
          </p:cNvPr>
          <p:cNvSpPr/>
          <p:nvPr/>
        </p:nvSpPr>
        <p:spPr>
          <a:xfrm>
            <a:off x="5429024" y="3629508"/>
            <a:ext cx="67217" cy="833932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66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A96E9DE-E541-FB07-A778-221CAE09E750}"/>
              </a:ext>
            </a:extLst>
          </p:cNvPr>
          <p:cNvSpPr txBox="1"/>
          <p:nvPr/>
        </p:nvSpPr>
        <p:spPr>
          <a:xfrm>
            <a:off x="5703345" y="3684372"/>
            <a:ext cx="6273502" cy="733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A2540"/>
                </a:solidFill>
              </a:defRPr>
            </a:pPr>
            <a:r>
              <a:rPr sz="1600"/>
              <a:t>3. Relational Foreign Keys &amp; Check Constraints</a:t>
            </a:r>
          </a:p>
          <a:p>
            <a:pPr>
              <a:spcAft>
                <a:spcPts val="100"/>
              </a:spcAft>
              <a:defRPr sz="950">
                <a:solidFill>
                  <a:srgbClr val="1E293B"/>
                </a:solidFill>
              </a:defRPr>
            </a:pPr>
            <a:r>
              <a:rPr sz="1200"/>
              <a:t>Foreign keys enforce referential integrity between prescriptions, invoices, and patients. Check constraints prevent negative inventory.</a:t>
            </a:r>
          </a:p>
        </p:txBody>
      </p:sp>
      <p:sp>
        <p:nvSpPr>
          <p:cNvPr id="27" name="Rounded Rectangle 13">
            <a:extLst>
              <a:ext uri="{FF2B5EF4-FFF2-40B4-BE49-F238E27FC236}">
                <a16:creationId xmlns:a16="http://schemas.microsoft.com/office/drawing/2014/main" id="{1BB4AA4C-C919-49DD-F74A-5BBF20759BFE}"/>
              </a:ext>
            </a:extLst>
          </p:cNvPr>
          <p:cNvSpPr/>
          <p:nvPr/>
        </p:nvSpPr>
        <p:spPr>
          <a:xfrm>
            <a:off x="5429025" y="4609745"/>
            <a:ext cx="6572053" cy="8339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660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1047E6D-4F4C-22FD-D249-78522C04A2F4}"/>
              </a:ext>
            </a:extLst>
          </p:cNvPr>
          <p:cNvSpPr/>
          <p:nvPr/>
        </p:nvSpPr>
        <p:spPr>
          <a:xfrm>
            <a:off x="5429024" y="4609745"/>
            <a:ext cx="67217" cy="8339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660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510A5E3-1A4C-1389-413B-7FA04D20648C}"/>
              </a:ext>
            </a:extLst>
          </p:cNvPr>
          <p:cNvSpPr txBox="1"/>
          <p:nvPr/>
        </p:nvSpPr>
        <p:spPr>
          <a:xfrm>
            <a:off x="5703345" y="4664609"/>
            <a:ext cx="6273502" cy="733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A2540"/>
                </a:solidFill>
              </a:defRPr>
            </a:pPr>
            <a:r>
              <a:rPr sz="1600"/>
              <a:t>4. Schema Migrations Without Data Loss</a:t>
            </a:r>
          </a:p>
          <a:p>
            <a:pPr>
              <a:spcAft>
                <a:spcPts val="100"/>
              </a:spcAft>
              <a:defRPr sz="950">
                <a:solidFill>
                  <a:srgbClr val="1E293B"/>
                </a:solidFill>
              </a:defRPr>
            </a:pPr>
            <a:r>
              <a:rPr sz="1200"/>
              <a:t>The migration subsystem dynamically applies ALTER TABLE schema updates without wiping student or patient test records.</a:t>
            </a:r>
          </a:p>
        </p:txBody>
      </p:sp>
      <p:sp>
        <p:nvSpPr>
          <p:cNvPr id="34" name="Rounded Rectangle 16">
            <a:extLst>
              <a:ext uri="{FF2B5EF4-FFF2-40B4-BE49-F238E27FC236}">
                <a16:creationId xmlns:a16="http://schemas.microsoft.com/office/drawing/2014/main" id="{B8E1A436-F579-9442-F93C-08035B749B80}"/>
              </a:ext>
            </a:extLst>
          </p:cNvPr>
          <p:cNvSpPr/>
          <p:nvPr/>
        </p:nvSpPr>
        <p:spPr>
          <a:xfrm>
            <a:off x="5429025" y="5589982"/>
            <a:ext cx="6572053" cy="8339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660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DBC51D7-4EEE-4433-B33A-66B6AB14121B}"/>
              </a:ext>
            </a:extLst>
          </p:cNvPr>
          <p:cNvSpPr/>
          <p:nvPr/>
        </p:nvSpPr>
        <p:spPr>
          <a:xfrm>
            <a:off x="5429024" y="5589982"/>
            <a:ext cx="67217" cy="8339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660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1D6E4D7-E541-096A-7947-5F3ED4B6120C}"/>
              </a:ext>
            </a:extLst>
          </p:cNvPr>
          <p:cNvSpPr txBox="1"/>
          <p:nvPr/>
        </p:nvSpPr>
        <p:spPr>
          <a:xfrm>
            <a:off x="5703345" y="5644846"/>
            <a:ext cx="6273502" cy="733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A2540"/>
                </a:solidFill>
              </a:defRPr>
            </a:pPr>
            <a:r>
              <a:rPr sz="1600"/>
              <a:t>5. Automated Database Snapshots &amp; Archival</a:t>
            </a:r>
          </a:p>
          <a:p>
            <a:pPr>
              <a:spcAft>
                <a:spcPts val="100"/>
              </a:spcAft>
              <a:defRPr sz="950">
                <a:solidFill>
                  <a:srgbClr val="1E293B"/>
                </a:solidFill>
              </a:defRPr>
            </a:pPr>
            <a:r>
              <a:rPr sz="1200"/>
              <a:t>System creates timestamped snapshot backups in backups/ daily and on application exit for disaster recovery.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E46977A-66DD-AFA4-6816-8C22E90F2DD0}"/>
              </a:ext>
            </a:extLst>
          </p:cNvPr>
          <p:cNvSpPr txBox="1"/>
          <p:nvPr/>
        </p:nvSpPr>
        <p:spPr>
          <a:xfrm>
            <a:off x="5429023" y="685800"/>
            <a:ext cx="654782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2540"/>
                </a:solidFill>
                <a:latin typeface="Segoe UI"/>
              </a:defRPr>
            </a:pPr>
            <a:r>
              <a:rPr sz="2400" dirty="0"/>
              <a:t>Database Integration: ACID Transactions &amp; Migrations</a:t>
            </a:r>
          </a:p>
        </p:txBody>
      </p:sp>
    </p:spTree>
    <p:extLst>
      <p:ext uri="{BB962C8B-B14F-4D97-AF65-F5344CB8AC3E}">
        <p14:creationId xmlns:p14="http://schemas.microsoft.com/office/powerpoint/2010/main" val="38544424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60444-073D-8C8E-B491-6874C9EFD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251D5DF8-5A87-4FC0-CBF0-7B4DF0557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705124"/>
            <a:ext cx="11272649" cy="827841"/>
          </a:xfrm>
        </p:spPr>
        <p:txBody>
          <a:bodyPr/>
          <a:lstStyle/>
          <a:p>
            <a:r>
              <a:rPr lang="en-US" dirty="0"/>
              <a:t>CRUD Operations Implementation Across All Entities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12" name="Table Placeholder 3">
            <a:extLst>
              <a:ext uri="{FF2B5EF4-FFF2-40B4-BE49-F238E27FC236}">
                <a16:creationId xmlns:a16="http://schemas.microsoft.com/office/drawing/2014/main" id="{6A973D72-DBDC-F17B-4DA8-6B24060138F7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1707606683"/>
              </p:ext>
            </p:extLst>
          </p:nvPr>
        </p:nvGraphicFramePr>
        <p:xfrm>
          <a:off x="457200" y="1371600"/>
          <a:ext cx="11301157" cy="5464925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837765">
                  <a:extLst>
                    <a:ext uri="{9D8B030D-6E8A-4147-A177-3AD203B41FA5}">
                      <a16:colId xmlns:a16="http://schemas.microsoft.com/office/drawing/2014/main" val="2382218087"/>
                    </a:ext>
                  </a:extLst>
                </a:gridCol>
                <a:gridCol w="2052917">
                  <a:extLst>
                    <a:ext uri="{9D8B030D-6E8A-4147-A177-3AD203B41FA5}">
                      <a16:colId xmlns:a16="http://schemas.microsoft.com/office/drawing/2014/main" val="1230832549"/>
                    </a:ext>
                  </a:extLst>
                </a:gridCol>
                <a:gridCol w="1818478">
                  <a:extLst>
                    <a:ext uri="{9D8B030D-6E8A-4147-A177-3AD203B41FA5}">
                      <a16:colId xmlns:a16="http://schemas.microsoft.com/office/drawing/2014/main" val="3953468724"/>
                    </a:ext>
                  </a:extLst>
                </a:gridCol>
                <a:gridCol w="1863999">
                  <a:extLst>
                    <a:ext uri="{9D8B030D-6E8A-4147-A177-3AD203B41FA5}">
                      <a16:colId xmlns:a16="http://schemas.microsoft.com/office/drawing/2014/main" val="1431665516"/>
                    </a:ext>
                  </a:extLst>
                </a:gridCol>
                <a:gridCol w="1863999">
                  <a:extLst>
                    <a:ext uri="{9D8B030D-6E8A-4147-A177-3AD203B41FA5}">
                      <a16:colId xmlns:a16="http://schemas.microsoft.com/office/drawing/2014/main" val="4277526474"/>
                    </a:ext>
                  </a:extLst>
                </a:gridCol>
                <a:gridCol w="1863999">
                  <a:extLst>
                    <a:ext uri="{9D8B030D-6E8A-4147-A177-3AD203B41FA5}">
                      <a16:colId xmlns:a16="http://schemas.microsoft.com/office/drawing/2014/main" val="2438884888"/>
                    </a:ext>
                  </a:extLst>
                </a:gridCol>
              </a:tblGrid>
              <a:tr h="83371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400" dirty="0"/>
                        <a:t>Staff &amp; RBAC Accounts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 dirty="0"/>
                        <a:t>👑 Store 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 dirty="0"/>
                        <a:t>🩺 Pharmacist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 dirty="0"/>
                        <a:t>💳 Cashier POS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/>
                        <a:t>📦 Inventory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/>
                        <a:t>🛵 Delivery Rider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7107962"/>
                  </a:ext>
                </a:extLst>
              </a:tr>
              <a:tr h="661601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400"/>
                        <a:t>Medicines &amp; Batch Stock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400" dirty="0"/>
                        <a:t>CRUD (Add/Edit Users)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400" dirty="0"/>
                        <a:t>R (Staff Directory)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400" dirty="0"/>
                        <a:t>R (Read Profile)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400"/>
                        <a:t>R (Read Profile)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400"/>
                        <a:t>R (Read Profile)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1386868"/>
                  </a:ext>
                </a:extLst>
              </a:tr>
              <a:tr h="661601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400"/>
                        <a:t>Prescriptions Intake Queue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400" dirty="0"/>
                        <a:t>CRUD (Full Catalog)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400" dirty="0"/>
                        <a:t>R (Clinical View)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400" dirty="0"/>
                        <a:t>R, U (Dispense Deduct)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400"/>
                        <a:t>CRUD (Stock Adjust)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400"/>
                        <a:t>R (Stock Query)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626418"/>
                  </a:ext>
                </a:extLst>
              </a:tr>
              <a:tr h="661601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400"/>
                        <a:t>Invoices &amp; POS Billing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400" dirty="0"/>
                        <a:t>R (Audit Review)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400"/>
                        <a:t>CRUD (Validate/Reject)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400"/>
                        <a:t>R, U (Mark Dispensed)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400" dirty="0"/>
                        <a:t>R (Consignment)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400"/>
                        <a:t>R (Order Lines)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2482967"/>
                  </a:ext>
                </a:extLst>
              </a:tr>
              <a:tr h="661601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400"/>
                        <a:t>Delivery Orders &amp; Logistics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400" dirty="0"/>
                        <a:t>R (Sales History)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400" dirty="0"/>
                        <a:t>R (Rx Dispensing)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400"/>
                        <a:t>CR (Generate &amp; Print)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400" dirty="0"/>
                        <a:t>R (Inward Bills)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400"/>
                        <a:t>R (Delivery Note)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6251906"/>
                  </a:ext>
                </a:extLst>
              </a:tr>
              <a:tr h="661601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400"/>
                        <a:t>Narcotic Register (Sched 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400" dirty="0"/>
                        <a:t>R, D (Fleet Admin)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400" dirty="0"/>
                        <a:t>R (Dispense Dispatch)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400"/>
                        <a:t>C (Dispatch Order)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400" dirty="0"/>
                        <a:t>R (Cold Checklist)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400"/>
                        <a:t>RU (OTP Validate)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6743696"/>
                  </a:ext>
                </a:extLst>
              </a:tr>
              <a:tr h="661601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400" dirty="0"/>
                        <a:t>Daily Z-Report Close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400" dirty="0"/>
                        <a:t>R (Statutory Export)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400" dirty="0"/>
                        <a:t>CR (Double Sign PIN)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400"/>
                        <a:t>R (Read Only)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400" dirty="0"/>
                        <a:t>R (Inward Only)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400"/>
                        <a:t>No Access (Blocked)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6011304"/>
                  </a:ext>
                </a:extLst>
              </a:tr>
              <a:tr h="661601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400" dirty="0"/>
                        <a:t>Staff &amp; RBAC Accounts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400" dirty="0"/>
                        <a:t>R, U (Audit Sign-Off)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400" dirty="0"/>
                        <a:t>No Access (Blocked)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400"/>
                        <a:t>CR (Shift Cash Close)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400" dirty="0"/>
                        <a:t>No Access (Blocked)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rPr sz="1400" dirty="0"/>
                        <a:t>No Access (Blocked)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85371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22354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F9567-5B9D-42B6-A20A-A85C29ED4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3900D766-2979-516A-42C0-3C6C670C0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626" y="660341"/>
            <a:ext cx="11267440" cy="644861"/>
          </a:xfrm>
        </p:spPr>
        <p:txBody>
          <a:bodyPr/>
          <a:lstStyle/>
          <a:p>
            <a:r>
              <a:rPr lang="en-US" dirty="0"/>
              <a:t>Initial UI &amp; Workstation Interface Design</a:t>
            </a:r>
          </a:p>
        </p:txBody>
      </p:sp>
      <p:sp>
        <p:nvSpPr>
          <p:cNvPr id="9" name="Rounded Rectangle 4">
            <a:extLst>
              <a:ext uri="{FF2B5EF4-FFF2-40B4-BE49-F238E27FC236}">
                <a16:creationId xmlns:a16="http://schemas.microsoft.com/office/drawing/2014/main" id="{7FBA9E74-4F1A-BCFF-793F-AAE1B766A8CA}"/>
              </a:ext>
            </a:extLst>
          </p:cNvPr>
          <p:cNvSpPr/>
          <p:nvPr/>
        </p:nvSpPr>
        <p:spPr>
          <a:xfrm>
            <a:off x="731520" y="1600200"/>
            <a:ext cx="10728655" cy="10789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28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FA17F08-8A33-7005-D668-3F3170C19B6D}"/>
              </a:ext>
            </a:extLst>
          </p:cNvPr>
          <p:cNvSpPr/>
          <p:nvPr/>
        </p:nvSpPr>
        <p:spPr>
          <a:xfrm>
            <a:off x="731520" y="1600200"/>
            <a:ext cx="109728" cy="1078992"/>
          </a:xfrm>
          <a:prstGeom prst="rect">
            <a:avLst/>
          </a:prstGeom>
          <a:solidFill>
            <a:srgbClr val="00A3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28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4B3ABE-4F4E-BB3F-287E-7D668DA42941}"/>
              </a:ext>
            </a:extLst>
          </p:cNvPr>
          <p:cNvSpPr txBox="1"/>
          <p:nvPr/>
        </p:nvSpPr>
        <p:spPr>
          <a:xfrm>
            <a:off x="1005840" y="1655064"/>
            <a:ext cx="10241280" cy="548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A2540"/>
                </a:solidFill>
              </a:defRPr>
            </a:pPr>
            <a:r>
              <a:rPr sz="1400"/>
              <a:t>1. Clean Dual Theming (Default: Light / White Mode)</a:t>
            </a:r>
          </a:p>
          <a:p>
            <a:pPr>
              <a:spcAft>
                <a:spcPts val="100"/>
              </a:spcAft>
              <a:defRPr sz="1050">
                <a:solidFill>
                  <a:srgbClr val="1E293B"/>
                </a:solidFill>
              </a:defRPr>
            </a:pPr>
            <a:r>
              <a:rPr sz="1400"/>
              <a:t>Engineered for hospital and dispensary lighting: default white theme with crisp slate borders and an instant 1-click Dark Mode toggle.</a:t>
            </a:r>
          </a:p>
        </p:txBody>
      </p:sp>
      <p:sp>
        <p:nvSpPr>
          <p:cNvPr id="15" name="Rounded Rectangle 7">
            <a:extLst>
              <a:ext uri="{FF2B5EF4-FFF2-40B4-BE49-F238E27FC236}">
                <a16:creationId xmlns:a16="http://schemas.microsoft.com/office/drawing/2014/main" id="{DEBE11F6-1A8E-0788-FD21-9CBE484EEC5D}"/>
              </a:ext>
            </a:extLst>
          </p:cNvPr>
          <p:cNvSpPr/>
          <p:nvPr/>
        </p:nvSpPr>
        <p:spPr>
          <a:xfrm>
            <a:off x="731520" y="2825496"/>
            <a:ext cx="10728655" cy="10789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28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7D81109-0062-10B2-F387-E97BC81CD44B}"/>
              </a:ext>
            </a:extLst>
          </p:cNvPr>
          <p:cNvSpPr/>
          <p:nvPr/>
        </p:nvSpPr>
        <p:spPr>
          <a:xfrm>
            <a:off x="731520" y="2825496"/>
            <a:ext cx="109728" cy="107899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28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B4DF62-A5DA-1A9E-4825-E94B0D697C3F}"/>
              </a:ext>
            </a:extLst>
          </p:cNvPr>
          <p:cNvSpPr txBox="1"/>
          <p:nvPr/>
        </p:nvSpPr>
        <p:spPr>
          <a:xfrm>
            <a:off x="1005840" y="2880360"/>
            <a:ext cx="10241280" cy="548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A2540"/>
                </a:solidFill>
              </a:defRPr>
            </a:pPr>
            <a:r>
              <a:rPr sz="1400"/>
              <a:t>2. Workstation Persona Login Portal Grid</a:t>
            </a:r>
          </a:p>
          <a:p>
            <a:pPr>
              <a:spcAft>
                <a:spcPts val="100"/>
              </a:spcAft>
              <a:defRPr sz="1050">
                <a:solidFill>
                  <a:srgbClr val="1E293B"/>
                </a:solidFill>
              </a:defRPr>
            </a:pPr>
            <a:r>
              <a:rPr sz="1400"/>
              <a:t>Interactive visual tiles for all 5 roles pre-filling credentials instantly and assigning sessions to physical terminal counters.</a:t>
            </a:r>
          </a:p>
        </p:txBody>
      </p:sp>
      <p:sp>
        <p:nvSpPr>
          <p:cNvPr id="22" name="Rounded Rectangle 10">
            <a:extLst>
              <a:ext uri="{FF2B5EF4-FFF2-40B4-BE49-F238E27FC236}">
                <a16:creationId xmlns:a16="http://schemas.microsoft.com/office/drawing/2014/main" id="{3BD249CB-47AB-5367-EBC1-DC4A350D038E}"/>
              </a:ext>
            </a:extLst>
          </p:cNvPr>
          <p:cNvSpPr/>
          <p:nvPr/>
        </p:nvSpPr>
        <p:spPr>
          <a:xfrm>
            <a:off x="731520" y="4050791"/>
            <a:ext cx="10728655" cy="10789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280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7475E2D-3EFD-E1A7-F7BF-5E00BD668DD2}"/>
              </a:ext>
            </a:extLst>
          </p:cNvPr>
          <p:cNvSpPr/>
          <p:nvPr/>
        </p:nvSpPr>
        <p:spPr>
          <a:xfrm>
            <a:off x="731520" y="4050791"/>
            <a:ext cx="109728" cy="1078992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28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27B9BC5-70B3-0CD3-AA2F-5C72B277C55A}"/>
              </a:ext>
            </a:extLst>
          </p:cNvPr>
          <p:cNvSpPr txBox="1"/>
          <p:nvPr/>
        </p:nvSpPr>
        <p:spPr>
          <a:xfrm>
            <a:off x="1005840" y="4105655"/>
            <a:ext cx="10241280" cy="548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A2540"/>
                </a:solidFill>
              </a:defRPr>
            </a:pPr>
            <a:r>
              <a:rPr sz="1400"/>
              <a:t>3. Zero-Lag 60 FPS Edge Chromium WebView2 Rendering</a:t>
            </a:r>
          </a:p>
          <a:p>
            <a:pPr>
              <a:spcAft>
                <a:spcPts val="100"/>
              </a:spcAft>
              <a:defRPr sz="1050">
                <a:solidFill>
                  <a:srgbClr val="1E293B"/>
                </a:solidFill>
              </a:defRPr>
            </a:pPr>
            <a:r>
              <a:rPr sz="1400"/>
              <a:t>Native desktop hardware acceleration eliminates UI frame freezing; background asynchronous threads handle I/O.</a:t>
            </a:r>
          </a:p>
        </p:txBody>
      </p:sp>
      <p:sp>
        <p:nvSpPr>
          <p:cNvPr id="28" name="Rounded Rectangle 13">
            <a:extLst>
              <a:ext uri="{FF2B5EF4-FFF2-40B4-BE49-F238E27FC236}">
                <a16:creationId xmlns:a16="http://schemas.microsoft.com/office/drawing/2014/main" id="{5CF1E626-6529-DB93-C1C1-8257EB660CEC}"/>
              </a:ext>
            </a:extLst>
          </p:cNvPr>
          <p:cNvSpPr/>
          <p:nvPr/>
        </p:nvSpPr>
        <p:spPr>
          <a:xfrm>
            <a:off x="731520" y="5276088"/>
            <a:ext cx="10728655" cy="10789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280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58E26D9-95F9-EFEA-467C-63B54D7A1559}"/>
              </a:ext>
            </a:extLst>
          </p:cNvPr>
          <p:cNvSpPr/>
          <p:nvPr/>
        </p:nvSpPr>
        <p:spPr>
          <a:xfrm>
            <a:off x="731520" y="5276088"/>
            <a:ext cx="109728" cy="10789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280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49512C9-AF2D-B56A-4DFF-CD188297F56B}"/>
              </a:ext>
            </a:extLst>
          </p:cNvPr>
          <p:cNvSpPr txBox="1"/>
          <p:nvPr/>
        </p:nvSpPr>
        <p:spPr>
          <a:xfrm>
            <a:off x="1005840" y="5330951"/>
            <a:ext cx="10241280" cy="548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A2540"/>
                </a:solidFill>
              </a:defRPr>
            </a:pPr>
            <a:r>
              <a:rPr sz="1400"/>
              <a:t>4. Responsive Dual Deployment Parity</a:t>
            </a:r>
          </a:p>
          <a:p>
            <a:pPr>
              <a:spcAft>
                <a:spcPts val="100"/>
              </a:spcAft>
              <a:defRPr sz="1050">
                <a:solidFill>
                  <a:srgbClr val="1E293B"/>
                </a:solidFill>
              </a:defRPr>
            </a:pPr>
            <a:r>
              <a:rPr sz="1400"/>
              <a:t>Desktop application (Edge WebView2) and Web application (FastAPI) share 100% UI feature parity on tablets and laptops.</a:t>
            </a:r>
          </a:p>
        </p:txBody>
      </p:sp>
    </p:spTree>
    <p:extLst>
      <p:ext uri="{BB962C8B-B14F-4D97-AF65-F5344CB8AC3E}">
        <p14:creationId xmlns:p14="http://schemas.microsoft.com/office/powerpoint/2010/main" val="28072743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F6749-8367-40D6-724C-0ED869087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4">
            <a:extLst>
              <a:ext uri="{FF2B5EF4-FFF2-40B4-BE49-F238E27FC236}">
                <a16:creationId xmlns:a16="http://schemas.microsoft.com/office/drawing/2014/main" id="{43A1363E-5979-BA9E-08EE-1F17757388AD}"/>
              </a:ext>
            </a:extLst>
          </p:cNvPr>
          <p:cNvSpPr/>
          <p:nvPr/>
        </p:nvSpPr>
        <p:spPr>
          <a:xfrm>
            <a:off x="645459" y="1645920"/>
            <a:ext cx="2116029" cy="275575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8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3956A3-1971-292D-75D4-6BCDD249FB56}"/>
              </a:ext>
            </a:extLst>
          </p:cNvPr>
          <p:cNvSpPr/>
          <p:nvPr/>
        </p:nvSpPr>
        <p:spPr>
          <a:xfrm>
            <a:off x="645459" y="1645920"/>
            <a:ext cx="2116029" cy="516703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8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02F9FF-2B48-FBB3-5DCB-AB01885975CE}"/>
              </a:ext>
            </a:extLst>
          </p:cNvPr>
          <p:cNvSpPr txBox="1"/>
          <p:nvPr/>
        </p:nvSpPr>
        <p:spPr>
          <a:xfrm>
            <a:off x="645459" y="1691640"/>
            <a:ext cx="211602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600"/>
              <a:t>STEP 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37D8D9-A3BB-7164-E05B-73C0244A3A92}"/>
              </a:ext>
            </a:extLst>
          </p:cNvPr>
          <p:cNvSpPr txBox="1"/>
          <p:nvPr/>
        </p:nvSpPr>
        <p:spPr>
          <a:xfrm>
            <a:off x="744653" y="2286000"/>
            <a:ext cx="1925395" cy="1308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A2540"/>
                </a:solidFill>
              </a:defRPr>
            </a:pPr>
            <a:r>
              <a:rPr sz="1400"/>
              <a:t>Stage 1: eRx Intake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rPr sz="1100"/>
              <a:t>• Doctor prescription uploaded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rPr sz="1100"/>
              <a:t>• Patient EHR allergies scanned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rPr sz="1100"/>
              <a:t>• Enters pending review queue</a:t>
            </a:r>
          </a:p>
        </p:txBody>
      </p:sp>
      <p:sp>
        <p:nvSpPr>
          <p:cNvPr id="15" name="Rounded Rectangle 8">
            <a:extLst>
              <a:ext uri="{FF2B5EF4-FFF2-40B4-BE49-F238E27FC236}">
                <a16:creationId xmlns:a16="http://schemas.microsoft.com/office/drawing/2014/main" id="{F8196601-C569-E79B-3D1D-F0DC9143D549}"/>
              </a:ext>
            </a:extLst>
          </p:cNvPr>
          <p:cNvSpPr/>
          <p:nvPr/>
        </p:nvSpPr>
        <p:spPr>
          <a:xfrm>
            <a:off x="2812587" y="1645920"/>
            <a:ext cx="2116029" cy="275575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8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D8E7F07-536B-54E5-FCD4-F92CE1DE1C05}"/>
              </a:ext>
            </a:extLst>
          </p:cNvPr>
          <p:cNvSpPr/>
          <p:nvPr/>
        </p:nvSpPr>
        <p:spPr>
          <a:xfrm>
            <a:off x="2812587" y="1645920"/>
            <a:ext cx="2116029" cy="516703"/>
          </a:xfrm>
          <a:prstGeom prst="rect">
            <a:avLst/>
          </a:prstGeom>
          <a:solidFill>
            <a:srgbClr val="00A3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8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7C3489-5F45-4664-BC01-606D5637331A}"/>
              </a:ext>
            </a:extLst>
          </p:cNvPr>
          <p:cNvSpPr txBox="1"/>
          <p:nvPr/>
        </p:nvSpPr>
        <p:spPr>
          <a:xfrm>
            <a:off x="2812587" y="1691640"/>
            <a:ext cx="211602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600"/>
              <a:t>STEP 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54CDCDD-7F31-56BF-AEDA-0706C6BBB69C}"/>
              </a:ext>
            </a:extLst>
          </p:cNvPr>
          <p:cNvSpPr txBox="1"/>
          <p:nvPr/>
        </p:nvSpPr>
        <p:spPr>
          <a:xfrm>
            <a:off x="2911781" y="2286000"/>
            <a:ext cx="1925395" cy="1561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A2540"/>
                </a:solidFill>
              </a:defRPr>
            </a:pPr>
            <a:r>
              <a:rPr sz="1400"/>
              <a:t>Stage 2: Clinical Gate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rPr sz="1100"/>
              <a:t>• Pharmacist runs CDSS scan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rPr sz="1100"/>
              <a:t>• Allergy &amp; interaction checks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rPr sz="1100"/>
              <a:t>• Schedule X PIN authenticated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rPr sz="1100"/>
              <a:t>• Status updated to 'Approved'</a:t>
            </a:r>
          </a:p>
        </p:txBody>
      </p:sp>
      <p:sp>
        <p:nvSpPr>
          <p:cNvPr id="25" name="Rounded Rectangle 12">
            <a:extLst>
              <a:ext uri="{FF2B5EF4-FFF2-40B4-BE49-F238E27FC236}">
                <a16:creationId xmlns:a16="http://schemas.microsoft.com/office/drawing/2014/main" id="{84492AE9-8517-45FD-1331-D835E2B46BD0}"/>
              </a:ext>
            </a:extLst>
          </p:cNvPr>
          <p:cNvSpPr/>
          <p:nvPr/>
        </p:nvSpPr>
        <p:spPr>
          <a:xfrm>
            <a:off x="4979715" y="1645920"/>
            <a:ext cx="2116029" cy="275575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80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6D1754F-CDE3-CE89-CD6F-626C883F9199}"/>
              </a:ext>
            </a:extLst>
          </p:cNvPr>
          <p:cNvSpPr/>
          <p:nvPr/>
        </p:nvSpPr>
        <p:spPr>
          <a:xfrm>
            <a:off x="4979715" y="1645920"/>
            <a:ext cx="2116029" cy="516703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8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BAEC60C-8362-3B30-D83C-5E85178D0025}"/>
              </a:ext>
            </a:extLst>
          </p:cNvPr>
          <p:cNvSpPr txBox="1"/>
          <p:nvPr/>
        </p:nvSpPr>
        <p:spPr>
          <a:xfrm>
            <a:off x="4979715" y="1691640"/>
            <a:ext cx="211602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600"/>
              <a:t>STEP 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DF73771-4169-5116-6ABA-AA69AACD103E}"/>
              </a:ext>
            </a:extLst>
          </p:cNvPr>
          <p:cNvSpPr txBox="1"/>
          <p:nvPr/>
        </p:nvSpPr>
        <p:spPr>
          <a:xfrm>
            <a:off x="5078909" y="2286000"/>
            <a:ext cx="1925395" cy="190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A2540"/>
                </a:solidFill>
              </a:defRPr>
            </a:pPr>
            <a:r>
              <a:rPr sz="1400"/>
              <a:t>Stage 3: POS Express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rPr sz="1100"/>
              <a:t>• 1-Click import to Cashier cart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rPr sz="1100"/>
              <a:t>• Auto FEFO batch picking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rPr sz="1100"/>
              <a:t>• Dynamic UPI QR / Cash change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rPr sz="1100"/>
              <a:t>• Thermal 80mm GST receipt printed</a:t>
            </a:r>
          </a:p>
        </p:txBody>
      </p:sp>
      <p:sp>
        <p:nvSpPr>
          <p:cNvPr id="33" name="Rounded Rectangle 16">
            <a:extLst>
              <a:ext uri="{FF2B5EF4-FFF2-40B4-BE49-F238E27FC236}">
                <a16:creationId xmlns:a16="http://schemas.microsoft.com/office/drawing/2014/main" id="{732568F9-8582-8456-9B1D-B648BE529BBD}"/>
              </a:ext>
            </a:extLst>
          </p:cNvPr>
          <p:cNvSpPr/>
          <p:nvPr/>
        </p:nvSpPr>
        <p:spPr>
          <a:xfrm>
            <a:off x="7146843" y="1645920"/>
            <a:ext cx="2116029" cy="275575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80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39CE3D4-4F11-DED5-606C-FE521B7B7329}"/>
              </a:ext>
            </a:extLst>
          </p:cNvPr>
          <p:cNvSpPr/>
          <p:nvPr/>
        </p:nvSpPr>
        <p:spPr>
          <a:xfrm>
            <a:off x="7146843" y="1645920"/>
            <a:ext cx="2116029" cy="516703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8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C64E997-17AE-6782-9774-119227D70BAE}"/>
              </a:ext>
            </a:extLst>
          </p:cNvPr>
          <p:cNvSpPr txBox="1"/>
          <p:nvPr/>
        </p:nvSpPr>
        <p:spPr>
          <a:xfrm>
            <a:off x="7146843" y="1691640"/>
            <a:ext cx="211602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600"/>
              <a:t>STEP 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9EEF84E-3F0B-E244-E133-B3843D3CAE1C}"/>
              </a:ext>
            </a:extLst>
          </p:cNvPr>
          <p:cNvSpPr txBox="1"/>
          <p:nvPr/>
        </p:nvSpPr>
        <p:spPr>
          <a:xfrm>
            <a:off x="7246037" y="2286000"/>
            <a:ext cx="1925395" cy="1177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A2540"/>
                </a:solidFill>
              </a:defRPr>
            </a:pPr>
            <a:r>
              <a:rPr sz="1400"/>
              <a:t>Stage 4: Cold Fleet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rPr sz="1100"/>
              <a:t>• Cold-bag checklist verified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rPr sz="1100"/>
              <a:t>• Dispatched on Kanban route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rPr sz="1100"/>
              <a:t>• Customer gives 4-digit OTP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rPr sz="1100"/>
              <a:t>• Marked 'Delivered' (e-POD)</a:t>
            </a:r>
          </a:p>
        </p:txBody>
      </p:sp>
      <p:sp>
        <p:nvSpPr>
          <p:cNvPr id="41" name="Rounded Rectangle 20">
            <a:extLst>
              <a:ext uri="{FF2B5EF4-FFF2-40B4-BE49-F238E27FC236}">
                <a16:creationId xmlns:a16="http://schemas.microsoft.com/office/drawing/2014/main" id="{D191DADF-7612-81BC-5EED-8C1D7B1B6608}"/>
              </a:ext>
            </a:extLst>
          </p:cNvPr>
          <p:cNvSpPr/>
          <p:nvPr/>
        </p:nvSpPr>
        <p:spPr>
          <a:xfrm>
            <a:off x="9313971" y="1645920"/>
            <a:ext cx="2116029" cy="275575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80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9B8C27D-5678-2332-D72C-B0D3E2232811}"/>
              </a:ext>
            </a:extLst>
          </p:cNvPr>
          <p:cNvSpPr/>
          <p:nvPr/>
        </p:nvSpPr>
        <p:spPr>
          <a:xfrm>
            <a:off x="9313971" y="1645920"/>
            <a:ext cx="2116029" cy="51670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80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FA23009-C329-43C2-6ED3-2C363FCB1F2E}"/>
              </a:ext>
            </a:extLst>
          </p:cNvPr>
          <p:cNvSpPr txBox="1"/>
          <p:nvPr/>
        </p:nvSpPr>
        <p:spPr>
          <a:xfrm>
            <a:off x="9313971" y="1691640"/>
            <a:ext cx="211602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600"/>
              <a:t>STEP 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862A5CF-8A34-C3AC-B8A9-FEB2F7E59DB1}"/>
              </a:ext>
            </a:extLst>
          </p:cNvPr>
          <p:cNvSpPr txBox="1"/>
          <p:nvPr/>
        </p:nvSpPr>
        <p:spPr>
          <a:xfrm>
            <a:off x="9413165" y="2286001"/>
            <a:ext cx="1925395" cy="1731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A2540"/>
                </a:solidFill>
              </a:defRPr>
            </a:pPr>
            <a:r>
              <a:rPr sz="1400"/>
              <a:t>Stage 5: Z-Report Close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rPr sz="1100"/>
              <a:t>• Cash drawer counted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rPr sz="1100"/>
              <a:t>• Variance calculated (₹0.00)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rPr sz="1100"/>
              <a:t>• Shift signed &amp; closed in SQLite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rPr sz="1100"/>
              <a:t>• CSV exported for accounting</a:t>
            </a:r>
          </a:p>
        </p:txBody>
      </p:sp>
      <p:sp>
        <p:nvSpPr>
          <p:cNvPr id="49" name="Rounded Rectangle 24">
            <a:extLst>
              <a:ext uri="{FF2B5EF4-FFF2-40B4-BE49-F238E27FC236}">
                <a16:creationId xmlns:a16="http://schemas.microsoft.com/office/drawing/2014/main" id="{CEB5F920-7AB5-EB91-2888-5EE0806C4C27}"/>
              </a:ext>
            </a:extLst>
          </p:cNvPr>
          <p:cNvSpPr/>
          <p:nvPr/>
        </p:nvSpPr>
        <p:spPr>
          <a:xfrm>
            <a:off x="429864" y="4978998"/>
            <a:ext cx="11000136" cy="1554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80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A61B24F-E27C-F9B6-8216-17B77D38D7D3}"/>
              </a:ext>
            </a:extLst>
          </p:cNvPr>
          <p:cNvSpPr txBox="1"/>
          <p:nvPr/>
        </p:nvSpPr>
        <p:spPr>
          <a:xfrm>
            <a:off x="429864" y="5111427"/>
            <a:ext cx="10787079" cy="789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0A389"/>
                </a:solidFill>
              </a:defRPr>
            </a:pPr>
            <a:r>
              <a:rPr sz="1400" dirty="0"/>
              <a:t>🔄 ARCHITECTURAL PIPELINE SUMMARY: HOW A CLICK TRAVELS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rPr sz="1400" dirty="0"/>
              <a:t>1. Screen takes user click → 2. Service checks role authorization → 3. CDSS verifies patient allergy EHR → 4. Validators assert stock ceiling &amp; expiry → 5. SQLite executes atomic commit (bill + cut stock) → 6. Audit log row written → 7. Dashboard KPI tickers update.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852803B-B2D9-B899-3E73-7C83B32AF607}"/>
              </a:ext>
            </a:extLst>
          </p:cNvPr>
          <p:cNvSpPr txBox="1"/>
          <p:nvPr/>
        </p:nvSpPr>
        <p:spPr>
          <a:xfrm>
            <a:off x="385482" y="685800"/>
            <a:ext cx="110445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2540"/>
                </a:solidFill>
                <a:latin typeface="Segoe UI"/>
              </a:defRPr>
            </a:pPr>
            <a:r>
              <a:rPr sz="2800" dirty="0"/>
              <a:t>Main System Workflow: End-to-End Pipeline</a:t>
            </a:r>
          </a:p>
        </p:txBody>
      </p:sp>
    </p:spTree>
    <p:extLst>
      <p:ext uri="{BB962C8B-B14F-4D97-AF65-F5344CB8AC3E}">
        <p14:creationId xmlns:p14="http://schemas.microsoft.com/office/powerpoint/2010/main" val="20105771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EC2D7-BB01-FFF6-8616-FF8ACA46B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Placeholder 15" descr="A group of surgeons wearing surgical caps and masks">
            <a:extLst>
              <a:ext uri="{FF2B5EF4-FFF2-40B4-BE49-F238E27FC236}">
                <a16:creationId xmlns:a16="http://schemas.microsoft.com/office/drawing/2014/main" id="{E1DC7ED6-A11E-56B2-9B1E-1CBF00D9EDBE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 rotWithShape="1">
          <a:blip r:embed="rId3"/>
          <a:srcRect t="35757" b="35757"/>
          <a:stretch/>
        </p:blipFill>
        <p:spPr>
          <a:xfrm>
            <a:off x="457200" y="670560"/>
            <a:ext cx="11267440" cy="1696122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0F13FA0-3D0E-39EB-06D8-8A8FFBE8B966}"/>
              </a:ext>
            </a:extLst>
          </p:cNvPr>
          <p:cNvSpPr txBox="1"/>
          <p:nvPr/>
        </p:nvSpPr>
        <p:spPr>
          <a:xfrm>
            <a:off x="533698" y="2495815"/>
            <a:ext cx="106984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2540"/>
                </a:solidFill>
                <a:latin typeface="Segoe UI"/>
              </a:defRPr>
            </a:pPr>
            <a:r>
              <a:rPr sz="3200" dirty="0"/>
              <a:t>TQM Quality Analytics: Pareto (80/20) &amp; Fishbone</a:t>
            </a:r>
          </a:p>
        </p:txBody>
      </p:sp>
      <p:sp>
        <p:nvSpPr>
          <p:cNvPr id="11" name="Rounded Rectangle 4">
            <a:extLst>
              <a:ext uri="{FF2B5EF4-FFF2-40B4-BE49-F238E27FC236}">
                <a16:creationId xmlns:a16="http://schemas.microsoft.com/office/drawing/2014/main" id="{98CED937-A764-D34B-7356-CFF161E95E83}"/>
              </a:ext>
            </a:extLst>
          </p:cNvPr>
          <p:cNvSpPr/>
          <p:nvPr/>
        </p:nvSpPr>
        <p:spPr>
          <a:xfrm>
            <a:off x="467360" y="3266823"/>
            <a:ext cx="5257800" cy="2920617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3D6CAC-3C29-4C50-C2A3-FEBE9ECBFCDB}"/>
              </a:ext>
            </a:extLst>
          </p:cNvPr>
          <p:cNvSpPr txBox="1"/>
          <p:nvPr/>
        </p:nvSpPr>
        <p:spPr>
          <a:xfrm>
            <a:off x="533698" y="3429000"/>
            <a:ext cx="489204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0A389"/>
                </a:solidFill>
              </a:defRPr>
            </a:pPr>
            <a:r>
              <a:rPr sz="1400" dirty="0"/>
              <a:t>📈 PARETO ROOT-CAUSE ANALYSIS (80/20 RULE)</a:t>
            </a:r>
          </a:p>
          <a:p>
            <a:pPr>
              <a:spcAft>
                <a:spcPts val="400"/>
              </a:spcAft>
            </a:pPr>
            <a:r>
              <a:rPr sz="1200" b="1" dirty="0">
                <a:solidFill>
                  <a:srgbClr val="0A2540"/>
                </a:solidFill>
              </a:rPr>
              <a:t>1. Look-Alike / Sound-Alike Drugs (45%): </a:t>
            </a:r>
            <a:r>
              <a:rPr sz="1200" dirty="0">
                <a:solidFill>
                  <a:srgbClr val="1E293B"/>
                </a:solidFill>
              </a:rPr>
              <a:t>Addressed by CDSS generic molecule search and allergy confirmation.</a:t>
            </a:r>
          </a:p>
          <a:p>
            <a:pPr>
              <a:spcAft>
                <a:spcPts val="400"/>
              </a:spcAft>
            </a:pPr>
            <a:r>
              <a:rPr sz="1200" b="1" dirty="0">
                <a:solidFill>
                  <a:srgbClr val="0A2540"/>
                </a:solidFill>
              </a:rPr>
              <a:t>2. Qty &gt; Available Stock Attempts (30%): </a:t>
            </a:r>
            <a:r>
              <a:rPr sz="1200" dirty="0">
                <a:solidFill>
                  <a:srgbClr val="1E293B"/>
                </a:solidFill>
              </a:rPr>
              <a:t>Addressed by pre-save inventory balance assertion locks.</a:t>
            </a:r>
          </a:p>
          <a:p>
            <a:pPr>
              <a:spcAft>
                <a:spcPts val="400"/>
              </a:spcAft>
            </a:pPr>
            <a:r>
              <a:rPr sz="1200" b="1" dirty="0">
                <a:solidFill>
                  <a:srgbClr val="0A2540"/>
                </a:solidFill>
              </a:rPr>
              <a:t>3. Near-Expiry Drug Dispensing (15%): </a:t>
            </a:r>
            <a:r>
              <a:rPr sz="1200" dirty="0">
                <a:solidFill>
                  <a:srgbClr val="1E293B"/>
                </a:solidFill>
              </a:rPr>
              <a:t>Addressed by algorithmic FEFO nearest-expiry prioritization.</a:t>
            </a:r>
          </a:p>
          <a:p>
            <a:pPr>
              <a:spcAft>
                <a:spcPts val="400"/>
              </a:spcAft>
            </a:pPr>
            <a:r>
              <a:rPr sz="1200" b="1" dirty="0">
                <a:solidFill>
                  <a:srgbClr val="0A2540"/>
                </a:solidFill>
              </a:rPr>
              <a:t>4. Insulated Cold-Bag Packaging (7%): </a:t>
            </a:r>
            <a:r>
              <a:rPr sz="1200" dirty="0">
                <a:solidFill>
                  <a:srgbClr val="1E293B"/>
                </a:solidFill>
              </a:rPr>
              <a:t>Addressed by mandatory delivery pre-dispatch checklist.</a:t>
            </a:r>
          </a:p>
          <a:p>
            <a:pPr>
              <a:spcAft>
                <a:spcPts val="400"/>
              </a:spcAft>
            </a:pPr>
            <a:r>
              <a:rPr sz="1200" b="1" dirty="0">
                <a:solidFill>
                  <a:srgbClr val="0A2540"/>
                </a:solidFill>
              </a:rPr>
              <a:t>Key TQM Takeaway: </a:t>
            </a:r>
            <a:r>
              <a:rPr sz="1200" dirty="0">
                <a:solidFill>
                  <a:srgbClr val="1E293B"/>
                </a:solidFill>
              </a:rPr>
              <a:t>Eliminating the top 2 error modes removes 75% of all operational dispensary defects.</a:t>
            </a:r>
          </a:p>
        </p:txBody>
      </p:sp>
      <p:sp>
        <p:nvSpPr>
          <p:cNvPr id="15" name="Rounded Rectangle 6">
            <a:extLst>
              <a:ext uri="{FF2B5EF4-FFF2-40B4-BE49-F238E27FC236}">
                <a16:creationId xmlns:a16="http://schemas.microsoft.com/office/drawing/2014/main" id="{E7C9E641-85B3-CA5C-0F9E-FBE2AE7405E9}"/>
              </a:ext>
            </a:extLst>
          </p:cNvPr>
          <p:cNvSpPr/>
          <p:nvPr/>
        </p:nvSpPr>
        <p:spPr>
          <a:xfrm>
            <a:off x="5908040" y="3266823"/>
            <a:ext cx="5257800" cy="2920617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E4977C9-2A63-CDBE-0A89-1D5B73B3EB65}"/>
              </a:ext>
            </a:extLst>
          </p:cNvPr>
          <p:cNvSpPr txBox="1"/>
          <p:nvPr/>
        </p:nvSpPr>
        <p:spPr>
          <a:xfrm>
            <a:off x="5882938" y="3429000"/>
            <a:ext cx="525780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284C7"/>
                </a:solidFill>
              </a:defRPr>
            </a:pPr>
            <a:r>
              <a:rPr sz="1400" dirty="0"/>
              <a:t>🐟 FISHBONE (ISHIKAWA) ROOT-CAUSE BREAKDOWN</a:t>
            </a:r>
          </a:p>
          <a:p>
            <a:pPr>
              <a:spcAft>
                <a:spcPts val="400"/>
              </a:spcAft>
            </a:pPr>
            <a:r>
              <a:rPr sz="1200" b="1" dirty="0">
                <a:solidFill>
                  <a:srgbClr val="0A2540"/>
                </a:solidFill>
              </a:rPr>
              <a:t>People (Staff): </a:t>
            </a:r>
            <a:r>
              <a:rPr sz="1200" dirty="0">
                <a:solidFill>
                  <a:srgbClr val="1E293B"/>
                </a:solidFill>
              </a:rPr>
              <a:t>Rushed cashiers during counter peaks; new dispensers misinterpreting doctor handwriting.</a:t>
            </a:r>
          </a:p>
          <a:p>
            <a:pPr>
              <a:spcAft>
                <a:spcPts val="400"/>
              </a:spcAft>
            </a:pPr>
            <a:r>
              <a:rPr sz="1200" b="1" dirty="0">
                <a:solidFill>
                  <a:srgbClr val="0A2540"/>
                </a:solidFill>
              </a:rPr>
              <a:t>Process (Workflow): </a:t>
            </a:r>
            <a:r>
              <a:rPr sz="1200" dirty="0">
                <a:solidFill>
                  <a:srgbClr val="1E293B"/>
                </a:solidFill>
              </a:rPr>
              <a:t>Lack of second-check clinical verification step before POS billing.</a:t>
            </a:r>
          </a:p>
          <a:p>
            <a:pPr>
              <a:spcAft>
                <a:spcPts val="400"/>
              </a:spcAft>
            </a:pPr>
            <a:r>
              <a:rPr sz="1200" b="1" dirty="0">
                <a:solidFill>
                  <a:srgbClr val="0A2540"/>
                </a:solidFill>
              </a:rPr>
              <a:t>Software (System): </a:t>
            </a:r>
            <a:r>
              <a:rPr sz="1200" dirty="0">
                <a:solidFill>
                  <a:srgbClr val="1E293B"/>
                </a:solidFill>
              </a:rPr>
              <a:t>Legacy systems allowing expired stock cart addition and lacking allergy alerts.</a:t>
            </a:r>
          </a:p>
          <a:p>
            <a:pPr>
              <a:spcAft>
                <a:spcPts val="400"/>
              </a:spcAft>
            </a:pPr>
            <a:r>
              <a:rPr sz="1200" b="1" dirty="0">
                <a:solidFill>
                  <a:srgbClr val="0A2540"/>
                </a:solidFill>
              </a:rPr>
              <a:t>Data (Integrity): </a:t>
            </a:r>
            <a:r>
              <a:rPr sz="1200" dirty="0">
                <a:solidFill>
                  <a:srgbClr val="1E293B"/>
                </a:solidFill>
              </a:rPr>
              <a:t>Missing batch numbers, incorrect physical expiry dates, unrecorded patient allergies.</a:t>
            </a:r>
          </a:p>
          <a:p>
            <a:pPr>
              <a:spcAft>
                <a:spcPts val="400"/>
              </a:spcAft>
            </a:pPr>
            <a:r>
              <a:rPr sz="1200" b="1" dirty="0">
                <a:solidFill>
                  <a:srgbClr val="0A2540"/>
                </a:solidFill>
              </a:rPr>
              <a:t>Machine (Hardware): </a:t>
            </a:r>
            <a:r>
              <a:rPr sz="1200" dirty="0">
                <a:solidFill>
                  <a:srgbClr val="1E293B"/>
                </a:solidFill>
              </a:rPr>
              <a:t>Slow workstation hardware and missed clicks on crowded UI screens</a:t>
            </a:r>
            <a:r>
              <a:rPr sz="1000" dirty="0">
                <a:solidFill>
                  <a:srgbClr val="1E293B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38450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F5ABC-EB32-A0EC-9183-2FEC9CF2E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Placeholder 18" descr="A close-up of a person wearing scrubs">
            <a:extLst>
              <a:ext uri="{FF2B5EF4-FFF2-40B4-BE49-F238E27FC236}">
                <a16:creationId xmlns:a16="http://schemas.microsoft.com/office/drawing/2014/main" id="{6B01E62B-C9E5-E83C-CDC7-455C9FC7D9B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163" b="163"/>
          <a:stretch/>
        </p:blipFill>
        <p:spPr>
          <a:xfrm>
            <a:off x="449580" y="705104"/>
            <a:ext cx="11292840" cy="2611837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A09914C-4BBE-C1E2-004C-81CEF03FC0B5}"/>
              </a:ext>
            </a:extLst>
          </p:cNvPr>
          <p:cNvSpPr txBox="1"/>
          <p:nvPr/>
        </p:nvSpPr>
        <p:spPr>
          <a:xfrm>
            <a:off x="545280" y="3421799"/>
            <a:ext cx="1058328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2540"/>
                </a:solidFill>
                <a:latin typeface="Segoe UI"/>
              </a:defRPr>
            </a:pPr>
            <a:r>
              <a:rPr lang="en-US" dirty="0"/>
              <a:t>TQM Quality Governance: FMEA Risk &amp; Deming PDCA</a:t>
            </a:r>
          </a:p>
          <a:p>
            <a:pPr>
              <a:defRPr sz="2200" b="1">
                <a:solidFill>
                  <a:srgbClr val="0A2540"/>
                </a:solidFill>
                <a:latin typeface="Segoe UI"/>
              </a:defRPr>
            </a:pPr>
            <a:endParaRPr dirty="0"/>
          </a:p>
        </p:txBody>
      </p:sp>
      <p:sp>
        <p:nvSpPr>
          <p:cNvPr id="7" name="Rounded Rectangle 4">
            <a:extLst>
              <a:ext uri="{FF2B5EF4-FFF2-40B4-BE49-F238E27FC236}">
                <a16:creationId xmlns:a16="http://schemas.microsoft.com/office/drawing/2014/main" id="{7CCB229F-3B5D-E370-63BE-3D9DC37D8E8A}"/>
              </a:ext>
            </a:extLst>
          </p:cNvPr>
          <p:cNvSpPr/>
          <p:nvPr/>
        </p:nvSpPr>
        <p:spPr>
          <a:xfrm>
            <a:off x="507588" y="3850526"/>
            <a:ext cx="5329334" cy="29004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A0193F-0AF0-384B-5D74-C68F65BC375E}"/>
              </a:ext>
            </a:extLst>
          </p:cNvPr>
          <p:cNvSpPr txBox="1"/>
          <p:nvPr/>
        </p:nvSpPr>
        <p:spPr>
          <a:xfrm>
            <a:off x="630761" y="3806519"/>
            <a:ext cx="5082988" cy="2795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E11D48"/>
                </a:solidFill>
              </a:defRPr>
            </a:pPr>
            <a:r>
              <a:rPr lang="en-IN" sz="1400" dirty="0"/>
              <a:t>⚠️ FMEA TABLE (RPN = S x O x D)</a:t>
            </a:r>
          </a:p>
          <a:p>
            <a:pPr>
              <a:spcAft>
                <a:spcPts val="400"/>
              </a:spcAft>
            </a:pPr>
            <a:r>
              <a:rPr lang="en-IN" sz="1600" b="1" dirty="0">
                <a:solidFill>
                  <a:srgbClr val="0A2540"/>
                </a:solidFill>
              </a:rPr>
              <a:t>Sell Expired Drug: </a:t>
            </a:r>
            <a:r>
              <a:rPr lang="en-IN" sz="1400" dirty="0">
                <a:solidFill>
                  <a:srgbClr val="1E293B"/>
                </a:solidFill>
              </a:rPr>
              <a:t>S=10, O=4, D=3 → RPN 120
Action: Hard block prevents cart checkout.</a:t>
            </a:r>
          </a:p>
          <a:p>
            <a:pPr>
              <a:spcAft>
                <a:spcPts val="400"/>
              </a:spcAft>
            </a:pPr>
            <a:r>
              <a:rPr lang="en-IN" sz="1600" b="1" dirty="0">
                <a:solidFill>
                  <a:srgbClr val="0A2540"/>
                </a:solidFill>
              </a:rPr>
              <a:t>Dispense Allergen Drug: </a:t>
            </a:r>
            <a:r>
              <a:rPr lang="en-IN" sz="1400" dirty="0">
                <a:solidFill>
                  <a:srgbClr val="1E293B"/>
                </a:solidFill>
              </a:rPr>
              <a:t>S=10, O=3, D=4 → RPN 120
Action: CDSS allergy warning &amp; override block.</a:t>
            </a:r>
          </a:p>
          <a:p>
            <a:pPr>
              <a:spcAft>
                <a:spcPts val="400"/>
              </a:spcAft>
            </a:pPr>
            <a:r>
              <a:rPr lang="en-IN" sz="1600" b="1" dirty="0">
                <a:solidFill>
                  <a:srgbClr val="0A2540"/>
                </a:solidFill>
              </a:rPr>
              <a:t>Qty &gt; Stock Oversell: </a:t>
            </a:r>
            <a:r>
              <a:rPr lang="en-IN" sz="1400" dirty="0">
                <a:solidFill>
                  <a:srgbClr val="1E293B"/>
                </a:solidFill>
              </a:rPr>
              <a:t>S=8, O=5, D=3 → RPN 120
Action: Pre-commit inventory balance assert.</a:t>
            </a:r>
          </a:p>
          <a:p>
            <a:pPr>
              <a:spcAft>
                <a:spcPts val="400"/>
              </a:spcAft>
            </a:pPr>
            <a:r>
              <a:rPr lang="en-IN" sz="1600" b="1" dirty="0">
                <a:solidFill>
                  <a:srgbClr val="0A2540"/>
                </a:solidFill>
              </a:rPr>
              <a:t>Duplicate Barcode Scan: </a:t>
            </a:r>
            <a:r>
              <a:rPr lang="en-IN" sz="1400" dirty="0">
                <a:solidFill>
                  <a:srgbClr val="1E293B"/>
                </a:solidFill>
              </a:rPr>
              <a:t>S=6, O=2, D=2 → RPN 24
Action: Unique constraint on SKU barcode.</a:t>
            </a:r>
          </a:p>
          <a:p>
            <a:pPr>
              <a:spcAft>
                <a:spcPts val="600"/>
              </a:spcAft>
              <a:defRPr sz="1200" b="1">
                <a:solidFill>
                  <a:srgbClr val="00A389"/>
                </a:solidFill>
              </a:defRPr>
            </a:pPr>
            <a:endParaRPr sz="1000" dirty="0">
              <a:solidFill>
                <a:srgbClr val="1E293B"/>
              </a:solidFill>
            </a:endParaRPr>
          </a:p>
        </p:txBody>
      </p:sp>
      <p:sp>
        <p:nvSpPr>
          <p:cNvPr id="11" name="Rounded Rectangle 6">
            <a:extLst>
              <a:ext uri="{FF2B5EF4-FFF2-40B4-BE49-F238E27FC236}">
                <a16:creationId xmlns:a16="http://schemas.microsoft.com/office/drawing/2014/main" id="{C15EC78E-8C5C-E63B-4FA2-FC4BD4CE0EE2}"/>
              </a:ext>
            </a:extLst>
          </p:cNvPr>
          <p:cNvSpPr/>
          <p:nvPr/>
        </p:nvSpPr>
        <p:spPr>
          <a:xfrm>
            <a:off x="6023883" y="3850528"/>
            <a:ext cx="5718537" cy="29004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37685D-6298-AD4A-AD13-D3FA1C8EEB4D}"/>
              </a:ext>
            </a:extLst>
          </p:cNvPr>
          <p:cNvSpPr txBox="1"/>
          <p:nvPr/>
        </p:nvSpPr>
        <p:spPr>
          <a:xfrm>
            <a:off x="6355080" y="3870407"/>
            <a:ext cx="5525160" cy="3195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0A389"/>
                </a:solidFill>
              </a:defRPr>
            </a:pPr>
            <a:r>
              <a:rPr lang="en-IN" sz="1400" dirty="0"/>
              <a:t>🔁 DEMING PDCA QUALITY CYCLE</a:t>
            </a:r>
          </a:p>
          <a:p>
            <a:pPr>
              <a:spcAft>
                <a:spcPts val="400"/>
              </a:spcAft>
            </a:pPr>
            <a:r>
              <a:rPr lang="en-IN" sz="1400" b="1" dirty="0">
                <a:solidFill>
                  <a:srgbClr val="0A2540"/>
                </a:solidFill>
              </a:rPr>
              <a:t>PLAN: </a:t>
            </a:r>
            <a:r>
              <a:rPr lang="en-IN" sz="1400" dirty="0">
                <a:solidFill>
                  <a:srgbClr val="1E293B"/>
                </a:solidFill>
              </a:rPr>
              <a:t>Identify excessive oversell and near-expiry mistakes during peak rush.</a:t>
            </a:r>
          </a:p>
          <a:p>
            <a:pPr>
              <a:spcAft>
                <a:spcPts val="400"/>
              </a:spcAft>
            </a:pPr>
            <a:r>
              <a:rPr lang="en-IN" sz="1400" b="1" dirty="0">
                <a:solidFill>
                  <a:srgbClr val="0A2540"/>
                </a:solidFill>
              </a:rPr>
              <a:t>DO: </a:t>
            </a:r>
            <a:r>
              <a:rPr lang="en-IN" sz="1400" dirty="0">
                <a:solidFill>
                  <a:srgbClr val="1E293B"/>
                </a:solidFill>
              </a:rPr>
              <a:t>Deploy automated FEFO batch picker and pre-save stock balance locks.</a:t>
            </a:r>
          </a:p>
          <a:p>
            <a:pPr>
              <a:spcAft>
                <a:spcPts val="400"/>
              </a:spcAft>
            </a:pPr>
            <a:r>
              <a:rPr lang="en-IN" sz="1400" b="1" dirty="0">
                <a:solidFill>
                  <a:srgbClr val="0A2540"/>
                </a:solidFill>
              </a:rPr>
              <a:t>CHECK: </a:t>
            </a:r>
            <a:r>
              <a:rPr lang="en-IN" sz="1400" dirty="0">
                <a:solidFill>
                  <a:srgbClr val="1E293B"/>
                </a:solidFill>
              </a:rPr>
              <a:t>Monitor monthly counts of error codes E01 and E03 in </a:t>
            </a:r>
            <a:r>
              <a:rPr lang="en-IN" sz="1400" dirty="0" err="1">
                <a:solidFill>
                  <a:srgbClr val="1E293B"/>
                </a:solidFill>
              </a:rPr>
              <a:t>error_logs</a:t>
            </a:r>
            <a:r>
              <a:rPr lang="en-IN" sz="1400" dirty="0">
                <a:solidFill>
                  <a:srgbClr val="1E293B"/>
                </a:solidFill>
              </a:rPr>
              <a:t>.</a:t>
            </a:r>
          </a:p>
          <a:p>
            <a:pPr>
              <a:spcAft>
                <a:spcPts val="400"/>
              </a:spcAft>
            </a:pPr>
            <a:r>
              <a:rPr lang="en-IN" sz="1400" b="1" dirty="0">
                <a:solidFill>
                  <a:srgbClr val="0A2540"/>
                </a:solidFill>
              </a:rPr>
              <a:t>ACT: </a:t>
            </a:r>
            <a:r>
              <a:rPr lang="en-IN" sz="1400" dirty="0">
                <a:solidFill>
                  <a:srgbClr val="1E293B"/>
                </a:solidFill>
              </a:rPr>
              <a:t>Standardize FEFO logic across all terminals as mandatory baseline policy.</a:t>
            </a:r>
          </a:p>
          <a:p>
            <a:pPr>
              <a:spcAft>
                <a:spcPts val="400"/>
              </a:spcAft>
            </a:pPr>
            <a:r>
              <a:rPr lang="en-IN" sz="1400" b="1" dirty="0">
                <a:solidFill>
                  <a:srgbClr val="0A2540"/>
                </a:solidFill>
              </a:rPr>
              <a:t>Log Feedback Loop: </a:t>
            </a:r>
            <a:r>
              <a:rPr lang="en-IN" sz="1400" dirty="0">
                <a:solidFill>
                  <a:srgbClr val="1E293B"/>
                </a:solidFill>
              </a:rPr>
              <a:t>Blocked actions write to </a:t>
            </a:r>
            <a:r>
              <a:rPr lang="en-IN" sz="1400" dirty="0" err="1">
                <a:solidFill>
                  <a:srgbClr val="1E293B"/>
                </a:solidFill>
              </a:rPr>
              <a:t>error_logs</a:t>
            </a:r>
            <a:r>
              <a:rPr lang="en-IN" sz="1400" dirty="0">
                <a:solidFill>
                  <a:srgbClr val="1E293B"/>
                </a:solidFill>
              </a:rPr>
              <a:t> → </a:t>
            </a:r>
            <a:r>
              <a:rPr lang="en-IN" sz="1400" dirty="0" err="1">
                <a:solidFill>
                  <a:srgbClr val="1E293B"/>
                </a:solidFill>
              </a:rPr>
              <a:t>tqm_report</a:t>
            </a:r>
            <a:r>
              <a:rPr lang="en-IN" sz="1400" dirty="0">
                <a:solidFill>
                  <a:srgbClr val="1E293B"/>
                </a:solidFill>
              </a:rPr>
              <a:t> counts frequency → Occurrence score dynamically updates in FMEA table.</a:t>
            </a:r>
          </a:p>
          <a:p>
            <a:pPr>
              <a:spcAft>
                <a:spcPts val="600"/>
              </a:spcAft>
              <a:defRPr sz="1200" b="1">
                <a:solidFill>
                  <a:srgbClr val="0284C7"/>
                </a:solidFill>
              </a:defRPr>
            </a:pPr>
            <a:endParaRPr sz="1200" dirty="0">
              <a:solidFill>
                <a:srgbClr val="1E293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14875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479C9-0335-D294-DDA3-5EE5A2AE1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Placeholder 20" descr="Two people smiling while holding coffee">
            <a:extLst>
              <a:ext uri="{FF2B5EF4-FFF2-40B4-BE49-F238E27FC236}">
                <a16:creationId xmlns:a16="http://schemas.microsoft.com/office/drawing/2014/main" id="{A00D1F50-BFA6-8BA5-4EBE-A3766D3939D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38" r="38"/>
          <a:stretch/>
        </p:blipFill>
        <p:spPr>
          <a:xfrm>
            <a:off x="457200" y="761684"/>
            <a:ext cx="4661647" cy="5662230"/>
          </a:xfrm>
        </p:spPr>
      </p:pic>
      <p:sp>
        <p:nvSpPr>
          <p:cNvPr id="3" name="Rounded Rectangle 4">
            <a:extLst>
              <a:ext uri="{FF2B5EF4-FFF2-40B4-BE49-F238E27FC236}">
                <a16:creationId xmlns:a16="http://schemas.microsoft.com/office/drawing/2014/main" id="{F294BC65-681C-15E9-BCB9-3CFEAD8E8B00}"/>
              </a:ext>
            </a:extLst>
          </p:cNvPr>
          <p:cNvSpPr/>
          <p:nvPr/>
        </p:nvSpPr>
        <p:spPr>
          <a:xfrm>
            <a:off x="5369859" y="4287114"/>
            <a:ext cx="4661647" cy="23734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D7E321-42AB-2393-7EE7-9D380F1E5A8C}"/>
              </a:ext>
            </a:extLst>
          </p:cNvPr>
          <p:cNvSpPr txBox="1"/>
          <p:nvPr/>
        </p:nvSpPr>
        <p:spPr>
          <a:xfrm>
            <a:off x="5455439" y="4467080"/>
            <a:ext cx="6364107" cy="1826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0A389"/>
                </a:solidFill>
              </a:defRPr>
            </a:pPr>
            <a:r>
              <a:rPr sz="1400" dirty="0"/>
              <a:t>🚀 APPLICATION LAUNCH &amp; VERIFICATION</a:t>
            </a:r>
          </a:p>
          <a:p>
            <a:pPr>
              <a:spcAft>
                <a:spcPts val="400"/>
              </a:spcAft>
            </a:pPr>
            <a:r>
              <a:rPr sz="1050" b="1" dirty="0">
                <a:solidFill>
                  <a:srgbClr val="0A2540"/>
                </a:solidFill>
              </a:rPr>
              <a:t>Automated Tests (Quality Proof): </a:t>
            </a:r>
            <a:r>
              <a:rPr sz="1000" dirty="0">
                <a:solidFill>
                  <a:srgbClr val="1E293B"/>
                </a:solidFill>
              </a:rPr>
              <a:t>`</a:t>
            </a:r>
            <a:r>
              <a:rPr sz="1000" dirty="0" err="1">
                <a:solidFill>
                  <a:srgbClr val="1E293B"/>
                </a:solidFill>
              </a:rPr>
              <a:t>pytest</a:t>
            </a:r>
            <a:r>
              <a:rPr sz="1000" dirty="0">
                <a:solidFill>
                  <a:srgbClr val="1E293B"/>
                </a:solidFill>
              </a:rPr>
              <a:t>`
→ 24/24 unit &amp; integration tests passing in ~7.8s.</a:t>
            </a:r>
          </a:p>
          <a:p>
            <a:pPr>
              <a:spcAft>
                <a:spcPts val="400"/>
              </a:spcAft>
            </a:pPr>
            <a:r>
              <a:rPr sz="1050" b="1" dirty="0">
                <a:solidFill>
                  <a:srgbClr val="0A2540"/>
                </a:solidFill>
              </a:rPr>
              <a:t>Desktop Workstation App: </a:t>
            </a:r>
            <a:r>
              <a:rPr sz="1000" dirty="0">
                <a:solidFill>
                  <a:srgbClr val="1E293B"/>
                </a:solidFill>
              </a:rPr>
              <a:t>`python main.py`
→ Boots hardware-accelerated Edge Chromium WebView2 window.</a:t>
            </a:r>
          </a:p>
          <a:p>
            <a:pPr>
              <a:spcAft>
                <a:spcPts val="400"/>
              </a:spcAft>
            </a:pPr>
            <a:r>
              <a:rPr sz="1050" b="1" dirty="0">
                <a:solidFill>
                  <a:srgbClr val="0A2540"/>
                </a:solidFill>
              </a:rPr>
              <a:t>Cloud Web Portal: </a:t>
            </a:r>
            <a:r>
              <a:rPr sz="1000" dirty="0">
                <a:solidFill>
                  <a:srgbClr val="1E293B"/>
                </a:solidFill>
              </a:rPr>
              <a:t>`python web_app.py`
→ Starts </a:t>
            </a:r>
            <a:r>
              <a:rPr sz="1000" dirty="0" err="1">
                <a:solidFill>
                  <a:srgbClr val="1E293B"/>
                </a:solidFill>
              </a:rPr>
              <a:t>FastAPI</a:t>
            </a:r>
            <a:r>
              <a:rPr sz="1000" dirty="0">
                <a:solidFill>
                  <a:srgbClr val="1E293B"/>
                </a:solidFill>
              </a:rPr>
              <a:t> server at http://127.0.0.1:8000 with Swagger docs.</a:t>
            </a:r>
          </a:p>
          <a:p>
            <a:pPr>
              <a:spcAft>
                <a:spcPts val="400"/>
              </a:spcAft>
            </a:pPr>
            <a:r>
              <a:rPr sz="1050" b="1" dirty="0">
                <a:solidFill>
                  <a:srgbClr val="0A2540"/>
                </a:solidFill>
              </a:rPr>
              <a:t>Terminal Binding: </a:t>
            </a:r>
            <a:r>
              <a:rPr sz="1000" dirty="0">
                <a:solidFill>
                  <a:srgbClr val="1E293B"/>
                </a:solidFill>
              </a:rPr>
              <a:t>Assign session to Front Counter A, Clinical Kiosk, or Dock.</a:t>
            </a:r>
            <a:endParaRPr sz="950" dirty="0">
              <a:solidFill>
                <a:srgbClr val="1E293B"/>
              </a:solidFill>
            </a:endParaRPr>
          </a:p>
        </p:txBody>
      </p:sp>
      <p:sp>
        <p:nvSpPr>
          <p:cNvPr id="8" name="Rounded Rectangle 6">
            <a:extLst>
              <a:ext uri="{FF2B5EF4-FFF2-40B4-BE49-F238E27FC236}">
                <a16:creationId xmlns:a16="http://schemas.microsoft.com/office/drawing/2014/main" id="{E528390A-F6EF-825D-471F-D1C0AD53E97E}"/>
              </a:ext>
            </a:extLst>
          </p:cNvPr>
          <p:cNvSpPr/>
          <p:nvPr/>
        </p:nvSpPr>
        <p:spPr>
          <a:xfrm>
            <a:off x="5369859" y="1711886"/>
            <a:ext cx="4661647" cy="2434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7EADD9-A175-5066-9E90-ED73EBA233CB}"/>
              </a:ext>
            </a:extLst>
          </p:cNvPr>
          <p:cNvSpPr txBox="1"/>
          <p:nvPr/>
        </p:nvSpPr>
        <p:spPr>
          <a:xfrm>
            <a:off x="5455438" y="1711885"/>
            <a:ext cx="4907761" cy="24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284C7"/>
                </a:solidFill>
              </a:defRPr>
            </a:pPr>
            <a:r>
              <a:rPr sz="1400" dirty="0"/>
              <a:t>🔑 WORKSTATION PERSONAS &amp; CREDENTIALS</a:t>
            </a:r>
          </a:p>
          <a:p>
            <a:pPr>
              <a:spcAft>
                <a:spcPts val="400"/>
              </a:spcAft>
            </a:pPr>
            <a:r>
              <a:rPr sz="1050" b="1" dirty="0">
                <a:solidFill>
                  <a:srgbClr val="0A2540"/>
                </a:solidFill>
              </a:rPr>
              <a:t>👑 Store Admin: `admin` / `admin123`
</a:t>
            </a:r>
            <a:r>
              <a:rPr sz="1000" dirty="0">
                <a:solidFill>
                  <a:srgbClr val="64748B"/>
                </a:solidFill>
              </a:rPr>
              <a:t>Scope: RBAC, live presence, Daily Z-Report balancing</a:t>
            </a:r>
          </a:p>
          <a:p>
            <a:pPr>
              <a:spcAft>
                <a:spcPts val="400"/>
              </a:spcAft>
            </a:pPr>
            <a:r>
              <a:rPr sz="1050" b="1" dirty="0">
                <a:solidFill>
                  <a:srgbClr val="0A2540"/>
                </a:solidFill>
              </a:rPr>
              <a:t>🩺 Pharmacist: `pharmacist` / `pharma123`
</a:t>
            </a:r>
            <a:r>
              <a:rPr sz="1000" dirty="0">
                <a:solidFill>
                  <a:srgbClr val="64748B"/>
                </a:solidFill>
              </a:rPr>
              <a:t>Scope: CDSS allergy scan, Schedule X narcotic sign-off</a:t>
            </a:r>
          </a:p>
          <a:p>
            <a:pPr>
              <a:spcAft>
                <a:spcPts val="400"/>
              </a:spcAft>
            </a:pPr>
            <a:r>
              <a:rPr sz="1050" b="1" dirty="0">
                <a:solidFill>
                  <a:srgbClr val="0A2540"/>
                </a:solidFill>
              </a:rPr>
              <a:t>💳 POS Cashier: `cashier` / `cash123`
</a:t>
            </a:r>
            <a:r>
              <a:rPr sz="1000" dirty="0">
                <a:solidFill>
                  <a:srgbClr val="64748B"/>
                </a:solidFill>
              </a:rPr>
              <a:t>Scope: 1-Click </a:t>
            </a:r>
            <a:r>
              <a:rPr sz="1000" dirty="0" err="1">
                <a:solidFill>
                  <a:srgbClr val="64748B"/>
                </a:solidFill>
              </a:rPr>
              <a:t>eRx</a:t>
            </a:r>
            <a:r>
              <a:rPr sz="1000" dirty="0">
                <a:solidFill>
                  <a:srgbClr val="64748B"/>
                </a:solidFill>
              </a:rPr>
              <a:t> import, FEFO batch, UPI QR, receipt</a:t>
            </a:r>
          </a:p>
          <a:p>
            <a:pPr>
              <a:spcAft>
                <a:spcPts val="400"/>
              </a:spcAft>
            </a:pPr>
            <a:r>
              <a:rPr sz="1050" b="1" dirty="0">
                <a:solidFill>
                  <a:srgbClr val="0A2540"/>
                </a:solidFill>
              </a:rPr>
              <a:t>📦 Inventory: `inventory` / `inv123`
</a:t>
            </a:r>
            <a:r>
              <a:rPr sz="1000" dirty="0">
                <a:solidFill>
                  <a:srgbClr val="64748B"/>
                </a:solidFill>
              </a:rPr>
              <a:t>Scope: Multi-batch ledger, GRN </a:t>
            </a:r>
            <a:r>
              <a:rPr sz="1000" dirty="0" err="1">
                <a:solidFill>
                  <a:srgbClr val="64748B"/>
                </a:solidFill>
              </a:rPr>
              <a:t>inwarding</a:t>
            </a:r>
            <a:r>
              <a:rPr sz="1000" dirty="0">
                <a:solidFill>
                  <a:srgbClr val="64748B"/>
                </a:solidFill>
              </a:rPr>
              <a:t>, 2-8°C IoT</a:t>
            </a:r>
          </a:p>
          <a:p>
            <a:pPr>
              <a:spcAft>
                <a:spcPts val="400"/>
              </a:spcAft>
            </a:pPr>
            <a:r>
              <a:rPr sz="1050" b="1" dirty="0">
                <a:solidFill>
                  <a:srgbClr val="0A2540"/>
                </a:solidFill>
              </a:rPr>
              <a:t>🛵 Delivery Agent: `delivery` / `deliv123`
</a:t>
            </a:r>
            <a:r>
              <a:rPr sz="1000" dirty="0">
                <a:solidFill>
                  <a:srgbClr val="64748B"/>
                </a:solidFill>
              </a:rPr>
              <a:t>Scope: Kanban dispatch, cold-bag check, OTP e-POD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DFA654-E646-4CC2-3C3A-F7A2AB0195DD}"/>
              </a:ext>
            </a:extLst>
          </p:cNvPr>
          <p:cNvSpPr txBox="1"/>
          <p:nvPr/>
        </p:nvSpPr>
        <p:spPr>
          <a:xfrm>
            <a:off x="5369858" y="685800"/>
            <a:ext cx="636410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2540"/>
                </a:solidFill>
                <a:latin typeface="Segoe UI"/>
              </a:defRPr>
            </a:pPr>
            <a:r>
              <a:rPr dirty="0"/>
              <a:t>Working Application Setup, Verification &amp; Personas</a:t>
            </a:r>
          </a:p>
        </p:txBody>
      </p:sp>
    </p:spTree>
    <p:extLst>
      <p:ext uri="{BB962C8B-B14F-4D97-AF65-F5344CB8AC3E}">
        <p14:creationId xmlns:p14="http://schemas.microsoft.com/office/powerpoint/2010/main" val="31230057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Placeholder 20" descr="A person in a white coat with a stethoscope around her neck">
            <a:extLst>
              <a:ext uri="{FF2B5EF4-FFF2-40B4-BE49-F238E27FC236}">
                <a16:creationId xmlns:a16="http://schemas.microsoft.com/office/drawing/2014/main" id="{244AC564-6A07-A90A-B027-67CD2423BBD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354" b="354"/>
          <a:stretch/>
        </p:blipFill>
        <p:spPr>
          <a:xfrm>
            <a:off x="7091082" y="650240"/>
            <a:ext cx="4664036" cy="5713918"/>
          </a:xfrm>
        </p:spPr>
      </p:pic>
      <p:sp>
        <p:nvSpPr>
          <p:cNvPr id="9" name="Rounded Rectangle 4">
            <a:extLst>
              <a:ext uri="{FF2B5EF4-FFF2-40B4-BE49-F238E27FC236}">
                <a16:creationId xmlns:a16="http://schemas.microsoft.com/office/drawing/2014/main" id="{3D74DB83-EF71-7F93-AE7D-01181E1C8D5B}"/>
              </a:ext>
            </a:extLst>
          </p:cNvPr>
          <p:cNvSpPr/>
          <p:nvPr/>
        </p:nvSpPr>
        <p:spPr>
          <a:xfrm>
            <a:off x="355003" y="1317374"/>
            <a:ext cx="6637792" cy="858845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5A20DD7-6CED-8F4A-01C4-399C0FD09ED3}"/>
              </a:ext>
            </a:extLst>
          </p:cNvPr>
          <p:cNvSpPr/>
          <p:nvPr/>
        </p:nvSpPr>
        <p:spPr>
          <a:xfrm>
            <a:off x="355002" y="1317374"/>
            <a:ext cx="67888" cy="926415"/>
          </a:xfrm>
          <a:prstGeom prst="rect">
            <a:avLst/>
          </a:prstGeom>
          <a:solidFill>
            <a:srgbClr val="00A3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75FA21-B267-B777-9499-E58BE4C8AAC3}"/>
              </a:ext>
            </a:extLst>
          </p:cNvPr>
          <p:cNvSpPr txBox="1"/>
          <p:nvPr/>
        </p:nvSpPr>
        <p:spPr>
          <a:xfrm>
            <a:off x="503816" y="1357592"/>
            <a:ext cx="6336254" cy="702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A2540"/>
                </a:solidFill>
              </a:defRPr>
            </a:pPr>
            <a:r>
              <a:rPr sz="1600" dirty="0"/>
              <a:t>Phase 1: Clinical Pharmacist &amp; CDSS Gate</a:t>
            </a:r>
          </a:p>
          <a:p>
            <a:pPr>
              <a:spcAft>
                <a:spcPts val="100"/>
              </a:spcAft>
              <a:defRPr sz="950">
                <a:solidFill>
                  <a:srgbClr val="1E293B"/>
                </a:solidFill>
              </a:defRPr>
            </a:pPr>
            <a:r>
              <a:rPr sz="1100" dirty="0"/>
              <a:t>Review incoming </a:t>
            </a:r>
            <a:r>
              <a:rPr sz="1100" dirty="0" err="1"/>
              <a:t>eRx</a:t>
            </a:r>
            <a:r>
              <a:rPr sz="1100" dirty="0"/>
              <a:t> queue. Trigger CDSS Allergy Interception (Penicillin warning blocks checkout). Execute Schedule X Narcotic double sign-off with Doctor DMC No + Pharmacist PIN.</a:t>
            </a:r>
          </a:p>
        </p:txBody>
      </p:sp>
      <p:sp>
        <p:nvSpPr>
          <p:cNvPr id="15" name="Rounded Rectangle 7">
            <a:extLst>
              <a:ext uri="{FF2B5EF4-FFF2-40B4-BE49-F238E27FC236}">
                <a16:creationId xmlns:a16="http://schemas.microsoft.com/office/drawing/2014/main" id="{179BF7B9-9776-D117-5511-42F2593E5AD1}"/>
              </a:ext>
            </a:extLst>
          </p:cNvPr>
          <p:cNvSpPr/>
          <p:nvPr/>
        </p:nvSpPr>
        <p:spPr>
          <a:xfrm>
            <a:off x="355003" y="2297610"/>
            <a:ext cx="6637792" cy="858845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FD64336-F2CF-04F6-0464-B8839958262D}"/>
              </a:ext>
            </a:extLst>
          </p:cNvPr>
          <p:cNvSpPr/>
          <p:nvPr/>
        </p:nvSpPr>
        <p:spPr>
          <a:xfrm>
            <a:off x="355002" y="2297610"/>
            <a:ext cx="67888" cy="92641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A26E3D5-DE76-AD8D-4EC5-35312C1F2802}"/>
              </a:ext>
            </a:extLst>
          </p:cNvPr>
          <p:cNvSpPr txBox="1"/>
          <p:nvPr/>
        </p:nvSpPr>
        <p:spPr>
          <a:xfrm>
            <a:off x="539715" y="2377388"/>
            <a:ext cx="6336254" cy="702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A2540"/>
                </a:solidFill>
              </a:defRPr>
            </a:pPr>
            <a:r>
              <a:rPr sz="1600" dirty="0"/>
              <a:t>Phase 2: POS Cashier Express Billing</a:t>
            </a:r>
          </a:p>
          <a:p>
            <a:pPr>
              <a:spcAft>
                <a:spcPts val="100"/>
              </a:spcAft>
              <a:defRPr sz="950">
                <a:solidFill>
                  <a:srgbClr val="1E293B"/>
                </a:solidFill>
              </a:defRPr>
            </a:pPr>
            <a:r>
              <a:rPr sz="1100" dirty="0"/>
              <a:t>1-Click import approved </a:t>
            </a:r>
            <a:r>
              <a:rPr sz="1100" dirty="0" err="1"/>
              <a:t>eRx</a:t>
            </a:r>
            <a:r>
              <a:rPr sz="1100" dirty="0"/>
              <a:t> into cart. Verify automatic FEFO nearest-expiry batch selection. Tender checkout: enter Cash (auto change calc) or Dynamic UPI QR. Print 80mm GST receipt.</a:t>
            </a:r>
          </a:p>
        </p:txBody>
      </p:sp>
      <p:sp>
        <p:nvSpPr>
          <p:cNvPr id="22" name="Rounded Rectangle 10">
            <a:extLst>
              <a:ext uri="{FF2B5EF4-FFF2-40B4-BE49-F238E27FC236}">
                <a16:creationId xmlns:a16="http://schemas.microsoft.com/office/drawing/2014/main" id="{D9730044-3B4C-8A07-2B9B-6ABD652CA5E0}"/>
              </a:ext>
            </a:extLst>
          </p:cNvPr>
          <p:cNvSpPr/>
          <p:nvPr/>
        </p:nvSpPr>
        <p:spPr>
          <a:xfrm>
            <a:off x="355003" y="3277848"/>
            <a:ext cx="6637792" cy="8553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CBE5443-1AD5-9491-3AC6-AE31DE31F87D}"/>
              </a:ext>
            </a:extLst>
          </p:cNvPr>
          <p:cNvSpPr/>
          <p:nvPr/>
        </p:nvSpPr>
        <p:spPr>
          <a:xfrm>
            <a:off x="355002" y="3277847"/>
            <a:ext cx="67888" cy="926415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E5100FC-C8FB-2BEA-CABC-1FC139413AE2}"/>
              </a:ext>
            </a:extLst>
          </p:cNvPr>
          <p:cNvSpPr txBox="1"/>
          <p:nvPr/>
        </p:nvSpPr>
        <p:spPr>
          <a:xfrm>
            <a:off x="503816" y="3309331"/>
            <a:ext cx="6336254" cy="702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A2540"/>
                </a:solidFill>
              </a:defRPr>
            </a:pPr>
            <a:r>
              <a:rPr sz="1600" dirty="0"/>
              <a:t>Phase 3: Inventory FEFO &amp; Cold-Chain IoT</a:t>
            </a:r>
          </a:p>
          <a:p>
            <a:pPr>
              <a:spcAft>
                <a:spcPts val="100"/>
              </a:spcAft>
              <a:defRPr sz="950">
                <a:solidFill>
                  <a:srgbClr val="1E293B"/>
                </a:solidFill>
              </a:defRPr>
            </a:pPr>
            <a:r>
              <a:rPr sz="1100" dirty="0"/>
              <a:t>Inspect batch ledger with countdown badges (&lt;30d Red, &lt;90d Yellow). Click 'Simulate Temp Spike' (9.4°C) on Chamber A fridge → observe immediate visual alert &amp; log entry.</a:t>
            </a:r>
          </a:p>
        </p:txBody>
      </p:sp>
      <p:sp>
        <p:nvSpPr>
          <p:cNvPr id="28" name="Rounded Rectangle 13">
            <a:extLst>
              <a:ext uri="{FF2B5EF4-FFF2-40B4-BE49-F238E27FC236}">
                <a16:creationId xmlns:a16="http://schemas.microsoft.com/office/drawing/2014/main" id="{B4B4FD6E-983B-91A9-1AB3-60F3039B6D7A}"/>
              </a:ext>
            </a:extLst>
          </p:cNvPr>
          <p:cNvSpPr/>
          <p:nvPr/>
        </p:nvSpPr>
        <p:spPr>
          <a:xfrm>
            <a:off x="355003" y="4258085"/>
            <a:ext cx="6637792" cy="8483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1081DB9-F7D3-BFB8-4298-4E4208051C97}"/>
              </a:ext>
            </a:extLst>
          </p:cNvPr>
          <p:cNvSpPr/>
          <p:nvPr/>
        </p:nvSpPr>
        <p:spPr>
          <a:xfrm>
            <a:off x="355002" y="4258084"/>
            <a:ext cx="67888" cy="926415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8C93E5F-30A4-0A23-86EE-FEEA3FE5A77B}"/>
              </a:ext>
            </a:extLst>
          </p:cNvPr>
          <p:cNvSpPr txBox="1"/>
          <p:nvPr/>
        </p:nvSpPr>
        <p:spPr>
          <a:xfrm>
            <a:off x="503816" y="4334396"/>
            <a:ext cx="6336254" cy="702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A2540"/>
                </a:solidFill>
              </a:defRPr>
            </a:pPr>
            <a:r>
              <a:rPr sz="1600" dirty="0"/>
              <a:t>Phase 4: Fulfilment Fleet &amp; OTP Handover</a:t>
            </a:r>
          </a:p>
          <a:p>
            <a:pPr>
              <a:spcAft>
                <a:spcPts val="100"/>
              </a:spcAft>
              <a:defRPr sz="950">
                <a:solidFill>
                  <a:srgbClr val="1E293B"/>
                </a:solidFill>
              </a:defRPr>
            </a:pPr>
            <a:r>
              <a:rPr sz="1100" dirty="0"/>
              <a:t>Advance order on Kanban dispatch board. Verify insulated cold-bag checklist. Enter customer 4-digit SMS OTP (1234) to confirm electronic Proof-of-Delivery (e-POD).</a:t>
            </a:r>
          </a:p>
        </p:txBody>
      </p:sp>
      <p:sp>
        <p:nvSpPr>
          <p:cNvPr id="34" name="Rounded Rectangle 16">
            <a:extLst>
              <a:ext uri="{FF2B5EF4-FFF2-40B4-BE49-F238E27FC236}">
                <a16:creationId xmlns:a16="http://schemas.microsoft.com/office/drawing/2014/main" id="{FA129790-E465-E07C-E3AB-08D7E6DB1485}"/>
              </a:ext>
            </a:extLst>
          </p:cNvPr>
          <p:cNvSpPr/>
          <p:nvPr/>
        </p:nvSpPr>
        <p:spPr>
          <a:xfrm>
            <a:off x="355003" y="5238321"/>
            <a:ext cx="6637792" cy="980237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3AB2368-D185-2990-1B97-755D7B85007C}"/>
              </a:ext>
            </a:extLst>
          </p:cNvPr>
          <p:cNvSpPr/>
          <p:nvPr/>
        </p:nvSpPr>
        <p:spPr>
          <a:xfrm>
            <a:off x="355002" y="5238321"/>
            <a:ext cx="67888" cy="926415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3576F36-85AA-AC5B-BE61-B45C23CC5A45}"/>
              </a:ext>
            </a:extLst>
          </p:cNvPr>
          <p:cNvSpPr txBox="1"/>
          <p:nvPr/>
        </p:nvSpPr>
        <p:spPr>
          <a:xfrm>
            <a:off x="539715" y="5383921"/>
            <a:ext cx="6336254" cy="702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A2540"/>
                </a:solidFill>
              </a:defRPr>
            </a:pPr>
            <a:r>
              <a:rPr sz="1600" dirty="0"/>
              <a:t>Phase 5: Admin Command Center &amp; Z-Report Close</a:t>
            </a:r>
          </a:p>
          <a:p>
            <a:pPr>
              <a:spcAft>
                <a:spcPts val="100"/>
              </a:spcAft>
              <a:defRPr sz="950">
                <a:solidFill>
                  <a:srgbClr val="1E293B"/>
                </a:solidFill>
              </a:defRPr>
            </a:pPr>
            <a:r>
              <a:rPr sz="1100" dirty="0"/>
              <a:t>Monitor live terminal presence heartbeats. Open Daily Z-Report module: enter physical cash counted, verify variance (Balanced ₹0.00), sign and lock shift register.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D6464F8-B87E-868F-BC64-3B2D1BA034F0}"/>
              </a:ext>
            </a:extLst>
          </p:cNvPr>
          <p:cNvSpPr txBox="1"/>
          <p:nvPr/>
        </p:nvSpPr>
        <p:spPr>
          <a:xfrm>
            <a:off x="355002" y="693264"/>
            <a:ext cx="62340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2540"/>
                </a:solidFill>
                <a:latin typeface="Segoe UI"/>
              </a:defRPr>
            </a:pPr>
            <a:r>
              <a:rPr sz="2000" dirty="0"/>
              <a:t>Demonstration of Implemented Functionality</a:t>
            </a:r>
          </a:p>
        </p:txBody>
      </p:sp>
    </p:spTree>
    <p:extLst>
      <p:ext uri="{BB962C8B-B14F-4D97-AF65-F5344CB8AC3E}">
        <p14:creationId xmlns:p14="http://schemas.microsoft.com/office/powerpoint/2010/main" val="16053062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30">
            <a:extLst>
              <a:ext uri="{FF2B5EF4-FFF2-40B4-BE49-F238E27FC236}">
                <a16:creationId xmlns:a16="http://schemas.microsoft.com/office/drawing/2014/main" id="{B045D6AF-532B-394C-0C6F-38B6628CE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pic>
        <p:nvPicPr>
          <p:cNvPr id="23" name="Picture Placeholder 22" descr="A group of people giving each other a high five">
            <a:extLst>
              <a:ext uri="{FF2B5EF4-FFF2-40B4-BE49-F238E27FC236}">
                <a16:creationId xmlns:a16="http://schemas.microsoft.com/office/drawing/2014/main" id="{D92A2E6E-E7AB-92FB-0E6F-133483021C2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/>
          <a:srcRect l="6095" r="6095"/>
          <a:stretch/>
        </p:blipFill>
        <p:spPr/>
      </p:pic>
    </p:spTree>
    <p:extLst>
      <p:ext uri="{BB962C8B-B14F-4D97-AF65-F5344CB8AC3E}">
        <p14:creationId xmlns:p14="http://schemas.microsoft.com/office/powerpoint/2010/main" val="2770959368"/>
      </p:ext>
    </p:extLst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0A389"/>
                </a:solidFill>
                <a:latin typeface="Segoe UI"/>
              </a:defRPr>
            </a:pPr>
            <a:r>
              <a:t>RUBRIC: MODULES &amp; FEATURES PRIORITIZATION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A2540"/>
                </a:solidFill>
                <a:latin typeface="Segoe UI"/>
              </a:defRPr>
            </a:pPr>
            <a:r>
              <a:t>System Architecture: The 6 Prioritized Core Modules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328416" cy="365760"/>
          </a:xfrm>
          <a:prstGeom prst="rect">
            <a:avLst/>
          </a:prstGeom>
          <a:solidFill>
            <a:srgbClr val="00A3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82496"/>
            <a:ext cx="33284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1. Product &amp; Medicine Master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057400"/>
            <a:ext cx="31089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>
                <a:solidFill>
                  <a:srgbClr val="1E293B"/>
                </a:solidFill>
              </a:defRPr>
            </a:pPr>
            <a:r>
              <a:t>• SKU, brand &amp; generic salt master.</a:t>
            </a:r>
          </a:p>
          <a:p>
            <a:pPr>
              <a:spcAft>
                <a:spcPts val="150"/>
              </a:spcAft>
              <a:defRPr sz="900">
                <a:solidFill>
                  <a:srgbClr val="1E293B"/>
                </a:solidFill>
              </a:defRPr>
            </a:pPr>
            <a:r>
              <a:t>• Therapeutic category &amp; rack location.</a:t>
            </a:r>
          </a:p>
          <a:p>
            <a:pPr>
              <a:spcAft>
                <a:spcPts val="150"/>
              </a:spcAft>
              <a:defRPr sz="900">
                <a:solidFill>
                  <a:srgbClr val="1E293B"/>
                </a:solidFill>
              </a:defRPr>
            </a:pPr>
            <a:r>
              <a:t>• Schedule H / X narcotic flag.</a:t>
            </a:r>
          </a:p>
          <a:p>
            <a:pPr>
              <a:spcAft>
                <a:spcPts val="150"/>
              </a:spcAft>
              <a:defRPr sz="900">
                <a:solidFill>
                  <a:srgbClr val="1E293B"/>
                </a:solidFill>
              </a:defRPr>
            </a:pPr>
            <a:r>
              <a:t>• Cold-chain (2-8°C) boolean flag.</a:t>
            </a:r>
          </a:p>
          <a:p>
            <a:pPr>
              <a:spcAft>
                <a:spcPts val="150"/>
              </a:spcAft>
              <a:defRPr sz="900">
                <a:solidFill>
                  <a:srgbClr val="1E293B"/>
                </a:solidFill>
              </a:defRPr>
            </a:pPr>
            <a:r>
              <a:t>• MRP, dealer cost, and GST %.</a:t>
            </a:r>
          </a:p>
          <a:p>
            <a:pPr>
              <a:spcAft>
                <a:spcPts val="150"/>
              </a:spcAft>
              <a:defRPr sz="900">
                <a:solidFill>
                  <a:srgbClr val="1E293B"/>
                </a:solidFill>
              </a:defRPr>
            </a:pPr>
            <a:r>
              <a:t>• Drug interaction rule definitions.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645920"/>
            <a:ext cx="3328416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25696" y="1645920"/>
            <a:ext cx="3328416" cy="3657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25696" y="1682496"/>
            <a:ext cx="33284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2. Supplier &amp; Purchase/GRN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5424" y="2057400"/>
            <a:ext cx="31089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>
                <a:solidFill>
                  <a:srgbClr val="1E293B"/>
                </a:solidFill>
              </a:defRPr>
            </a:pPr>
            <a:r>
              <a:t>• Approved vendor registry &amp; terms.</a:t>
            </a:r>
          </a:p>
          <a:p>
            <a:pPr>
              <a:spcAft>
                <a:spcPts val="150"/>
              </a:spcAft>
              <a:defRPr sz="900">
                <a:solidFill>
                  <a:srgbClr val="1E293B"/>
                </a:solidFill>
              </a:defRPr>
            </a:pPr>
            <a:r>
              <a:t>• Automated PO generation based on ROP.</a:t>
            </a:r>
          </a:p>
          <a:p>
            <a:pPr>
              <a:spcAft>
                <a:spcPts val="150"/>
              </a:spcAft>
              <a:defRPr sz="900">
                <a:solidFill>
                  <a:srgbClr val="1E293B"/>
                </a:solidFill>
              </a:defRPr>
            </a:pPr>
            <a:r>
              <a:t>• Inward Goods Receipt Note (GRN).</a:t>
            </a:r>
          </a:p>
          <a:p>
            <a:pPr>
              <a:spcAft>
                <a:spcPts val="150"/>
              </a:spcAft>
              <a:defRPr sz="900">
                <a:solidFill>
                  <a:srgbClr val="1E293B"/>
                </a:solidFill>
              </a:defRPr>
            </a:pPr>
            <a:r>
              <a:t>• Pay-on-Sale consignment inwarding.</a:t>
            </a:r>
          </a:p>
          <a:p>
            <a:pPr>
              <a:spcAft>
                <a:spcPts val="150"/>
              </a:spcAft>
              <a:defRPr sz="900">
                <a:solidFill>
                  <a:srgbClr val="1E293B"/>
                </a:solidFill>
              </a:defRPr>
            </a:pPr>
            <a:r>
              <a:t>• Zero upfront dealer capital lock-in.</a:t>
            </a:r>
          </a:p>
          <a:p>
            <a:pPr>
              <a:spcAft>
                <a:spcPts val="150"/>
              </a:spcAft>
              <a:defRPr sz="900">
                <a:solidFill>
                  <a:srgbClr val="1E293B"/>
                </a:solidFill>
              </a:defRPr>
            </a:pPr>
            <a:r>
              <a:t>• Discrepancy &amp; damage logging.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645920"/>
            <a:ext cx="3328416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19872" y="1645920"/>
            <a:ext cx="3328416" cy="3657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19872" y="1682496"/>
            <a:ext cx="33284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3. Inventory &amp; FEFO Ledger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057400"/>
            <a:ext cx="31089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>
                <a:solidFill>
                  <a:srgbClr val="1E293B"/>
                </a:solidFill>
              </a:defRPr>
            </a:pPr>
            <a:r>
              <a:t>• Multi-batch inventory tracking.</a:t>
            </a:r>
          </a:p>
          <a:p>
            <a:pPr>
              <a:spcAft>
                <a:spcPts val="150"/>
              </a:spcAft>
              <a:defRPr sz="900">
                <a:solidFill>
                  <a:srgbClr val="1E293B"/>
                </a:solidFill>
              </a:defRPr>
            </a:pPr>
            <a:r>
              <a:t>• Automated FEFO picking sequence.</a:t>
            </a:r>
          </a:p>
          <a:p>
            <a:pPr>
              <a:spcAft>
                <a:spcPts val="150"/>
              </a:spcAft>
              <a:defRPr sz="900">
                <a:solidFill>
                  <a:srgbClr val="1E293B"/>
                </a:solidFill>
              </a:defRPr>
            </a:pPr>
            <a:r>
              <a:t>• Visual countdown badges (&lt;30d, &lt;90d).</a:t>
            </a:r>
          </a:p>
          <a:p>
            <a:pPr>
              <a:spcAft>
                <a:spcPts val="150"/>
              </a:spcAft>
              <a:defRPr sz="900">
                <a:solidFill>
                  <a:srgbClr val="1E293B"/>
                </a:solidFill>
              </a:defRPr>
            </a:pPr>
            <a:r>
              <a:t>• Perpetual inventory balance ledger.</a:t>
            </a:r>
          </a:p>
          <a:p>
            <a:pPr>
              <a:spcAft>
                <a:spcPts val="150"/>
              </a:spcAft>
              <a:defRPr sz="900">
                <a:solidFill>
                  <a:srgbClr val="1E293B"/>
                </a:solidFill>
              </a:defRPr>
            </a:pPr>
            <a:r>
              <a:t>• Storage bin &amp; rack allocation.</a:t>
            </a:r>
          </a:p>
          <a:p>
            <a:pPr>
              <a:spcAft>
                <a:spcPts val="150"/>
              </a:spcAft>
              <a:defRPr sz="900">
                <a:solidFill>
                  <a:srgbClr val="1E293B"/>
                </a:solidFill>
              </a:defRPr>
            </a:pPr>
            <a:r>
              <a:t>• Cold-chain IoT fridge telemetry.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069080"/>
            <a:ext cx="3328416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069080"/>
            <a:ext cx="3328416" cy="3657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105656"/>
            <a:ext cx="33284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4. Prescription &amp; CDSS Shield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4480560"/>
            <a:ext cx="31089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>
                <a:solidFill>
                  <a:srgbClr val="1E293B"/>
                </a:solidFill>
              </a:defRPr>
            </a:pPr>
            <a:r>
              <a:t>• Digital eRx intake &amp; patient linkage.</a:t>
            </a:r>
          </a:p>
          <a:p>
            <a:pPr>
              <a:spcAft>
                <a:spcPts val="150"/>
              </a:spcAft>
              <a:defRPr sz="900">
                <a:solidFill>
                  <a:srgbClr val="1E293B"/>
                </a:solidFill>
              </a:defRPr>
            </a:pPr>
            <a:r>
              <a:t>• CDSS allergy cross-check engine.</a:t>
            </a:r>
          </a:p>
          <a:p>
            <a:pPr>
              <a:spcAft>
                <a:spcPts val="150"/>
              </a:spcAft>
              <a:defRPr sz="900">
                <a:solidFill>
                  <a:srgbClr val="1E293B"/>
                </a:solidFill>
              </a:defRPr>
            </a:pPr>
            <a:r>
              <a:t>• Toxic drug-drug interaction shield.</a:t>
            </a:r>
          </a:p>
          <a:p>
            <a:pPr>
              <a:spcAft>
                <a:spcPts val="150"/>
              </a:spcAft>
              <a:defRPr sz="900">
                <a:solidFill>
                  <a:srgbClr val="1E293B"/>
                </a:solidFill>
              </a:defRPr>
            </a:pPr>
            <a:r>
              <a:t>• Shingo Poka-Yoke checkout lockout.</a:t>
            </a:r>
          </a:p>
          <a:p>
            <a:pPr>
              <a:spcAft>
                <a:spcPts val="150"/>
              </a:spcAft>
              <a:defRPr sz="900">
                <a:solidFill>
                  <a:srgbClr val="1E293B"/>
                </a:solidFill>
              </a:defRPr>
            </a:pPr>
            <a:r>
              <a:t>• Schedule X dual-PIN narcotic record.</a:t>
            </a:r>
          </a:p>
          <a:p>
            <a:pPr>
              <a:spcAft>
                <a:spcPts val="150"/>
              </a:spcAft>
              <a:defRPr sz="900">
                <a:solidFill>
                  <a:srgbClr val="1E293B"/>
                </a:solidFill>
              </a:defRPr>
            </a:pPr>
            <a:r>
              <a:t>• Doctor MCI/DMC registration log.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25696" y="4069080"/>
            <a:ext cx="3328416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25696" y="4069080"/>
            <a:ext cx="3328416" cy="365760"/>
          </a:xfrm>
          <a:prstGeom prst="rect">
            <a:avLst/>
          </a:prstGeom>
          <a:solidFill>
            <a:srgbClr val="00A3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25696" y="4105656"/>
            <a:ext cx="33284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5. POS &amp; Multi-Tender Billing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35424" y="4480560"/>
            <a:ext cx="31089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>
                <a:solidFill>
                  <a:srgbClr val="1E293B"/>
                </a:solidFill>
              </a:defRPr>
            </a:pPr>
            <a:r>
              <a:t>• High-speed barcode catalog search.</a:t>
            </a:r>
          </a:p>
          <a:p>
            <a:pPr>
              <a:spcAft>
                <a:spcPts val="150"/>
              </a:spcAft>
              <a:defRPr sz="900">
                <a:solidFill>
                  <a:srgbClr val="1E293B"/>
                </a:solidFill>
              </a:defRPr>
            </a:pPr>
            <a:r>
              <a:t>• 1-Click approved eRx import to cart.</a:t>
            </a:r>
          </a:p>
          <a:p>
            <a:pPr>
              <a:spcAft>
                <a:spcPts val="150"/>
              </a:spcAft>
              <a:defRPr sz="900">
                <a:solidFill>
                  <a:srgbClr val="1E293B"/>
                </a:solidFill>
              </a:defRPr>
            </a:pPr>
            <a:r>
              <a:t>• Split tender (Cash, UPI QR, Card).</a:t>
            </a:r>
          </a:p>
          <a:p>
            <a:pPr>
              <a:spcAft>
                <a:spcPts val="150"/>
              </a:spcAft>
              <a:defRPr sz="900">
                <a:solidFill>
                  <a:srgbClr val="1E293B"/>
                </a:solidFill>
              </a:defRPr>
            </a:pPr>
            <a:r>
              <a:t>• Instant change return calculator.</a:t>
            </a:r>
          </a:p>
          <a:p>
            <a:pPr>
              <a:spcAft>
                <a:spcPts val="150"/>
              </a:spcAft>
              <a:defRPr sz="900">
                <a:solidFill>
                  <a:srgbClr val="1E293B"/>
                </a:solidFill>
              </a:defRPr>
            </a:pPr>
            <a:r>
              <a:t>• Official 80mm GST tax invoice print.</a:t>
            </a:r>
          </a:p>
          <a:p>
            <a:pPr>
              <a:spcAft>
                <a:spcPts val="150"/>
              </a:spcAft>
              <a:defRPr sz="900">
                <a:solidFill>
                  <a:srgbClr val="1E293B"/>
                </a:solidFill>
              </a:defRPr>
            </a:pPr>
            <a:r>
              <a:t>• Customer return &amp; refund credit.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19872" y="4069080"/>
            <a:ext cx="3328416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19872" y="4069080"/>
            <a:ext cx="3328416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19872" y="4105656"/>
            <a:ext cx="33284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6. Replenishment &amp; Delivery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480560"/>
            <a:ext cx="31089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>
                <a:solidFill>
                  <a:srgbClr val="1E293B"/>
                </a:solidFill>
              </a:defRPr>
            </a:pPr>
            <a:r>
              <a:t>• Reorder Point (ROP) dynamic formula.</a:t>
            </a:r>
          </a:p>
          <a:p>
            <a:pPr>
              <a:spcAft>
                <a:spcPts val="150"/>
              </a:spcAft>
              <a:defRPr sz="900">
                <a:solidFill>
                  <a:srgbClr val="1E293B"/>
                </a:solidFill>
              </a:defRPr>
            </a:pPr>
            <a:r>
              <a:t>• Two-Bin Kanban buffer execution.</a:t>
            </a:r>
          </a:p>
          <a:p>
            <a:pPr>
              <a:spcAft>
                <a:spcPts val="150"/>
              </a:spcAft>
              <a:defRPr sz="900">
                <a:solidFill>
                  <a:srgbClr val="1E293B"/>
                </a:solidFill>
              </a:defRPr>
            </a:pPr>
            <a:r>
              <a:t>• Pay-on-Sale supplier settlement.</a:t>
            </a:r>
          </a:p>
          <a:p>
            <a:pPr>
              <a:spcAft>
                <a:spcPts val="150"/>
              </a:spcAft>
              <a:defRPr sz="900">
                <a:solidFill>
                  <a:srgbClr val="1E293B"/>
                </a:solidFill>
              </a:defRPr>
            </a:pPr>
            <a:r>
              <a:t>• Dispatch queue for delivery fleet.</a:t>
            </a:r>
          </a:p>
          <a:p>
            <a:pPr>
              <a:spcAft>
                <a:spcPts val="150"/>
              </a:spcAft>
              <a:defRPr sz="900">
                <a:solidFill>
                  <a:srgbClr val="1E293B"/>
                </a:solidFill>
              </a:defRPr>
            </a:pPr>
            <a:r>
              <a:t>• Insulated cold-bag checklist.</a:t>
            </a:r>
          </a:p>
          <a:p>
            <a:pPr>
              <a:spcAft>
                <a:spcPts val="150"/>
              </a:spcAft>
              <a:defRPr sz="900">
                <a:solidFill>
                  <a:srgbClr val="1E293B"/>
                </a:solidFill>
              </a:defRPr>
            </a:pPr>
            <a:r>
              <a:t>• 4-Digit SMS OTP proof of delivery.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0A389"/>
                </a:solidFill>
                <a:latin typeface="Segoe UI"/>
              </a:defRPr>
            </a:pPr>
            <a:r>
              <a:t>RUBRIC: PROCESS COMPLETENESS &amp; MAIN SYSTEM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A2540"/>
                </a:solidFill>
                <a:latin typeface="Segoe UI"/>
              </a:defRPr>
            </a:pPr>
            <a:r>
              <a:t>End-to-End Pharmacy Workflow: Complete 17-Stage Operational Chain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10728655" cy="10927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00200"/>
            <a:ext cx="109728" cy="1092708"/>
          </a:xfrm>
          <a:prstGeom prst="rect">
            <a:avLst/>
          </a:prstGeom>
          <a:solidFill>
            <a:srgbClr val="00A3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645920"/>
            <a:ext cx="10287000" cy="1001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0A2540"/>
                </a:solidFill>
              </a:defRPr>
            </a:pPr>
            <a:r>
              <a:t>Phase I: Inbound Procurement &amp; Quality Receiving (Steps 1 to 5)</a:t>
            </a:r>
          </a:p>
          <a:p>
            <a:pPr>
              <a:spcAft>
                <a:spcPts val="100"/>
              </a:spcAft>
              <a:defRPr sz="1000">
                <a:solidFill>
                  <a:srgbClr val="1E293B"/>
                </a:solidFill>
              </a:defRPr>
            </a:pPr>
            <a:r>
              <a:t>1. Wholesaler / Supplier Master -&gt; 2. Purchase Planning (Demand Velocity &amp; Lead Time) -&gt; 3. Purchase Order (PO) Generation -&gt; 4. Goods Receipt Note (GRN) Inwarding -&gt; 5. Physical Inspection &amp; Expiry Date Verification (&lt;180d rejected). Stock enters Pay-on-Sale consignment ledger at ₹0 upfront capital.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20924"/>
            <a:ext cx="10728655" cy="10927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820924"/>
            <a:ext cx="109728" cy="109270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866644"/>
            <a:ext cx="10287000" cy="1001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0A2540"/>
                </a:solidFill>
              </a:defRPr>
            </a:pPr>
            <a:r>
              <a:t>Phase II: Warehouse Storage &amp; Lean Replenishment (Steps 6 to 8)</a:t>
            </a:r>
          </a:p>
          <a:p>
            <a:pPr>
              <a:spcAft>
                <a:spcPts val="100"/>
              </a:spcAft>
              <a:defRPr sz="1000">
                <a:solidFill>
                  <a:srgbClr val="1E293B"/>
                </a:solidFill>
              </a:defRPr>
            </a:pPr>
            <a:r>
              <a:t>6. Master Inventory Putaway (Rack allocation) -&gt; 7. Replenishment Execution (Dynamic Reorder Point ROP &amp; Two-Bin Kanban) -&gt; 8. IoT Cold-Chain Monitoring (Continuous 2.0°C–8.0°C telemetry with acoustic excursion alarms).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41648"/>
            <a:ext cx="10728655" cy="10927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041648"/>
            <a:ext cx="109728" cy="10927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4087368"/>
            <a:ext cx="10287000" cy="1001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0A2540"/>
                </a:solidFill>
              </a:defRPr>
            </a:pPr>
            <a:r>
              <a:t>Phase III: Clinical Verification &amp; POS Dispensing (Steps 9 to 13)</a:t>
            </a:r>
          </a:p>
          <a:p>
            <a:pPr>
              <a:spcAft>
                <a:spcPts val="100"/>
              </a:spcAft>
              <a:defRPr sz="1000">
                <a:solidFill>
                  <a:srgbClr val="1E293B"/>
                </a:solidFill>
              </a:defRPr>
            </a:pPr>
            <a:r>
              <a:t>9. Digital Prescription Intake (eRx) -&gt; 10. Clinical Pharmacist Verification -&gt; 11. CDSS Allergy &amp; Drug Interaction Screening (Shingo Poka-Yoke hard-stop) -&gt; 12. FEFO Algorithmic Dispensing -&gt; 13. POS Checkout &amp; Split Tender (Cash change calculator, Dynamic UPI QR, Card).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262372"/>
            <a:ext cx="10728655" cy="10927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5262372"/>
            <a:ext cx="109728" cy="10927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5308092"/>
            <a:ext cx="10287000" cy="1001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0A2540"/>
                </a:solidFill>
              </a:defRPr>
            </a:pPr>
            <a:r>
              <a:t>Phase IV: Last-Mile Delivery, Returns &amp; Governance (Steps 14 to 17)</a:t>
            </a:r>
          </a:p>
          <a:p>
            <a:pPr>
              <a:spcAft>
                <a:spcPts val="100"/>
              </a:spcAft>
              <a:defRPr sz="1000">
                <a:solidFill>
                  <a:srgbClr val="1E293B"/>
                </a:solidFill>
              </a:defRPr>
            </a:pPr>
            <a:r>
              <a:t>14. Home Delivery Fleet Dispatch &amp; 4-Digit SMS OTP Handover -&gt; 15. Customer Returns / Supplier Consignment Settlement -&gt; 16. Real-Time Inventory Ledger Update -&gt; 17. Daily Z-Report Cash Reconciliation &amp; Immutable Audit Trail Logging.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0A389"/>
                </a:solidFill>
                <a:latin typeface="Segoe UI"/>
              </a:defRPr>
            </a:pPr>
            <a:r>
              <a:t>RUBRIC: INVENTORY ACCOUNTING &amp; TRACEABILITY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A2540"/>
                </a:solidFill>
                <a:latin typeface="Segoe UI"/>
              </a:defRPr>
            </a:pPr>
            <a:r>
              <a:t>Inventory Ledger: Mathematical Balancing Equation &amp; Immutable Audit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1371600"/>
          </a:xfrm>
          <a:prstGeom prst="roundRect">
            <a:avLst/>
          </a:prstGeom>
          <a:solidFill>
            <a:srgbClr val="123456"/>
          </a:solidFill>
          <a:ln w="15240">
            <a:solidFill>
              <a:srgbClr val="00A3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03628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A389"/>
                </a:solidFill>
              </a:defRPr>
            </a:pPr>
            <a:r>
              <a:t>MATHEMATICAL PERPETUAL INVENTORY BALANCING EQUATION</a:t>
            </a:r>
          </a:p>
          <a:p>
            <a:pPr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Closing Stock = Opening + Receipts (GRN) + Customer Returns − Sales (POS) − Supplier Returns − Damage/Expired − Transfers Out + Transfers In ± Audit Adjustments</a:t>
            </a:r>
          </a:p>
          <a:p>
            <a:pPr>
              <a:defRPr sz="950">
                <a:solidFill>
                  <a:srgbClr val="DCF5F0"/>
                </a:solidFill>
              </a:defRPr>
            </a:pPr>
            <a:r>
              <a:t>Every transaction creates a perpetual double-entry journal record. Naive scalar 'stock = stock - 1' is strictly prohibited.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54680"/>
            <a:ext cx="5230368" cy="3154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3154680"/>
            <a:ext cx="5230368" cy="365760"/>
          </a:xfrm>
          <a:prstGeom prst="rect">
            <a:avLst/>
          </a:prstGeom>
          <a:solidFill>
            <a:srgbClr val="00A3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191256"/>
            <a:ext cx="523036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Immutable Ledger Data Schema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611880"/>
            <a:ext cx="4956048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</a:defRPr>
            </a:pPr>
            <a:r>
              <a:t>Every inventory movement writes an audit ledger entry containing: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</a:defRPr>
            </a:pP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</a:defRPr>
            </a:pPr>
            <a:r>
              <a:t>• Transaction ID: Unique UUID (e.g. TX-INV-2026-09812).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</a:defRPr>
            </a:pPr>
            <a:r>
              <a:t>• Timestamp: ISO 8601 millisecond-precision UTC date/time.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</a:defRPr>
            </a:pPr>
            <a:r>
              <a:t>• User ID &amp; Role: Actor executing transaction (e.g. PBHATT, Cashier).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</a:defRPr>
            </a:pPr>
            <a:r>
              <a:t>• SKU &amp; Batch Code: Physical batch identifier (e.g. DL-2026-B1).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</a:defRPr>
            </a:pPr>
            <a:r>
              <a:t>• Action Type: GRN_INWARD, POS_SALE, CUST_RETURN, WRITE_OFF.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</a:defRPr>
            </a:pPr>
            <a:r>
              <a:t>• Old Value -&gt; Delta -&gt; New Value: Exact numerical quantity change.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</a:defRPr>
            </a:pPr>
            <a:r>
              <a:t>• Reason &amp; Reference Doc: Linked PO ID, Invoice ID, or Audit Note.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9807" y="3154680"/>
            <a:ext cx="5230368" cy="3154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29807" y="3154680"/>
            <a:ext cx="5230368" cy="3657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29807" y="3191256"/>
            <a:ext cx="523036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Accounting vs Naive Retailing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6967" y="3611880"/>
            <a:ext cx="4956048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</a:defRPr>
            </a:pPr>
            <a:r>
              <a:t>Why TQM Requires a Mathematical Inventory Ledger: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</a:defRPr>
            </a:pP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</a:defRPr>
            </a:pPr>
            <a:r>
              <a:t>• Fraud &amp; Shrinkage Interception: Detects unrecorded pilferage, unauthorized till adjustments, or ghost stock.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</a:defRPr>
            </a:pPr>
            <a:r>
              <a:t>• Lot-to-Lot Financial Reconciliation: Enables exact Cost of Goods Sold (COGS) calculation under FIFO/FEFO accounting.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</a:defRPr>
            </a:pPr>
            <a:r>
              <a:t>• Strict Regulatory Defense: Satisfies statutory drug inspector audits requiring proof of origin and chain of custody for every pill.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</a:defRPr>
            </a:pPr>
            <a:r>
              <a:t>• Clean Z-Report Alignment: Matches physical shelf count to system expected count during daily register closure.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0A389"/>
                </a:solidFill>
                <a:latin typeface="Segoe UI"/>
              </a:defRPr>
            </a:pPr>
            <a:r>
              <a:t>RUBRIC: LEAN SUPPLY CHAIN &amp; JIT REPLENISHMENT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A2540"/>
                </a:solidFill>
                <a:latin typeface="Segoe UI"/>
              </a:defRPr>
            </a:pPr>
            <a:r>
              <a:t>Replenishment Engineering: Demand, Safety Stock, ROP &amp; JIT Kanban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1371600"/>
          </a:xfrm>
          <a:prstGeom prst="roundRect">
            <a:avLst/>
          </a:prstGeom>
          <a:solidFill>
            <a:srgbClr val="123456"/>
          </a:solidFill>
          <a:ln w="15240">
            <a:solidFill>
              <a:srgbClr val="00A3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03628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A389"/>
                </a:solidFill>
              </a:defRPr>
            </a:pPr>
            <a:r>
              <a:t>MATHEMATICAL REPLENISHMENT MODEL (REORDER POINT &amp; SAFETY STOCK)</a:t>
            </a:r>
          </a:p>
          <a:p>
            <a:pPr>
              <a:spcAft>
                <a:spcPts val="400"/>
              </a:spcAft>
              <a:defRPr sz="1250" b="1">
                <a:solidFill>
                  <a:srgbClr val="FFFFFF"/>
                </a:solidFill>
              </a:defRPr>
            </a:pPr>
            <a:r>
              <a:t>Reorder Point (ROP) = (Average Daily Demand × Lead Time) + Safety Stock</a:t>
            </a:r>
            <a:br/>
            <a:r>
              <a:t>Safety Stock (SS) = (Max Daily Demand × Max Lead Time) − (Avg Daily Demand × Avg Lead Time)</a:t>
            </a:r>
          </a:p>
          <a:p>
            <a:pPr>
              <a:defRPr sz="950">
                <a:solidFill>
                  <a:srgbClr val="DCF5F0"/>
                </a:solidFill>
              </a:defRPr>
            </a:pPr>
            <a:r>
              <a:t>When Current Stock + On-Order &lt;= ROP, the system triggers an automated purchase recommendation and generates a draft PO.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54680"/>
            <a:ext cx="5230368" cy="3154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3154680"/>
            <a:ext cx="5230368" cy="365760"/>
          </a:xfrm>
          <a:prstGeom prst="rect">
            <a:avLst/>
          </a:prstGeom>
          <a:solidFill>
            <a:srgbClr val="00A3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191256"/>
            <a:ext cx="523036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JIT Pay-on-Sale Consignment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611880"/>
            <a:ext cx="4956048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</a:defRPr>
            </a:pPr>
            <a:r>
              <a:t>Lean Capital Management in Actual Pharmacy Practice: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</a:defRPr>
            </a:pP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</a:defRPr>
            </a:pPr>
            <a:r>
              <a:t>• Zero Upfront Working Capital: New stock enters inventory upon GRN receipt with ₹0 upfront payment to the pharmaceutical company.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</a:defRPr>
            </a:pPr>
            <a:r>
              <a:t>• Dynamic Sales Deductions: When a unit is sold at POS (e.g. Sold @ ₹100 MRP, Dealer Cost = ₹10), the system dynamically computes company liability (₹10) and records ₹90 gross pharmacy profit.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</a:defRPr>
            </a:pPr>
            <a:r>
              <a:t>• Dispute-Free Settlements: Automated supplier settlement vouchers generate payments strictly for verified sold quantities.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</a:defRPr>
            </a:pPr>
            <a:r>
              <a:t>• Unsold Stock Safety: Unsold batches remain supplier property or can be returned without financial loss.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9807" y="3154680"/>
            <a:ext cx="5230368" cy="3154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29807" y="3154680"/>
            <a:ext cx="5230368" cy="3657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29807" y="3191256"/>
            <a:ext cx="523036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Two-Bin Kanban Physical Pull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6967" y="3611880"/>
            <a:ext cx="4956048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</a:defRPr>
            </a:pPr>
            <a:r>
              <a:t>Visual Kanban Execution on the Dispensary Floor: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</a:defRPr>
            </a:pP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</a:defRPr>
            </a:pPr>
            <a:r>
              <a:t>• Bin 1 (Primary Active Dispensing): Kept at cashier POS counter for immediate patient fulfillment.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</a:defRPr>
            </a:pPr>
            <a:r>
              <a:t>• Bin 2 (Reserve Buffer Stock): Stored in backroom FEFO warehouse racks.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</a:defRPr>
            </a:pPr>
            <a:r>
              <a:t>• Kanban Trigger Mechanism: When Bin 1 is emptied, its physical Kanban barcode card is scanned. This initiates an immediate warehouse internal transfer to replenish Bin 1.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</a:defRPr>
            </a:pPr>
            <a:r>
              <a:t>• Upstream PO Automation: Scanning the Kanban card automatically checks current total stock against ROP to dispatch a digital purchase order to the wholesaler.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0A389"/>
                </a:solidFill>
                <a:latin typeface="Segoe UI"/>
              </a:defRPr>
            </a:pPr>
            <a:r>
              <a:t>RUBRIC: TQM RISK GOVERNANCE ACROSS COMPLETE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A2540"/>
                </a:solidFill>
                <a:latin typeface="Segoe UI"/>
              </a:defRPr>
            </a:pPr>
            <a:r>
              <a:t>End-to-End Process Failure Mode &amp; Effects Analysis (FMEA)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10728655" cy="4709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68680" y="1737360"/>
          <a:ext cx="1045433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645920"/>
                <a:gridCol w="1645920"/>
                <a:gridCol w="548640"/>
                <a:gridCol w="548640"/>
                <a:gridCol w="548640"/>
                <a:gridCol w="640080"/>
                <a:gridCol w="3504895"/>
              </a:tblGrid>
              <a:tr h="48768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Process Stage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Potential Failure Mode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Root Cause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Sev (S)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Occ (O)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Det (D)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RPN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TQM Poka-Yoke Engineering Control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1. Purchase Planning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Stockout of critical cardiac drug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Inaccurate demand forecast &amp; lead time lag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160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Automated ROP calculation trigger generating PO recommendations.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2. Receiving &amp; GRN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Inwarding near-expiry / damaged batch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Superficial visual inspection during receipt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144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Inward GRN system rejects any batch with &lt; 180 days shelf life.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3. Inventory Storage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Cold-chain insulin denaturation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Chamber compressor failure or power cut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81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24/7 IoT temperature telemetry with audible alarms and POS lockout.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4. Prescription Intake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Doctor handwriting misinterpretation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Ambiguous paper script abbreviations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240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Digital eRx intake and mandatory EHR patient matching.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5. Clinical Check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Penicillin allergy anaphylaxis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Pharmacist misses allergy history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200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CDSS Poka-Yoke hard-stop shield blocking contra-indicated drugs.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6. Dispensing &amp; Pack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Look-alike sound-alike (LASA) swap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Dispensary clutter and hurried picking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Mandatory 2D barcode scan verification matching NDC before packing.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7. Billing &amp; POS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Cash drawer deficit / till imbalance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Manual mental math change error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72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Instant change return calculator + Dynamic UPI QR webhook.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8. Delivery &amp; Returns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Delivery to wrong address / fake return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Unverified customer handover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112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Mandatory 4-digit SMS OTP electronic Proof-of-Delivery (e-POD).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0A389"/>
                </a:solidFill>
                <a:latin typeface="Segoe UI"/>
              </a:defRPr>
            </a:pPr>
            <a:r>
              <a:t>RUBRIC: ACADEMIC EVALUATION PHASING &amp; WORKING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A2540"/>
                </a:solidFill>
                <a:latin typeface="Segoe UI"/>
              </a:defRPr>
            </a:pPr>
            <a:r>
              <a:t>Evaluation Phasing: Review 1 Milestones vs Review 2 Demonstration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30368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230368" cy="457200"/>
          </a:xfrm>
          <a:prstGeom prst="rect">
            <a:avLst/>
          </a:prstGeom>
          <a:solidFill>
            <a:srgbClr val="00A3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00784"/>
            <a:ext cx="523036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Review 1 Deliverables (Foundations &amp; Architecture)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495604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950">
                <a:solidFill>
                  <a:srgbClr val="1E293B"/>
                </a:solidFill>
              </a:defRPr>
            </a:pPr>
            <a:r>
              <a:t>100% Completed &amp; Verified in Current Review:</a:t>
            </a:r>
          </a:p>
          <a:p>
            <a:pPr>
              <a:spcAft>
                <a:spcPts val="250"/>
              </a:spcAft>
              <a:defRPr sz="950">
                <a:solidFill>
                  <a:srgbClr val="1E293B"/>
                </a:solidFill>
              </a:defRPr>
            </a:pPr>
          </a:p>
          <a:p>
            <a:pPr>
              <a:spcAft>
                <a:spcPts val="250"/>
              </a:spcAft>
              <a:defRPr sz="950">
                <a:solidFill>
                  <a:srgbClr val="1E293B"/>
                </a:solidFill>
              </a:defRPr>
            </a:pPr>
            <a:r>
              <a:t>• Complete 17-Step Pharmacy Workflow Mapping (Supplier to Audit).</a:t>
            </a:r>
          </a:p>
          <a:p>
            <a:pPr>
              <a:spcAft>
                <a:spcPts val="250"/>
              </a:spcAft>
              <a:defRPr sz="950">
                <a:solidFill>
                  <a:srgbClr val="1E293B"/>
                </a:solidFill>
              </a:defRPr>
            </a:pPr>
            <a:r>
              <a:t>• Stakeholder Identification &amp; Layman-to-SRS Mapping Table.</a:t>
            </a:r>
          </a:p>
          <a:p>
            <a:pPr>
              <a:spcAft>
                <a:spcPts val="250"/>
              </a:spcAft>
              <a:defRPr sz="950">
                <a:solidFill>
                  <a:srgbClr val="1E293B"/>
                </a:solidFill>
              </a:defRPr>
            </a:pPr>
            <a:r>
              <a:t>• Prioritization of the 6 Core Operational Modules.</a:t>
            </a:r>
          </a:p>
          <a:p>
            <a:pPr>
              <a:spcAft>
                <a:spcPts val="250"/>
              </a:spcAft>
              <a:defRPr sz="950">
                <a:solidFill>
                  <a:srgbClr val="1E293B"/>
                </a:solidFill>
              </a:defRPr>
            </a:pPr>
            <a:r>
              <a:t>• Role-Based Access Control &amp; 5 Role Process Flows.</a:t>
            </a:r>
          </a:p>
          <a:p>
            <a:pPr>
              <a:spcAft>
                <a:spcPts val="250"/>
              </a:spcAft>
              <a:defRPr sz="950">
                <a:solidFill>
                  <a:srgbClr val="1E293B"/>
                </a:solidFill>
              </a:defRPr>
            </a:pPr>
            <a:r>
              <a:t>• Software Requirements Specification (IEEE 830 Standard).</a:t>
            </a:r>
          </a:p>
          <a:p>
            <a:pPr>
              <a:spcAft>
                <a:spcPts val="250"/>
              </a:spcAft>
              <a:defRPr sz="950">
                <a:solidFill>
                  <a:srgbClr val="1E293B"/>
                </a:solidFill>
              </a:defRPr>
            </a:pPr>
            <a:r>
              <a:t>• Relational 14-Table Database Design with ACID Transactions.</a:t>
            </a:r>
          </a:p>
          <a:p>
            <a:pPr>
              <a:spcAft>
                <a:spcPts val="250"/>
              </a:spcAft>
              <a:defRPr sz="950">
                <a:solidFill>
                  <a:srgbClr val="1E293B"/>
                </a:solidFill>
              </a:defRPr>
            </a:pPr>
            <a:r>
              <a:t>• Comprehensive 8-Stage Process FMEA Risk Matrix.</a:t>
            </a:r>
          </a:p>
          <a:p>
            <a:pPr>
              <a:spcAft>
                <a:spcPts val="250"/>
              </a:spcAft>
              <a:defRPr sz="950">
                <a:solidFill>
                  <a:srgbClr val="1E293B"/>
                </a:solidFill>
              </a:defRPr>
            </a:pPr>
            <a:r>
              <a:t>• Working Dual Desktop (Tkinter) &amp; Web (FastAPI) GUI.</a:t>
            </a:r>
          </a:p>
          <a:p>
            <a:pPr>
              <a:spcAft>
                <a:spcPts val="250"/>
              </a:spcAft>
              <a:defRPr sz="950">
                <a:solidFill>
                  <a:srgbClr val="1E293B"/>
                </a:solidFill>
              </a:defRPr>
            </a:pPr>
            <a:r>
              <a:t>• 25 Automated Test Suites Passed (100% Reliability).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9807" y="1645920"/>
            <a:ext cx="5230368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29807" y="1645920"/>
            <a:ext cx="5230368" cy="4572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29807" y="1700784"/>
            <a:ext cx="523036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Review 2 Horizon (The Working Chain Demonstration)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6967" y="2240280"/>
            <a:ext cx="495604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950">
                <a:solidFill>
                  <a:srgbClr val="1E293B"/>
                </a:solidFill>
              </a:defRPr>
            </a:pPr>
            <a:r>
              <a:t>10-Step Live Verification Script for Review 2:</a:t>
            </a:r>
          </a:p>
          <a:p>
            <a:pPr>
              <a:spcAft>
                <a:spcPts val="250"/>
              </a:spcAft>
              <a:defRPr sz="950">
                <a:solidFill>
                  <a:srgbClr val="1E293B"/>
                </a:solidFill>
              </a:defRPr>
            </a:pPr>
          </a:p>
          <a:p>
            <a:pPr>
              <a:spcAft>
                <a:spcPts val="250"/>
              </a:spcAft>
              <a:defRPr sz="950">
                <a:solidFill>
                  <a:srgbClr val="1E293B"/>
                </a:solidFill>
              </a:defRPr>
            </a:pPr>
            <a:r>
              <a:t>1. Inward GRN from Wholesaler into Pay-on-Sale Consignment.</a:t>
            </a:r>
          </a:p>
          <a:p>
            <a:pPr>
              <a:spcAft>
                <a:spcPts val="250"/>
              </a:spcAft>
              <a:defRPr sz="950">
                <a:solidFill>
                  <a:srgbClr val="1E293B"/>
                </a:solidFill>
              </a:defRPr>
            </a:pPr>
            <a:r>
              <a:t>2. Real-Time Balance Verification in Perpetual Inventory Ledger.</a:t>
            </a:r>
          </a:p>
          <a:p>
            <a:pPr>
              <a:spcAft>
                <a:spcPts val="250"/>
              </a:spcAft>
              <a:defRPr sz="950">
                <a:solidFill>
                  <a:srgbClr val="1E293B"/>
                </a:solidFill>
              </a:defRPr>
            </a:pPr>
            <a:r>
              <a:t>3. Automated ROP Calculation &amp; Draft PO Generation.</a:t>
            </a:r>
          </a:p>
          <a:p>
            <a:pPr>
              <a:spcAft>
                <a:spcPts val="250"/>
              </a:spcAft>
              <a:defRPr sz="950">
                <a:solidFill>
                  <a:srgbClr val="1E293B"/>
                </a:solidFill>
              </a:defRPr>
            </a:pPr>
            <a:r>
              <a:t>4. Ingest eRx &amp; Trigger CDSS Penicillin Allergy Poka-Yoke Interception.</a:t>
            </a:r>
          </a:p>
          <a:p>
            <a:pPr>
              <a:spcAft>
                <a:spcPts val="250"/>
              </a:spcAft>
              <a:defRPr sz="950">
                <a:solidFill>
                  <a:srgbClr val="1E293B"/>
                </a:solidFill>
              </a:defRPr>
            </a:pPr>
            <a:r>
              <a:t>5. Cashier 1-Click Rx Import &amp; FEFO Auto-Batch Selection.</a:t>
            </a:r>
          </a:p>
          <a:p>
            <a:pPr>
              <a:spcAft>
                <a:spcPts val="250"/>
              </a:spcAft>
              <a:defRPr sz="950">
                <a:solidFill>
                  <a:srgbClr val="1E293B"/>
                </a:solidFill>
              </a:defRPr>
            </a:pPr>
            <a:r>
              <a:t>6. POS Split Tender Checkout (Cash change + Dynamic UPI QR).</a:t>
            </a:r>
          </a:p>
          <a:p>
            <a:pPr>
              <a:spcAft>
                <a:spcPts val="250"/>
              </a:spcAft>
              <a:defRPr sz="950">
                <a:solidFill>
                  <a:srgbClr val="1E293B"/>
                </a:solidFill>
              </a:defRPr>
            </a:pPr>
            <a:r>
              <a:t>7. Dispatch Order to Delivery Fleet with 4-Digit SMS OTP Handover.</a:t>
            </a:r>
          </a:p>
          <a:p>
            <a:pPr>
              <a:spcAft>
                <a:spcPts val="250"/>
              </a:spcAft>
              <a:defRPr sz="950">
                <a:solidFill>
                  <a:srgbClr val="1E293B"/>
                </a:solidFill>
              </a:defRPr>
            </a:pPr>
            <a:r>
              <a:t>8. Pay-on-Sale Supplier Settlement Voucher &amp; Zero-Variance Z-Report.</a:t>
            </a:r>
          </a:p>
          <a:p>
            <a:pPr>
              <a:spcAft>
                <a:spcPts val="250"/>
              </a:spcAft>
              <a:defRPr sz="950">
                <a:solidFill>
                  <a:srgbClr val="1E293B"/>
                </a:solidFill>
              </a:defRPr>
            </a:pPr>
            <a:r>
              <a:t>9. Complete End-of-Day Shift Close &amp; Audit Log Review.</a:t>
            </a:r>
          </a:p>
          <a:p>
            <a:pPr>
              <a:spcAft>
                <a:spcPts val="250"/>
              </a:spcAft>
              <a:defRPr sz="950">
                <a:solidFill>
                  <a:srgbClr val="1E293B"/>
                </a:solidFill>
              </a:defRPr>
            </a:pPr>
            <a:r>
              <a:t>10. Point-in-Time Database Snapshot Archival &amp; Backup.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DividendVTI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ED8428"/>
      </a:accent1>
      <a:accent2>
        <a:srgbClr val="E6C46D"/>
      </a:accent2>
      <a:accent3>
        <a:srgbClr val="537685"/>
      </a:accent3>
      <a:accent4>
        <a:srgbClr val="969FA7"/>
      </a:accent4>
      <a:accent5>
        <a:srgbClr val="A9C37C"/>
      </a:accent5>
      <a:accent6>
        <a:srgbClr val="5A8071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0437772-7826-4CEE-8E78-517B414A42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C26303C-A89C-422C-9097-BDF7002EFC5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6E679C34-122C-4127-90D9-C271AEE94CE4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DividendVTI</Template>
  <TotalTime>94</TotalTime>
  <Words>3664</Words>
  <Application>Microsoft Office PowerPoint</Application>
  <PresentationFormat>Widescreen</PresentationFormat>
  <Paragraphs>389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Gill Sans MT</vt:lpstr>
      <vt:lpstr>Wingdings 2</vt:lpstr>
      <vt:lpstr>DividendVTI</vt:lpstr>
      <vt:lpstr>TQM PharmA Enterprise</vt:lpstr>
      <vt:lpstr>PowerPoint Presentation</vt:lpstr>
      <vt:lpstr>PowerPoint Presentation</vt:lpstr>
      <vt:lpstr>Stakeholder Identification: Mapping Layman Needs to SRS Specifications </vt:lpstr>
      <vt:lpstr>PowerPoint Presentation</vt:lpstr>
      <vt:lpstr>PowerPoint Presentation</vt:lpstr>
      <vt:lpstr>PowerPoint Presentation</vt:lpstr>
      <vt:lpstr>PowerPoint Presentation</vt:lpstr>
      <vt:lpstr>Core Features/Modules Aligned with Quality Goals</vt:lpstr>
      <vt:lpstr>PowerPoint Presentation</vt:lpstr>
      <vt:lpstr>PowerPoint Presentation</vt:lpstr>
      <vt:lpstr>CRUD Operations Implementation Across All Entities </vt:lpstr>
      <vt:lpstr>Initial UI &amp; Workstation Interface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piyush</dc:creator>
  <cp:lastModifiedBy>piyush bhatt</cp:lastModifiedBy>
  <cp:revision>12</cp:revision>
  <dcterms:created xsi:type="dcterms:W3CDTF">2026-10-20T07:31:58Z</dcterms:created>
  <dcterms:modified xsi:type="dcterms:W3CDTF">2026-10-28T04:41:19Z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