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evaluators. Today I present our complete Review 1 &amp; Review 2 engineering defense for TQM Pharm Enterprise, addressing process completeness, traceability, and measurable quality.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explicitly addresses the professor's feedback: transitioning from feature addition to process completeness, traceability, and measurable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Addresses Problem Statement and Baseline Clinical Understanding with documented healthcare risks.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Addresses the professor's feedback: avoiding unsupported absolute claims like 'Zero defects' and framing them as rigorous, measurable engineering targets.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answers Professor Feedback Item 1: Identify all stakeholders and map their layman requirement to SRS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Satisfies SRS (Software Requirements Specification) aligned with IEEE 830 requirements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1: Map the complete 17-step pharmacy workflow from Supplier to Reports/Audit.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2: Prioritizing 4–6 core modules rather than feature creep.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6: Clearly demonstrate User Roles + process flow for Admin, Pharmacist, Cashier, Inventory Manager and Delivery Agent.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Satisfies Modular Folder Architecture criteria by demonstrating clean separation of concerns across 6 distinct enterprise tiers.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robust 3NF relational schema enforcing strict referential integrity across all operational entities.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Addresses Database Integration rubric criteria, highlighting ACID compliance, concurrency handling, and schema migrations.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Principle of Least Privilege (PoLP) and strict operational boundary separation across all 5 roles.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3 &amp; 7: Inventory must have a proper ledger using the exact Closing Stock formula, and demonstrate user, timestamp, old/new value, reason, and transaction ID.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4: Show replenishment logic: Demand + Lead Time + Safety Stock -&gt; ROP -&gt; Recommendation -&gt; PO, and explain JIT/Kanban through actual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IoT cold-chain telemetry and delivery fleet logistics integration with OTP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Item 5: FMEA must cover the complete process including Purchase, Receiving, Inventory, Clinical verification, Dispensing, Billing, Delivery, and Returns—not just software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analytical TQM methods: Pareto prioritization and Ishikawa 6M root-cause identification.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how Deming's PDCA cycle is operationalized in software rather than left as theoretical concept.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Satisfies Initial UI/Workflow rubric criteria with clean multi-station design and ergonomic dual theming.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Directly fulfills Professor Feedback: Clear delineation between Review 1 deliverables and Review 2 live demonstration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Satisfies Demonstration of Implemented Functionality with a concrete 10-step script proving all quality gates in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Demonstrates empirical verification with 100% pass rate across 25 automated pytest suites covering core, UI, and web endpoints.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statement: 100% of rubric criteria and professor feedback delivered. Recite the golden creed and invite faculty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362895" cy="3291840"/>
          </a:xfrm>
          <a:prstGeom prst="rect">
            <a:avLst/>
          </a:prstGeom>
          <a:noFill/>
        </p:spPr>
        <p:txBody>
          <a:bodyPr wrap="square">
            <a:spAutoFit/>
          </a:bodyPr>
          <a:lstStyle/>
          <a:p>
            <a:pPr>
              <a:spcAft>
                <a:spcPts val="1000"/>
              </a:spcAft>
              <a:defRPr sz="1100" b="1">
                <a:solidFill>
                  <a:srgbClr val="00A389"/>
                </a:solidFill>
              </a:defRPr>
            </a:pPr>
            <a:r>
              <a:t>AMRAPALI UNIVERSITY • DEPARTMENT OF COMPUTER SCIENCE &amp; ENGINEERING</a:t>
            </a:r>
          </a:p>
          <a:p>
            <a:pPr>
              <a:spcAft>
                <a:spcPts val="600"/>
              </a:spcAft>
              <a:defRPr sz="3600" b="1">
                <a:solidFill>
                  <a:srgbClr val="FFFFFF"/>
                </a:solidFill>
              </a:defRPr>
            </a:pPr>
            <a:r>
              <a:t>TQM PHARM ENTERPRISE</a:t>
            </a:r>
          </a:p>
          <a:p>
            <a:pPr>
              <a:spcAft>
                <a:spcPts val="1200"/>
              </a:spcAft>
              <a:defRPr sz="1800">
                <a:solidFill>
                  <a:srgbClr val="DCF5F0"/>
                </a:solidFill>
              </a:defRPr>
            </a:pPr>
            <a:r>
              <a:t>Total Quality Management (TQM) Architecture for Community &amp; Hospital Pharmacies</a:t>
            </a:r>
          </a:p>
          <a:p>
            <a:pPr>
              <a:defRPr sz="1250">
                <a:solidFill>
                  <a:srgbClr val="94A3B8"/>
                </a:solidFill>
              </a:defRPr>
            </a:pPr>
            <a:r>
              <a:t>Process-Complete, Traceable &amp; Measurable Healthcare System Aligned with IEEE 830, GAMP-5, FEFO, CDSS Poka-Yoke &amp; Perpetual Inventory Ledger</a:t>
            </a:r>
          </a:p>
        </p:txBody>
      </p:sp>
      <p:sp>
        <p:nvSpPr>
          <p:cNvPr id="5" name="Rounded Rectangle 4"/>
          <p:cNvSpPr/>
          <p:nvPr/>
        </p:nvSpPr>
        <p:spPr>
          <a:xfrm>
            <a:off x="914400" y="4297680"/>
            <a:ext cx="10362895" cy="201168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389120"/>
            <a:ext cx="9966960" cy="1828800"/>
          </a:xfrm>
          <a:prstGeom prst="rect">
            <a:avLst/>
          </a:prstGeom>
          <a:noFill/>
        </p:spPr>
        <p:txBody>
          <a:bodyPr wrap="square">
            <a:spAutoFit/>
          </a:bodyPr>
          <a:lstStyle/>
          <a:p>
            <a:pPr>
              <a:spcAft>
                <a:spcPts val="600"/>
              </a:spcAft>
              <a:defRPr sz="1100" b="1">
                <a:solidFill>
                  <a:srgbClr val="00A389"/>
                </a:solidFill>
              </a:defRPr>
            </a:pPr>
            <a:r>
              <a:t>PROJECT METADATA &amp; EVALUATION CREDENTIALS</a:t>
            </a:r>
          </a:p>
          <a:p>
            <a:pPr>
              <a:spcAft>
                <a:spcPts val="200"/>
              </a:spcAft>
            </a:pPr>
            <a:r>
              <a:rPr b="1" sz="1000">
                <a:solidFill>
                  <a:srgbClr val="E2E8F0"/>
                </a:solidFill>
              </a:rPr>
              <a:t>Candidate Name: </a:t>
            </a:r>
            <a:r>
              <a:rPr sz="1000">
                <a:solidFill>
                  <a:srgbClr val="DCF5F0"/>
                </a:solidFill>
              </a:rPr>
              <a:t>Piyush Bhatt</a:t>
            </a:r>
          </a:p>
          <a:p>
            <a:pPr>
              <a:spcAft>
                <a:spcPts val="200"/>
              </a:spcAft>
            </a:pPr>
            <a:r>
              <a:rPr b="1" sz="1000">
                <a:solidFill>
                  <a:srgbClr val="E2E8F0"/>
                </a:solidFill>
              </a:rPr>
              <a:t>University: </a:t>
            </a:r>
            <a:r>
              <a:rPr sz="1000">
                <a:solidFill>
                  <a:srgbClr val="DCF5F0"/>
                </a:solidFill>
              </a:rPr>
              <a:t>Amrapali University, Haldwani / Nainital</a:t>
            </a:r>
          </a:p>
          <a:p>
            <a:pPr>
              <a:spcAft>
                <a:spcPts val="200"/>
              </a:spcAft>
            </a:pPr>
            <a:r>
              <a:rPr b="1" sz="1000">
                <a:solidFill>
                  <a:srgbClr val="E2E8F0"/>
                </a:solidFill>
              </a:rPr>
              <a:t>Program: </a:t>
            </a:r>
            <a:r>
              <a:rPr sz="1000">
                <a:solidFill>
                  <a:srgbClr val="DCF5F0"/>
                </a:solidFill>
              </a:rPr>
              <a:t>Bachelor of Technology in Computer Science &amp; Engineering</a:t>
            </a:r>
          </a:p>
          <a:p>
            <a:pPr>
              <a:spcAft>
                <a:spcPts val="200"/>
              </a:spcAft>
            </a:pPr>
            <a:r>
              <a:rPr b="1" sz="1000">
                <a:solidFill>
                  <a:srgbClr val="E2E8F0"/>
                </a:solidFill>
              </a:rPr>
              <a:t>Presentation Scope: </a:t>
            </a:r>
            <a:r>
              <a:rPr sz="1000">
                <a:solidFill>
                  <a:srgbClr val="DCF5F0"/>
                </a:solidFill>
              </a:rPr>
              <a:t>Comprehensive Review 1 &amp; Review 2 Defense Deck</a:t>
            </a:r>
          </a:p>
          <a:p>
            <a:pPr>
              <a:spcAft>
                <a:spcPts val="200"/>
              </a:spcAft>
            </a:pPr>
            <a:r>
              <a:rPr b="1" sz="1000">
                <a:solidFill>
                  <a:srgbClr val="E2E8F0"/>
                </a:solidFill>
              </a:rPr>
              <a:t>Quality Focus: </a:t>
            </a:r>
            <a:r>
              <a:rPr sz="1000">
                <a:solidFill>
                  <a:srgbClr val="DCF5F0"/>
                </a:solidFill>
              </a:rPr>
              <a:t>Process Completeness, Rigorous Traceability &amp; Measurable Quality Targets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ACADEMIC GUIDANCE &amp; CONTINUOUS IMPROVEMENT ROADMAP</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Faculty Review 2 Guidance: Process Completeness Over Feature Addition</a:t>
            </a:r>
          </a:p>
        </p:txBody>
      </p:sp>
      <p:sp>
        <p:nvSpPr>
          <p:cNvPr id="5" name="Rounded Rectangle 4"/>
          <p:cNvSpPr/>
          <p:nvPr/>
        </p:nvSpPr>
        <p:spPr>
          <a:xfrm>
            <a:off x="731520"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3328416"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19072"/>
            <a:ext cx="3328416" cy="457200"/>
          </a:xfrm>
          <a:prstGeom prst="rect">
            <a:avLst/>
          </a:prstGeom>
          <a:noFill/>
        </p:spPr>
        <p:txBody>
          <a:bodyPr wrap="none">
            <a:spAutoFit/>
          </a:bodyPr>
          <a:lstStyle/>
          <a:p>
            <a:pPr algn="ctr">
              <a:defRPr sz="1100" b="1">
                <a:solidFill>
                  <a:srgbClr val="FFFFFF"/>
                </a:solidFill>
              </a:defRPr>
            </a:pPr>
            <a:r>
              <a:t>1. Core Directive: Process Completeness</a:t>
            </a:r>
          </a:p>
        </p:txBody>
      </p:sp>
      <p:sp>
        <p:nvSpPr>
          <p:cNvPr id="8" name="TextBox 7"/>
          <p:cNvSpPr txBox="1"/>
          <p:nvPr/>
        </p:nvSpPr>
        <p:spPr>
          <a:xfrm>
            <a:off x="868680" y="2331720"/>
            <a:ext cx="3054096" cy="3840480"/>
          </a:xfrm>
          <a:prstGeom prst="rect">
            <a:avLst/>
          </a:prstGeom>
          <a:noFill/>
        </p:spPr>
        <p:txBody>
          <a:bodyPr wrap="square">
            <a:spAutoFit/>
          </a:bodyPr>
          <a:lstStyle/>
          <a:p>
            <a:pPr>
              <a:spcAft>
                <a:spcPts val="300"/>
              </a:spcAft>
              <a:defRPr sz="1000">
                <a:solidFill>
                  <a:srgbClr val="1E293B"/>
                </a:solidFill>
              </a:defRPr>
            </a:pPr>
            <a:r>
              <a:t>Quality Mandate:</a:t>
            </a:r>
          </a:p>
          <a:p>
            <a:pPr>
              <a:spcAft>
                <a:spcPts val="300"/>
              </a:spcAft>
              <a:defRPr sz="1000">
                <a:solidFill>
                  <a:srgbClr val="1E293B"/>
                </a:solidFill>
              </a:defRPr>
            </a:pPr>
          </a:p>
          <a:p>
            <a:pPr>
              <a:spcAft>
                <a:spcPts val="300"/>
              </a:spcAft>
              <a:defRPr sz="1000">
                <a:solidFill>
                  <a:srgbClr val="1E293B"/>
                </a:solidFill>
              </a:defRPr>
            </a:pPr>
            <a:r>
              <a:t>• Shift priority from adding isolated software features to proving end-to-end process completeness.</a:t>
            </a:r>
          </a:p>
          <a:p>
            <a:pPr>
              <a:spcAft>
                <a:spcPts val="300"/>
              </a:spcAft>
              <a:defRPr sz="1000">
                <a:solidFill>
                  <a:srgbClr val="1E293B"/>
                </a:solidFill>
              </a:defRPr>
            </a:pPr>
            <a:r>
              <a:t>• Eliminate operational silos between Supplier Inwarding, Inventory Control, Clinical Dispensing, POS Billing, Home Delivery, and Returns.</a:t>
            </a:r>
          </a:p>
          <a:p>
            <a:pPr>
              <a:spcAft>
                <a:spcPts val="300"/>
              </a:spcAft>
              <a:defRPr sz="1000">
                <a:solidFill>
                  <a:srgbClr val="1E293B"/>
                </a:solidFill>
              </a:defRPr>
            </a:pPr>
            <a:r>
              <a:t>• Ground all claims in measurable engineering targets rather than unsupported absolutes.</a:t>
            </a:r>
          </a:p>
        </p:txBody>
      </p:sp>
      <p:sp>
        <p:nvSpPr>
          <p:cNvPr id="9" name="Rounded Rectangle 8"/>
          <p:cNvSpPr/>
          <p:nvPr/>
        </p:nvSpPr>
        <p:spPr>
          <a:xfrm>
            <a:off x="4425696"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645920"/>
            <a:ext cx="3328416"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1719072"/>
            <a:ext cx="3328416" cy="457200"/>
          </a:xfrm>
          <a:prstGeom prst="rect">
            <a:avLst/>
          </a:prstGeom>
          <a:noFill/>
        </p:spPr>
        <p:txBody>
          <a:bodyPr wrap="none">
            <a:spAutoFit/>
          </a:bodyPr>
          <a:lstStyle/>
          <a:p>
            <a:pPr algn="ctr">
              <a:defRPr sz="1100" b="1">
                <a:solidFill>
                  <a:srgbClr val="FFFFFF"/>
                </a:solidFill>
              </a:defRPr>
            </a:pPr>
            <a:r>
              <a:t>2. Review 1 Phasing: Architecture &amp; Blueprint</a:t>
            </a:r>
          </a:p>
        </p:txBody>
      </p:sp>
      <p:sp>
        <p:nvSpPr>
          <p:cNvPr id="12" name="TextBox 11"/>
          <p:cNvSpPr txBox="1"/>
          <p:nvPr/>
        </p:nvSpPr>
        <p:spPr>
          <a:xfrm>
            <a:off x="4562856" y="2331720"/>
            <a:ext cx="3054096" cy="3840480"/>
          </a:xfrm>
          <a:prstGeom prst="rect">
            <a:avLst/>
          </a:prstGeom>
          <a:noFill/>
        </p:spPr>
        <p:txBody>
          <a:bodyPr wrap="square">
            <a:spAutoFit/>
          </a:bodyPr>
          <a:lstStyle/>
          <a:p>
            <a:pPr>
              <a:spcAft>
                <a:spcPts val="300"/>
              </a:spcAft>
              <a:defRPr sz="1000">
                <a:solidFill>
                  <a:srgbClr val="1E293B"/>
                </a:solidFill>
              </a:defRPr>
            </a:pPr>
            <a:r>
              <a:t>Completed Deliverables:</a:t>
            </a:r>
          </a:p>
          <a:p>
            <a:pPr>
              <a:spcAft>
                <a:spcPts val="300"/>
              </a:spcAft>
              <a:defRPr sz="1000">
                <a:solidFill>
                  <a:srgbClr val="1E293B"/>
                </a:solidFill>
              </a:defRPr>
            </a:pPr>
          </a:p>
          <a:p>
            <a:pPr>
              <a:spcAft>
                <a:spcPts val="300"/>
              </a:spcAft>
              <a:defRPr sz="1000">
                <a:solidFill>
                  <a:srgbClr val="1E293B"/>
                </a:solidFill>
              </a:defRPr>
            </a:pPr>
            <a:r>
              <a:t>• Map complete 17-step pharmacy workflow from Supplier to Audit.</a:t>
            </a:r>
          </a:p>
          <a:p>
            <a:pPr>
              <a:spcAft>
                <a:spcPts val="300"/>
              </a:spcAft>
              <a:defRPr sz="1000">
                <a:solidFill>
                  <a:srgbClr val="1E293B"/>
                </a:solidFill>
              </a:defRPr>
            </a:pPr>
            <a:r>
              <a:t>• Map Stakeholder Layman Requirements to technical IEEE 830 SRS specifications.</a:t>
            </a:r>
          </a:p>
          <a:p>
            <a:pPr>
              <a:spcAft>
                <a:spcPts val="300"/>
              </a:spcAft>
              <a:defRPr sz="1000">
                <a:solidFill>
                  <a:srgbClr val="1E293B"/>
                </a:solidFill>
              </a:defRPr>
            </a:pPr>
            <a:r>
              <a:t>• Prioritize the 6 Core Modules.</a:t>
            </a:r>
          </a:p>
          <a:p>
            <a:pPr>
              <a:spcAft>
                <a:spcPts val="300"/>
              </a:spcAft>
              <a:defRPr sz="1000">
                <a:solidFill>
                  <a:srgbClr val="1E293B"/>
                </a:solidFill>
              </a:defRPr>
            </a:pPr>
            <a:r>
              <a:t>• Role-wise process flows for 5 personas.</a:t>
            </a:r>
          </a:p>
          <a:p>
            <a:pPr>
              <a:spcAft>
                <a:spcPts val="300"/>
              </a:spcAft>
              <a:defRPr sz="1000">
                <a:solidFill>
                  <a:srgbClr val="1E293B"/>
                </a:solidFill>
              </a:defRPr>
            </a:pPr>
            <a:r>
              <a:t>• 14-Table relational schema &amp; End-to-End Process FMEA.</a:t>
            </a:r>
          </a:p>
        </p:txBody>
      </p:sp>
      <p:sp>
        <p:nvSpPr>
          <p:cNvPr id="13" name="Rounded Rectangle 12"/>
          <p:cNvSpPr/>
          <p:nvPr/>
        </p:nvSpPr>
        <p:spPr>
          <a:xfrm>
            <a:off x="8119872"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645920"/>
            <a:ext cx="3328416" cy="5486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719072"/>
            <a:ext cx="3328416" cy="457200"/>
          </a:xfrm>
          <a:prstGeom prst="rect">
            <a:avLst/>
          </a:prstGeom>
          <a:noFill/>
        </p:spPr>
        <p:txBody>
          <a:bodyPr wrap="none">
            <a:spAutoFit/>
          </a:bodyPr>
          <a:lstStyle/>
          <a:p>
            <a:pPr algn="ctr">
              <a:defRPr sz="1100" b="1">
                <a:solidFill>
                  <a:srgbClr val="FFFFFF"/>
                </a:solidFill>
              </a:defRPr>
            </a:pPr>
            <a:r>
              <a:t>3. Review 2 Phasing: The Working Chain</a:t>
            </a:r>
          </a:p>
        </p:txBody>
      </p:sp>
      <p:sp>
        <p:nvSpPr>
          <p:cNvPr id="16" name="TextBox 15"/>
          <p:cNvSpPr txBox="1"/>
          <p:nvPr/>
        </p:nvSpPr>
        <p:spPr>
          <a:xfrm>
            <a:off x="8257032" y="2331720"/>
            <a:ext cx="3054096" cy="3840480"/>
          </a:xfrm>
          <a:prstGeom prst="rect">
            <a:avLst/>
          </a:prstGeom>
          <a:noFill/>
        </p:spPr>
        <p:txBody>
          <a:bodyPr wrap="square">
            <a:spAutoFit/>
          </a:bodyPr>
          <a:lstStyle/>
          <a:p>
            <a:pPr>
              <a:spcAft>
                <a:spcPts val="300"/>
              </a:spcAft>
              <a:defRPr sz="1000">
                <a:solidFill>
                  <a:srgbClr val="1E293B"/>
                </a:solidFill>
              </a:defRPr>
            </a:pPr>
            <a:r>
              <a:t>Demonstrated Live Chain:</a:t>
            </a:r>
          </a:p>
          <a:p>
            <a:pPr>
              <a:spcAft>
                <a:spcPts val="300"/>
              </a:spcAft>
              <a:defRPr sz="1000">
                <a:solidFill>
                  <a:srgbClr val="1E293B"/>
                </a:solidFill>
              </a:defRPr>
            </a:pPr>
          </a:p>
          <a:p>
            <a:pPr>
              <a:spcAft>
                <a:spcPts val="300"/>
              </a:spcAft>
              <a:defRPr sz="1000">
                <a:solidFill>
                  <a:srgbClr val="1E293B"/>
                </a:solidFill>
              </a:defRPr>
            </a:pPr>
            <a:r>
              <a:t>• Prove the unbroken operational pipeline:</a:t>
            </a:r>
          </a:p>
          <a:p>
            <a:pPr>
              <a:spcAft>
                <a:spcPts val="300"/>
              </a:spcAft>
              <a:defRPr sz="1000">
                <a:solidFill>
                  <a:srgbClr val="1E293B"/>
                </a:solidFill>
              </a:defRPr>
            </a:pPr>
            <a:r>
              <a:t>  Supplier -&gt; PO -&gt; GRN -&gt; Inventory Ledger -&gt; FEFO/Replenishment -&gt; Prescription Intake -&gt; CDSS Allergy Shield -&gt; POS Billing -&gt; Multi-Tender Payment -&gt; Delivery Fleet (OTP) -&gt; Returns/Settlement -&gt; Real-Time Inventory Balance -&gt; Z-Report &amp; Audit Trail.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PROBLEM STATEMENT &amp; BASELINE UNDERSTANDING</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Problem Statement: High-Risk Vulnerabilities in Traditional Pharmacies</a:t>
            </a:r>
          </a:p>
        </p:txBody>
      </p:sp>
      <p:sp>
        <p:nvSpPr>
          <p:cNvPr id="5" name="Rounded Rectangle 4"/>
          <p:cNvSpPr/>
          <p:nvPr/>
        </p:nvSpPr>
        <p:spPr>
          <a:xfrm>
            <a:off x="731520"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3328416" cy="54864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19072"/>
            <a:ext cx="3328416" cy="457200"/>
          </a:xfrm>
          <a:prstGeom prst="rect">
            <a:avLst/>
          </a:prstGeom>
          <a:noFill/>
        </p:spPr>
        <p:txBody>
          <a:bodyPr wrap="none">
            <a:spAutoFit/>
          </a:bodyPr>
          <a:lstStyle/>
          <a:p>
            <a:pPr algn="ctr">
              <a:defRPr sz="1150" b="1">
                <a:solidFill>
                  <a:srgbClr val="FFFFFF"/>
                </a:solidFill>
              </a:defRPr>
            </a:pPr>
            <a:r>
              <a:t>1. Medication Dispensing Errors</a:t>
            </a:r>
          </a:p>
        </p:txBody>
      </p:sp>
      <p:sp>
        <p:nvSpPr>
          <p:cNvPr id="8" name="TextBox 7"/>
          <p:cNvSpPr txBox="1"/>
          <p:nvPr/>
        </p:nvSpPr>
        <p:spPr>
          <a:xfrm>
            <a:off x="868680" y="2331720"/>
            <a:ext cx="3054096" cy="3840480"/>
          </a:xfrm>
          <a:prstGeom prst="rect">
            <a:avLst/>
          </a:prstGeom>
          <a:noFill/>
        </p:spPr>
        <p:txBody>
          <a:bodyPr wrap="square">
            <a:spAutoFit/>
          </a:bodyPr>
          <a:lstStyle/>
          <a:p>
            <a:pPr>
              <a:spcAft>
                <a:spcPts val="300"/>
              </a:spcAft>
              <a:defRPr sz="1000">
                <a:solidFill>
                  <a:srgbClr val="1E293B"/>
                </a:solidFill>
              </a:defRPr>
            </a:pPr>
            <a:r>
              <a:t>Clinical Baseline:</a:t>
            </a:r>
          </a:p>
          <a:p>
            <a:pPr>
              <a:spcAft>
                <a:spcPts val="300"/>
              </a:spcAft>
              <a:defRPr sz="1000">
                <a:solidFill>
                  <a:srgbClr val="1E293B"/>
                </a:solidFill>
              </a:defRPr>
            </a:pPr>
          </a:p>
          <a:p>
            <a:pPr>
              <a:spcAft>
                <a:spcPts val="300"/>
              </a:spcAft>
              <a:defRPr sz="1000">
                <a:solidFill>
                  <a:srgbClr val="1E293B"/>
                </a:solidFill>
              </a:defRPr>
            </a:pPr>
            <a:r>
              <a:t>• Over 1.3 million preventable patient injuries occur annually due to adverse drug events (ADEs).</a:t>
            </a:r>
          </a:p>
          <a:p>
            <a:pPr>
              <a:spcAft>
                <a:spcPts val="300"/>
              </a:spcAft>
              <a:defRPr sz="1000">
                <a:solidFill>
                  <a:srgbClr val="1E293B"/>
                </a:solidFill>
              </a:defRPr>
            </a:pPr>
            <a:r>
              <a:t>• Manual interpretation of doctor prescriptions causes dosage miscalculations and transcription slips.</a:t>
            </a:r>
          </a:p>
          <a:p>
            <a:pPr>
              <a:spcAft>
                <a:spcPts val="300"/>
              </a:spcAft>
              <a:defRPr sz="1000">
                <a:solidFill>
                  <a:srgbClr val="1E293B"/>
                </a:solidFill>
              </a:defRPr>
            </a:pPr>
            <a:r>
              <a:t>• Lack of automated allergy cross-checks risks fatal Penicillin anaphylaxis.</a:t>
            </a:r>
          </a:p>
          <a:p>
            <a:pPr>
              <a:spcAft>
                <a:spcPts val="300"/>
              </a:spcAft>
              <a:defRPr sz="1000">
                <a:solidFill>
                  <a:srgbClr val="1E293B"/>
                </a:solidFill>
              </a:defRPr>
            </a:pPr>
            <a:r>
              <a:t>• Baseline Solution: Automated Clinical Decision Support System (CDSS) acting as an immutable quality shield.</a:t>
            </a:r>
          </a:p>
        </p:txBody>
      </p:sp>
      <p:sp>
        <p:nvSpPr>
          <p:cNvPr id="9" name="Rounded Rectangle 8"/>
          <p:cNvSpPr/>
          <p:nvPr/>
        </p:nvSpPr>
        <p:spPr>
          <a:xfrm>
            <a:off x="4425696"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645920"/>
            <a:ext cx="3328416" cy="5486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1719072"/>
            <a:ext cx="3328416" cy="457200"/>
          </a:xfrm>
          <a:prstGeom prst="rect">
            <a:avLst/>
          </a:prstGeom>
          <a:noFill/>
        </p:spPr>
        <p:txBody>
          <a:bodyPr wrap="none">
            <a:spAutoFit/>
          </a:bodyPr>
          <a:lstStyle/>
          <a:p>
            <a:pPr algn="ctr">
              <a:defRPr sz="1150" b="1">
                <a:solidFill>
                  <a:srgbClr val="FFFFFF"/>
                </a:solidFill>
              </a:defRPr>
            </a:pPr>
            <a:r>
              <a:t>2. Cold-Chain &amp; Expiry Spoilage</a:t>
            </a:r>
          </a:p>
        </p:txBody>
      </p:sp>
      <p:sp>
        <p:nvSpPr>
          <p:cNvPr id="12" name="TextBox 11"/>
          <p:cNvSpPr txBox="1"/>
          <p:nvPr/>
        </p:nvSpPr>
        <p:spPr>
          <a:xfrm>
            <a:off x="4562856" y="2331720"/>
            <a:ext cx="3054096" cy="3840480"/>
          </a:xfrm>
          <a:prstGeom prst="rect">
            <a:avLst/>
          </a:prstGeom>
          <a:noFill/>
        </p:spPr>
        <p:txBody>
          <a:bodyPr wrap="square">
            <a:spAutoFit/>
          </a:bodyPr>
          <a:lstStyle/>
          <a:p>
            <a:pPr>
              <a:spcAft>
                <a:spcPts val="300"/>
              </a:spcAft>
              <a:defRPr sz="1000">
                <a:solidFill>
                  <a:srgbClr val="1E293B"/>
                </a:solidFill>
              </a:defRPr>
            </a:pPr>
            <a:r>
              <a:t>Supply Chain Baseline:</a:t>
            </a:r>
          </a:p>
          <a:p>
            <a:pPr>
              <a:spcAft>
                <a:spcPts val="300"/>
              </a:spcAft>
              <a:defRPr sz="1000">
                <a:solidFill>
                  <a:srgbClr val="1E293B"/>
                </a:solidFill>
              </a:defRPr>
            </a:pPr>
          </a:p>
          <a:p>
            <a:pPr>
              <a:spcAft>
                <a:spcPts val="300"/>
              </a:spcAft>
              <a:defRPr sz="1000">
                <a:solidFill>
                  <a:srgbClr val="1E293B"/>
                </a:solidFill>
              </a:defRPr>
            </a:pPr>
            <a:r>
              <a:t>• Vaccines, insulin, and biologics degrade silently outside the mandatory 2.0°C–8.0°C envelope.</a:t>
            </a:r>
          </a:p>
          <a:p>
            <a:pPr>
              <a:spcAft>
                <a:spcPts val="300"/>
              </a:spcAft>
              <a:defRPr sz="1000">
                <a:solidFill>
                  <a:srgbClr val="1E293B"/>
                </a:solidFill>
              </a:defRPr>
            </a:pPr>
            <a:r>
              <a:t>• Standard retail FIFO picking allows older batches to sit unnoticed while newer stock is sold.</a:t>
            </a:r>
          </a:p>
          <a:p>
            <a:pPr>
              <a:spcAft>
                <a:spcPts val="300"/>
              </a:spcAft>
              <a:defRPr sz="1000">
                <a:solidFill>
                  <a:srgbClr val="1E293B"/>
                </a:solidFill>
              </a:defRPr>
            </a:pPr>
            <a:r>
              <a:t>• Substantial annual capital lost in expired, unsellable inventory.</a:t>
            </a:r>
          </a:p>
          <a:p>
            <a:pPr>
              <a:spcAft>
                <a:spcPts val="300"/>
              </a:spcAft>
              <a:defRPr sz="1000">
                <a:solidFill>
                  <a:srgbClr val="1E293B"/>
                </a:solidFill>
              </a:defRPr>
            </a:pPr>
            <a:r>
              <a:t>• Baseline Solution: Algorithmic FEFO (First-Expiry, First-Out) picking + 24/7 continuous IoT temperature telemetry.</a:t>
            </a:r>
          </a:p>
        </p:txBody>
      </p:sp>
      <p:sp>
        <p:nvSpPr>
          <p:cNvPr id="13" name="Rounded Rectangle 12"/>
          <p:cNvSpPr/>
          <p:nvPr/>
        </p:nvSpPr>
        <p:spPr>
          <a:xfrm>
            <a:off x="8119872"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645920"/>
            <a:ext cx="3328416"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719072"/>
            <a:ext cx="3328416" cy="457200"/>
          </a:xfrm>
          <a:prstGeom prst="rect">
            <a:avLst/>
          </a:prstGeom>
          <a:noFill/>
        </p:spPr>
        <p:txBody>
          <a:bodyPr wrap="none">
            <a:spAutoFit/>
          </a:bodyPr>
          <a:lstStyle/>
          <a:p>
            <a:pPr algn="ctr">
              <a:defRPr sz="1150" b="1">
                <a:solidFill>
                  <a:srgbClr val="FFFFFF"/>
                </a:solidFill>
              </a:defRPr>
            </a:pPr>
            <a:r>
              <a:t>3. Regulatory &amp; Till Shrinkage</a:t>
            </a:r>
          </a:p>
        </p:txBody>
      </p:sp>
      <p:sp>
        <p:nvSpPr>
          <p:cNvPr id="16" name="TextBox 15"/>
          <p:cNvSpPr txBox="1"/>
          <p:nvPr/>
        </p:nvSpPr>
        <p:spPr>
          <a:xfrm>
            <a:off x="8257032" y="2331720"/>
            <a:ext cx="3054096" cy="3840480"/>
          </a:xfrm>
          <a:prstGeom prst="rect">
            <a:avLst/>
          </a:prstGeom>
          <a:noFill/>
        </p:spPr>
        <p:txBody>
          <a:bodyPr wrap="square">
            <a:spAutoFit/>
          </a:bodyPr>
          <a:lstStyle/>
          <a:p>
            <a:pPr>
              <a:spcAft>
                <a:spcPts val="300"/>
              </a:spcAft>
              <a:defRPr sz="1000">
                <a:solidFill>
                  <a:srgbClr val="1E293B"/>
                </a:solidFill>
              </a:defRPr>
            </a:pPr>
            <a:r>
              <a:t>Operational Baseline:</a:t>
            </a:r>
          </a:p>
          <a:p>
            <a:pPr>
              <a:spcAft>
                <a:spcPts val="300"/>
              </a:spcAft>
              <a:defRPr sz="1000">
                <a:solidFill>
                  <a:srgbClr val="1E293B"/>
                </a:solidFill>
              </a:defRPr>
            </a:pPr>
          </a:p>
          <a:p>
            <a:pPr>
              <a:spcAft>
                <a:spcPts val="300"/>
              </a:spcAft>
              <a:defRPr sz="1000">
                <a:solidFill>
                  <a:srgbClr val="1E293B"/>
                </a:solidFill>
              </a:defRPr>
            </a:pPr>
            <a:r>
              <a:t>• Inadequate tracking of Schedule X / NDPS controlled sedatives invites severe legal penalties and license cancellation.</a:t>
            </a:r>
          </a:p>
          <a:p>
            <a:pPr>
              <a:spcAft>
                <a:spcPts val="300"/>
              </a:spcAft>
              <a:defRPr sz="1000">
                <a:solidFill>
                  <a:srgbClr val="1E293B"/>
                </a:solidFill>
              </a:defRPr>
            </a:pPr>
            <a:r>
              <a:t>• Cash drawer variances, unmonitored mid-shift payouts, and unverified digital receipts.</a:t>
            </a:r>
          </a:p>
          <a:p>
            <a:pPr>
              <a:spcAft>
                <a:spcPts val="300"/>
              </a:spcAft>
              <a:defRPr sz="1000">
                <a:solidFill>
                  <a:srgbClr val="1E293B"/>
                </a:solidFill>
              </a:defRPr>
            </a:pPr>
            <a:r>
              <a:t>• Failed surprise drug inspector audits due to paper registers.</a:t>
            </a:r>
          </a:p>
          <a:p>
            <a:pPr>
              <a:spcAft>
                <a:spcPts val="300"/>
              </a:spcAft>
              <a:defRPr sz="1000">
                <a:solidFill>
                  <a:srgbClr val="1E293B"/>
                </a:solidFill>
              </a:defRPr>
            </a:pPr>
            <a:r>
              <a:t>• Baseline Solution: Mandatory dual-PIN narcotic register + Daily Z-Report mathematical cash reconciliation.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QUALITY OBJECTIVE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Quality Objectives Aligned with TQM Principles (Measurable Targets)</a:t>
            </a:r>
          </a:p>
        </p:txBody>
      </p:sp>
      <p:sp>
        <p:nvSpPr>
          <p:cNvPr id="5" name="Rounded Rectangle 4"/>
          <p:cNvSpPr/>
          <p:nvPr/>
        </p:nvSpPr>
        <p:spPr>
          <a:xfrm>
            <a:off x="731520" y="1600200"/>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1092708"/>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1001268"/>
          </a:xfrm>
          <a:prstGeom prst="rect">
            <a:avLst/>
          </a:prstGeom>
          <a:noFill/>
        </p:spPr>
        <p:txBody>
          <a:bodyPr wrap="square">
            <a:spAutoFit/>
          </a:bodyPr>
          <a:lstStyle/>
          <a:p>
            <a:pPr>
              <a:spcAft>
                <a:spcPts val="200"/>
              </a:spcAft>
              <a:defRPr sz="1150" b="1">
                <a:solidFill>
                  <a:srgbClr val="0A2540"/>
                </a:solidFill>
              </a:defRPr>
            </a:pPr>
            <a:r>
              <a:t>Target 1: Striving Towards Zero Medication Dispensing Defects (Patient Safety)</a:t>
            </a:r>
          </a:p>
          <a:p>
            <a:pPr>
              <a:spcAft>
                <a:spcPts val="100"/>
              </a:spcAft>
              <a:defRPr sz="1000">
                <a:solidFill>
                  <a:srgbClr val="1E293B"/>
                </a:solidFill>
              </a:defRPr>
            </a:pPr>
            <a:r>
              <a:t>• Quality Objective: Prevent adverse drug interactions and allergen cross-reactions before cart checkout.</a:t>
            </a:r>
          </a:p>
          <a:p>
            <a:pPr>
              <a:spcAft>
                <a:spcPts val="100"/>
              </a:spcAft>
              <a:defRPr sz="1000">
                <a:solidFill>
                  <a:srgbClr val="1E293B"/>
                </a:solidFill>
              </a:defRPr>
            </a:pPr>
            <a:r>
              <a:t>• Engineering Gate: Poka-Yoke CDSS automatically queries patient EHR allergies (Penicillin, NSAIDs) and blocks contra-indicated prescription items.</a:t>
            </a:r>
          </a:p>
          <a:p>
            <a:pPr>
              <a:spcAft>
                <a:spcPts val="100"/>
              </a:spcAft>
              <a:defRPr sz="1000">
                <a:solidFill>
                  <a:srgbClr val="1E293B"/>
                </a:solidFill>
              </a:defRPr>
            </a:pPr>
            <a:r>
              <a:t>• Measurable Metric: 100% of contraindicated pairs intercepted; 0% unverified overrides allowed without clinical doctor credentials.</a:t>
            </a:r>
          </a:p>
        </p:txBody>
      </p:sp>
      <p:sp>
        <p:nvSpPr>
          <p:cNvPr id="8" name="Rounded Rectangle 7"/>
          <p:cNvSpPr/>
          <p:nvPr/>
        </p:nvSpPr>
        <p:spPr>
          <a:xfrm>
            <a:off x="731520" y="2820924"/>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20924"/>
            <a:ext cx="109728" cy="109270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66644"/>
            <a:ext cx="10287000" cy="1001268"/>
          </a:xfrm>
          <a:prstGeom prst="rect">
            <a:avLst/>
          </a:prstGeom>
          <a:noFill/>
        </p:spPr>
        <p:txBody>
          <a:bodyPr wrap="square">
            <a:spAutoFit/>
          </a:bodyPr>
          <a:lstStyle/>
          <a:p>
            <a:pPr>
              <a:spcAft>
                <a:spcPts val="200"/>
              </a:spcAft>
              <a:defRPr sz="1150" b="1">
                <a:solidFill>
                  <a:srgbClr val="0A2540"/>
                </a:solidFill>
              </a:defRPr>
            </a:pPr>
            <a:r>
              <a:t>Target 2: Minimizing Expired Stock Write-offs via FEFO Batch Ledger</a:t>
            </a:r>
          </a:p>
          <a:p>
            <a:pPr>
              <a:spcAft>
                <a:spcPts val="100"/>
              </a:spcAft>
              <a:defRPr sz="1000">
                <a:solidFill>
                  <a:srgbClr val="1E293B"/>
                </a:solidFill>
              </a:defRPr>
            </a:pPr>
            <a:r>
              <a:t>• Quality Objective: Eliminate expired drug sales and minimize inventory holding spoilage.</a:t>
            </a:r>
          </a:p>
          <a:p>
            <a:pPr>
              <a:spcAft>
                <a:spcPts val="100"/>
              </a:spcAft>
              <a:defRPr sz="1000">
                <a:solidFill>
                  <a:srgbClr val="1E293B"/>
                </a:solidFill>
              </a:defRPr>
            </a:pPr>
            <a:r>
              <a:t>• Engineering Gate: System enforces First-Expiry, First-Out (FEFO) automated picking, dynamically prioritizing closest expiration dates.</a:t>
            </a:r>
          </a:p>
          <a:p>
            <a:pPr>
              <a:spcAft>
                <a:spcPts val="100"/>
              </a:spcAft>
              <a:defRPr sz="1000">
                <a:solidFill>
                  <a:srgbClr val="1E293B"/>
                </a:solidFill>
              </a:defRPr>
            </a:pPr>
            <a:r>
              <a:t>• Measurable Metric: Target &lt;0.5% expired inventory write-off; 100% lockout of batches with &lt;30 days to expiry.</a:t>
            </a:r>
          </a:p>
        </p:txBody>
      </p:sp>
      <p:sp>
        <p:nvSpPr>
          <p:cNvPr id="11" name="Rounded Rectangle 10"/>
          <p:cNvSpPr/>
          <p:nvPr/>
        </p:nvSpPr>
        <p:spPr>
          <a:xfrm>
            <a:off x="731520" y="4041648"/>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41648"/>
            <a:ext cx="109728" cy="10927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87368"/>
            <a:ext cx="10287000" cy="1001268"/>
          </a:xfrm>
          <a:prstGeom prst="rect">
            <a:avLst/>
          </a:prstGeom>
          <a:noFill/>
        </p:spPr>
        <p:txBody>
          <a:bodyPr wrap="square">
            <a:spAutoFit/>
          </a:bodyPr>
          <a:lstStyle/>
          <a:p>
            <a:pPr>
              <a:spcAft>
                <a:spcPts val="200"/>
              </a:spcAft>
              <a:defRPr sz="1150" b="1">
                <a:solidFill>
                  <a:srgbClr val="0A2540"/>
                </a:solidFill>
              </a:defRPr>
            </a:pPr>
            <a:r>
              <a:t>Target 3: Total Cold-Chain Compliance for Thermolabile Pharmaceuticals</a:t>
            </a:r>
          </a:p>
          <a:p>
            <a:pPr>
              <a:spcAft>
                <a:spcPts val="100"/>
              </a:spcAft>
              <a:defRPr sz="1000">
                <a:solidFill>
                  <a:srgbClr val="1E293B"/>
                </a:solidFill>
              </a:defRPr>
            </a:pPr>
            <a:r>
              <a:t>• Quality Objective: Protect vaccines, insulins, and biologics from thermal degradation.</a:t>
            </a:r>
          </a:p>
          <a:p>
            <a:pPr>
              <a:spcAft>
                <a:spcPts val="100"/>
              </a:spcAft>
              <a:defRPr sz="1000">
                <a:solidFill>
                  <a:srgbClr val="1E293B"/>
                </a:solidFill>
              </a:defRPr>
            </a:pPr>
            <a:r>
              <a:t>• Engineering Gate: Continuous 2.0°C–8.0°C IoT telemetry with threshold monitoring and automated quarantine lockout if temperature spikes exceed 8.0°C.</a:t>
            </a:r>
          </a:p>
          <a:p>
            <a:pPr>
              <a:spcAft>
                <a:spcPts val="100"/>
              </a:spcAft>
              <a:defRPr sz="1000">
                <a:solidFill>
                  <a:srgbClr val="1E293B"/>
                </a:solidFill>
              </a:defRPr>
            </a:pPr>
            <a:r>
              <a:t>• Measurable Metric: 100% temperature reading auditability with automatic incident logging within 500ms of excursion.</a:t>
            </a:r>
          </a:p>
        </p:txBody>
      </p:sp>
      <p:sp>
        <p:nvSpPr>
          <p:cNvPr id="14" name="Rounded Rectangle 13"/>
          <p:cNvSpPr/>
          <p:nvPr/>
        </p:nvSpPr>
        <p:spPr>
          <a:xfrm>
            <a:off x="731520" y="5262372"/>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262372"/>
            <a:ext cx="109728" cy="10927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308092"/>
            <a:ext cx="10287000" cy="1001268"/>
          </a:xfrm>
          <a:prstGeom prst="rect">
            <a:avLst/>
          </a:prstGeom>
          <a:noFill/>
        </p:spPr>
        <p:txBody>
          <a:bodyPr wrap="square">
            <a:spAutoFit/>
          </a:bodyPr>
          <a:lstStyle/>
          <a:p>
            <a:pPr>
              <a:spcAft>
                <a:spcPts val="200"/>
              </a:spcAft>
              <a:defRPr sz="1150" b="1">
                <a:solidFill>
                  <a:srgbClr val="0A2540"/>
                </a:solidFill>
              </a:defRPr>
            </a:pPr>
            <a:r>
              <a:t>Target 4: Immutable Process Traceability &amp; Zero Unreconciled Till Variance</a:t>
            </a:r>
          </a:p>
          <a:p>
            <a:pPr>
              <a:spcAft>
                <a:spcPts val="100"/>
              </a:spcAft>
              <a:defRPr sz="1000">
                <a:solidFill>
                  <a:srgbClr val="1E293B"/>
                </a:solidFill>
              </a:defRPr>
            </a:pPr>
            <a:r>
              <a:t>• Quality Objective: Ensure complete regulatory compliance (Drugs &amp; Cosmetics Act, GST) and financial auditability.</a:t>
            </a:r>
          </a:p>
          <a:p>
            <a:pPr>
              <a:spcAft>
                <a:spcPts val="100"/>
              </a:spcAft>
              <a:defRPr sz="1000">
                <a:solidFill>
                  <a:srgbClr val="1E293B"/>
                </a:solidFill>
              </a:defRPr>
            </a:pPr>
            <a:r>
              <a:t>• Engineering Gate: Perpetual inventory ledger equation tracking every stock movement + Daily Z-Report balancing physical cash counted vs. system expected.</a:t>
            </a:r>
          </a:p>
          <a:p>
            <a:pPr>
              <a:spcAft>
                <a:spcPts val="100"/>
              </a:spcAft>
              <a:defRPr sz="1000">
                <a:solidFill>
                  <a:srgbClr val="1E293B"/>
                </a:solidFill>
              </a:defRPr>
            </a:pPr>
            <a:r>
              <a:t>• Measurable Metric: Zero unassigned till discrepancies; 100% traceable transaction audit trails with User, Timestamp, Reason, and Ref 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STAKEHOLDER MAPPING &amp; REQUIREMENTS ENGINEERING</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Stakeholder Identification: Mapping Layman Needs to SRS Specifications</a:t>
            </a:r>
          </a:p>
        </p:txBody>
      </p:sp>
      <p:sp>
        <p:nvSpPr>
          <p:cNvPr id="5" name="Rounded Rectangle 4"/>
          <p:cNvSpPr/>
          <p:nvPr/>
        </p:nvSpPr>
        <p:spPr>
          <a:xfrm>
            <a:off x="731520" y="1600200"/>
            <a:ext cx="10728655" cy="47091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868680" y="1737360"/>
          <a:ext cx="10728655" cy="4389120"/>
        </p:xfrm>
        <a:graphic>
          <a:graphicData uri="http://schemas.openxmlformats.org/drawingml/2006/table">
            <a:tbl>
              <a:tblPr firstRow="1" bandRow="1">
                <a:tableStyleId>{5C22544A-7EE6-4342-B048-85BDC9FD1C3A}</a:tableStyleId>
              </a:tblPr>
              <a:tblGrid>
                <a:gridCol w="1645920"/>
                <a:gridCol w="3931920"/>
                <a:gridCol w="3474720"/>
                <a:gridCol w="1676095"/>
              </a:tblGrid>
              <a:tr h="548640">
                <a:tc>
                  <a:txBody>
                    <a:bodyPr/>
                    <a:lstStyle/>
                    <a:p>
                      <a:pPr>
                        <a:defRPr b="1" sz="1000">
                          <a:solidFill>
                            <a:srgbClr val="FFFFFF"/>
                          </a:solidFill>
                        </a:defRPr>
                      </a:pPr>
                      <a:r>
                        <a:t>Stakeholder Persona</a:t>
                      </a:r>
                    </a:p>
                  </a:txBody>
                  <a:tcPr>
                    <a:solidFill>
                      <a:srgbClr val="0A2540"/>
                    </a:solidFill>
                  </a:tcPr>
                </a:tc>
                <a:tc>
                  <a:txBody>
                    <a:bodyPr/>
                    <a:lstStyle/>
                    <a:p>
                      <a:pPr>
                        <a:defRPr b="1" sz="1000">
                          <a:solidFill>
                            <a:srgbClr val="FFFFFF"/>
                          </a:solidFill>
                        </a:defRPr>
                      </a:pPr>
                      <a:r>
                        <a:t>Real-World Layman Requirement</a:t>
                      </a:r>
                    </a:p>
                  </a:txBody>
                  <a:tcPr>
                    <a:solidFill>
                      <a:srgbClr val="0A2540"/>
                    </a:solidFill>
                  </a:tcPr>
                </a:tc>
                <a:tc>
                  <a:txBody>
                    <a:bodyPr/>
                    <a:lstStyle/>
                    <a:p>
                      <a:pPr>
                        <a:defRPr b="1" sz="1000">
                          <a:solidFill>
                            <a:srgbClr val="FFFFFF"/>
                          </a:solidFill>
                        </a:defRPr>
                      </a:pPr>
                      <a:r>
                        <a:t>Technical SRS Functional Specification</a:t>
                      </a:r>
                    </a:p>
                  </a:txBody>
                  <a:tcPr>
                    <a:solidFill>
                      <a:srgbClr val="0A2540"/>
                    </a:solidFill>
                  </a:tcPr>
                </a:tc>
                <a:tc>
                  <a:txBody>
                    <a:bodyPr/>
                    <a:lstStyle/>
                    <a:p>
                      <a:pPr>
                        <a:defRPr b="1" sz="1000">
                          <a:solidFill>
                            <a:srgbClr val="FFFFFF"/>
                          </a:solidFill>
                        </a:defRPr>
                      </a:pPr>
                      <a:r>
                        <a:t>TQM Quality Gate</a:t>
                      </a:r>
                    </a:p>
                  </a:txBody>
                  <a:tcPr>
                    <a:solidFill>
                      <a:srgbClr val="0A2540"/>
                    </a:solidFill>
                  </a:tcPr>
                </a:tc>
              </a:tr>
              <a:tr h="548640">
                <a:tc>
                  <a:txBody>
                    <a:bodyPr/>
                    <a:lstStyle/>
                    <a:p>
                      <a:pPr>
                        <a:defRPr sz="900">
                          <a:solidFill>
                            <a:srgbClr val="1E293B"/>
                          </a:solidFill>
                        </a:defRPr>
                      </a:pPr>
                      <a:r>
                        <a:t>Patient / Customer</a:t>
                      </a:r>
                    </a:p>
                  </a:txBody>
                  <a:tcPr>
                    <a:solidFill>
                      <a:srgbClr val="F8FAFC"/>
                    </a:solidFill>
                  </a:tcPr>
                </a:tc>
                <a:tc>
                  <a:txBody>
                    <a:bodyPr/>
                    <a:lstStyle/>
                    <a:p>
                      <a:pPr>
                        <a:defRPr sz="900">
                          <a:solidFill>
                            <a:srgbClr val="1E293B"/>
                          </a:solidFill>
                        </a:defRPr>
                      </a:pPr>
                      <a:r>
                        <a:t>"I want genuine medicine that doesn't trigger my allergies, isn't expired, and gets delivered to my doorstep safely."</a:t>
                      </a:r>
                    </a:p>
                  </a:txBody>
                  <a:tcPr>
                    <a:solidFill>
                      <a:srgbClr val="F8FAFC"/>
                    </a:solidFill>
                  </a:tcPr>
                </a:tc>
                <a:tc>
                  <a:txBody>
                    <a:bodyPr/>
                    <a:lstStyle/>
                    <a:p>
                      <a:pPr>
                        <a:defRPr sz="900">
                          <a:solidFill>
                            <a:srgbClr val="1E293B"/>
                          </a:solidFill>
                        </a:defRPr>
                      </a:pPr>
                      <a:r>
                        <a:t>FR-CLI-01: EHR Patient Allergy Screening</a:t>
                      </a:r>
                    </a:p>
                    <a:p>
                      <a:r>
                        <a:t>FR-INV-02: FEFO Expiry Lockout</a:t>
                      </a:r>
                    </a:p>
                    <a:p>
                      <a:r>
                        <a:t>FR-DEL-01: Cold-Chain Fleet OTP Handover</a:t>
                      </a:r>
                    </a:p>
                  </a:txBody>
                  <a:tcPr>
                    <a:solidFill>
                      <a:srgbClr val="F8FAFC"/>
                    </a:solidFill>
                  </a:tcPr>
                </a:tc>
                <a:tc>
                  <a:txBody>
                    <a:bodyPr/>
                    <a:lstStyle/>
                    <a:p>
                      <a:pPr>
                        <a:defRPr sz="900">
                          <a:solidFill>
                            <a:srgbClr val="1E293B"/>
                          </a:solidFill>
                        </a:defRPr>
                      </a:pPr>
                      <a:r>
                        <a:t>CDSS Hard-Stop Shield</a:t>
                      </a:r>
                    </a:p>
                    <a:p>
                      <a:r>
                        <a:t>Proof-of-Delivery OTP</a:t>
                      </a:r>
                    </a:p>
                  </a:txBody>
                  <a:tcPr>
                    <a:solidFill>
                      <a:srgbClr val="F8FAFC"/>
                    </a:solidFill>
                  </a:tcPr>
                </a:tc>
              </a:tr>
              <a:tr h="548640">
                <a:tc>
                  <a:txBody>
                    <a:bodyPr/>
                    <a:lstStyle/>
                    <a:p>
                      <a:pPr>
                        <a:defRPr sz="900">
                          <a:solidFill>
                            <a:srgbClr val="1E293B"/>
                          </a:solidFill>
                        </a:defRPr>
                      </a:pPr>
                      <a:r>
                        <a:t>Clinical Pharmacist</a:t>
                      </a:r>
                    </a:p>
                  </a:txBody>
                  <a:tcPr>
                    <a:solidFill>
                      <a:srgbClr val="FFFFFF"/>
                    </a:solidFill>
                  </a:tcPr>
                </a:tc>
                <a:tc>
                  <a:txBody>
                    <a:bodyPr/>
                    <a:lstStyle/>
                    <a:p>
                      <a:pPr>
                        <a:defRPr sz="900">
                          <a:solidFill>
                            <a:srgbClr val="1E293B"/>
                          </a:solidFill>
                        </a:defRPr>
                      </a:pPr>
                      <a:r>
                        <a:t>"I need to catch toxic drug interactions instantly, verify doctor credentials, and record narcotics legally."</a:t>
                      </a:r>
                    </a:p>
                  </a:txBody>
                  <a:tcPr>
                    <a:solidFill>
                      <a:srgbClr val="FFFFFF"/>
                    </a:solidFill>
                  </a:tcPr>
                </a:tc>
                <a:tc>
                  <a:txBody>
                    <a:bodyPr/>
                    <a:lstStyle/>
                    <a:p>
                      <a:pPr>
                        <a:defRPr sz="900">
                          <a:solidFill>
                            <a:srgbClr val="1E293B"/>
                          </a:solidFill>
                        </a:defRPr>
                      </a:pPr>
                      <a:r>
                        <a:t>FR-CLI-02: Drug-Drug Interaction Matrix</a:t>
                      </a:r>
                    </a:p>
                    <a:p>
                      <a:r>
                        <a:t>FR-CLI-03: Schedule X Narcotic Dual-Auth PIN</a:t>
                      </a:r>
                    </a:p>
                    <a:p>
                      <a:r>
                        <a:t>FR-CLI-04: Digital Rx Verification Queue</a:t>
                      </a:r>
                    </a:p>
                  </a:txBody>
                  <a:tcPr>
                    <a:solidFill>
                      <a:srgbClr val="FFFFFF"/>
                    </a:solidFill>
                  </a:tcPr>
                </a:tc>
                <a:tc>
                  <a:txBody>
                    <a:bodyPr/>
                    <a:lstStyle/>
                    <a:p>
                      <a:pPr>
                        <a:defRPr sz="900">
                          <a:solidFill>
                            <a:srgbClr val="1E293B"/>
                          </a:solidFill>
                        </a:defRPr>
                      </a:pPr>
                      <a:r>
                        <a:t>Dual-Signoff Poka-Yoke</a:t>
                      </a:r>
                    </a:p>
                    <a:p>
                      <a:r>
                        <a:t>Clinical Review Gate</a:t>
                      </a:r>
                    </a:p>
                  </a:txBody>
                  <a:tcPr>
                    <a:solidFill>
                      <a:srgbClr val="FFFFFF"/>
                    </a:solidFill>
                  </a:tcPr>
                </a:tc>
              </a:tr>
              <a:tr h="548640">
                <a:tc>
                  <a:txBody>
                    <a:bodyPr/>
                    <a:lstStyle/>
                    <a:p>
                      <a:pPr>
                        <a:defRPr sz="900">
                          <a:solidFill>
                            <a:srgbClr val="1E293B"/>
                          </a:solidFill>
                        </a:defRPr>
                      </a:pPr>
                      <a:r>
                        <a:t>Cashier / POS Clerk</a:t>
                      </a:r>
                    </a:p>
                  </a:txBody>
                  <a:tcPr>
                    <a:solidFill>
                      <a:srgbClr val="F8FAFC"/>
                    </a:solidFill>
                  </a:tcPr>
                </a:tc>
                <a:tc>
                  <a:txBody>
                    <a:bodyPr/>
                    <a:lstStyle/>
                    <a:p>
                      <a:pPr>
                        <a:defRPr sz="900">
                          <a:solidFill>
                            <a:srgbClr val="1E293B"/>
                          </a:solidFill>
                        </a:defRPr>
                      </a:pPr>
                      <a:r>
                        <a:t>"I need fast barcode billing, split payment (Cash/UPI/Card), automatic change calculation, and easy returns."</a:t>
                      </a:r>
                    </a:p>
                  </a:txBody>
                  <a:tcPr>
                    <a:solidFill>
                      <a:srgbClr val="F8FAFC"/>
                    </a:solidFill>
                  </a:tcPr>
                </a:tc>
                <a:tc>
                  <a:txBody>
                    <a:bodyPr/>
                    <a:lstStyle/>
                    <a:p>
                      <a:pPr>
                        <a:defRPr sz="900">
                          <a:solidFill>
                            <a:srgbClr val="1E293B"/>
                          </a:solidFill>
                        </a:defRPr>
                      </a:pPr>
                      <a:r>
                        <a:t>FR-POS-01: High-Speed FEFO Barcode Engine</a:t>
                      </a:r>
                    </a:p>
                    <a:p>
                      <a:r>
                        <a:t>FR-POS-02: Dynamic UPI QR &amp; Split Tender</a:t>
                      </a:r>
                    </a:p>
                    <a:p>
                      <a:r>
                        <a:t>FR-POS-04: Return/Refund Credit Note</a:t>
                      </a:r>
                    </a:p>
                  </a:txBody>
                  <a:tcPr>
                    <a:solidFill>
                      <a:srgbClr val="F8FAFC"/>
                    </a:solidFill>
                  </a:tcPr>
                </a:tc>
                <a:tc>
                  <a:txBody>
                    <a:bodyPr/>
                    <a:lstStyle/>
                    <a:p>
                      <a:pPr>
                        <a:defRPr sz="900">
                          <a:solidFill>
                            <a:srgbClr val="1E293B"/>
                          </a:solidFill>
                        </a:defRPr>
                      </a:pPr>
                      <a:r>
                        <a:t>Real-Time Balance Check</a:t>
                      </a:r>
                    </a:p>
                    <a:p>
                      <a:r>
                        <a:t>Instant Change Calculator</a:t>
                      </a:r>
                    </a:p>
                  </a:txBody>
                  <a:tcPr>
                    <a:solidFill>
                      <a:srgbClr val="F8FAFC"/>
                    </a:solidFill>
                  </a:tcPr>
                </a:tc>
              </a:tr>
              <a:tr h="548640">
                <a:tc>
                  <a:txBody>
                    <a:bodyPr/>
                    <a:lstStyle/>
                    <a:p>
                      <a:pPr>
                        <a:defRPr sz="900">
                          <a:solidFill>
                            <a:srgbClr val="1E293B"/>
                          </a:solidFill>
                        </a:defRPr>
                      </a:pPr>
                      <a:r>
                        <a:t>Inventory Manager</a:t>
                      </a:r>
                    </a:p>
                  </a:txBody>
                  <a:tcPr>
                    <a:solidFill>
                      <a:srgbClr val="FFFFFF"/>
                    </a:solidFill>
                  </a:tcPr>
                </a:tc>
                <a:tc>
                  <a:txBody>
                    <a:bodyPr/>
                    <a:lstStyle/>
                    <a:p>
                      <a:pPr>
                        <a:defRPr sz="900">
                          <a:solidFill>
                            <a:srgbClr val="1E293B"/>
                          </a:solidFill>
                        </a:defRPr>
                      </a:pPr>
                      <a:r>
                        <a:t>"I need to know when to reorder stock, inward GRN consignments without paying upfront, and track batches."</a:t>
                      </a:r>
                    </a:p>
                  </a:txBody>
                  <a:tcPr>
                    <a:solidFill>
                      <a:srgbClr val="FFFFFF"/>
                    </a:solidFill>
                  </a:tcPr>
                </a:tc>
                <a:tc>
                  <a:txBody>
                    <a:bodyPr/>
                    <a:lstStyle/>
                    <a:p>
                      <a:pPr>
                        <a:defRPr sz="900">
                          <a:solidFill>
                            <a:srgbClr val="1E293B"/>
                          </a:solidFill>
                        </a:defRPr>
                      </a:pPr>
                      <a:r>
                        <a:t>FR-INV-01: Reorder Point (ROP) JIT Engine</a:t>
                      </a:r>
                    </a:p>
                    <a:p>
                      <a:r>
                        <a:t>FR-INV-03: Pay-on-Sale GRN Inwarding</a:t>
                      </a:r>
                    </a:p>
                    <a:p>
                      <a:r>
                        <a:t>FR-INV-05: Cold-Chain IoT Telemetry</a:t>
                      </a:r>
                    </a:p>
                  </a:txBody>
                  <a:tcPr>
                    <a:solidFill>
                      <a:srgbClr val="FFFFFF"/>
                    </a:solidFill>
                  </a:tcPr>
                </a:tc>
                <a:tc>
                  <a:txBody>
                    <a:bodyPr/>
                    <a:lstStyle/>
                    <a:p>
                      <a:pPr>
                        <a:defRPr sz="900">
                          <a:solidFill>
                            <a:srgbClr val="1E293B"/>
                          </a:solidFill>
                        </a:defRPr>
                      </a:pPr>
                      <a:r>
                        <a:t>Kanban Two-Bin Pull</a:t>
                      </a:r>
                    </a:p>
                    <a:p>
                      <a:r>
                        <a:t>Consignment Ledger</a:t>
                      </a:r>
                    </a:p>
                  </a:txBody>
                  <a:tcPr>
                    <a:solidFill>
                      <a:srgbClr val="FFFFFF"/>
                    </a:solidFill>
                  </a:tcPr>
                </a:tc>
              </a:tr>
              <a:tr h="548640">
                <a:tc>
                  <a:txBody>
                    <a:bodyPr/>
                    <a:lstStyle/>
                    <a:p>
                      <a:pPr>
                        <a:defRPr sz="900">
                          <a:solidFill>
                            <a:srgbClr val="1E293B"/>
                          </a:solidFill>
                        </a:defRPr>
                      </a:pPr>
                      <a:r>
                        <a:t>Delivery Fleet Agent</a:t>
                      </a:r>
                    </a:p>
                  </a:txBody>
                  <a:tcPr>
                    <a:solidFill>
                      <a:srgbClr val="F8FAFC"/>
                    </a:solidFill>
                  </a:tcPr>
                </a:tc>
                <a:tc>
                  <a:txBody>
                    <a:bodyPr/>
                    <a:lstStyle/>
                    <a:p>
                      <a:pPr>
                        <a:defRPr sz="900">
                          <a:solidFill>
                            <a:srgbClr val="1E293B"/>
                          </a:solidFill>
                        </a:defRPr>
                      </a:pPr>
                      <a:r>
                        <a:t>"I need clear delivery addresses, temperature-safe bags for insulin, and OTP so customers can't deny delivery."</a:t>
                      </a:r>
                    </a:p>
                  </a:txBody>
                  <a:tcPr>
                    <a:solidFill>
                      <a:srgbClr val="F8FAFC"/>
                    </a:solidFill>
                  </a:tcPr>
                </a:tc>
                <a:tc>
                  <a:txBody>
                    <a:bodyPr/>
                    <a:lstStyle/>
                    <a:p>
                      <a:pPr>
                        <a:defRPr sz="900">
                          <a:solidFill>
                            <a:srgbClr val="1E293B"/>
                          </a:solidFill>
                        </a:defRPr>
                      </a:pPr>
                      <a:r>
                        <a:t>FR-DEL-02: Dispatch Route Queue</a:t>
                      </a:r>
                    </a:p>
                    <a:p>
                      <a:r>
                        <a:t>FR-DEL-03: Insulated Cold-Bag Checklist</a:t>
                      </a:r>
                    </a:p>
                    <a:p>
                      <a:r>
                        <a:t>FR-DEL-04: 4-Digit SMS OTP Handover</a:t>
                      </a:r>
                    </a:p>
                  </a:txBody>
                  <a:tcPr>
                    <a:solidFill>
                      <a:srgbClr val="F8FAFC"/>
                    </a:solidFill>
                  </a:tcPr>
                </a:tc>
                <a:tc>
                  <a:txBody>
                    <a:bodyPr/>
                    <a:lstStyle/>
                    <a:p>
                      <a:pPr>
                        <a:defRPr sz="900">
                          <a:solidFill>
                            <a:srgbClr val="1E293B"/>
                          </a:solidFill>
                        </a:defRPr>
                      </a:pPr>
                      <a:r>
                        <a:t>Secure Handover Verification</a:t>
                      </a:r>
                    </a:p>
                    <a:p>
                      <a:r>
                        <a:t>e-POD Stamp</a:t>
                      </a:r>
                    </a:p>
                  </a:txBody>
                  <a:tcPr>
                    <a:solidFill>
                      <a:srgbClr val="F8FAFC"/>
                    </a:solidFill>
                  </a:tcPr>
                </a:tc>
              </a:tr>
              <a:tr h="548640">
                <a:tc>
                  <a:txBody>
                    <a:bodyPr/>
                    <a:lstStyle/>
                    <a:p>
                      <a:pPr>
                        <a:defRPr sz="900">
                          <a:solidFill>
                            <a:srgbClr val="1E293B"/>
                          </a:solidFill>
                        </a:defRPr>
                      </a:pPr>
                      <a:r>
                        <a:t>Pharma Wholesaler</a:t>
                      </a:r>
                    </a:p>
                  </a:txBody>
                  <a:tcPr>
                    <a:solidFill>
                      <a:srgbClr val="FFFFFF"/>
                    </a:solidFill>
                  </a:tcPr>
                </a:tc>
                <a:tc>
                  <a:txBody>
                    <a:bodyPr/>
                    <a:lstStyle/>
                    <a:p>
                      <a:pPr>
                        <a:defRPr sz="900">
                          <a:solidFill>
                            <a:srgbClr val="1E293B"/>
                          </a:solidFill>
                        </a:defRPr>
                      </a:pPr>
                      <a:r>
                        <a:t>"I want transparent accounts so when the pharmacy sells my stock, I get paid accurately without disputes."</a:t>
                      </a:r>
                    </a:p>
                  </a:txBody>
                  <a:tcPr>
                    <a:solidFill>
                      <a:srgbClr val="FFFFFF"/>
                    </a:solidFill>
                  </a:tcPr>
                </a:tc>
                <a:tc>
                  <a:txBody>
                    <a:bodyPr/>
                    <a:lstStyle/>
                    <a:p>
                      <a:pPr>
                        <a:defRPr sz="900">
                          <a:solidFill>
                            <a:srgbClr val="1E293B"/>
                          </a:solidFill>
                        </a:defRPr>
                      </a:pPr>
                      <a:r>
                        <a:t>FR-SUP-01: Supplier Consignment Ledger</a:t>
                      </a:r>
                    </a:p>
                    <a:p>
                      <a:r>
                        <a:t>FR-SUP-02: Pay-on-Sale Settlement Voucher</a:t>
                      </a:r>
                    </a:p>
                    <a:p>
                      <a:r>
                        <a:t>FR-SUP-03: Supplier Return Reconciliation</a:t>
                      </a:r>
                    </a:p>
                  </a:txBody>
                  <a:tcPr>
                    <a:solidFill>
                      <a:srgbClr val="FFFFFF"/>
                    </a:solidFill>
                  </a:tcPr>
                </a:tc>
                <a:tc>
                  <a:txBody>
                    <a:bodyPr/>
                    <a:lstStyle/>
                    <a:p>
                      <a:pPr>
                        <a:defRPr sz="900">
                          <a:solidFill>
                            <a:srgbClr val="1E293B"/>
                          </a:solidFill>
                        </a:defRPr>
                      </a:pPr>
                      <a:r>
                        <a:t>Dynamic Sales Deduction</a:t>
                      </a:r>
                    </a:p>
                    <a:p>
                      <a:r>
                        <a:t>Settlement Audit Trail</a:t>
                      </a:r>
                    </a:p>
                  </a:txBody>
                  <a:tcPr>
                    <a:solidFill>
                      <a:srgbClr val="FFFFFF"/>
                    </a:solidFill>
                  </a:tcPr>
                </a:tc>
              </a:tr>
              <a:tr h="548640">
                <a:tc>
                  <a:txBody>
                    <a:bodyPr/>
                    <a:lstStyle/>
                    <a:p>
                      <a:pPr>
                        <a:defRPr sz="900">
                          <a:solidFill>
                            <a:srgbClr val="1E293B"/>
                          </a:solidFill>
                        </a:defRPr>
                      </a:pPr>
                      <a:r>
                        <a:t>Pharmacy Admin</a:t>
                      </a:r>
                    </a:p>
                  </a:txBody>
                  <a:tcPr>
                    <a:solidFill>
                      <a:srgbClr val="F8FAFC"/>
                    </a:solidFill>
                  </a:tcPr>
                </a:tc>
                <a:tc>
                  <a:txBody>
                    <a:bodyPr/>
                    <a:lstStyle/>
                    <a:p>
                      <a:pPr>
                        <a:defRPr sz="900">
                          <a:solidFill>
                            <a:srgbClr val="1E293B"/>
                          </a:solidFill>
                        </a:defRPr>
                      </a:pPr>
                      <a:r>
                        <a:t>"I need complete oversight: daily revenue, balanced cash drawer, no theft, and full audit logs of who did what."</a:t>
                      </a:r>
                    </a:p>
                  </a:txBody>
                  <a:tcPr>
                    <a:solidFill>
                      <a:srgbClr val="F8FAFC"/>
                    </a:solidFill>
                  </a:tcPr>
                </a:tc>
                <a:tc>
                  <a:txBody>
                    <a:bodyPr/>
                    <a:lstStyle/>
                    <a:p>
                      <a:pPr>
                        <a:defRPr sz="900">
                          <a:solidFill>
                            <a:srgbClr val="1E293B"/>
                          </a:solidFill>
                        </a:defRPr>
                      </a:pPr>
                      <a:r>
                        <a:t>FR-ADM-01: Daily Z-Report Reconciliation</a:t>
                      </a:r>
                    </a:p>
                    <a:p>
                      <a:r>
                        <a:t>FR-ADM-02: Immutable Audit Log Ledger</a:t>
                      </a:r>
                    </a:p>
                    <a:p>
                      <a:r>
                        <a:t>FR-ADM-03: Role-Based Access Control</a:t>
                      </a:r>
                    </a:p>
                  </a:txBody>
                  <a:tcPr>
                    <a:solidFill>
                      <a:srgbClr val="F8FAFC"/>
                    </a:solidFill>
                  </a:tcPr>
                </a:tc>
                <a:tc>
                  <a:txBody>
                    <a:bodyPr/>
                    <a:lstStyle/>
                    <a:p>
                      <a:pPr>
                        <a:defRPr sz="900">
                          <a:solidFill>
                            <a:srgbClr val="1E293B"/>
                          </a:solidFill>
                        </a:defRPr>
                      </a:pPr>
                      <a:r>
                        <a:t>Blind Cash Till Count</a:t>
                      </a:r>
                    </a:p>
                    <a:p>
                      <a:r>
                        <a:t>Cryptographic Audit Trail</a:t>
                      </a:r>
                    </a:p>
                  </a:txBody>
                  <a:tcPr>
                    <a:solidFill>
                      <a:srgbClr val="F8FA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SRS (REQUIREMENTS ENGINEERING)</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Software Requirements Specification (SRS) - IEEE 830 Architecture</a:t>
            </a:r>
          </a:p>
        </p:txBody>
      </p:sp>
      <p:sp>
        <p:nvSpPr>
          <p:cNvPr id="5" name="Rounded Rectangle 4"/>
          <p:cNvSpPr/>
          <p:nvPr/>
        </p:nvSpPr>
        <p:spPr>
          <a:xfrm>
            <a:off x="731520"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3328416"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19072"/>
            <a:ext cx="3328416" cy="457200"/>
          </a:xfrm>
          <a:prstGeom prst="rect">
            <a:avLst/>
          </a:prstGeom>
          <a:noFill/>
        </p:spPr>
        <p:txBody>
          <a:bodyPr wrap="none">
            <a:spAutoFit/>
          </a:bodyPr>
          <a:lstStyle/>
          <a:p>
            <a:pPr algn="ctr">
              <a:defRPr sz="1100" b="1">
                <a:solidFill>
                  <a:srgbClr val="FFFFFF"/>
                </a:solidFill>
              </a:defRPr>
            </a:pPr>
            <a:r>
              <a:t>1. Functional Requirements (FR)</a:t>
            </a:r>
          </a:p>
        </p:txBody>
      </p:sp>
      <p:sp>
        <p:nvSpPr>
          <p:cNvPr id="8" name="TextBox 7"/>
          <p:cNvSpPr txBox="1"/>
          <p:nvPr/>
        </p:nvSpPr>
        <p:spPr>
          <a:xfrm>
            <a:off x="868680" y="2331720"/>
            <a:ext cx="3054096" cy="3840480"/>
          </a:xfrm>
          <a:prstGeom prst="rect">
            <a:avLst/>
          </a:prstGeom>
          <a:noFill/>
        </p:spPr>
        <p:txBody>
          <a:bodyPr wrap="square">
            <a:spAutoFit/>
          </a:bodyPr>
          <a:lstStyle/>
          <a:p>
            <a:pPr>
              <a:spcAft>
                <a:spcPts val="250"/>
              </a:spcAft>
              <a:defRPr sz="950">
                <a:solidFill>
                  <a:srgbClr val="1E293B"/>
                </a:solidFill>
              </a:defRPr>
            </a:pPr>
            <a:r>
              <a:t>System Capabilities:</a:t>
            </a:r>
          </a:p>
          <a:p>
            <a:pPr>
              <a:spcAft>
                <a:spcPts val="250"/>
              </a:spcAft>
              <a:defRPr sz="950">
                <a:solidFill>
                  <a:srgbClr val="1E293B"/>
                </a:solidFill>
              </a:defRPr>
            </a:pPr>
          </a:p>
          <a:p>
            <a:pPr>
              <a:spcAft>
                <a:spcPts val="250"/>
              </a:spcAft>
              <a:defRPr sz="950">
                <a:solidFill>
                  <a:srgbClr val="1E293B"/>
                </a:solidFill>
              </a:defRPr>
            </a:pPr>
            <a:r>
              <a:t>• FR-01 (Clinical): Automated CDSS drug-allergy and drug-drug interaction matrix validation.</a:t>
            </a:r>
          </a:p>
          <a:p>
            <a:pPr>
              <a:spcAft>
                <a:spcPts val="250"/>
              </a:spcAft>
              <a:defRPr sz="950">
                <a:solidFill>
                  <a:srgbClr val="1E293B"/>
                </a:solidFill>
              </a:defRPr>
            </a:pPr>
            <a:r>
              <a:t>• FR-02 (Supply Chain): Algorithmic FEFO batch dispatch and dynamic ROP reorder calculation.</a:t>
            </a:r>
          </a:p>
          <a:p>
            <a:pPr>
              <a:spcAft>
                <a:spcPts val="250"/>
              </a:spcAft>
              <a:defRPr sz="950">
                <a:solidFill>
                  <a:srgbClr val="1E293B"/>
                </a:solidFill>
              </a:defRPr>
            </a:pPr>
            <a:r>
              <a:t>• FR-03 (Commerce): Multi-tender split POS checkout (Cash, UPI QR, Card) with 80mm GST thermal printing.</a:t>
            </a:r>
          </a:p>
          <a:p>
            <a:pPr>
              <a:spcAft>
                <a:spcPts val="250"/>
              </a:spcAft>
              <a:defRPr sz="950">
                <a:solidFill>
                  <a:srgbClr val="1E293B"/>
                </a:solidFill>
              </a:defRPr>
            </a:pPr>
            <a:r>
              <a:t>• FR-04 (Logistics): Dispatch queue with 4-digit SMS OTP electronic Proof-of-Delivery (e-POD).</a:t>
            </a:r>
          </a:p>
          <a:p>
            <a:pPr>
              <a:spcAft>
                <a:spcPts val="250"/>
              </a:spcAft>
              <a:defRPr sz="950">
                <a:solidFill>
                  <a:srgbClr val="1E293B"/>
                </a:solidFill>
              </a:defRPr>
            </a:pPr>
            <a:r>
              <a:t>• FR-05 (Consignment): Pay-on-Sale supplier ledger deducting payable liability only upon POS sale.</a:t>
            </a:r>
          </a:p>
        </p:txBody>
      </p:sp>
      <p:sp>
        <p:nvSpPr>
          <p:cNvPr id="9" name="Rounded Rectangle 8"/>
          <p:cNvSpPr/>
          <p:nvPr/>
        </p:nvSpPr>
        <p:spPr>
          <a:xfrm>
            <a:off x="4425696"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645920"/>
            <a:ext cx="3328416"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1719072"/>
            <a:ext cx="3328416" cy="457200"/>
          </a:xfrm>
          <a:prstGeom prst="rect">
            <a:avLst/>
          </a:prstGeom>
          <a:noFill/>
        </p:spPr>
        <p:txBody>
          <a:bodyPr wrap="none">
            <a:spAutoFit/>
          </a:bodyPr>
          <a:lstStyle/>
          <a:p>
            <a:pPr algn="ctr">
              <a:defRPr sz="1100" b="1">
                <a:solidFill>
                  <a:srgbClr val="FFFFFF"/>
                </a:solidFill>
              </a:defRPr>
            </a:pPr>
            <a:r>
              <a:t>2. Non-Functional Requirements (NFR)</a:t>
            </a:r>
          </a:p>
        </p:txBody>
      </p:sp>
      <p:sp>
        <p:nvSpPr>
          <p:cNvPr id="12" name="TextBox 11"/>
          <p:cNvSpPr txBox="1"/>
          <p:nvPr/>
        </p:nvSpPr>
        <p:spPr>
          <a:xfrm>
            <a:off x="4562856" y="2331720"/>
            <a:ext cx="3054096" cy="3840480"/>
          </a:xfrm>
          <a:prstGeom prst="rect">
            <a:avLst/>
          </a:prstGeom>
          <a:noFill/>
        </p:spPr>
        <p:txBody>
          <a:bodyPr wrap="square">
            <a:spAutoFit/>
          </a:bodyPr>
          <a:lstStyle/>
          <a:p>
            <a:pPr>
              <a:spcAft>
                <a:spcPts val="250"/>
              </a:spcAft>
              <a:defRPr sz="950">
                <a:solidFill>
                  <a:srgbClr val="1E293B"/>
                </a:solidFill>
              </a:defRPr>
            </a:pPr>
            <a:r>
              <a:t>Engineering Attributes:</a:t>
            </a:r>
          </a:p>
          <a:p>
            <a:pPr>
              <a:spcAft>
                <a:spcPts val="250"/>
              </a:spcAft>
              <a:defRPr sz="950">
                <a:solidFill>
                  <a:srgbClr val="1E293B"/>
                </a:solidFill>
              </a:defRPr>
            </a:pPr>
          </a:p>
          <a:p>
            <a:pPr>
              <a:spcAft>
                <a:spcPts val="250"/>
              </a:spcAft>
              <a:defRPr sz="950">
                <a:solidFill>
                  <a:srgbClr val="1E293B"/>
                </a:solidFill>
              </a:defRPr>
            </a:pPr>
            <a:r>
              <a:t>• NFR-01 (Performance): Point-of-Sale barcode query and checkout latency &lt; 200 ms under 10,000 SKUs.</a:t>
            </a:r>
          </a:p>
          <a:p>
            <a:pPr>
              <a:spcAft>
                <a:spcPts val="250"/>
              </a:spcAft>
              <a:defRPr sz="950">
                <a:solidFill>
                  <a:srgbClr val="1E293B"/>
                </a:solidFill>
              </a:defRPr>
            </a:pPr>
            <a:r>
              <a:t>• NFR-02 (Security): Role-Based Access Control (RBAC), bcrypt password hashing, and SHA-256 audit chaining.</a:t>
            </a:r>
          </a:p>
          <a:p>
            <a:pPr>
              <a:spcAft>
                <a:spcPts val="250"/>
              </a:spcAft>
              <a:defRPr sz="950">
                <a:solidFill>
                  <a:srgbClr val="1E293B"/>
                </a:solidFill>
              </a:defRPr>
            </a:pPr>
            <a:r>
              <a:t>• NFR-03 (Availability): 99.9% uptime with offline SQLite resilience and dual-station sync.</a:t>
            </a:r>
          </a:p>
          <a:p>
            <a:pPr>
              <a:spcAft>
                <a:spcPts val="250"/>
              </a:spcAft>
              <a:defRPr sz="950">
                <a:solidFill>
                  <a:srgbClr val="1E293B"/>
                </a:solidFill>
              </a:defRPr>
            </a:pPr>
            <a:r>
              <a:t>• NFR-04 (Integrity): Zero data loss via ACID transactions, foreign key cascades, and atomic rollback guarantees.</a:t>
            </a:r>
          </a:p>
        </p:txBody>
      </p:sp>
      <p:sp>
        <p:nvSpPr>
          <p:cNvPr id="13" name="Rounded Rectangle 12"/>
          <p:cNvSpPr/>
          <p:nvPr/>
        </p:nvSpPr>
        <p:spPr>
          <a:xfrm>
            <a:off x="8119872"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645920"/>
            <a:ext cx="3328416" cy="5486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719072"/>
            <a:ext cx="3328416" cy="457200"/>
          </a:xfrm>
          <a:prstGeom prst="rect">
            <a:avLst/>
          </a:prstGeom>
          <a:noFill/>
        </p:spPr>
        <p:txBody>
          <a:bodyPr wrap="none">
            <a:spAutoFit/>
          </a:bodyPr>
          <a:lstStyle/>
          <a:p>
            <a:pPr algn="ctr">
              <a:defRPr sz="1100" b="1">
                <a:solidFill>
                  <a:srgbClr val="FFFFFF"/>
                </a:solidFill>
              </a:defRPr>
            </a:pPr>
            <a:r>
              <a:t>3. Interface &amp; Regulatory Constraints</a:t>
            </a:r>
          </a:p>
        </p:txBody>
      </p:sp>
      <p:sp>
        <p:nvSpPr>
          <p:cNvPr id="16" name="TextBox 15"/>
          <p:cNvSpPr txBox="1"/>
          <p:nvPr/>
        </p:nvSpPr>
        <p:spPr>
          <a:xfrm>
            <a:off x="8257032" y="2331720"/>
            <a:ext cx="3054096" cy="3840480"/>
          </a:xfrm>
          <a:prstGeom prst="rect">
            <a:avLst/>
          </a:prstGeom>
          <a:noFill/>
        </p:spPr>
        <p:txBody>
          <a:bodyPr wrap="square">
            <a:spAutoFit/>
          </a:bodyPr>
          <a:lstStyle/>
          <a:p>
            <a:pPr>
              <a:spcAft>
                <a:spcPts val="250"/>
              </a:spcAft>
              <a:defRPr sz="950">
                <a:solidFill>
                  <a:srgbClr val="1E293B"/>
                </a:solidFill>
              </a:defRPr>
            </a:pPr>
            <a:r>
              <a:t>Compliance Frameworks:</a:t>
            </a:r>
          </a:p>
          <a:p>
            <a:pPr>
              <a:spcAft>
                <a:spcPts val="250"/>
              </a:spcAft>
              <a:defRPr sz="950">
                <a:solidFill>
                  <a:srgbClr val="1E293B"/>
                </a:solidFill>
              </a:defRPr>
            </a:pPr>
          </a:p>
          <a:p>
            <a:pPr>
              <a:spcAft>
                <a:spcPts val="250"/>
              </a:spcAft>
              <a:defRPr sz="950">
                <a:solidFill>
                  <a:srgbClr val="1E293B"/>
                </a:solidFill>
              </a:defRPr>
            </a:pPr>
            <a:r>
              <a:t>• External Hardware: Esc/POS thermal printers, 1D/2D USB barcode guns, and IoT temperature probes.</a:t>
            </a:r>
          </a:p>
          <a:p>
            <a:pPr>
              <a:spcAft>
                <a:spcPts val="250"/>
              </a:spcAft>
              <a:defRPr sz="950">
                <a:solidFill>
                  <a:srgbClr val="1E293B"/>
                </a:solidFill>
              </a:defRPr>
            </a:pPr>
            <a:r>
              <a:t>• Regulatory Acts: Strict compliance with Drugs &amp; Cosmetics Act 1940 (Schedule H, H1, X dual-PIN logging).</a:t>
            </a:r>
          </a:p>
          <a:p>
            <a:pPr>
              <a:spcAft>
                <a:spcPts val="250"/>
              </a:spcAft>
              <a:defRPr sz="950">
                <a:solidFill>
                  <a:srgbClr val="1E293B"/>
                </a:solidFill>
              </a:defRPr>
            </a:pPr>
            <a:r>
              <a:t>• Tax Standard: Indian GST Act (CGST 6% + SGST 6% itemized split computation).</a:t>
            </a:r>
          </a:p>
          <a:p>
            <a:pPr>
              <a:spcAft>
                <a:spcPts val="250"/>
              </a:spcAft>
              <a:defRPr sz="950">
                <a:solidFill>
                  <a:srgbClr val="1E293B"/>
                </a:solidFill>
              </a:defRPr>
            </a:pPr>
            <a:r>
              <a:t>• GAMP-5 Standards: Good Automated Manufacturing Practice validation for healthcare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PROCESS COMPLETENESS &amp; MAIN SYSTEM WORKFLOW</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End-to-End Pharmacy Workflow: Complete 17-Stage Operational Chain</a:t>
            </a:r>
          </a:p>
        </p:txBody>
      </p:sp>
      <p:sp>
        <p:nvSpPr>
          <p:cNvPr id="5" name="Rounded Rectangle 4"/>
          <p:cNvSpPr/>
          <p:nvPr/>
        </p:nvSpPr>
        <p:spPr>
          <a:xfrm>
            <a:off x="731520" y="1600200"/>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1092708"/>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1001268"/>
          </a:xfrm>
          <a:prstGeom prst="rect">
            <a:avLst/>
          </a:prstGeom>
          <a:noFill/>
        </p:spPr>
        <p:txBody>
          <a:bodyPr wrap="square">
            <a:spAutoFit/>
          </a:bodyPr>
          <a:lstStyle/>
          <a:p>
            <a:pPr>
              <a:spcAft>
                <a:spcPts val="200"/>
              </a:spcAft>
              <a:defRPr sz="1150" b="1">
                <a:solidFill>
                  <a:srgbClr val="0A2540"/>
                </a:solidFill>
              </a:defRPr>
            </a:pPr>
            <a:r>
              <a:t>Phase I: Inbound Procurement &amp; Quality Receiving (Steps 1 to 5)</a:t>
            </a:r>
          </a:p>
          <a:p>
            <a:pPr>
              <a:spcAft>
                <a:spcPts val="100"/>
              </a:spcAft>
              <a:defRPr sz="1000">
                <a:solidFill>
                  <a:srgbClr val="1E293B"/>
                </a:solidFill>
              </a:defRPr>
            </a:pPr>
            <a:r>
              <a:t>1. Wholesaler / Supplier Master -&gt; 2. Purchase Planning (Demand Velocity &amp; Lead Time) -&gt; 3. Purchase Order (PO) Generation -&gt; 4. Goods Receipt Note (GRN) Inwarding -&gt; 5. Physical Inspection &amp; Expiry Date Verification (&lt;180d rejected). Stock enters Pay-on-Sale consignment ledger at ₹0 upfront capital.</a:t>
            </a:r>
          </a:p>
        </p:txBody>
      </p:sp>
      <p:sp>
        <p:nvSpPr>
          <p:cNvPr id="8" name="Rounded Rectangle 7"/>
          <p:cNvSpPr/>
          <p:nvPr/>
        </p:nvSpPr>
        <p:spPr>
          <a:xfrm>
            <a:off x="731520" y="2820924"/>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20924"/>
            <a:ext cx="109728" cy="109270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66644"/>
            <a:ext cx="10287000" cy="1001268"/>
          </a:xfrm>
          <a:prstGeom prst="rect">
            <a:avLst/>
          </a:prstGeom>
          <a:noFill/>
        </p:spPr>
        <p:txBody>
          <a:bodyPr wrap="square">
            <a:spAutoFit/>
          </a:bodyPr>
          <a:lstStyle/>
          <a:p>
            <a:pPr>
              <a:spcAft>
                <a:spcPts val="200"/>
              </a:spcAft>
              <a:defRPr sz="1150" b="1">
                <a:solidFill>
                  <a:srgbClr val="0A2540"/>
                </a:solidFill>
              </a:defRPr>
            </a:pPr>
            <a:r>
              <a:t>Phase II: Warehouse Storage &amp; Lean Replenishment (Steps 6 to 8)</a:t>
            </a:r>
          </a:p>
          <a:p>
            <a:pPr>
              <a:spcAft>
                <a:spcPts val="100"/>
              </a:spcAft>
              <a:defRPr sz="1000">
                <a:solidFill>
                  <a:srgbClr val="1E293B"/>
                </a:solidFill>
              </a:defRPr>
            </a:pPr>
            <a:r>
              <a:t>6. Master Inventory Putaway (Rack allocation) -&gt; 7. Replenishment Execution (Dynamic Reorder Point ROP &amp; Two-Bin Kanban) -&gt; 8. IoT Cold-Chain Monitoring (Continuous 2.0°C–8.0°C telemetry with acoustic excursion alarms).</a:t>
            </a:r>
          </a:p>
        </p:txBody>
      </p:sp>
      <p:sp>
        <p:nvSpPr>
          <p:cNvPr id="11" name="Rounded Rectangle 10"/>
          <p:cNvSpPr/>
          <p:nvPr/>
        </p:nvSpPr>
        <p:spPr>
          <a:xfrm>
            <a:off x="731520" y="4041648"/>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41648"/>
            <a:ext cx="109728" cy="10927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87368"/>
            <a:ext cx="10287000" cy="1001268"/>
          </a:xfrm>
          <a:prstGeom prst="rect">
            <a:avLst/>
          </a:prstGeom>
          <a:noFill/>
        </p:spPr>
        <p:txBody>
          <a:bodyPr wrap="square">
            <a:spAutoFit/>
          </a:bodyPr>
          <a:lstStyle/>
          <a:p>
            <a:pPr>
              <a:spcAft>
                <a:spcPts val="200"/>
              </a:spcAft>
              <a:defRPr sz="1150" b="1">
                <a:solidFill>
                  <a:srgbClr val="0A2540"/>
                </a:solidFill>
              </a:defRPr>
            </a:pPr>
            <a:r>
              <a:t>Phase III: Clinical Verification &amp; POS Dispensing (Steps 9 to 13)</a:t>
            </a:r>
          </a:p>
          <a:p>
            <a:pPr>
              <a:spcAft>
                <a:spcPts val="100"/>
              </a:spcAft>
              <a:defRPr sz="1000">
                <a:solidFill>
                  <a:srgbClr val="1E293B"/>
                </a:solidFill>
              </a:defRPr>
            </a:pPr>
            <a:r>
              <a:t>9. Digital Prescription Intake (eRx) -&gt; 10. Clinical Pharmacist Verification -&gt; 11. CDSS Allergy &amp; Drug Interaction Screening (Shingo Poka-Yoke hard-stop) -&gt; 12. FEFO Algorithmic Dispensing -&gt; 13. POS Checkout &amp; Split Tender (Cash change calculator, Dynamic UPI QR, Card).</a:t>
            </a:r>
          </a:p>
        </p:txBody>
      </p:sp>
      <p:sp>
        <p:nvSpPr>
          <p:cNvPr id="14" name="Rounded Rectangle 13"/>
          <p:cNvSpPr/>
          <p:nvPr/>
        </p:nvSpPr>
        <p:spPr>
          <a:xfrm>
            <a:off x="731520" y="5262372"/>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262372"/>
            <a:ext cx="109728" cy="10927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308092"/>
            <a:ext cx="10287000" cy="1001268"/>
          </a:xfrm>
          <a:prstGeom prst="rect">
            <a:avLst/>
          </a:prstGeom>
          <a:noFill/>
        </p:spPr>
        <p:txBody>
          <a:bodyPr wrap="square">
            <a:spAutoFit/>
          </a:bodyPr>
          <a:lstStyle/>
          <a:p>
            <a:pPr>
              <a:spcAft>
                <a:spcPts val="200"/>
              </a:spcAft>
              <a:defRPr sz="1150" b="1">
                <a:solidFill>
                  <a:srgbClr val="0A2540"/>
                </a:solidFill>
              </a:defRPr>
            </a:pPr>
            <a:r>
              <a:t>Phase IV: Last-Mile Delivery, Returns &amp; Governance (Steps 14 to 17)</a:t>
            </a:r>
          </a:p>
          <a:p>
            <a:pPr>
              <a:spcAft>
                <a:spcPts val="100"/>
              </a:spcAft>
              <a:defRPr sz="1000">
                <a:solidFill>
                  <a:srgbClr val="1E293B"/>
                </a:solidFill>
              </a:defRPr>
            </a:pPr>
            <a:r>
              <a:t>14. Home Delivery Fleet Dispatch &amp; 4-Digit SMS OTP Handover -&gt; 15. Customer Returns / Supplier Consignment Settlement -&gt; 16. Real-Time Inventory Ledger Update -&gt; 17. Daily Z-Report Cash Reconciliation &amp; Immutable Audit Trail Logging.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MODULES AND FEATURES</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System Decomposition: The 6 Prioritized Core Modules</a:t>
            </a:r>
          </a:p>
        </p:txBody>
      </p:sp>
      <p:sp>
        <p:nvSpPr>
          <p:cNvPr id="5" name="Rounded Rectangle 4"/>
          <p:cNvSpPr/>
          <p:nvPr/>
        </p:nvSpPr>
        <p:spPr>
          <a:xfrm>
            <a:off x="731520" y="164592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3328416" cy="3657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82496"/>
            <a:ext cx="3328416" cy="320040"/>
          </a:xfrm>
          <a:prstGeom prst="rect">
            <a:avLst/>
          </a:prstGeom>
          <a:noFill/>
        </p:spPr>
        <p:txBody>
          <a:bodyPr wrap="none">
            <a:spAutoFit/>
          </a:bodyPr>
          <a:lstStyle/>
          <a:p>
            <a:pPr algn="ctr">
              <a:defRPr sz="1050" b="1">
                <a:solidFill>
                  <a:srgbClr val="FFFFFF"/>
                </a:solidFill>
              </a:defRPr>
            </a:pPr>
            <a:r>
              <a:t>1. Product &amp; Medicine Master</a:t>
            </a:r>
          </a:p>
        </p:txBody>
      </p:sp>
      <p:sp>
        <p:nvSpPr>
          <p:cNvPr id="8" name="TextBox 7"/>
          <p:cNvSpPr txBox="1"/>
          <p:nvPr/>
        </p:nvSpPr>
        <p:spPr>
          <a:xfrm>
            <a:off x="841248" y="2057400"/>
            <a:ext cx="3108960" cy="1783080"/>
          </a:xfrm>
          <a:prstGeom prst="rect">
            <a:avLst/>
          </a:prstGeom>
          <a:noFill/>
        </p:spPr>
        <p:txBody>
          <a:bodyPr wrap="square">
            <a:spAutoFit/>
          </a:bodyPr>
          <a:lstStyle/>
          <a:p>
            <a:pPr>
              <a:spcAft>
                <a:spcPts val="150"/>
              </a:spcAft>
              <a:defRPr sz="900">
                <a:solidFill>
                  <a:srgbClr val="1E293B"/>
                </a:solidFill>
              </a:defRPr>
            </a:pPr>
            <a:r>
              <a:t>• SKU, brand &amp; generic salt master.</a:t>
            </a:r>
          </a:p>
          <a:p>
            <a:pPr>
              <a:spcAft>
                <a:spcPts val="150"/>
              </a:spcAft>
              <a:defRPr sz="900">
                <a:solidFill>
                  <a:srgbClr val="1E293B"/>
                </a:solidFill>
              </a:defRPr>
            </a:pPr>
            <a:r>
              <a:t>• Therapeutic category &amp; rack location.</a:t>
            </a:r>
          </a:p>
          <a:p>
            <a:pPr>
              <a:spcAft>
                <a:spcPts val="150"/>
              </a:spcAft>
              <a:defRPr sz="900">
                <a:solidFill>
                  <a:srgbClr val="1E293B"/>
                </a:solidFill>
              </a:defRPr>
            </a:pPr>
            <a:r>
              <a:t>• Schedule H / X narcotic flag.</a:t>
            </a:r>
          </a:p>
          <a:p>
            <a:pPr>
              <a:spcAft>
                <a:spcPts val="150"/>
              </a:spcAft>
              <a:defRPr sz="900">
                <a:solidFill>
                  <a:srgbClr val="1E293B"/>
                </a:solidFill>
              </a:defRPr>
            </a:pPr>
            <a:r>
              <a:t>• Cold-chain (2-8°C) boolean flag.</a:t>
            </a:r>
          </a:p>
          <a:p>
            <a:pPr>
              <a:spcAft>
                <a:spcPts val="150"/>
              </a:spcAft>
              <a:defRPr sz="900">
                <a:solidFill>
                  <a:srgbClr val="1E293B"/>
                </a:solidFill>
              </a:defRPr>
            </a:pPr>
            <a:r>
              <a:t>• MRP, dealer cost, and GST %.</a:t>
            </a:r>
          </a:p>
          <a:p>
            <a:pPr>
              <a:spcAft>
                <a:spcPts val="150"/>
              </a:spcAft>
              <a:defRPr sz="900">
                <a:solidFill>
                  <a:srgbClr val="1E293B"/>
                </a:solidFill>
              </a:defRPr>
            </a:pPr>
            <a:r>
              <a:t>• Drug interaction rule definitions.</a:t>
            </a:r>
          </a:p>
        </p:txBody>
      </p:sp>
      <p:sp>
        <p:nvSpPr>
          <p:cNvPr id="9" name="Rounded Rectangle 8"/>
          <p:cNvSpPr/>
          <p:nvPr/>
        </p:nvSpPr>
        <p:spPr>
          <a:xfrm>
            <a:off x="4425696" y="164592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645920"/>
            <a:ext cx="3328416"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1682496"/>
            <a:ext cx="3328416" cy="320040"/>
          </a:xfrm>
          <a:prstGeom prst="rect">
            <a:avLst/>
          </a:prstGeom>
          <a:noFill/>
        </p:spPr>
        <p:txBody>
          <a:bodyPr wrap="none">
            <a:spAutoFit/>
          </a:bodyPr>
          <a:lstStyle/>
          <a:p>
            <a:pPr algn="ctr">
              <a:defRPr sz="1050" b="1">
                <a:solidFill>
                  <a:srgbClr val="FFFFFF"/>
                </a:solidFill>
              </a:defRPr>
            </a:pPr>
            <a:r>
              <a:t>2. Supplier &amp; Purchase/GRN</a:t>
            </a:r>
          </a:p>
        </p:txBody>
      </p:sp>
      <p:sp>
        <p:nvSpPr>
          <p:cNvPr id="12" name="TextBox 11"/>
          <p:cNvSpPr txBox="1"/>
          <p:nvPr/>
        </p:nvSpPr>
        <p:spPr>
          <a:xfrm>
            <a:off x="4535424" y="2057400"/>
            <a:ext cx="3108960" cy="1783080"/>
          </a:xfrm>
          <a:prstGeom prst="rect">
            <a:avLst/>
          </a:prstGeom>
          <a:noFill/>
        </p:spPr>
        <p:txBody>
          <a:bodyPr wrap="square">
            <a:spAutoFit/>
          </a:bodyPr>
          <a:lstStyle/>
          <a:p>
            <a:pPr>
              <a:spcAft>
                <a:spcPts val="150"/>
              </a:spcAft>
              <a:defRPr sz="900">
                <a:solidFill>
                  <a:srgbClr val="1E293B"/>
                </a:solidFill>
              </a:defRPr>
            </a:pPr>
            <a:r>
              <a:t>• Approved vendor registry &amp; terms.</a:t>
            </a:r>
          </a:p>
          <a:p>
            <a:pPr>
              <a:spcAft>
                <a:spcPts val="150"/>
              </a:spcAft>
              <a:defRPr sz="900">
                <a:solidFill>
                  <a:srgbClr val="1E293B"/>
                </a:solidFill>
              </a:defRPr>
            </a:pPr>
            <a:r>
              <a:t>• Automated PO generation based on ROP.</a:t>
            </a:r>
          </a:p>
          <a:p>
            <a:pPr>
              <a:spcAft>
                <a:spcPts val="150"/>
              </a:spcAft>
              <a:defRPr sz="900">
                <a:solidFill>
                  <a:srgbClr val="1E293B"/>
                </a:solidFill>
              </a:defRPr>
            </a:pPr>
            <a:r>
              <a:t>• Inward Goods Receipt Note (GRN).</a:t>
            </a:r>
          </a:p>
          <a:p>
            <a:pPr>
              <a:spcAft>
                <a:spcPts val="150"/>
              </a:spcAft>
              <a:defRPr sz="900">
                <a:solidFill>
                  <a:srgbClr val="1E293B"/>
                </a:solidFill>
              </a:defRPr>
            </a:pPr>
            <a:r>
              <a:t>• Pay-on-Sale consignment inwarding.</a:t>
            </a:r>
          </a:p>
          <a:p>
            <a:pPr>
              <a:spcAft>
                <a:spcPts val="150"/>
              </a:spcAft>
              <a:defRPr sz="900">
                <a:solidFill>
                  <a:srgbClr val="1E293B"/>
                </a:solidFill>
              </a:defRPr>
            </a:pPr>
            <a:r>
              <a:t>• Zero upfront dealer capital lock-in.</a:t>
            </a:r>
          </a:p>
          <a:p>
            <a:pPr>
              <a:spcAft>
                <a:spcPts val="150"/>
              </a:spcAft>
              <a:defRPr sz="900">
                <a:solidFill>
                  <a:srgbClr val="1E293B"/>
                </a:solidFill>
              </a:defRPr>
            </a:pPr>
            <a:r>
              <a:t>• Discrepancy &amp; damage logging.</a:t>
            </a:r>
          </a:p>
        </p:txBody>
      </p:sp>
      <p:sp>
        <p:nvSpPr>
          <p:cNvPr id="13" name="Rounded Rectangle 12"/>
          <p:cNvSpPr/>
          <p:nvPr/>
        </p:nvSpPr>
        <p:spPr>
          <a:xfrm>
            <a:off x="8119872" y="164592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645920"/>
            <a:ext cx="3328416" cy="36576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682496"/>
            <a:ext cx="3328416" cy="320040"/>
          </a:xfrm>
          <a:prstGeom prst="rect">
            <a:avLst/>
          </a:prstGeom>
          <a:noFill/>
        </p:spPr>
        <p:txBody>
          <a:bodyPr wrap="none">
            <a:spAutoFit/>
          </a:bodyPr>
          <a:lstStyle/>
          <a:p>
            <a:pPr algn="ctr">
              <a:defRPr sz="1050" b="1">
                <a:solidFill>
                  <a:srgbClr val="FFFFFF"/>
                </a:solidFill>
              </a:defRPr>
            </a:pPr>
            <a:r>
              <a:t>3. Inventory &amp; FEFO Ledger</a:t>
            </a:r>
          </a:p>
        </p:txBody>
      </p:sp>
      <p:sp>
        <p:nvSpPr>
          <p:cNvPr id="16" name="TextBox 15"/>
          <p:cNvSpPr txBox="1"/>
          <p:nvPr/>
        </p:nvSpPr>
        <p:spPr>
          <a:xfrm>
            <a:off x="8229600" y="2057400"/>
            <a:ext cx="3108960" cy="1783080"/>
          </a:xfrm>
          <a:prstGeom prst="rect">
            <a:avLst/>
          </a:prstGeom>
          <a:noFill/>
        </p:spPr>
        <p:txBody>
          <a:bodyPr wrap="square">
            <a:spAutoFit/>
          </a:bodyPr>
          <a:lstStyle/>
          <a:p>
            <a:pPr>
              <a:spcAft>
                <a:spcPts val="150"/>
              </a:spcAft>
              <a:defRPr sz="900">
                <a:solidFill>
                  <a:srgbClr val="1E293B"/>
                </a:solidFill>
              </a:defRPr>
            </a:pPr>
            <a:r>
              <a:t>• Multi-batch inventory tracking.</a:t>
            </a:r>
          </a:p>
          <a:p>
            <a:pPr>
              <a:spcAft>
                <a:spcPts val="150"/>
              </a:spcAft>
              <a:defRPr sz="900">
                <a:solidFill>
                  <a:srgbClr val="1E293B"/>
                </a:solidFill>
              </a:defRPr>
            </a:pPr>
            <a:r>
              <a:t>• Automated FEFO picking sequence.</a:t>
            </a:r>
          </a:p>
          <a:p>
            <a:pPr>
              <a:spcAft>
                <a:spcPts val="150"/>
              </a:spcAft>
              <a:defRPr sz="900">
                <a:solidFill>
                  <a:srgbClr val="1E293B"/>
                </a:solidFill>
              </a:defRPr>
            </a:pPr>
            <a:r>
              <a:t>• Visual countdown badges (&lt;30d, &lt;90d).</a:t>
            </a:r>
          </a:p>
          <a:p>
            <a:pPr>
              <a:spcAft>
                <a:spcPts val="150"/>
              </a:spcAft>
              <a:defRPr sz="900">
                <a:solidFill>
                  <a:srgbClr val="1E293B"/>
                </a:solidFill>
              </a:defRPr>
            </a:pPr>
            <a:r>
              <a:t>• Perpetual inventory balance ledger.</a:t>
            </a:r>
          </a:p>
          <a:p>
            <a:pPr>
              <a:spcAft>
                <a:spcPts val="150"/>
              </a:spcAft>
              <a:defRPr sz="900">
                <a:solidFill>
                  <a:srgbClr val="1E293B"/>
                </a:solidFill>
              </a:defRPr>
            </a:pPr>
            <a:r>
              <a:t>• Storage bin &amp; rack allocation.</a:t>
            </a:r>
          </a:p>
          <a:p>
            <a:pPr>
              <a:spcAft>
                <a:spcPts val="150"/>
              </a:spcAft>
              <a:defRPr sz="900">
                <a:solidFill>
                  <a:srgbClr val="1E293B"/>
                </a:solidFill>
              </a:defRPr>
            </a:pPr>
            <a:r>
              <a:t>• Cold-chain IoT fridge telemetry.</a:t>
            </a:r>
          </a:p>
        </p:txBody>
      </p:sp>
      <p:sp>
        <p:nvSpPr>
          <p:cNvPr id="17" name="Rounded Rectangle 16"/>
          <p:cNvSpPr/>
          <p:nvPr/>
        </p:nvSpPr>
        <p:spPr>
          <a:xfrm>
            <a:off x="731520" y="406908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069080"/>
            <a:ext cx="3328416" cy="36576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05656"/>
            <a:ext cx="3328416" cy="320040"/>
          </a:xfrm>
          <a:prstGeom prst="rect">
            <a:avLst/>
          </a:prstGeom>
          <a:noFill/>
        </p:spPr>
        <p:txBody>
          <a:bodyPr wrap="none">
            <a:spAutoFit/>
          </a:bodyPr>
          <a:lstStyle/>
          <a:p>
            <a:pPr algn="ctr">
              <a:defRPr sz="1050" b="1">
                <a:solidFill>
                  <a:srgbClr val="FFFFFF"/>
                </a:solidFill>
              </a:defRPr>
            </a:pPr>
            <a:r>
              <a:t>4. Prescription &amp; CDSS Shield</a:t>
            </a:r>
          </a:p>
        </p:txBody>
      </p:sp>
      <p:sp>
        <p:nvSpPr>
          <p:cNvPr id="20" name="TextBox 19"/>
          <p:cNvSpPr txBox="1"/>
          <p:nvPr/>
        </p:nvSpPr>
        <p:spPr>
          <a:xfrm>
            <a:off x="841248" y="4480560"/>
            <a:ext cx="3108960" cy="1783080"/>
          </a:xfrm>
          <a:prstGeom prst="rect">
            <a:avLst/>
          </a:prstGeom>
          <a:noFill/>
        </p:spPr>
        <p:txBody>
          <a:bodyPr wrap="square">
            <a:spAutoFit/>
          </a:bodyPr>
          <a:lstStyle/>
          <a:p>
            <a:pPr>
              <a:spcAft>
                <a:spcPts val="150"/>
              </a:spcAft>
              <a:defRPr sz="900">
                <a:solidFill>
                  <a:srgbClr val="1E293B"/>
                </a:solidFill>
              </a:defRPr>
            </a:pPr>
            <a:r>
              <a:t>• Digital eRx intake &amp; patient linkage.</a:t>
            </a:r>
          </a:p>
          <a:p>
            <a:pPr>
              <a:spcAft>
                <a:spcPts val="150"/>
              </a:spcAft>
              <a:defRPr sz="900">
                <a:solidFill>
                  <a:srgbClr val="1E293B"/>
                </a:solidFill>
              </a:defRPr>
            </a:pPr>
            <a:r>
              <a:t>• CDSS allergy cross-check engine.</a:t>
            </a:r>
          </a:p>
          <a:p>
            <a:pPr>
              <a:spcAft>
                <a:spcPts val="150"/>
              </a:spcAft>
              <a:defRPr sz="900">
                <a:solidFill>
                  <a:srgbClr val="1E293B"/>
                </a:solidFill>
              </a:defRPr>
            </a:pPr>
            <a:r>
              <a:t>• Toxic drug-drug interaction shield.</a:t>
            </a:r>
          </a:p>
          <a:p>
            <a:pPr>
              <a:spcAft>
                <a:spcPts val="150"/>
              </a:spcAft>
              <a:defRPr sz="900">
                <a:solidFill>
                  <a:srgbClr val="1E293B"/>
                </a:solidFill>
              </a:defRPr>
            </a:pPr>
            <a:r>
              <a:t>• Shingo Poka-Yoke checkout lockout.</a:t>
            </a:r>
          </a:p>
          <a:p>
            <a:pPr>
              <a:spcAft>
                <a:spcPts val="150"/>
              </a:spcAft>
              <a:defRPr sz="900">
                <a:solidFill>
                  <a:srgbClr val="1E293B"/>
                </a:solidFill>
              </a:defRPr>
            </a:pPr>
            <a:r>
              <a:t>• Schedule X dual-PIN narcotic record.</a:t>
            </a:r>
          </a:p>
          <a:p>
            <a:pPr>
              <a:spcAft>
                <a:spcPts val="150"/>
              </a:spcAft>
              <a:defRPr sz="900">
                <a:solidFill>
                  <a:srgbClr val="1E293B"/>
                </a:solidFill>
              </a:defRPr>
            </a:pPr>
            <a:r>
              <a:t>• Doctor MCI/DMC registration log.</a:t>
            </a:r>
          </a:p>
        </p:txBody>
      </p:sp>
      <p:sp>
        <p:nvSpPr>
          <p:cNvPr id="21" name="Rounded Rectangle 20"/>
          <p:cNvSpPr/>
          <p:nvPr/>
        </p:nvSpPr>
        <p:spPr>
          <a:xfrm>
            <a:off x="4425696" y="406908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25696" y="4069080"/>
            <a:ext cx="3328416" cy="3657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25696" y="4105656"/>
            <a:ext cx="3328416" cy="320040"/>
          </a:xfrm>
          <a:prstGeom prst="rect">
            <a:avLst/>
          </a:prstGeom>
          <a:noFill/>
        </p:spPr>
        <p:txBody>
          <a:bodyPr wrap="none">
            <a:spAutoFit/>
          </a:bodyPr>
          <a:lstStyle/>
          <a:p>
            <a:pPr algn="ctr">
              <a:defRPr sz="1050" b="1">
                <a:solidFill>
                  <a:srgbClr val="FFFFFF"/>
                </a:solidFill>
              </a:defRPr>
            </a:pPr>
            <a:r>
              <a:t>5. POS &amp; Multi-Tender Billing</a:t>
            </a:r>
          </a:p>
        </p:txBody>
      </p:sp>
      <p:sp>
        <p:nvSpPr>
          <p:cNvPr id="24" name="TextBox 23"/>
          <p:cNvSpPr txBox="1"/>
          <p:nvPr/>
        </p:nvSpPr>
        <p:spPr>
          <a:xfrm>
            <a:off x="4535424" y="4480560"/>
            <a:ext cx="3108960" cy="1783080"/>
          </a:xfrm>
          <a:prstGeom prst="rect">
            <a:avLst/>
          </a:prstGeom>
          <a:noFill/>
        </p:spPr>
        <p:txBody>
          <a:bodyPr wrap="square">
            <a:spAutoFit/>
          </a:bodyPr>
          <a:lstStyle/>
          <a:p>
            <a:pPr>
              <a:spcAft>
                <a:spcPts val="150"/>
              </a:spcAft>
              <a:defRPr sz="900">
                <a:solidFill>
                  <a:srgbClr val="1E293B"/>
                </a:solidFill>
              </a:defRPr>
            </a:pPr>
            <a:r>
              <a:t>• High-speed barcode catalog search.</a:t>
            </a:r>
          </a:p>
          <a:p>
            <a:pPr>
              <a:spcAft>
                <a:spcPts val="150"/>
              </a:spcAft>
              <a:defRPr sz="900">
                <a:solidFill>
                  <a:srgbClr val="1E293B"/>
                </a:solidFill>
              </a:defRPr>
            </a:pPr>
            <a:r>
              <a:t>• 1-Click approved eRx import to cart.</a:t>
            </a:r>
          </a:p>
          <a:p>
            <a:pPr>
              <a:spcAft>
                <a:spcPts val="150"/>
              </a:spcAft>
              <a:defRPr sz="900">
                <a:solidFill>
                  <a:srgbClr val="1E293B"/>
                </a:solidFill>
              </a:defRPr>
            </a:pPr>
            <a:r>
              <a:t>• Split tender (Cash, UPI QR, Card).</a:t>
            </a:r>
          </a:p>
          <a:p>
            <a:pPr>
              <a:spcAft>
                <a:spcPts val="150"/>
              </a:spcAft>
              <a:defRPr sz="900">
                <a:solidFill>
                  <a:srgbClr val="1E293B"/>
                </a:solidFill>
              </a:defRPr>
            </a:pPr>
            <a:r>
              <a:t>• Instant change return calculator.</a:t>
            </a:r>
          </a:p>
          <a:p>
            <a:pPr>
              <a:spcAft>
                <a:spcPts val="150"/>
              </a:spcAft>
              <a:defRPr sz="900">
                <a:solidFill>
                  <a:srgbClr val="1E293B"/>
                </a:solidFill>
              </a:defRPr>
            </a:pPr>
            <a:r>
              <a:t>• Official 80mm GST tax invoice print.</a:t>
            </a:r>
          </a:p>
          <a:p>
            <a:pPr>
              <a:spcAft>
                <a:spcPts val="150"/>
              </a:spcAft>
              <a:defRPr sz="900">
                <a:solidFill>
                  <a:srgbClr val="1E293B"/>
                </a:solidFill>
              </a:defRPr>
            </a:pPr>
            <a:r>
              <a:t>• Customer return &amp; refund credit.</a:t>
            </a:r>
          </a:p>
        </p:txBody>
      </p:sp>
      <p:sp>
        <p:nvSpPr>
          <p:cNvPr id="25" name="Rounded Rectangle 24"/>
          <p:cNvSpPr/>
          <p:nvPr/>
        </p:nvSpPr>
        <p:spPr>
          <a:xfrm>
            <a:off x="8119872" y="4069080"/>
            <a:ext cx="3328416"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19872" y="4069080"/>
            <a:ext cx="3328416"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19872" y="4105656"/>
            <a:ext cx="3328416" cy="320040"/>
          </a:xfrm>
          <a:prstGeom prst="rect">
            <a:avLst/>
          </a:prstGeom>
          <a:noFill/>
        </p:spPr>
        <p:txBody>
          <a:bodyPr wrap="none">
            <a:spAutoFit/>
          </a:bodyPr>
          <a:lstStyle/>
          <a:p>
            <a:pPr algn="ctr">
              <a:defRPr sz="1050" b="1">
                <a:solidFill>
                  <a:srgbClr val="FFFFFF"/>
                </a:solidFill>
              </a:defRPr>
            </a:pPr>
            <a:r>
              <a:t>6. Replenishment &amp; Delivery</a:t>
            </a:r>
          </a:p>
        </p:txBody>
      </p:sp>
      <p:sp>
        <p:nvSpPr>
          <p:cNvPr id="28" name="TextBox 27"/>
          <p:cNvSpPr txBox="1"/>
          <p:nvPr/>
        </p:nvSpPr>
        <p:spPr>
          <a:xfrm>
            <a:off x="8229600" y="4480560"/>
            <a:ext cx="3108960" cy="1783080"/>
          </a:xfrm>
          <a:prstGeom prst="rect">
            <a:avLst/>
          </a:prstGeom>
          <a:noFill/>
        </p:spPr>
        <p:txBody>
          <a:bodyPr wrap="square">
            <a:spAutoFit/>
          </a:bodyPr>
          <a:lstStyle/>
          <a:p>
            <a:pPr>
              <a:spcAft>
                <a:spcPts val="150"/>
              </a:spcAft>
              <a:defRPr sz="900">
                <a:solidFill>
                  <a:srgbClr val="1E293B"/>
                </a:solidFill>
              </a:defRPr>
            </a:pPr>
            <a:r>
              <a:t>• Reorder Point (ROP) dynamic formula.</a:t>
            </a:r>
          </a:p>
          <a:p>
            <a:pPr>
              <a:spcAft>
                <a:spcPts val="150"/>
              </a:spcAft>
              <a:defRPr sz="900">
                <a:solidFill>
                  <a:srgbClr val="1E293B"/>
                </a:solidFill>
              </a:defRPr>
            </a:pPr>
            <a:r>
              <a:t>• Two-Bin Kanban buffer execution.</a:t>
            </a:r>
          </a:p>
          <a:p>
            <a:pPr>
              <a:spcAft>
                <a:spcPts val="150"/>
              </a:spcAft>
              <a:defRPr sz="900">
                <a:solidFill>
                  <a:srgbClr val="1E293B"/>
                </a:solidFill>
              </a:defRPr>
            </a:pPr>
            <a:r>
              <a:t>• Pay-on-Sale supplier settlement.</a:t>
            </a:r>
          </a:p>
          <a:p>
            <a:pPr>
              <a:spcAft>
                <a:spcPts val="150"/>
              </a:spcAft>
              <a:defRPr sz="900">
                <a:solidFill>
                  <a:srgbClr val="1E293B"/>
                </a:solidFill>
              </a:defRPr>
            </a:pPr>
            <a:r>
              <a:t>• Dispatch queue for delivery fleet.</a:t>
            </a:r>
          </a:p>
          <a:p>
            <a:pPr>
              <a:spcAft>
                <a:spcPts val="150"/>
              </a:spcAft>
              <a:defRPr sz="900">
                <a:solidFill>
                  <a:srgbClr val="1E293B"/>
                </a:solidFill>
              </a:defRPr>
            </a:pPr>
            <a:r>
              <a:t>• Insulated cold-bag checklist.</a:t>
            </a:r>
          </a:p>
          <a:p>
            <a:pPr>
              <a:spcAft>
                <a:spcPts val="150"/>
              </a:spcAft>
              <a:defRPr sz="900">
                <a:solidFill>
                  <a:srgbClr val="1E293B"/>
                </a:solidFill>
              </a:defRPr>
            </a:pPr>
            <a:r>
              <a:t>• 4-Digit SMS OTP proof of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SCOPE AND USER ROLES</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Role-Based Access Control (RBAC) &amp; Role-Wise Process Flows</a:t>
            </a:r>
          </a:p>
        </p:txBody>
      </p:sp>
      <p:sp>
        <p:nvSpPr>
          <p:cNvPr id="5" name="Rounded Rectangle 4"/>
          <p:cNvSpPr/>
          <p:nvPr/>
        </p:nvSpPr>
        <p:spPr>
          <a:xfrm>
            <a:off x="731520" y="1600200"/>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848563"/>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757123"/>
          </a:xfrm>
          <a:prstGeom prst="rect">
            <a:avLst/>
          </a:prstGeom>
          <a:noFill/>
        </p:spPr>
        <p:txBody>
          <a:bodyPr wrap="square">
            <a:spAutoFit/>
          </a:bodyPr>
          <a:lstStyle/>
          <a:p>
            <a:pPr>
              <a:spcAft>
                <a:spcPts val="200"/>
              </a:spcAft>
              <a:defRPr sz="1050" b="1">
                <a:solidFill>
                  <a:srgbClr val="0A2540"/>
                </a:solidFill>
              </a:defRPr>
            </a:pPr>
            <a:r>
              <a:t>1. Store Administrator HQ</a:t>
            </a:r>
          </a:p>
          <a:p>
            <a:pPr>
              <a:spcAft>
                <a:spcPts val="100"/>
              </a:spcAft>
              <a:defRPr sz="900">
                <a:solidFill>
                  <a:srgbClr val="1E293B"/>
                </a:solidFill>
              </a:defRPr>
            </a:pPr>
            <a:r>
              <a:t>• Responsibilities: Executive oversight, user provisioning, role permission grants, system settings, database snapshot backup, activity audit surveillance.</a:t>
            </a:r>
          </a:p>
          <a:p>
            <a:pPr>
              <a:spcAft>
                <a:spcPts val="100"/>
              </a:spcAft>
              <a:defRPr sz="900">
                <a:solidFill>
                  <a:srgbClr val="1E293B"/>
                </a:solidFill>
              </a:defRPr>
            </a:pPr>
            <a:r>
              <a:t>• Process Flow: Login -&gt; Review Executive KPI Dashboard -&gt; Inspect Station Audit Logs -&gt; Review Daily Z-Reports -&gt; Execute End-of-Day Database Backup.</a:t>
            </a:r>
          </a:p>
        </p:txBody>
      </p:sp>
      <p:sp>
        <p:nvSpPr>
          <p:cNvPr id="8" name="Rounded Rectangle 7"/>
          <p:cNvSpPr/>
          <p:nvPr/>
        </p:nvSpPr>
        <p:spPr>
          <a:xfrm>
            <a:off x="731520" y="2576779"/>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576779"/>
            <a:ext cx="109728" cy="848563"/>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622499"/>
            <a:ext cx="10287000" cy="757123"/>
          </a:xfrm>
          <a:prstGeom prst="rect">
            <a:avLst/>
          </a:prstGeom>
          <a:noFill/>
        </p:spPr>
        <p:txBody>
          <a:bodyPr wrap="square">
            <a:spAutoFit/>
          </a:bodyPr>
          <a:lstStyle/>
          <a:p>
            <a:pPr>
              <a:spcAft>
                <a:spcPts val="200"/>
              </a:spcAft>
              <a:defRPr sz="1050" b="1">
                <a:solidFill>
                  <a:srgbClr val="0A2540"/>
                </a:solidFill>
              </a:defRPr>
            </a:pPr>
            <a:r>
              <a:t>2. Clinical Pharmacist (Clinical Station)</a:t>
            </a:r>
          </a:p>
          <a:p>
            <a:pPr>
              <a:spcAft>
                <a:spcPts val="100"/>
              </a:spcAft>
              <a:defRPr sz="900">
                <a:solidFill>
                  <a:srgbClr val="1E293B"/>
                </a:solidFill>
              </a:defRPr>
            </a:pPr>
            <a:r>
              <a:t>• Responsibilities: Prescription verification, CDSS interaction validation, patient allergy screening, Schedule X narcotic dual-PIN authorization.</a:t>
            </a:r>
          </a:p>
          <a:p>
            <a:pPr>
              <a:spcAft>
                <a:spcPts val="100"/>
              </a:spcAft>
              <a:defRPr sz="900">
                <a:solidFill>
                  <a:srgbClr val="1E293B"/>
                </a:solidFill>
              </a:defRPr>
            </a:pPr>
            <a:r>
              <a:t>• Process Flow: Login -&gt; Review Incoming eRx Queue -&gt; Trigger CDSS Allergy/Interaction Check -&gt; Authorize / Modify Dispense -&gt; Issue Clinical Approval Badge.</a:t>
            </a:r>
          </a:p>
        </p:txBody>
      </p:sp>
      <p:sp>
        <p:nvSpPr>
          <p:cNvPr id="11" name="Rounded Rectangle 10"/>
          <p:cNvSpPr/>
          <p:nvPr/>
        </p:nvSpPr>
        <p:spPr>
          <a:xfrm>
            <a:off x="731520" y="3553358"/>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553358"/>
            <a:ext cx="109728" cy="848563"/>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3599078"/>
            <a:ext cx="10287000" cy="757123"/>
          </a:xfrm>
          <a:prstGeom prst="rect">
            <a:avLst/>
          </a:prstGeom>
          <a:noFill/>
        </p:spPr>
        <p:txBody>
          <a:bodyPr wrap="square">
            <a:spAutoFit/>
          </a:bodyPr>
          <a:lstStyle/>
          <a:p>
            <a:pPr>
              <a:spcAft>
                <a:spcPts val="200"/>
              </a:spcAft>
              <a:defRPr sz="1050" b="1">
                <a:solidFill>
                  <a:srgbClr val="0A2540"/>
                </a:solidFill>
              </a:defRPr>
            </a:pPr>
            <a:r>
              <a:t>3. Cashier (POS Billing Terminal)</a:t>
            </a:r>
          </a:p>
          <a:p>
            <a:pPr>
              <a:spcAft>
                <a:spcPts val="100"/>
              </a:spcAft>
              <a:defRPr sz="900">
                <a:solidFill>
                  <a:srgbClr val="1E293B"/>
                </a:solidFill>
              </a:defRPr>
            </a:pPr>
            <a:r>
              <a:t>• Responsibilities: Express barcode billing, 1-click approved eRx import, FEFO batch selection, split payments, GST invoice generation, return processing.</a:t>
            </a:r>
          </a:p>
          <a:p>
            <a:pPr>
              <a:spcAft>
                <a:spcPts val="100"/>
              </a:spcAft>
              <a:defRPr sz="900">
                <a:solidFill>
                  <a:srgbClr val="1E293B"/>
                </a:solidFill>
              </a:defRPr>
            </a:pPr>
            <a:r>
              <a:t>• Process Flow: Login -&gt; Scan Barcode / Load Approved eRx -&gt; Select Tender (Cash/UPI/Card) -&gt; Verify Payment -&gt; Print GST Receipt -&gt; Route to Delivery Fleet (optional).</a:t>
            </a:r>
          </a:p>
        </p:txBody>
      </p:sp>
      <p:sp>
        <p:nvSpPr>
          <p:cNvPr id="14" name="Rounded Rectangle 13"/>
          <p:cNvSpPr/>
          <p:nvPr/>
        </p:nvSpPr>
        <p:spPr>
          <a:xfrm>
            <a:off x="731520" y="4529937"/>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529937"/>
            <a:ext cx="109728" cy="848563"/>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575657"/>
            <a:ext cx="10287000" cy="757123"/>
          </a:xfrm>
          <a:prstGeom prst="rect">
            <a:avLst/>
          </a:prstGeom>
          <a:noFill/>
        </p:spPr>
        <p:txBody>
          <a:bodyPr wrap="square">
            <a:spAutoFit/>
          </a:bodyPr>
          <a:lstStyle/>
          <a:p>
            <a:pPr>
              <a:spcAft>
                <a:spcPts val="200"/>
              </a:spcAft>
              <a:defRPr sz="1050" b="1">
                <a:solidFill>
                  <a:srgbClr val="0A2540"/>
                </a:solidFill>
              </a:defRPr>
            </a:pPr>
            <a:r>
              <a:t>4. Inventory Manager (Supply Chain Station)</a:t>
            </a:r>
          </a:p>
          <a:p>
            <a:pPr>
              <a:spcAft>
                <a:spcPts val="100"/>
              </a:spcAft>
              <a:defRPr sz="900">
                <a:solidFill>
                  <a:srgbClr val="1E293B"/>
                </a:solidFill>
              </a:defRPr>
            </a:pPr>
            <a:r>
              <a:t>• Responsibilities: Stock procurement, Inward Goods Receipt Notes (GRN), FEFO batch ledger, Pay-on-Sale consignment, cold-chain IoT fridge monitoring.</a:t>
            </a:r>
          </a:p>
          <a:p>
            <a:pPr>
              <a:spcAft>
                <a:spcPts val="100"/>
              </a:spcAft>
              <a:defRPr sz="900">
                <a:solidFill>
                  <a:srgbClr val="1E293B"/>
                </a:solidFill>
              </a:defRPr>
            </a:pPr>
            <a:r>
              <a:t>• Process Flow: Login -&gt; Inspect Stock Levels &amp; ROP Alerts -&gt; Generate Purchase Order -&gt; Receive GRN Consignment -&gt; Allocate FEFO Racks -&gt; Settle Vendor Pay-on-Sale.</a:t>
            </a:r>
          </a:p>
        </p:txBody>
      </p:sp>
      <p:sp>
        <p:nvSpPr>
          <p:cNvPr id="17" name="Rounded Rectangle 16"/>
          <p:cNvSpPr/>
          <p:nvPr/>
        </p:nvSpPr>
        <p:spPr>
          <a:xfrm>
            <a:off x="731520" y="5506516"/>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506516"/>
            <a:ext cx="109728" cy="848563"/>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5552236"/>
            <a:ext cx="10287000" cy="757123"/>
          </a:xfrm>
          <a:prstGeom prst="rect">
            <a:avLst/>
          </a:prstGeom>
          <a:noFill/>
        </p:spPr>
        <p:txBody>
          <a:bodyPr wrap="square">
            <a:spAutoFit/>
          </a:bodyPr>
          <a:lstStyle/>
          <a:p>
            <a:pPr>
              <a:spcAft>
                <a:spcPts val="200"/>
              </a:spcAft>
              <a:defRPr sz="1050" b="1">
                <a:solidFill>
                  <a:srgbClr val="0A2540"/>
                </a:solidFill>
              </a:defRPr>
            </a:pPr>
            <a:r>
              <a:t>5. Delivery Agent (Last-Mile Fleet Station)</a:t>
            </a:r>
          </a:p>
          <a:p>
            <a:pPr>
              <a:spcAft>
                <a:spcPts val="100"/>
              </a:spcAft>
              <a:defRPr sz="900">
                <a:solidFill>
                  <a:srgbClr val="1E293B"/>
                </a:solidFill>
              </a:defRPr>
            </a:pPr>
            <a:r>
              <a:t>• Responsibilities: Order dispatch queue, transit cold-chain bag inspection, customer address navigation, 4-digit SMS OTP electronic proof-of-delivery.</a:t>
            </a:r>
          </a:p>
          <a:p>
            <a:pPr>
              <a:spcAft>
                <a:spcPts val="100"/>
              </a:spcAft>
              <a:defRPr sz="900">
                <a:solidFill>
                  <a:srgbClr val="1E293B"/>
                </a:solidFill>
              </a:defRPr>
            </a:pPr>
            <a:r>
              <a:t>• Process Flow: Login -&gt; Claim Assigned Orders -&gt; Verify Cold-Bag Seal -&gt; Navigate Route -&gt; Enter Customer SMS OTP -&gt; Complete Delivery or Process Return.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MODULAR FOLDER ARCHITECTURE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Modular Folder Architecture &amp; 6-Tier Enterprise Blueprint</a:t>
            </a:r>
          </a:p>
        </p:txBody>
      </p:sp>
      <p:sp>
        <p:nvSpPr>
          <p:cNvPr id="5" name="Rounded Rectangle 4"/>
          <p:cNvSpPr/>
          <p:nvPr/>
        </p:nvSpPr>
        <p:spPr>
          <a:xfrm>
            <a:off x="731520"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3328416" cy="54864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19072"/>
            <a:ext cx="3328416" cy="457200"/>
          </a:xfrm>
          <a:prstGeom prst="rect">
            <a:avLst/>
          </a:prstGeom>
          <a:noFill/>
        </p:spPr>
        <p:txBody>
          <a:bodyPr wrap="none">
            <a:spAutoFit/>
          </a:bodyPr>
          <a:lstStyle/>
          <a:p>
            <a:pPr algn="ctr">
              <a:defRPr sz="1100" b="1">
                <a:solidFill>
                  <a:srgbClr val="FFFFFF"/>
                </a:solidFill>
              </a:defRPr>
            </a:pPr>
            <a:r>
              <a:t>Tier 1 &amp; 2: Presentation &amp; Routing</a:t>
            </a:r>
          </a:p>
        </p:txBody>
      </p:sp>
      <p:sp>
        <p:nvSpPr>
          <p:cNvPr id="8" name="TextBox 7"/>
          <p:cNvSpPr txBox="1"/>
          <p:nvPr/>
        </p:nvSpPr>
        <p:spPr>
          <a:xfrm>
            <a:off x="868680" y="2331720"/>
            <a:ext cx="3054096" cy="3840480"/>
          </a:xfrm>
          <a:prstGeom prst="rect">
            <a:avLst/>
          </a:prstGeom>
          <a:noFill/>
        </p:spPr>
        <p:txBody>
          <a:bodyPr wrap="square">
            <a:spAutoFit/>
          </a:bodyPr>
          <a:lstStyle/>
          <a:p>
            <a:pPr>
              <a:spcAft>
                <a:spcPts val="250"/>
              </a:spcAft>
              <a:defRPr sz="950">
                <a:solidFill>
                  <a:srgbClr val="1E293B"/>
                </a:solidFill>
              </a:defRPr>
            </a:pPr>
            <a:r>
              <a:t>Directory: ui/views/ &amp; ui/desktop/</a:t>
            </a:r>
          </a:p>
          <a:p>
            <a:pPr>
              <a:spcAft>
                <a:spcPts val="250"/>
              </a:spcAft>
              <a:defRPr sz="950">
                <a:solidFill>
                  <a:srgbClr val="1E293B"/>
                </a:solidFill>
              </a:defRPr>
            </a:pPr>
          </a:p>
          <a:p>
            <a:pPr>
              <a:spcAft>
                <a:spcPts val="250"/>
              </a:spcAft>
              <a:defRPr sz="950">
                <a:solidFill>
                  <a:srgbClr val="1E293B"/>
                </a:solidFill>
              </a:defRPr>
            </a:pPr>
            <a:r>
              <a:t>• Modular Station Views: Separate view controllers for Admin, Pharmacist, Cashier, Inventory, and Delivery.</a:t>
            </a:r>
          </a:p>
          <a:p>
            <a:pPr>
              <a:spcAft>
                <a:spcPts val="250"/>
              </a:spcAft>
              <a:defRPr sz="950">
                <a:solidFill>
                  <a:srgbClr val="1E293B"/>
                </a:solidFill>
              </a:defRPr>
            </a:pPr>
            <a:r>
              <a:t>• Universal Desktop &amp; Web UI: Dual presentation via CustomTkinter and modern responsive WebView2 / FastAPI.</a:t>
            </a:r>
          </a:p>
          <a:p>
            <a:pPr>
              <a:spcAft>
                <a:spcPts val="250"/>
              </a:spcAft>
              <a:defRPr sz="950">
                <a:solidFill>
                  <a:srgbClr val="1E293B"/>
                </a:solidFill>
              </a:defRPr>
            </a:pPr>
            <a:r>
              <a:t>• Reusable UI Components: Dynamic UPI QR canvas, toast notifications, animated temperature gauges.</a:t>
            </a:r>
          </a:p>
        </p:txBody>
      </p:sp>
      <p:sp>
        <p:nvSpPr>
          <p:cNvPr id="9" name="Rounded Rectangle 8"/>
          <p:cNvSpPr/>
          <p:nvPr/>
        </p:nvSpPr>
        <p:spPr>
          <a:xfrm>
            <a:off x="4425696"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25696" y="1645920"/>
            <a:ext cx="3328416"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1719072"/>
            <a:ext cx="3328416" cy="457200"/>
          </a:xfrm>
          <a:prstGeom prst="rect">
            <a:avLst/>
          </a:prstGeom>
          <a:noFill/>
        </p:spPr>
        <p:txBody>
          <a:bodyPr wrap="none">
            <a:spAutoFit/>
          </a:bodyPr>
          <a:lstStyle/>
          <a:p>
            <a:pPr algn="ctr">
              <a:defRPr sz="1100" b="1">
                <a:solidFill>
                  <a:srgbClr val="FFFFFF"/>
                </a:solidFill>
              </a:defRPr>
            </a:pPr>
            <a:r>
              <a:t>Tier 3 &amp; 4: Application Bridge &amp; CDSS</a:t>
            </a:r>
          </a:p>
        </p:txBody>
      </p:sp>
      <p:sp>
        <p:nvSpPr>
          <p:cNvPr id="12" name="TextBox 11"/>
          <p:cNvSpPr txBox="1"/>
          <p:nvPr/>
        </p:nvSpPr>
        <p:spPr>
          <a:xfrm>
            <a:off x="4562856" y="2331720"/>
            <a:ext cx="3054096" cy="3840480"/>
          </a:xfrm>
          <a:prstGeom prst="rect">
            <a:avLst/>
          </a:prstGeom>
          <a:noFill/>
        </p:spPr>
        <p:txBody>
          <a:bodyPr wrap="square">
            <a:spAutoFit/>
          </a:bodyPr>
          <a:lstStyle/>
          <a:p>
            <a:pPr>
              <a:spcAft>
                <a:spcPts val="250"/>
              </a:spcAft>
              <a:defRPr sz="950">
                <a:solidFill>
                  <a:srgbClr val="1E293B"/>
                </a:solidFill>
              </a:defRPr>
            </a:pPr>
            <a:r>
              <a:t>Directory: core/bridge.py &amp; core/cdss.py</a:t>
            </a:r>
          </a:p>
          <a:p>
            <a:pPr>
              <a:spcAft>
                <a:spcPts val="250"/>
              </a:spcAft>
              <a:defRPr sz="950">
                <a:solidFill>
                  <a:srgbClr val="1E293B"/>
                </a:solidFill>
              </a:defRPr>
            </a:pPr>
          </a:p>
          <a:p>
            <a:pPr>
              <a:spcAft>
                <a:spcPts val="250"/>
              </a:spcAft>
              <a:defRPr sz="950">
                <a:solidFill>
                  <a:srgbClr val="1E293B"/>
                </a:solidFill>
              </a:defRPr>
            </a:pPr>
            <a:r>
              <a:t>• Universal Bridge API: Zero SQL in presentation layer; all UI actions invoke typed Python bridge methods.</a:t>
            </a:r>
          </a:p>
          <a:p>
            <a:pPr>
              <a:spcAft>
                <a:spcPts val="250"/>
              </a:spcAft>
              <a:defRPr sz="950">
                <a:solidFill>
                  <a:srgbClr val="1E293B"/>
                </a:solidFill>
              </a:defRPr>
            </a:pPr>
            <a:r>
              <a:t>• Clinical Decision Support (CDSS): In-memory allergy and drug-drug contraindication matrix.</a:t>
            </a:r>
          </a:p>
          <a:p>
            <a:pPr>
              <a:spcAft>
                <a:spcPts val="250"/>
              </a:spcAft>
              <a:defRPr sz="950">
                <a:solidFill>
                  <a:srgbClr val="1E293B"/>
                </a:solidFill>
              </a:defRPr>
            </a:pPr>
            <a:r>
              <a:t>• Security Middleware: Session management, role verification, and bcrypt password checking.</a:t>
            </a:r>
          </a:p>
        </p:txBody>
      </p:sp>
      <p:sp>
        <p:nvSpPr>
          <p:cNvPr id="13" name="Rounded Rectangle 12"/>
          <p:cNvSpPr/>
          <p:nvPr/>
        </p:nvSpPr>
        <p:spPr>
          <a:xfrm>
            <a:off x="8119872" y="1645920"/>
            <a:ext cx="3328416"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9872" y="1645920"/>
            <a:ext cx="3328416" cy="5486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719072"/>
            <a:ext cx="3328416" cy="457200"/>
          </a:xfrm>
          <a:prstGeom prst="rect">
            <a:avLst/>
          </a:prstGeom>
          <a:noFill/>
        </p:spPr>
        <p:txBody>
          <a:bodyPr wrap="none">
            <a:spAutoFit/>
          </a:bodyPr>
          <a:lstStyle/>
          <a:p>
            <a:pPr algn="ctr">
              <a:defRPr sz="1100" b="1">
                <a:solidFill>
                  <a:srgbClr val="FFFFFF"/>
                </a:solidFill>
              </a:defRPr>
            </a:pPr>
            <a:r>
              <a:t>Tier 5 &amp; 6: Data Persistence &amp; Hardware</a:t>
            </a:r>
          </a:p>
        </p:txBody>
      </p:sp>
      <p:sp>
        <p:nvSpPr>
          <p:cNvPr id="16" name="TextBox 15"/>
          <p:cNvSpPr txBox="1"/>
          <p:nvPr/>
        </p:nvSpPr>
        <p:spPr>
          <a:xfrm>
            <a:off x="8257032" y="2331720"/>
            <a:ext cx="3054096" cy="3840480"/>
          </a:xfrm>
          <a:prstGeom prst="rect">
            <a:avLst/>
          </a:prstGeom>
          <a:noFill/>
        </p:spPr>
        <p:txBody>
          <a:bodyPr wrap="square">
            <a:spAutoFit/>
          </a:bodyPr>
          <a:lstStyle/>
          <a:p>
            <a:pPr>
              <a:spcAft>
                <a:spcPts val="250"/>
              </a:spcAft>
              <a:defRPr sz="950">
                <a:solidFill>
                  <a:srgbClr val="1E293B"/>
                </a:solidFill>
              </a:defRPr>
            </a:pPr>
            <a:r>
              <a:t>Directory: core/db.py &amp; hardware/</a:t>
            </a:r>
          </a:p>
          <a:p>
            <a:pPr>
              <a:spcAft>
                <a:spcPts val="250"/>
              </a:spcAft>
              <a:defRPr sz="950">
                <a:solidFill>
                  <a:srgbClr val="1E293B"/>
                </a:solidFill>
              </a:defRPr>
            </a:pPr>
          </a:p>
          <a:p>
            <a:pPr>
              <a:spcAft>
                <a:spcPts val="250"/>
              </a:spcAft>
              <a:defRPr sz="950">
                <a:solidFill>
                  <a:srgbClr val="1E293B"/>
                </a:solidFill>
              </a:defRPr>
            </a:pPr>
            <a:r>
              <a:t>• SQLite 3 Enterprise Engine: 14 relational tables, foreign key constraints, atomic transactions, WAL mode.</a:t>
            </a:r>
          </a:p>
          <a:p>
            <a:pPr>
              <a:spcAft>
                <a:spcPts val="250"/>
              </a:spcAft>
              <a:defRPr sz="950">
                <a:solidFill>
                  <a:srgbClr val="1E293B"/>
                </a:solidFill>
              </a:defRPr>
            </a:pPr>
            <a:r>
              <a:t>• Hardware Emulation Layer: Esc/POS 80mm thermal receipt printer, 1D/2D barcode scanners, IoT probes.</a:t>
            </a:r>
          </a:p>
          <a:p>
            <a:pPr>
              <a:spcAft>
                <a:spcPts val="250"/>
              </a:spcAft>
              <a:defRPr sz="950">
                <a:solidFill>
                  <a:srgbClr val="1E293B"/>
                </a:solidFill>
              </a:defRPr>
            </a:pPr>
            <a:r>
              <a:t>• Cryptographic Audit Trail: Continuous append-only event logging for all critical pharmacy mutations.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DATABASE/SYSTEM DESIGN</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Database/System Design: 14 Normalized Relational Tables</a:t>
            </a:r>
          </a:p>
        </p:txBody>
      </p:sp>
      <p:sp>
        <p:nvSpPr>
          <p:cNvPr id="5" name="Rounded Rectangle 4"/>
          <p:cNvSpPr/>
          <p:nvPr/>
        </p:nvSpPr>
        <p:spPr>
          <a:xfrm>
            <a:off x="731520" y="1600200"/>
            <a:ext cx="10728655" cy="47091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868680" y="1737360"/>
          <a:ext cx="10454335" cy="4389120"/>
        </p:xfrm>
        <a:graphic>
          <a:graphicData uri="http://schemas.openxmlformats.org/drawingml/2006/table">
            <a:tbl>
              <a:tblPr firstRow="1" bandRow="1">
                <a:tableStyleId>{5C22544A-7EE6-4342-B048-85BDC9FD1C3A}</a:tableStyleId>
              </a:tblPr>
              <a:tblGrid>
                <a:gridCol w="1645920"/>
                <a:gridCol w="1188720"/>
                <a:gridCol w="2103120"/>
                <a:gridCol w="1645920"/>
                <a:gridCol w="3870655"/>
              </a:tblGrid>
              <a:tr h="337624">
                <a:tc>
                  <a:txBody>
                    <a:bodyPr/>
                    <a:lstStyle/>
                    <a:p>
                      <a:pPr>
                        <a:defRPr b="1" sz="1000">
                          <a:solidFill>
                            <a:srgbClr val="FFFFFF"/>
                          </a:solidFill>
                        </a:defRPr>
                      </a:pPr>
                      <a:r>
                        <a:t>Entity / Table Name</a:t>
                      </a:r>
                    </a:p>
                  </a:txBody>
                  <a:tcPr>
                    <a:solidFill>
                      <a:srgbClr val="0A2540"/>
                    </a:solidFill>
                  </a:tcPr>
                </a:tc>
                <a:tc>
                  <a:txBody>
                    <a:bodyPr/>
                    <a:lstStyle/>
                    <a:p>
                      <a:pPr>
                        <a:defRPr b="1" sz="1000">
                          <a:solidFill>
                            <a:srgbClr val="FFFFFF"/>
                          </a:solidFill>
                        </a:defRPr>
                      </a:pPr>
                      <a:r>
                        <a:t>Primary Key</a:t>
                      </a:r>
                    </a:p>
                  </a:txBody>
                  <a:tcPr>
                    <a:solidFill>
                      <a:srgbClr val="0A2540"/>
                    </a:solidFill>
                  </a:tcPr>
                </a:tc>
                <a:tc>
                  <a:txBody>
                    <a:bodyPr/>
                    <a:lstStyle/>
                    <a:p>
                      <a:pPr>
                        <a:defRPr b="1" sz="1000">
                          <a:solidFill>
                            <a:srgbClr val="FFFFFF"/>
                          </a:solidFill>
                        </a:defRPr>
                      </a:pPr>
                      <a:r>
                        <a:t>Key Foreign Keys</a:t>
                      </a:r>
                    </a:p>
                  </a:txBody>
                  <a:tcPr>
                    <a:solidFill>
                      <a:srgbClr val="0A2540"/>
                    </a:solidFill>
                  </a:tcPr>
                </a:tc>
                <a:tc>
                  <a:txBody>
                    <a:bodyPr/>
                    <a:lstStyle/>
                    <a:p>
                      <a:pPr>
                        <a:defRPr b="1" sz="1000">
                          <a:solidFill>
                            <a:srgbClr val="FFFFFF"/>
                          </a:solidFill>
                        </a:defRPr>
                      </a:pPr>
                      <a:r>
                        <a:t>Cardinality</a:t>
                      </a:r>
                    </a:p>
                  </a:txBody>
                  <a:tcPr>
                    <a:solidFill>
                      <a:srgbClr val="0A2540"/>
                    </a:solidFill>
                  </a:tcPr>
                </a:tc>
                <a:tc>
                  <a:txBody>
                    <a:bodyPr/>
                    <a:lstStyle/>
                    <a:p>
                      <a:pPr>
                        <a:defRPr b="1" sz="1000">
                          <a:solidFill>
                            <a:srgbClr val="FFFFFF"/>
                          </a:solidFill>
                        </a:defRPr>
                      </a:pPr>
                      <a:r>
                        <a:t>Operational Role &amp; Governance</a:t>
                      </a:r>
                    </a:p>
                  </a:txBody>
                  <a:tcPr>
                    <a:solidFill>
                      <a:srgbClr val="0A2540"/>
                    </a:solidFill>
                  </a:tcPr>
                </a:tc>
              </a:tr>
              <a:tr h="337624">
                <a:tc>
                  <a:txBody>
                    <a:bodyPr/>
                    <a:lstStyle/>
                    <a:p>
                      <a:pPr>
                        <a:defRPr sz="900">
                          <a:solidFill>
                            <a:srgbClr val="1E293B"/>
                          </a:solidFill>
                        </a:defRPr>
                      </a:pPr>
                      <a:r>
                        <a:t>users</a:t>
                      </a:r>
                    </a:p>
                  </a:txBody>
                  <a:tcPr>
                    <a:solidFill>
                      <a:srgbClr val="F8FAFC"/>
                    </a:solidFill>
                  </a:tcPr>
                </a:tc>
                <a:tc>
                  <a:txBody>
                    <a:bodyPr/>
                    <a:lstStyle/>
                    <a:p>
                      <a:pPr>
                        <a:defRPr sz="900">
                          <a:solidFill>
                            <a:srgbClr val="1E293B"/>
                          </a:solidFill>
                        </a:defRPr>
                      </a:pPr>
                      <a:r>
                        <a:t>id (TEXT)</a:t>
                      </a:r>
                    </a:p>
                  </a:txBody>
                  <a:tcPr>
                    <a:solidFill>
                      <a:srgbClr val="F8FAFC"/>
                    </a:solidFill>
                  </a:tcPr>
                </a:tc>
                <a:tc>
                  <a:txBody>
                    <a:bodyPr/>
                    <a:lstStyle/>
                    <a:p>
                      <a:pPr>
                        <a:defRPr sz="900">
                          <a:solidFill>
                            <a:srgbClr val="1E293B"/>
                          </a:solidFill>
                        </a:defRPr>
                      </a:pPr>
                      <a:r>
                        <a:t>None (Root)</a:t>
                      </a:r>
                    </a:p>
                  </a:txBody>
                  <a:tcPr>
                    <a:solidFill>
                      <a:srgbClr val="F8FAFC"/>
                    </a:solidFill>
                  </a:tcPr>
                </a:tc>
                <a:tc>
                  <a:txBody>
                    <a:bodyPr/>
                    <a:lstStyle/>
                    <a:p>
                      <a:pPr>
                        <a:defRPr sz="900">
                          <a:solidFill>
                            <a:srgbClr val="1E293B"/>
                          </a:solidFill>
                        </a:defRPr>
                      </a:pPr>
                      <a:r>
                        <a:t>1 : N (Audits, POs)</a:t>
                      </a:r>
                    </a:p>
                  </a:txBody>
                  <a:tcPr>
                    <a:solidFill>
                      <a:srgbClr val="F8FAFC"/>
                    </a:solidFill>
                  </a:tcPr>
                </a:tc>
                <a:tc>
                  <a:txBody>
                    <a:bodyPr/>
                    <a:lstStyle/>
                    <a:p>
                      <a:pPr>
                        <a:defRPr sz="900">
                          <a:solidFill>
                            <a:srgbClr val="1E293B"/>
                          </a:solidFill>
                        </a:defRPr>
                      </a:pPr>
                      <a:r>
                        <a:t>Stores authenticated staff accounts, bcrypt passwords, and RBAC roles.</a:t>
                      </a:r>
                    </a:p>
                  </a:txBody>
                  <a:tcPr>
                    <a:solidFill>
                      <a:srgbClr val="F8FAFC"/>
                    </a:solidFill>
                  </a:tcPr>
                </a:tc>
              </a:tr>
              <a:tr h="337624">
                <a:tc>
                  <a:txBody>
                    <a:bodyPr/>
                    <a:lstStyle/>
                    <a:p>
                      <a:pPr>
                        <a:defRPr sz="900">
                          <a:solidFill>
                            <a:srgbClr val="1E293B"/>
                          </a:solidFill>
                        </a:defRPr>
                      </a:pPr>
                      <a:r>
                        <a:t>medicines</a:t>
                      </a:r>
                    </a:p>
                  </a:txBody>
                  <a:tcPr>
                    <a:solidFill>
                      <a:srgbClr val="FFFFFF"/>
                    </a:solidFill>
                  </a:tcPr>
                </a:tc>
                <a:tc>
                  <a:txBody>
                    <a:bodyPr/>
                    <a:lstStyle/>
                    <a:p>
                      <a:pPr>
                        <a:defRPr sz="900">
                          <a:solidFill>
                            <a:srgbClr val="1E293B"/>
                          </a:solidFill>
                        </a:defRPr>
                      </a:pPr>
                      <a:r>
                        <a:t>id (TEXT)</a:t>
                      </a:r>
                    </a:p>
                  </a:txBody>
                  <a:tcPr>
                    <a:solidFill>
                      <a:srgbClr val="FFFFFF"/>
                    </a:solidFill>
                  </a:tcPr>
                </a:tc>
                <a:tc>
                  <a:txBody>
                    <a:bodyPr/>
                    <a:lstStyle/>
                    <a:p>
                      <a:pPr>
                        <a:defRPr sz="900">
                          <a:solidFill>
                            <a:srgbClr val="1E293B"/>
                          </a:solidFill>
                        </a:defRPr>
                      </a:pPr>
                      <a:r>
                        <a:t>None (Root SKU)</a:t>
                      </a:r>
                    </a:p>
                  </a:txBody>
                  <a:tcPr>
                    <a:solidFill>
                      <a:srgbClr val="FFFFFF"/>
                    </a:solidFill>
                  </a:tcPr>
                </a:tc>
                <a:tc>
                  <a:txBody>
                    <a:bodyPr/>
                    <a:lstStyle/>
                    <a:p>
                      <a:pPr>
                        <a:defRPr sz="900">
                          <a:solidFill>
                            <a:srgbClr val="1E293B"/>
                          </a:solidFill>
                        </a:defRPr>
                      </a:pPr>
                      <a:r>
                        <a:t>1 : N (Batches, Invoices)</a:t>
                      </a:r>
                    </a:p>
                  </a:txBody>
                  <a:tcPr>
                    <a:solidFill>
                      <a:srgbClr val="FFFFFF"/>
                    </a:solidFill>
                  </a:tcPr>
                </a:tc>
                <a:tc>
                  <a:txBody>
                    <a:bodyPr/>
                    <a:lstStyle/>
                    <a:p>
                      <a:pPr>
                        <a:defRPr sz="900">
                          <a:solidFill>
                            <a:srgbClr val="1E293B"/>
                          </a:solidFill>
                        </a:defRPr>
                      </a:pPr>
                      <a:r>
                        <a:t>Master drug catalogue, generic formula, MRP, cost, cold-chain flag.</a:t>
                      </a:r>
                    </a:p>
                  </a:txBody>
                  <a:tcPr>
                    <a:solidFill>
                      <a:srgbClr val="FFFFFF"/>
                    </a:solidFill>
                  </a:tcPr>
                </a:tc>
              </a:tr>
              <a:tr h="337624">
                <a:tc>
                  <a:txBody>
                    <a:bodyPr/>
                    <a:lstStyle/>
                    <a:p>
                      <a:pPr>
                        <a:defRPr sz="900">
                          <a:solidFill>
                            <a:srgbClr val="1E293B"/>
                          </a:solidFill>
                        </a:defRPr>
                      </a:pPr>
                      <a:r>
                        <a:t>prescriptions</a:t>
                      </a:r>
                    </a:p>
                  </a:txBody>
                  <a:tcPr>
                    <a:solidFill>
                      <a:srgbClr val="F8FAFC"/>
                    </a:solidFill>
                  </a:tcPr>
                </a:tc>
                <a:tc>
                  <a:txBody>
                    <a:bodyPr/>
                    <a:lstStyle/>
                    <a:p>
                      <a:pPr>
                        <a:defRPr sz="900">
                          <a:solidFill>
                            <a:srgbClr val="1E293B"/>
                          </a:solidFill>
                        </a:defRPr>
                      </a:pPr>
                      <a:r>
                        <a:t>id (TEXT)</a:t>
                      </a:r>
                    </a:p>
                  </a:txBody>
                  <a:tcPr>
                    <a:solidFill>
                      <a:srgbClr val="F8FAFC"/>
                    </a:solidFill>
                  </a:tcPr>
                </a:tc>
                <a:tc>
                  <a:txBody>
                    <a:bodyPr/>
                    <a:lstStyle/>
                    <a:p>
                      <a:pPr>
                        <a:defRPr sz="900">
                          <a:solidFill>
                            <a:srgbClr val="1E293B"/>
                          </a:solidFill>
                        </a:defRPr>
                      </a:pPr>
                      <a:r>
                        <a:t>patient_id -&gt; patients</a:t>
                      </a:r>
                    </a:p>
                  </a:txBody>
                  <a:tcPr>
                    <a:solidFill>
                      <a:srgbClr val="F8FAFC"/>
                    </a:solidFill>
                  </a:tcPr>
                </a:tc>
                <a:tc>
                  <a:txBody>
                    <a:bodyPr/>
                    <a:lstStyle/>
                    <a:p>
                      <a:pPr>
                        <a:defRPr sz="900">
                          <a:solidFill>
                            <a:srgbClr val="1E293B"/>
                          </a:solidFill>
                        </a:defRPr>
                      </a:pPr>
                      <a:r>
                        <a:t>1 : N (Invoices)</a:t>
                      </a:r>
                    </a:p>
                  </a:txBody>
                  <a:tcPr>
                    <a:solidFill>
                      <a:srgbClr val="F8FAFC"/>
                    </a:solidFill>
                  </a:tcPr>
                </a:tc>
                <a:tc>
                  <a:txBody>
                    <a:bodyPr/>
                    <a:lstStyle/>
                    <a:p>
                      <a:pPr>
                        <a:defRPr sz="900">
                          <a:solidFill>
                            <a:srgbClr val="1E293B"/>
                          </a:solidFill>
                        </a:defRPr>
                      </a:pPr>
                      <a:r>
                        <a:t>Incoming eRx queue, doctor registration, diagnosis, CDSS verification.</a:t>
                      </a:r>
                    </a:p>
                  </a:txBody>
                  <a:tcPr>
                    <a:solidFill>
                      <a:srgbClr val="F8FAFC"/>
                    </a:solidFill>
                  </a:tcPr>
                </a:tc>
              </a:tr>
              <a:tr h="337624">
                <a:tc>
                  <a:txBody>
                    <a:bodyPr/>
                    <a:lstStyle/>
                    <a:p>
                      <a:pPr>
                        <a:defRPr sz="900">
                          <a:solidFill>
                            <a:srgbClr val="1E293B"/>
                          </a:solidFill>
                        </a:defRPr>
                      </a:pPr>
                      <a:r>
                        <a:t>invoices</a:t>
                      </a:r>
                    </a:p>
                  </a:txBody>
                  <a:tcPr>
                    <a:solidFill>
                      <a:srgbClr val="FFFFFF"/>
                    </a:solidFill>
                  </a:tcPr>
                </a:tc>
                <a:tc>
                  <a:txBody>
                    <a:bodyPr/>
                    <a:lstStyle/>
                    <a:p>
                      <a:pPr>
                        <a:defRPr sz="900">
                          <a:solidFill>
                            <a:srgbClr val="1E293B"/>
                          </a:solidFill>
                        </a:defRPr>
                      </a:pPr>
                      <a:r>
                        <a:t>invoice_no (TEXT)</a:t>
                      </a:r>
                    </a:p>
                  </a:txBody>
                  <a:tcPr>
                    <a:solidFill>
                      <a:srgbClr val="FFFFFF"/>
                    </a:solidFill>
                  </a:tcPr>
                </a:tc>
                <a:tc>
                  <a:txBody>
                    <a:bodyPr/>
                    <a:lstStyle/>
                    <a:p>
                      <a:pPr>
                        <a:defRPr sz="900">
                          <a:solidFill>
                            <a:srgbClr val="1E293B"/>
                          </a:solidFill>
                        </a:defRPr>
                      </a:pPr>
                      <a:r>
                        <a:t>prescription_id, user_id</a:t>
                      </a:r>
                    </a:p>
                  </a:txBody>
                  <a:tcPr>
                    <a:solidFill>
                      <a:srgbClr val="FFFFFF"/>
                    </a:solidFill>
                  </a:tcPr>
                </a:tc>
                <a:tc>
                  <a:txBody>
                    <a:bodyPr/>
                    <a:lstStyle/>
                    <a:p>
                      <a:pPr>
                        <a:defRPr sz="900">
                          <a:solidFill>
                            <a:srgbClr val="1E293B"/>
                          </a:solidFill>
                        </a:defRPr>
                      </a:pPr>
                      <a:r>
                        <a:t>1 : N (Invoice Items)</a:t>
                      </a:r>
                    </a:p>
                  </a:txBody>
                  <a:tcPr>
                    <a:solidFill>
                      <a:srgbClr val="FFFFFF"/>
                    </a:solidFill>
                  </a:tcPr>
                </a:tc>
                <a:tc>
                  <a:txBody>
                    <a:bodyPr/>
                    <a:lstStyle/>
                    <a:p>
                      <a:pPr>
                        <a:defRPr sz="900">
                          <a:solidFill>
                            <a:srgbClr val="1E293B"/>
                          </a:solidFill>
                        </a:defRPr>
                      </a:pPr>
                      <a:r>
                        <a:t>Master sales billing records, split tender, GST breakdown, discount.</a:t>
                      </a:r>
                    </a:p>
                  </a:txBody>
                  <a:tcPr>
                    <a:solidFill>
                      <a:srgbClr val="FFFFFF"/>
                    </a:solidFill>
                  </a:tcPr>
                </a:tc>
              </a:tr>
              <a:tr h="337624">
                <a:tc>
                  <a:txBody>
                    <a:bodyPr/>
                    <a:lstStyle/>
                    <a:p>
                      <a:pPr>
                        <a:defRPr sz="900">
                          <a:solidFill>
                            <a:srgbClr val="1E293B"/>
                          </a:solidFill>
                        </a:defRPr>
                      </a:pPr>
                      <a:r>
                        <a:t>invoice_items</a:t>
                      </a:r>
                    </a:p>
                  </a:txBody>
                  <a:tcPr>
                    <a:solidFill>
                      <a:srgbClr val="F8FAFC"/>
                    </a:solidFill>
                  </a:tcPr>
                </a:tc>
                <a:tc>
                  <a:txBody>
                    <a:bodyPr/>
                    <a:lstStyle/>
                    <a:p>
                      <a:pPr>
                        <a:defRPr sz="900">
                          <a:solidFill>
                            <a:srgbClr val="1E293B"/>
                          </a:solidFill>
                        </a:defRPr>
                      </a:pPr>
                      <a:r>
                        <a:t>id (INTEGER AUTO)</a:t>
                      </a:r>
                    </a:p>
                  </a:txBody>
                  <a:tcPr>
                    <a:solidFill>
                      <a:srgbClr val="F8FAFC"/>
                    </a:solidFill>
                  </a:tcPr>
                </a:tc>
                <a:tc>
                  <a:txBody>
                    <a:bodyPr/>
                    <a:lstStyle/>
                    <a:p>
                      <a:pPr>
                        <a:defRPr sz="900">
                          <a:solidFill>
                            <a:srgbClr val="1E293B"/>
                          </a:solidFill>
                        </a:defRPr>
                      </a:pPr>
                      <a:r>
                        <a:t>invoice_no -&gt; invoices</a:t>
                      </a:r>
                    </a:p>
                  </a:txBody>
                  <a:tcPr>
                    <a:solidFill>
                      <a:srgbClr val="F8FAFC"/>
                    </a:solidFill>
                  </a:tcPr>
                </a:tc>
                <a:tc>
                  <a:txBody>
                    <a:bodyPr/>
                    <a:lstStyle/>
                    <a:p>
                      <a:pPr>
                        <a:defRPr sz="900">
                          <a:solidFill>
                            <a:srgbClr val="1E293B"/>
                          </a:solidFill>
                        </a:defRPr>
                      </a:pPr>
                      <a:r>
                        <a:t>N : 1 (Invoices)</a:t>
                      </a:r>
                    </a:p>
                  </a:txBody>
                  <a:tcPr>
                    <a:solidFill>
                      <a:srgbClr val="F8FAFC"/>
                    </a:solidFill>
                  </a:tcPr>
                </a:tc>
                <a:tc>
                  <a:txBody>
                    <a:bodyPr/>
                    <a:lstStyle/>
                    <a:p>
                      <a:pPr>
                        <a:defRPr sz="900">
                          <a:solidFill>
                            <a:srgbClr val="1E293B"/>
                          </a:solidFill>
                        </a:defRPr>
                      </a:pPr>
                      <a:r>
                        <a:t>Line-item sale records capturing batch code, quantity, rate, GST %.</a:t>
                      </a:r>
                    </a:p>
                  </a:txBody>
                  <a:tcPr>
                    <a:solidFill>
                      <a:srgbClr val="F8FAFC"/>
                    </a:solidFill>
                  </a:tcPr>
                </a:tc>
              </a:tr>
              <a:tr h="337624">
                <a:tc>
                  <a:txBody>
                    <a:bodyPr/>
                    <a:lstStyle/>
                    <a:p>
                      <a:pPr>
                        <a:defRPr sz="900">
                          <a:solidFill>
                            <a:srgbClr val="1E293B"/>
                          </a:solidFill>
                        </a:defRPr>
                      </a:pPr>
                      <a:r>
                        <a:t>suppliers</a:t>
                      </a:r>
                    </a:p>
                  </a:txBody>
                  <a:tcPr>
                    <a:solidFill>
                      <a:srgbClr val="FFFFFF"/>
                    </a:solidFill>
                  </a:tcPr>
                </a:tc>
                <a:tc>
                  <a:txBody>
                    <a:bodyPr/>
                    <a:lstStyle/>
                    <a:p>
                      <a:pPr>
                        <a:defRPr sz="900">
                          <a:solidFill>
                            <a:srgbClr val="1E293B"/>
                          </a:solidFill>
                        </a:defRPr>
                      </a:pPr>
                      <a:r>
                        <a:t>id (TEXT)</a:t>
                      </a:r>
                    </a:p>
                  </a:txBody>
                  <a:tcPr>
                    <a:solidFill>
                      <a:srgbClr val="FFFFFF"/>
                    </a:solidFill>
                  </a:tcPr>
                </a:tc>
                <a:tc>
                  <a:txBody>
                    <a:bodyPr/>
                    <a:lstStyle/>
                    <a:p>
                      <a:pPr>
                        <a:defRPr sz="900">
                          <a:solidFill>
                            <a:srgbClr val="1E293B"/>
                          </a:solidFill>
                        </a:defRPr>
                      </a:pPr>
                      <a:r>
                        <a:t>None (Vendor)</a:t>
                      </a:r>
                    </a:p>
                  </a:txBody>
                  <a:tcPr>
                    <a:solidFill>
                      <a:srgbClr val="FFFFFF"/>
                    </a:solidFill>
                  </a:tcPr>
                </a:tc>
                <a:tc>
                  <a:txBody>
                    <a:bodyPr/>
                    <a:lstStyle/>
                    <a:p>
                      <a:pPr>
                        <a:defRPr sz="900">
                          <a:solidFill>
                            <a:srgbClr val="1E293B"/>
                          </a:solidFill>
                        </a:defRPr>
                      </a:pPr>
                      <a:r>
                        <a:t>1 : N (POs, Consignments)</a:t>
                      </a:r>
                    </a:p>
                  </a:txBody>
                  <a:tcPr>
                    <a:solidFill>
                      <a:srgbClr val="FFFFFF"/>
                    </a:solidFill>
                  </a:tcPr>
                </a:tc>
                <a:tc>
                  <a:txBody>
                    <a:bodyPr/>
                    <a:lstStyle/>
                    <a:p>
                      <a:pPr>
                        <a:defRPr sz="900">
                          <a:solidFill>
                            <a:srgbClr val="1E293B"/>
                          </a:solidFill>
                        </a:defRPr>
                      </a:pPr>
                      <a:r>
                        <a:t>Wholesale distributor directory, payment terms, and vendor rating.</a:t>
                      </a:r>
                    </a:p>
                  </a:txBody>
                  <a:tcPr>
                    <a:solidFill>
                      <a:srgbClr val="FFFFFF"/>
                    </a:solidFill>
                  </a:tcPr>
                </a:tc>
              </a:tr>
              <a:tr h="337624">
                <a:tc>
                  <a:txBody>
                    <a:bodyPr/>
                    <a:lstStyle/>
                    <a:p>
                      <a:pPr>
                        <a:defRPr sz="900">
                          <a:solidFill>
                            <a:srgbClr val="1E293B"/>
                          </a:solidFill>
                        </a:defRPr>
                      </a:pPr>
                      <a:r>
                        <a:t>purchase_orders</a:t>
                      </a:r>
                    </a:p>
                  </a:txBody>
                  <a:tcPr>
                    <a:solidFill>
                      <a:srgbClr val="F8FAFC"/>
                    </a:solidFill>
                  </a:tcPr>
                </a:tc>
                <a:tc>
                  <a:txBody>
                    <a:bodyPr/>
                    <a:lstStyle/>
                    <a:p>
                      <a:pPr>
                        <a:defRPr sz="900">
                          <a:solidFill>
                            <a:srgbClr val="1E293B"/>
                          </a:solidFill>
                        </a:defRPr>
                      </a:pPr>
                      <a:r>
                        <a:t>po_id (TEXT)</a:t>
                      </a:r>
                    </a:p>
                  </a:txBody>
                  <a:tcPr>
                    <a:solidFill>
                      <a:srgbClr val="F8FAFC"/>
                    </a:solidFill>
                  </a:tcPr>
                </a:tc>
                <a:tc>
                  <a:txBody>
                    <a:bodyPr/>
                    <a:lstStyle/>
                    <a:p>
                      <a:pPr>
                        <a:defRPr sz="900">
                          <a:solidFill>
                            <a:srgbClr val="1E293B"/>
                          </a:solidFill>
                        </a:defRPr>
                      </a:pPr>
                      <a:r>
                        <a:t>supplier_name -&gt; suppliers</a:t>
                      </a:r>
                    </a:p>
                  </a:txBody>
                  <a:tcPr>
                    <a:solidFill>
                      <a:srgbClr val="F8FAFC"/>
                    </a:solidFill>
                  </a:tcPr>
                </a:tc>
                <a:tc>
                  <a:txBody>
                    <a:bodyPr/>
                    <a:lstStyle/>
                    <a:p>
                      <a:pPr>
                        <a:defRPr sz="900">
                          <a:solidFill>
                            <a:srgbClr val="1E293B"/>
                          </a:solidFill>
                        </a:defRPr>
                      </a:pPr>
                      <a:r>
                        <a:t>1 : N (GRN Items)</a:t>
                      </a:r>
                    </a:p>
                  </a:txBody>
                  <a:tcPr>
                    <a:solidFill>
                      <a:srgbClr val="F8FAFC"/>
                    </a:solidFill>
                  </a:tcPr>
                </a:tc>
                <a:tc>
                  <a:txBody>
                    <a:bodyPr/>
                    <a:lstStyle/>
                    <a:p>
                      <a:pPr>
                        <a:defRPr sz="900">
                          <a:solidFill>
                            <a:srgbClr val="1E293B"/>
                          </a:solidFill>
                        </a:defRPr>
                      </a:pPr>
                      <a:r>
                        <a:t>Inbound procurement orders, received items, total inward valuation.</a:t>
                      </a:r>
                    </a:p>
                  </a:txBody>
                  <a:tcPr>
                    <a:solidFill>
                      <a:srgbClr val="F8FAFC"/>
                    </a:solidFill>
                  </a:tcPr>
                </a:tc>
              </a:tr>
              <a:tr h="337624">
                <a:tc>
                  <a:txBody>
                    <a:bodyPr/>
                    <a:lstStyle/>
                    <a:p>
                      <a:pPr>
                        <a:defRPr sz="900">
                          <a:solidFill>
                            <a:srgbClr val="1E293B"/>
                          </a:solidFill>
                        </a:defRPr>
                      </a:pPr>
                      <a:r>
                        <a:t>consignment_batches</a:t>
                      </a:r>
                    </a:p>
                  </a:txBody>
                  <a:tcPr>
                    <a:solidFill>
                      <a:srgbClr val="FFFFFF"/>
                    </a:solidFill>
                  </a:tcPr>
                </a:tc>
                <a:tc>
                  <a:txBody>
                    <a:bodyPr/>
                    <a:lstStyle/>
                    <a:p>
                      <a:pPr>
                        <a:defRPr sz="900">
                          <a:solidFill>
                            <a:srgbClr val="1E293B"/>
                          </a:solidFill>
                        </a:defRPr>
                      </a:pPr>
                      <a:r>
                        <a:t>id (INTEGER AUTO)</a:t>
                      </a:r>
                    </a:p>
                  </a:txBody>
                  <a:tcPr>
                    <a:solidFill>
                      <a:srgbClr val="FFFFFF"/>
                    </a:solidFill>
                  </a:tcPr>
                </a:tc>
                <a:tc>
                  <a:txBody>
                    <a:bodyPr/>
                    <a:lstStyle/>
                    <a:p>
                      <a:pPr>
                        <a:defRPr sz="900">
                          <a:solidFill>
                            <a:srgbClr val="1E293B"/>
                          </a:solidFill>
                        </a:defRPr>
                      </a:pPr>
                      <a:r>
                        <a:t>po_id, medicine_id</a:t>
                      </a:r>
                    </a:p>
                  </a:txBody>
                  <a:tcPr>
                    <a:solidFill>
                      <a:srgbClr val="FFFFFF"/>
                    </a:solidFill>
                  </a:tcPr>
                </a:tc>
                <a:tc>
                  <a:txBody>
                    <a:bodyPr/>
                    <a:lstStyle/>
                    <a:p>
                      <a:pPr>
                        <a:defRPr sz="900">
                          <a:solidFill>
                            <a:srgbClr val="1E293B"/>
                          </a:solidFill>
                        </a:defRPr>
                      </a:pPr>
                      <a:r>
                        <a:t>1 : N (Settlements)</a:t>
                      </a:r>
                    </a:p>
                  </a:txBody>
                  <a:tcPr>
                    <a:solidFill>
                      <a:srgbClr val="FFFFFF"/>
                    </a:solidFill>
                  </a:tcPr>
                </a:tc>
                <a:tc>
                  <a:txBody>
                    <a:bodyPr/>
                    <a:lstStyle/>
                    <a:p>
                      <a:pPr>
                        <a:defRPr sz="900">
                          <a:solidFill>
                            <a:srgbClr val="1E293B"/>
                          </a:solidFill>
                        </a:defRPr>
                      </a:pPr>
                      <a:r>
                        <a:t>Pay-on-Sale consignment ledger tracking inwarded, sold, and unsold stock.</a:t>
                      </a:r>
                    </a:p>
                  </a:txBody>
                  <a:tcPr>
                    <a:solidFill>
                      <a:srgbClr val="FFFFFF"/>
                    </a:solidFill>
                  </a:tcPr>
                </a:tc>
              </a:tr>
              <a:tr h="337624">
                <a:tc>
                  <a:txBody>
                    <a:bodyPr/>
                    <a:lstStyle/>
                    <a:p>
                      <a:pPr>
                        <a:defRPr sz="900">
                          <a:solidFill>
                            <a:srgbClr val="1E293B"/>
                          </a:solidFill>
                        </a:defRPr>
                      </a:pPr>
                      <a:r>
                        <a:t>supplier_settlements</a:t>
                      </a:r>
                    </a:p>
                  </a:txBody>
                  <a:tcPr>
                    <a:solidFill>
                      <a:srgbClr val="F8FAFC"/>
                    </a:solidFill>
                  </a:tcPr>
                </a:tc>
                <a:tc>
                  <a:txBody>
                    <a:bodyPr/>
                    <a:lstStyle/>
                    <a:p>
                      <a:pPr>
                        <a:defRPr sz="900">
                          <a:solidFill>
                            <a:srgbClr val="1E293B"/>
                          </a:solidFill>
                        </a:defRPr>
                      </a:pPr>
                      <a:r>
                        <a:t>id (TEXT)</a:t>
                      </a:r>
                    </a:p>
                  </a:txBody>
                  <a:tcPr>
                    <a:solidFill>
                      <a:srgbClr val="F8FAFC"/>
                    </a:solidFill>
                  </a:tcPr>
                </a:tc>
                <a:tc>
                  <a:txBody>
                    <a:bodyPr/>
                    <a:lstStyle/>
                    <a:p>
                      <a:pPr>
                        <a:defRPr sz="900">
                          <a:solidFill>
                            <a:srgbClr val="1E293B"/>
                          </a:solidFill>
                        </a:defRPr>
                      </a:pPr>
                      <a:r>
                        <a:t>supplier_name -&gt; suppliers</a:t>
                      </a:r>
                    </a:p>
                  </a:txBody>
                  <a:tcPr>
                    <a:solidFill>
                      <a:srgbClr val="F8FAFC"/>
                    </a:solidFill>
                  </a:tcPr>
                </a:tc>
                <a:tc>
                  <a:txBody>
                    <a:bodyPr/>
                    <a:lstStyle/>
                    <a:p>
                      <a:pPr>
                        <a:defRPr sz="900">
                          <a:solidFill>
                            <a:srgbClr val="1E293B"/>
                          </a:solidFill>
                        </a:defRPr>
                      </a:pPr>
                      <a:r>
                        <a:t>N : 1 (Suppliers)</a:t>
                      </a:r>
                    </a:p>
                  </a:txBody>
                  <a:tcPr>
                    <a:solidFill>
                      <a:srgbClr val="F8FAFC"/>
                    </a:solidFill>
                  </a:tcPr>
                </a:tc>
                <a:tc>
                  <a:txBody>
                    <a:bodyPr/>
                    <a:lstStyle/>
                    <a:p>
                      <a:pPr>
                        <a:defRPr sz="900">
                          <a:solidFill>
                            <a:srgbClr val="1E293B"/>
                          </a:solidFill>
                        </a:defRPr>
                      </a:pPr>
                      <a:r>
                        <a:t>Vouchers recording payments to suppliers strictly for sold consignment units.</a:t>
                      </a:r>
                    </a:p>
                  </a:txBody>
                  <a:tcPr>
                    <a:solidFill>
                      <a:srgbClr val="F8FAFC"/>
                    </a:solidFill>
                  </a:tcPr>
                </a:tc>
              </a:tr>
              <a:tr h="337624">
                <a:tc>
                  <a:txBody>
                    <a:bodyPr/>
                    <a:lstStyle/>
                    <a:p>
                      <a:pPr>
                        <a:defRPr sz="900">
                          <a:solidFill>
                            <a:srgbClr val="1E293B"/>
                          </a:solidFill>
                        </a:defRPr>
                      </a:pPr>
                      <a:r>
                        <a:t>deliveries</a:t>
                      </a:r>
                    </a:p>
                  </a:txBody>
                  <a:tcPr>
                    <a:solidFill>
                      <a:srgbClr val="FFFFFF"/>
                    </a:solidFill>
                  </a:tcPr>
                </a:tc>
                <a:tc>
                  <a:txBody>
                    <a:bodyPr/>
                    <a:lstStyle/>
                    <a:p>
                      <a:pPr>
                        <a:defRPr sz="900">
                          <a:solidFill>
                            <a:srgbClr val="1E293B"/>
                          </a:solidFill>
                        </a:defRPr>
                      </a:pPr>
                      <a:r>
                        <a:t>order_id (TEXT)</a:t>
                      </a:r>
                    </a:p>
                  </a:txBody>
                  <a:tcPr>
                    <a:solidFill>
                      <a:srgbClr val="FFFFFF"/>
                    </a:solidFill>
                  </a:tcPr>
                </a:tc>
                <a:tc>
                  <a:txBody>
                    <a:bodyPr/>
                    <a:lstStyle/>
                    <a:p>
                      <a:pPr>
                        <a:defRPr sz="900">
                          <a:solidFill>
                            <a:srgbClr val="1E293B"/>
                          </a:solidFill>
                        </a:defRPr>
                      </a:pPr>
                      <a:r>
                        <a:t>invoice_id -&gt; invoices</a:t>
                      </a:r>
                    </a:p>
                  </a:txBody>
                  <a:tcPr>
                    <a:solidFill>
                      <a:srgbClr val="FFFFFF"/>
                    </a:solidFill>
                  </a:tcPr>
                </a:tc>
                <a:tc>
                  <a:txBody>
                    <a:bodyPr/>
                    <a:lstStyle/>
                    <a:p>
                      <a:pPr>
                        <a:defRPr sz="900">
                          <a:solidFill>
                            <a:srgbClr val="1E293B"/>
                          </a:solidFill>
                        </a:defRPr>
                      </a:pPr>
                      <a:r>
                        <a:t>1 : 1 (Invoices)</a:t>
                      </a:r>
                    </a:p>
                  </a:txBody>
                  <a:tcPr>
                    <a:solidFill>
                      <a:srgbClr val="FFFFFF"/>
                    </a:solidFill>
                  </a:tcPr>
                </a:tc>
                <a:tc>
                  <a:txBody>
                    <a:bodyPr/>
                    <a:lstStyle/>
                    <a:p>
                      <a:pPr>
                        <a:defRPr sz="900">
                          <a:solidFill>
                            <a:srgbClr val="1E293B"/>
                          </a:solidFill>
                        </a:defRPr>
                      </a:pPr>
                      <a:r>
                        <a:t>Last-mile fleet tracking, delivery address, carrier notes, and 4-digit OTP.</a:t>
                      </a:r>
                    </a:p>
                  </a:txBody>
                  <a:tcPr>
                    <a:solidFill>
                      <a:srgbClr val="FFFFFF"/>
                    </a:solidFill>
                  </a:tcPr>
                </a:tc>
              </a:tr>
              <a:tr h="337624">
                <a:tc>
                  <a:txBody>
                    <a:bodyPr/>
                    <a:lstStyle/>
                    <a:p>
                      <a:pPr>
                        <a:defRPr sz="900">
                          <a:solidFill>
                            <a:srgbClr val="1E293B"/>
                          </a:solidFill>
                        </a:defRPr>
                      </a:pPr>
                      <a:r>
                        <a:t>audit_logs</a:t>
                      </a:r>
                    </a:p>
                  </a:txBody>
                  <a:tcPr>
                    <a:solidFill>
                      <a:srgbClr val="F8FAFC"/>
                    </a:solidFill>
                  </a:tcPr>
                </a:tc>
                <a:tc>
                  <a:txBody>
                    <a:bodyPr/>
                    <a:lstStyle/>
                    <a:p>
                      <a:pPr>
                        <a:defRPr sz="900">
                          <a:solidFill>
                            <a:srgbClr val="1E293B"/>
                          </a:solidFill>
                        </a:defRPr>
                      </a:pPr>
                      <a:r>
                        <a:t>id (INTEGER AUTO)</a:t>
                      </a:r>
                    </a:p>
                  </a:txBody>
                  <a:tcPr>
                    <a:solidFill>
                      <a:srgbClr val="F8FAFC"/>
                    </a:solidFill>
                  </a:tcPr>
                </a:tc>
                <a:tc>
                  <a:txBody>
                    <a:bodyPr/>
                    <a:lstStyle/>
                    <a:p>
                      <a:pPr>
                        <a:defRPr sz="900">
                          <a:solidFill>
                            <a:srgbClr val="1E293B"/>
                          </a:solidFill>
                        </a:defRPr>
                      </a:pPr>
                      <a:r>
                        <a:t>user_id -&gt; users</a:t>
                      </a:r>
                    </a:p>
                  </a:txBody>
                  <a:tcPr>
                    <a:solidFill>
                      <a:srgbClr val="F8FAFC"/>
                    </a:solidFill>
                  </a:tcPr>
                </a:tc>
                <a:tc>
                  <a:txBody>
                    <a:bodyPr/>
                    <a:lstStyle/>
                    <a:p>
                      <a:pPr>
                        <a:defRPr sz="900">
                          <a:solidFill>
                            <a:srgbClr val="1E293B"/>
                          </a:solidFill>
                        </a:defRPr>
                      </a:pPr>
                      <a:r>
                        <a:t>Independent Audit</a:t>
                      </a:r>
                    </a:p>
                  </a:txBody>
                  <a:tcPr>
                    <a:solidFill>
                      <a:srgbClr val="F8FAFC"/>
                    </a:solidFill>
                  </a:tcPr>
                </a:tc>
                <a:tc>
                  <a:txBody>
                    <a:bodyPr/>
                    <a:lstStyle/>
                    <a:p>
                      <a:pPr>
                        <a:defRPr sz="900">
                          <a:solidFill>
                            <a:srgbClr val="1E293B"/>
                          </a:solidFill>
                        </a:defRPr>
                      </a:pPr>
                      <a:r>
                        <a:t>Immutable event log recording timestamp, actor, action, and old/new values.</a:t>
                      </a:r>
                    </a:p>
                  </a:txBody>
                  <a:tcPr>
                    <a:solidFill>
                      <a:srgbClr val="F8FAFC"/>
                    </a:solidFill>
                  </a:tcPr>
                </a:tc>
              </a:tr>
              <a:tr h="337632">
                <a:tc>
                  <a:txBody>
                    <a:bodyPr/>
                    <a:lstStyle/>
                    <a:p>
                      <a:pPr>
                        <a:defRPr sz="900">
                          <a:solidFill>
                            <a:srgbClr val="1E293B"/>
                          </a:solidFill>
                        </a:defRPr>
                      </a:pPr>
                      <a:r>
                        <a:t>daily_reports</a:t>
                      </a:r>
                    </a:p>
                  </a:txBody>
                  <a:tcPr>
                    <a:solidFill>
                      <a:srgbClr val="FFFFFF"/>
                    </a:solidFill>
                  </a:tcPr>
                </a:tc>
                <a:tc>
                  <a:txBody>
                    <a:bodyPr/>
                    <a:lstStyle/>
                    <a:p>
                      <a:pPr>
                        <a:defRPr sz="900">
                          <a:solidFill>
                            <a:srgbClr val="1E293B"/>
                          </a:solidFill>
                        </a:defRPr>
                      </a:pPr>
                      <a:r>
                        <a:t>id (TEXT)</a:t>
                      </a:r>
                    </a:p>
                  </a:txBody>
                  <a:tcPr>
                    <a:solidFill>
                      <a:srgbClr val="FFFFFF"/>
                    </a:solidFill>
                  </a:tcPr>
                </a:tc>
                <a:tc>
                  <a:txBody>
                    <a:bodyPr/>
                    <a:lstStyle/>
                    <a:p>
                      <a:pPr>
                        <a:defRPr sz="900">
                          <a:solidFill>
                            <a:srgbClr val="1E293B"/>
                          </a:solidFill>
                        </a:defRPr>
                      </a:pPr>
                      <a:r>
                        <a:t>closed_by -&gt; users</a:t>
                      </a:r>
                    </a:p>
                  </a:txBody>
                  <a:tcPr>
                    <a:solidFill>
                      <a:srgbClr val="FFFFFF"/>
                    </a:solidFill>
                  </a:tcPr>
                </a:tc>
                <a:tc>
                  <a:txBody>
                    <a:bodyPr/>
                    <a:lstStyle/>
                    <a:p>
                      <a:pPr>
                        <a:defRPr sz="900">
                          <a:solidFill>
                            <a:srgbClr val="1E293B"/>
                          </a:solidFill>
                        </a:defRPr>
                      </a:pPr>
                      <a:r>
                        <a:t>1 per Shift</a:t>
                      </a:r>
                    </a:p>
                  </a:txBody>
                  <a:tcPr>
                    <a:solidFill>
                      <a:srgbClr val="FFFFFF"/>
                    </a:solidFill>
                  </a:tcPr>
                </a:tc>
                <a:tc>
                  <a:txBody>
                    <a:bodyPr/>
                    <a:lstStyle/>
                    <a:p>
                      <a:pPr>
                        <a:defRPr sz="900">
                          <a:solidFill>
                            <a:srgbClr val="1E293B"/>
                          </a:solidFill>
                        </a:defRPr>
                      </a:pPr>
                      <a:r>
                        <a:t>Z-Report cash register reconciliation balancing physical cash vs expected.</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DATABASE INTEGRATION</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Database Integration: ACID Transactions, Concurrency &amp; Migrations</a:t>
            </a:r>
          </a:p>
        </p:txBody>
      </p:sp>
      <p:sp>
        <p:nvSpPr>
          <p:cNvPr id="5" name="Rounded Rectangle 4"/>
          <p:cNvSpPr/>
          <p:nvPr/>
        </p:nvSpPr>
        <p:spPr>
          <a:xfrm>
            <a:off x="731520" y="1600200"/>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1092708"/>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1001268"/>
          </a:xfrm>
          <a:prstGeom prst="rect">
            <a:avLst/>
          </a:prstGeom>
          <a:noFill/>
        </p:spPr>
        <p:txBody>
          <a:bodyPr wrap="square">
            <a:spAutoFit/>
          </a:bodyPr>
          <a:lstStyle/>
          <a:p>
            <a:pPr>
              <a:spcAft>
                <a:spcPts val="200"/>
              </a:spcAft>
              <a:defRPr sz="1150" b="1">
                <a:solidFill>
                  <a:srgbClr val="0A2540"/>
                </a:solidFill>
              </a:defRPr>
            </a:pPr>
            <a:r>
              <a:t>1. ACID Transaction Integrity (Atomicity &amp; Consistency)</a:t>
            </a:r>
          </a:p>
          <a:p>
            <a:pPr>
              <a:spcAft>
                <a:spcPts val="100"/>
              </a:spcAft>
              <a:defRPr sz="1000">
                <a:solidFill>
                  <a:srgbClr val="1E293B"/>
                </a:solidFill>
              </a:defRPr>
            </a:pPr>
            <a:r>
              <a:t>• Multi-Table Transactions: When an invoice is finalized, the system atomically inserts into invoices, inserts N rows into invoice_items, deducts batch stock from medicines, and appends to audit_logs.</a:t>
            </a:r>
          </a:p>
          <a:p>
            <a:pPr>
              <a:spcAft>
                <a:spcPts val="100"/>
              </a:spcAft>
              <a:defRPr sz="1000">
                <a:solidFill>
                  <a:srgbClr val="1E293B"/>
                </a:solidFill>
              </a:defRPr>
            </a:pPr>
            <a:r>
              <a:t>• Rollback Protection: If any step fails (e.g., negative stock constraint violation), the entire transaction rolls back via conn.rollback(), ensuring zero orphaned records.</a:t>
            </a:r>
          </a:p>
        </p:txBody>
      </p:sp>
      <p:sp>
        <p:nvSpPr>
          <p:cNvPr id="8" name="Rounded Rectangle 7"/>
          <p:cNvSpPr/>
          <p:nvPr/>
        </p:nvSpPr>
        <p:spPr>
          <a:xfrm>
            <a:off x="731520" y="2820924"/>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20924"/>
            <a:ext cx="109728" cy="109270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66644"/>
            <a:ext cx="10287000" cy="1001268"/>
          </a:xfrm>
          <a:prstGeom prst="rect">
            <a:avLst/>
          </a:prstGeom>
          <a:noFill/>
        </p:spPr>
        <p:txBody>
          <a:bodyPr wrap="square">
            <a:spAutoFit/>
          </a:bodyPr>
          <a:lstStyle/>
          <a:p>
            <a:pPr>
              <a:spcAft>
                <a:spcPts val="200"/>
              </a:spcAft>
              <a:defRPr sz="1150" b="1">
                <a:solidFill>
                  <a:srgbClr val="0A2540"/>
                </a:solidFill>
              </a:defRPr>
            </a:pPr>
            <a:r>
              <a:t>2. Multi-User Concurrency &amp; SQLite WAL Mode</a:t>
            </a:r>
          </a:p>
          <a:p>
            <a:pPr>
              <a:spcAft>
                <a:spcPts val="100"/>
              </a:spcAft>
              <a:defRPr sz="1000">
                <a:solidFill>
                  <a:srgbClr val="1E293B"/>
                </a:solidFill>
              </a:defRPr>
            </a:pPr>
            <a:r>
              <a:t>• Write-Ahead Logging (WAL): PRAGMA journal_mode=WAL enables concurrent non-blocking reads by cashiers and pharmacists while inventory write operations complete.</a:t>
            </a:r>
          </a:p>
          <a:p>
            <a:pPr>
              <a:spcAft>
                <a:spcPts val="100"/>
              </a:spcAft>
              <a:defRPr sz="1000">
                <a:solidFill>
                  <a:srgbClr val="1E293B"/>
                </a:solidFill>
              </a:defRPr>
            </a:pPr>
            <a:r>
              <a:t>• Busy Timeout Handling: Configured with 5000ms retry lock timeout to prevent database lock exceptions during peak billing rushes.</a:t>
            </a:r>
          </a:p>
        </p:txBody>
      </p:sp>
      <p:sp>
        <p:nvSpPr>
          <p:cNvPr id="11" name="Rounded Rectangle 10"/>
          <p:cNvSpPr/>
          <p:nvPr/>
        </p:nvSpPr>
        <p:spPr>
          <a:xfrm>
            <a:off x="731520" y="4041648"/>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41648"/>
            <a:ext cx="109728" cy="10927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87368"/>
            <a:ext cx="10287000" cy="1001268"/>
          </a:xfrm>
          <a:prstGeom prst="rect">
            <a:avLst/>
          </a:prstGeom>
          <a:noFill/>
        </p:spPr>
        <p:txBody>
          <a:bodyPr wrap="square">
            <a:spAutoFit/>
          </a:bodyPr>
          <a:lstStyle/>
          <a:p>
            <a:pPr>
              <a:spcAft>
                <a:spcPts val="200"/>
              </a:spcAft>
              <a:defRPr sz="1150" b="1">
                <a:solidFill>
                  <a:srgbClr val="0A2540"/>
                </a:solidFill>
              </a:defRPr>
            </a:pPr>
            <a:r>
              <a:t>3. Automated Schema Migrations &amp; Referential Integrity</a:t>
            </a:r>
          </a:p>
          <a:p>
            <a:pPr>
              <a:spcAft>
                <a:spcPts val="100"/>
              </a:spcAft>
              <a:defRPr sz="1000">
                <a:solidFill>
                  <a:srgbClr val="1E293B"/>
                </a:solidFill>
              </a:defRPr>
            </a:pPr>
            <a:r>
              <a:t>• Zero-Downtime Column Injection: Automatic column detection and ALTER TABLE migrations for seamless schema upgrades (e.g., consignment columns, delivery fields).</a:t>
            </a:r>
          </a:p>
          <a:p>
            <a:pPr>
              <a:spcAft>
                <a:spcPts val="100"/>
              </a:spcAft>
              <a:defRPr sz="1000">
                <a:solidFill>
                  <a:srgbClr val="1E293B"/>
                </a:solidFill>
              </a:defRPr>
            </a:pPr>
            <a:r>
              <a:t>• Foreign Key Enforcement: PRAGMA foreign_keys = ON strictly prevents deletion of parent records with active child relations.</a:t>
            </a:r>
          </a:p>
        </p:txBody>
      </p:sp>
      <p:sp>
        <p:nvSpPr>
          <p:cNvPr id="14" name="Rounded Rectangle 13"/>
          <p:cNvSpPr/>
          <p:nvPr/>
        </p:nvSpPr>
        <p:spPr>
          <a:xfrm>
            <a:off x="731520" y="5262372"/>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262372"/>
            <a:ext cx="109728" cy="10927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308092"/>
            <a:ext cx="10287000" cy="1001268"/>
          </a:xfrm>
          <a:prstGeom prst="rect">
            <a:avLst/>
          </a:prstGeom>
          <a:noFill/>
        </p:spPr>
        <p:txBody>
          <a:bodyPr wrap="square">
            <a:spAutoFit/>
          </a:bodyPr>
          <a:lstStyle/>
          <a:p>
            <a:pPr>
              <a:spcAft>
                <a:spcPts val="200"/>
              </a:spcAft>
              <a:defRPr sz="1150" b="1">
                <a:solidFill>
                  <a:srgbClr val="0A2540"/>
                </a:solidFill>
              </a:defRPr>
            </a:pPr>
            <a:r>
              <a:t>4. Immutable Audit Snapshots &amp; Point-in-Time Recovery</a:t>
            </a:r>
          </a:p>
          <a:p>
            <a:pPr>
              <a:spcAft>
                <a:spcPts val="100"/>
              </a:spcAft>
              <a:defRPr sz="1000">
                <a:solidFill>
                  <a:srgbClr val="1E293B"/>
                </a:solidFill>
              </a:defRPr>
            </a:pPr>
            <a:r>
              <a:t>• JSON Snapshot Backups: 1-Click automated database dumps to timestamped JSON archives (backup_YYYYMMDD_HHMMSS.json).</a:t>
            </a:r>
          </a:p>
          <a:p>
            <a:pPr>
              <a:spcAft>
                <a:spcPts val="100"/>
              </a:spcAft>
              <a:defRPr sz="1000">
                <a:solidFill>
                  <a:srgbClr val="1E293B"/>
                </a:solidFill>
              </a:defRPr>
            </a:pPr>
            <a:r>
              <a:t>• Fast Point-in-Time Restore: Admin-verified snapshot rollback capability ensures enterprise disaster recovery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CRUD OPERATIONS &amp; LEAST PRIVILEGE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CRUD Operations Matrix Across 5 Operational Roles</a:t>
            </a:r>
          </a:p>
        </p:txBody>
      </p:sp>
      <p:sp>
        <p:nvSpPr>
          <p:cNvPr id="5" name="Rounded Rectangle 4"/>
          <p:cNvSpPr/>
          <p:nvPr/>
        </p:nvSpPr>
        <p:spPr>
          <a:xfrm>
            <a:off x="731520" y="1600200"/>
            <a:ext cx="10728655" cy="47091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868680" y="1737360"/>
          <a:ext cx="10728655" cy="4389120"/>
        </p:xfrm>
        <a:graphic>
          <a:graphicData uri="http://schemas.openxmlformats.org/drawingml/2006/table">
            <a:tbl>
              <a:tblPr firstRow="1" bandRow="1">
                <a:tableStyleId>{5C22544A-7EE6-4342-B048-85BDC9FD1C3A}</a:tableStyleId>
              </a:tblPr>
              <a:tblGrid>
                <a:gridCol w="2103120"/>
                <a:gridCol w="1719072"/>
                <a:gridCol w="1719072"/>
                <a:gridCol w="1719072"/>
                <a:gridCol w="1719072"/>
                <a:gridCol w="1749247"/>
              </a:tblGrid>
              <a:tr h="487680">
                <a:tc>
                  <a:txBody>
                    <a:bodyPr/>
                    <a:lstStyle/>
                    <a:p>
                      <a:pPr>
                        <a:defRPr b="1" sz="1000">
                          <a:solidFill>
                            <a:srgbClr val="FFFFFF"/>
                          </a:solidFill>
                        </a:defRPr>
                      </a:pPr>
                      <a:r>
                        <a:t>Module / Entity</a:t>
                      </a:r>
                    </a:p>
                  </a:txBody>
                  <a:tcPr>
                    <a:solidFill>
                      <a:srgbClr val="0A2540"/>
                    </a:solidFill>
                  </a:tcPr>
                </a:tc>
                <a:tc>
                  <a:txBody>
                    <a:bodyPr/>
                    <a:lstStyle/>
                    <a:p>
                      <a:pPr>
                        <a:defRPr b="1" sz="1000">
                          <a:solidFill>
                            <a:srgbClr val="FFFFFF"/>
                          </a:solidFill>
                        </a:defRPr>
                      </a:pPr>
                      <a:r>
                        <a:t>Store Admin</a:t>
                      </a:r>
                    </a:p>
                  </a:txBody>
                  <a:tcPr>
                    <a:solidFill>
                      <a:srgbClr val="0A2540"/>
                    </a:solidFill>
                  </a:tcPr>
                </a:tc>
                <a:tc>
                  <a:txBody>
                    <a:bodyPr/>
                    <a:lstStyle/>
                    <a:p>
                      <a:pPr>
                        <a:defRPr b="1" sz="1000">
                          <a:solidFill>
                            <a:srgbClr val="FFFFFF"/>
                          </a:solidFill>
                        </a:defRPr>
                      </a:pPr>
                      <a:r>
                        <a:t>Clinical Pharmacist</a:t>
                      </a:r>
                    </a:p>
                  </a:txBody>
                  <a:tcPr>
                    <a:solidFill>
                      <a:srgbClr val="0A2540"/>
                    </a:solidFill>
                  </a:tcPr>
                </a:tc>
                <a:tc>
                  <a:txBody>
                    <a:bodyPr/>
                    <a:lstStyle/>
                    <a:p>
                      <a:pPr>
                        <a:defRPr b="1" sz="1000">
                          <a:solidFill>
                            <a:srgbClr val="FFFFFF"/>
                          </a:solidFill>
                        </a:defRPr>
                      </a:pPr>
                      <a:r>
                        <a:t>POS Cashier</a:t>
                      </a:r>
                    </a:p>
                  </a:txBody>
                  <a:tcPr>
                    <a:solidFill>
                      <a:srgbClr val="0A2540"/>
                    </a:solidFill>
                  </a:tcPr>
                </a:tc>
                <a:tc>
                  <a:txBody>
                    <a:bodyPr/>
                    <a:lstStyle/>
                    <a:p>
                      <a:pPr>
                        <a:defRPr b="1" sz="1000">
                          <a:solidFill>
                            <a:srgbClr val="FFFFFF"/>
                          </a:solidFill>
                        </a:defRPr>
                      </a:pPr>
                      <a:r>
                        <a:t>Inventory Manager</a:t>
                      </a:r>
                    </a:p>
                  </a:txBody>
                  <a:tcPr>
                    <a:solidFill>
                      <a:srgbClr val="0A2540"/>
                    </a:solidFill>
                  </a:tcPr>
                </a:tc>
                <a:tc>
                  <a:txBody>
                    <a:bodyPr/>
                    <a:lstStyle/>
                    <a:p>
                      <a:pPr>
                        <a:defRPr b="1" sz="1000">
                          <a:solidFill>
                            <a:srgbClr val="FFFFFF"/>
                          </a:solidFill>
                        </a:defRPr>
                      </a:pPr>
                      <a:r>
                        <a:t>Delivery Agent</a:t>
                      </a:r>
                    </a:p>
                  </a:txBody>
                  <a:tcPr>
                    <a:solidFill>
                      <a:srgbClr val="0A2540"/>
                    </a:solidFill>
                  </a:tcPr>
                </a:tc>
              </a:tr>
              <a:tr h="487680">
                <a:tc>
                  <a:txBody>
                    <a:bodyPr/>
                    <a:lstStyle/>
                    <a:p>
                      <a:pPr>
                        <a:defRPr sz="900">
                          <a:solidFill>
                            <a:srgbClr val="1E293B"/>
                          </a:solidFill>
                        </a:defRPr>
                      </a:pPr>
                      <a:r>
                        <a:t>Staff &amp; RBAC Accounts</a:t>
                      </a:r>
                    </a:p>
                  </a:txBody>
                  <a:tcPr>
                    <a:solidFill>
                      <a:srgbClr val="F8FAFC"/>
                    </a:solidFill>
                  </a:tcPr>
                </a:tc>
                <a:tc>
                  <a:txBody>
                    <a:bodyPr/>
                    <a:lstStyle/>
                    <a:p>
                      <a:pPr>
                        <a:defRPr sz="900">
                          <a:solidFill>
                            <a:srgbClr val="1E293B"/>
                          </a:solidFill>
                        </a:defRPr>
                      </a:pPr>
                      <a:r>
                        <a:t>CRUD (Full Admin)</a:t>
                      </a:r>
                    </a:p>
                  </a:txBody>
                  <a:tcPr>
                    <a:solidFill>
                      <a:srgbClr val="F8FAFC"/>
                    </a:solidFill>
                  </a:tcPr>
                </a:tc>
                <a:tc>
                  <a:txBody>
                    <a:bodyPr/>
                    <a:lstStyle/>
                    <a:p>
                      <a:pPr>
                        <a:defRPr sz="900">
                          <a:solidFill>
                            <a:srgbClr val="1E293B"/>
                          </a:solidFill>
                        </a:defRPr>
                      </a:pPr>
                      <a:r>
                        <a:t>R (Staff Directory)</a:t>
                      </a:r>
                    </a:p>
                  </a:txBody>
                  <a:tcPr>
                    <a:solidFill>
                      <a:srgbClr val="F8FAFC"/>
                    </a:solidFill>
                  </a:tcPr>
                </a:tc>
                <a:tc>
                  <a:txBody>
                    <a:bodyPr/>
                    <a:lstStyle/>
                    <a:p>
                      <a:pPr>
                        <a:defRPr sz="900">
                          <a:solidFill>
                            <a:srgbClr val="1E293B"/>
                          </a:solidFill>
                        </a:defRPr>
                      </a:pPr>
                      <a:r>
                        <a:t>R (Self Profile)</a:t>
                      </a:r>
                    </a:p>
                  </a:txBody>
                  <a:tcPr>
                    <a:solidFill>
                      <a:srgbClr val="F8FAFC"/>
                    </a:solidFill>
                  </a:tcPr>
                </a:tc>
                <a:tc>
                  <a:txBody>
                    <a:bodyPr/>
                    <a:lstStyle/>
                    <a:p>
                      <a:pPr>
                        <a:defRPr sz="900">
                          <a:solidFill>
                            <a:srgbClr val="1E293B"/>
                          </a:solidFill>
                        </a:defRPr>
                      </a:pPr>
                      <a:r>
                        <a:t>R (Self Profile)</a:t>
                      </a:r>
                    </a:p>
                  </a:txBody>
                  <a:tcPr>
                    <a:solidFill>
                      <a:srgbClr val="F8FAFC"/>
                    </a:solidFill>
                  </a:tcPr>
                </a:tc>
                <a:tc>
                  <a:txBody>
                    <a:bodyPr/>
                    <a:lstStyle/>
                    <a:p>
                      <a:pPr>
                        <a:defRPr sz="900">
                          <a:solidFill>
                            <a:srgbClr val="1E293B"/>
                          </a:solidFill>
                        </a:defRPr>
                      </a:pPr>
                      <a:r>
                        <a:t>R (Self Profile)</a:t>
                      </a:r>
                    </a:p>
                  </a:txBody>
                  <a:tcPr>
                    <a:solidFill>
                      <a:srgbClr val="F8FAFC"/>
                    </a:solidFill>
                  </a:tcPr>
                </a:tc>
              </a:tr>
              <a:tr h="487680">
                <a:tc>
                  <a:txBody>
                    <a:bodyPr/>
                    <a:lstStyle/>
                    <a:p>
                      <a:pPr>
                        <a:defRPr sz="900">
                          <a:solidFill>
                            <a:srgbClr val="1E293B"/>
                          </a:solidFill>
                        </a:defRPr>
                      </a:pPr>
                      <a:r>
                        <a:t>Medicines &amp; SKU Master</a:t>
                      </a:r>
                    </a:p>
                  </a:txBody>
                  <a:tcPr>
                    <a:solidFill>
                      <a:srgbClr val="FFFFFF"/>
                    </a:solidFill>
                  </a:tcPr>
                </a:tc>
                <a:tc>
                  <a:txBody>
                    <a:bodyPr/>
                    <a:lstStyle/>
                    <a:p>
                      <a:pPr>
                        <a:defRPr sz="900">
                          <a:solidFill>
                            <a:srgbClr val="1E293B"/>
                          </a:solidFill>
                        </a:defRPr>
                      </a:pPr>
                      <a:r>
                        <a:t>CRUD (Add/Edit/Del)</a:t>
                      </a:r>
                    </a:p>
                  </a:txBody>
                  <a:tcPr>
                    <a:solidFill>
                      <a:srgbClr val="FFFFFF"/>
                    </a:solidFill>
                  </a:tcPr>
                </a:tc>
                <a:tc>
                  <a:txBody>
                    <a:bodyPr/>
                    <a:lstStyle/>
                    <a:p>
                      <a:pPr>
                        <a:defRPr sz="900">
                          <a:solidFill>
                            <a:srgbClr val="1E293B"/>
                          </a:solidFill>
                        </a:defRPr>
                      </a:pPr>
                      <a:r>
                        <a:t>R (Clinical Formulary)</a:t>
                      </a:r>
                    </a:p>
                  </a:txBody>
                  <a:tcPr>
                    <a:solidFill>
                      <a:srgbClr val="FFFFFF"/>
                    </a:solidFill>
                  </a:tcPr>
                </a:tc>
                <a:tc>
                  <a:txBody>
                    <a:bodyPr/>
                    <a:lstStyle/>
                    <a:p>
                      <a:pPr>
                        <a:defRPr sz="900">
                          <a:solidFill>
                            <a:srgbClr val="1E293B"/>
                          </a:solidFill>
                        </a:defRPr>
                      </a:pPr>
                      <a:r>
                        <a:t>R (POS Product Search)</a:t>
                      </a:r>
                    </a:p>
                  </a:txBody>
                  <a:tcPr>
                    <a:solidFill>
                      <a:srgbClr val="FFFFFF"/>
                    </a:solidFill>
                  </a:tcPr>
                </a:tc>
                <a:tc>
                  <a:txBody>
                    <a:bodyPr/>
                    <a:lstStyle/>
                    <a:p>
                      <a:pPr>
                        <a:defRPr sz="900">
                          <a:solidFill>
                            <a:srgbClr val="1E293B"/>
                          </a:solidFill>
                        </a:defRPr>
                      </a:pPr>
                      <a:r>
                        <a:t>CRUD (Full Catalog)</a:t>
                      </a:r>
                    </a:p>
                  </a:txBody>
                  <a:tcPr>
                    <a:solidFill>
                      <a:srgbClr val="FFFFFF"/>
                    </a:solidFill>
                  </a:tcPr>
                </a:tc>
                <a:tc>
                  <a:txBody>
                    <a:bodyPr/>
                    <a:lstStyle/>
                    <a:p>
                      <a:pPr>
                        <a:defRPr sz="900">
                          <a:solidFill>
                            <a:srgbClr val="1E293B"/>
                          </a:solidFill>
                        </a:defRPr>
                      </a:pPr>
                      <a:r>
                        <a:t>R (Item Name Only)</a:t>
                      </a:r>
                    </a:p>
                  </a:txBody>
                  <a:tcPr>
                    <a:solidFill>
                      <a:srgbClr val="FFFFFF"/>
                    </a:solidFill>
                  </a:tcPr>
                </a:tc>
              </a:tr>
              <a:tr h="487680">
                <a:tc>
                  <a:txBody>
                    <a:bodyPr/>
                    <a:lstStyle/>
                    <a:p>
                      <a:pPr>
                        <a:defRPr sz="900">
                          <a:solidFill>
                            <a:srgbClr val="1E293B"/>
                          </a:solidFill>
                        </a:defRPr>
                      </a:pPr>
                      <a:r>
                        <a:t>Prescriptions &amp; CDSS</a:t>
                      </a:r>
                    </a:p>
                  </a:txBody>
                  <a:tcPr>
                    <a:solidFill>
                      <a:srgbClr val="F8FAFC"/>
                    </a:solidFill>
                  </a:tcPr>
                </a:tc>
                <a:tc>
                  <a:txBody>
                    <a:bodyPr/>
                    <a:lstStyle/>
                    <a:p>
                      <a:pPr>
                        <a:defRPr sz="900">
                          <a:solidFill>
                            <a:srgbClr val="1E293B"/>
                          </a:solidFill>
                        </a:defRPr>
                      </a:pPr>
                      <a:r>
                        <a:t>R / Audit (Review)</a:t>
                      </a:r>
                    </a:p>
                  </a:txBody>
                  <a:tcPr>
                    <a:solidFill>
                      <a:srgbClr val="F8FAFC"/>
                    </a:solidFill>
                  </a:tcPr>
                </a:tc>
                <a:tc>
                  <a:txBody>
                    <a:bodyPr/>
                    <a:lstStyle/>
                    <a:p>
                      <a:pPr>
                        <a:defRPr sz="900">
                          <a:solidFill>
                            <a:srgbClr val="1E293B"/>
                          </a:solidFill>
                        </a:defRPr>
                      </a:pPr>
                      <a:r>
                        <a:t>CRUD (Approve/Reject)</a:t>
                      </a:r>
                    </a:p>
                  </a:txBody>
                  <a:tcPr>
                    <a:solidFill>
                      <a:srgbClr val="F8FAFC"/>
                    </a:solidFill>
                  </a:tcPr>
                </a:tc>
                <a:tc>
                  <a:txBody>
                    <a:bodyPr/>
                    <a:lstStyle/>
                    <a:p>
                      <a:pPr>
                        <a:defRPr sz="900">
                          <a:solidFill>
                            <a:srgbClr val="1E293B"/>
                          </a:solidFill>
                        </a:defRPr>
                      </a:pPr>
                      <a:r>
                        <a:t>R (Approved Only)</a:t>
                      </a:r>
                    </a:p>
                  </a:txBody>
                  <a:tcPr>
                    <a:solidFill>
                      <a:srgbClr val="F8FAFC"/>
                    </a:solidFill>
                  </a:tcPr>
                </a:tc>
                <a:tc>
                  <a:txBody>
                    <a:bodyPr/>
                    <a:lstStyle/>
                    <a:p>
                      <a:pPr>
                        <a:defRPr sz="900">
                          <a:solidFill>
                            <a:srgbClr val="1E293B"/>
                          </a:solidFill>
                        </a:defRPr>
                      </a:pPr>
                      <a:r>
                        <a:t>R (Stock Requirements)</a:t>
                      </a:r>
                    </a:p>
                  </a:txBody>
                  <a:tcPr>
                    <a:solidFill>
                      <a:srgbClr val="F8FAFC"/>
                    </a:solidFill>
                  </a:tcPr>
                </a:tc>
                <a:tc>
                  <a:txBody>
                    <a:bodyPr/>
                    <a:lstStyle/>
                    <a:p>
                      <a:pPr>
                        <a:defRPr sz="900">
                          <a:solidFill>
                            <a:srgbClr val="1E293B"/>
                          </a:solidFill>
                        </a:defRPr>
                      </a:pPr>
                      <a:r>
                        <a:t>None (Privacy Guard)</a:t>
                      </a:r>
                    </a:p>
                  </a:txBody>
                  <a:tcPr>
                    <a:solidFill>
                      <a:srgbClr val="F8FAFC"/>
                    </a:solidFill>
                  </a:tcPr>
                </a:tc>
              </a:tr>
              <a:tr h="487680">
                <a:tc>
                  <a:txBody>
                    <a:bodyPr/>
                    <a:lstStyle/>
                    <a:p>
                      <a:pPr>
                        <a:defRPr sz="900">
                          <a:solidFill>
                            <a:srgbClr val="1E293B"/>
                          </a:solidFill>
                        </a:defRPr>
                      </a:pPr>
                      <a:r>
                        <a:t>Invoices &amp; Split Billing</a:t>
                      </a:r>
                    </a:p>
                  </a:txBody>
                  <a:tcPr>
                    <a:solidFill>
                      <a:srgbClr val="FFFFFF"/>
                    </a:solidFill>
                  </a:tcPr>
                </a:tc>
                <a:tc>
                  <a:txBody>
                    <a:bodyPr/>
                    <a:lstStyle/>
                    <a:p>
                      <a:pPr>
                        <a:defRPr sz="900">
                          <a:solidFill>
                            <a:srgbClr val="1E293B"/>
                          </a:solidFill>
                        </a:defRPr>
                      </a:pPr>
                      <a:r>
                        <a:t>R / Audit (Z-Report)</a:t>
                      </a:r>
                    </a:p>
                  </a:txBody>
                  <a:tcPr>
                    <a:solidFill>
                      <a:srgbClr val="FFFFFF"/>
                    </a:solidFill>
                  </a:tcPr>
                </a:tc>
                <a:tc>
                  <a:txBody>
                    <a:bodyPr/>
                    <a:lstStyle/>
                    <a:p>
                      <a:pPr>
                        <a:defRPr sz="900">
                          <a:solidFill>
                            <a:srgbClr val="1E293B"/>
                          </a:solidFill>
                        </a:defRPr>
                      </a:pPr>
                      <a:r>
                        <a:t>R (Dispensed Invoices)</a:t>
                      </a:r>
                    </a:p>
                  </a:txBody>
                  <a:tcPr>
                    <a:solidFill>
                      <a:srgbClr val="FFFFFF"/>
                    </a:solidFill>
                  </a:tcPr>
                </a:tc>
                <a:tc>
                  <a:txBody>
                    <a:bodyPr/>
                    <a:lstStyle/>
                    <a:p>
                      <a:pPr>
                        <a:defRPr sz="900">
                          <a:solidFill>
                            <a:srgbClr val="1E293B"/>
                          </a:solidFill>
                        </a:defRPr>
                      </a:pPr>
                      <a:r>
                        <a:t>CR (Generate Bills)</a:t>
                      </a:r>
                    </a:p>
                  </a:txBody>
                  <a:tcPr>
                    <a:solidFill>
                      <a:srgbClr val="FFFFFF"/>
                    </a:solidFill>
                  </a:tcPr>
                </a:tc>
                <a:tc>
                  <a:txBody>
                    <a:bodyPr/>
                    <a:lstStyle/>
                    <a:p>
                      <a:pPr>
                        <a:defRPr sz="900">
                          <a:solidFill>
                            <a:srgbClr val="1E293B"/>
                          </a:solidFill>
                        </a:defRPr>
                      </a:pPr>
                      <a:r>
                        <a:t>R (COGS Deduction)</a:t>
                      </a:r>
                    </a:p>
                  </a:txBody>
                  <a:tcPr>
                    <a:solidFill>
                      <a:srgbClr val="FFFFFF"/>
                    </a:solidFill>
                  </a:tcPr>
                </a:tc>
                <a:tc>
                  <a:txBody>
                    <a:bodyPr/>
                    <a:lstStyle/>
                    <a:p>
                      <a:pPr>
                        <a:defRPr sz="900">
                          <a:solidFill>
                            <a:srgbClr val="1E293B"/>
                          </a:solidFill>
                        </a:defRPr>
                      </a:pPr>
                      <a:r>
                        <a:t>R (Order Total / COD)</a:t>
                      </a:r>
                    </a:p>
                  </a:txBody>
                  <a:tcPr>
                    <a:solidFill>
                      <a:srgbClr val="FFFFFF"/>
                    </a:solidFill>
                  </a:tcPr>
                </a:tc>
              </a:tr>
              <a:tr h="487680">
                <a:tc>
                  <a:txBody>
                    <a:bodyPr/>
                    <a:lstStyle/>
                    <a:p>
                      <a:pPr>
                        <a:defRPr sz="900">
                          <a:solidFill>
                            <a:srgbClr val="1E293B"/>
                          </a:solidFill>
                        </a:defRPr>
                      </a:pPr>
                      <a:r>
                        <a:t>Purchase Orders &amp; GRN</a:t>
                      </a:r>
                    </a:p>
                  </a:txBody>
                  <a:tcPr>
                    <a:solidFill>
                      <a:srgbClr val="F8FAFC"/>
                    </a:solidFill>
                  </a:tcPr>
                </a:tc>
                <a:tc>
                  <a:txBody>
                    <a:bodyPr/>
                    <a:lstStyle/>
                    <a:p>
                      <a:pPr>
                        <a:defRPr sz="900">
                          <a:solidFill>
                            <a:srgbClr val="1E293B"/>
                          </a:solidFill>
                        </a:defRPr>
                      </a:pPr>
                      <a:r>
                        <a:t>R (Budget Approval)</a:t>
                      </a:r>
                    </a:p>
                  </a:txBody>
                  <a:tcPr>
                    <a:solidFill>
                      <a:srgbClr val="F8FAFC"/>
                    </a:solidFill>
                  </a:tcPr>
                </a:tc>
                <a:tc>
                  <a:txBody>
                    <a:bodyPr/>
                    <a:lstStyle/>
                    <a:p>
                      <a:pPr>
                        <a:defRPr sz="900">
                          <a:solidFill>
                            <a:srgbClr val="1E293B"/>
                          </a:solidFill>
                        </a:defRPr>
                      </a:pPr>
                      <a:r>
                        <a:t>None (Out of Scope)</a:t>
                      </a:r>
                    </a:p>
                  </a:txBody>
                  <a:tcPr>
                    <a:solidFill>
                      <a:srgbClr val="F8FAFC"/>
                    </a:solidFill>
                  </a:tcPr>
                </a:tc>
                <a:tc>
                  <a:txBody>
                    <a:bodyPr/>
                    <a:lstStyle/>
                    <a:p>
                      <a:pPr>
                        <a:defRPr sz="900">
                          <a:solidFill>
                            <a:srgbClr val="1E293B"/>
                          </a:solidFill>
                        </a:defRPr>
                      </a:pPr>
                      <a:r>
                        <a:t>None (Out of Scope)</a:t>
                      </a:r>
                    </a:p>
                  </a:txBody>
                  <a:tcPr>
                    <a:solidFill>
                      <a:srgbClr val="F8FAFC"/>
                    </a:solidFill>
                  </a:tcPr>
                </a:tc>
                <a:tc>
                  <a:txBody>
                    <a:bodyPr/>
                    <a:lstStyle/>
                    <a:p>
                      <a:pPr>
                        <a:defRPr sz="900">
                          <a:solidFill>
                            <a:srgbClr val="1E293B"/>
                          </a:solidFill>
                        </a:defRPr>
                      </a:pPr>
                      <a:r>
                        <a:t>CRUD (Create PO / GRN)</a:t>
                      </a:r>
                    </a:p>
                  </a:txBody>
                  <a:tcPr>
                    <a:solidFill>
                      <a:srgbClr val="F8FAFC"/>
                    </a:solidFill>
                  </a:tcPr>
                </a:tc>
                <a:tc>
                  <a:txBody>
                    <a:bodyPr/>
                    <a:lstStyle/>
                    <a:p>
                      <a:pPr>
                        <a:defRPr sz="900">
                          <a:solidFill>
                            <a:srgbClr val="1E293B"/>
                          </a:solidFill>
                        </a:defRPr>
                      </a:pPr>
                      <a:r>
                        <a:t>None (Out of Scope)</a:t>
                      </a:r>
                    </a:p>
                  </a:txBody>
                  <a:tcPr>
                    <a:solidFill>
                      <a:srgbClr val="F8FAFC"/>
                    </a:solidFill>
                  </a:tcPr>
                </a:tc>
              </a:tr>
              <a:tr h="487680">
                <a:tc>
                  <a:txBody>
                    <a:bodyPr/>
                    <a:lstStyle/>
                    <a:p>
                      <a:pPr>
                        <a:defRPr sz="900">
                          <a:solidFill>
                            <a:srgbClr val="1E293B"/>
                          </a:solidFill>
                        </a:defRPr>
                      </a:pPr>
                      <a:r>
                        <a:t>Pay-on-Sale Consignment</a:t>
                      </a:r>
                    </a:p>
                  </a:txBody>
                  <a:tcPr>
                    <a:solidFill>
                      <a:srgbClr val="FFFFFF"/>
                    </a:solidFill>
                  </a:tcPr>
                </a:tc>
                <a:tc>
                  <a:txBody>
                    <a:bodyPr/>
                    <a:lstStyle/>
                    <a:p>
                      <a:pPr>
                        <a:defRPr sz="900">
                          <a:solidFill>
                            <a:srgbClr val="1E293B"/>
                          </a:solidFill>
                        </a:defRPr>
                      </a:pPr>
                      <a:r>
                        <a:t>R (Settlement Review)</a:t>
                      </a:r>
                    </a:p>
                  </a:txBody>
                  <a:tcPr>
                    <a:solidFill>
                      <a:srgbClr val="FFFFFF"/>
                    </a:solidFill>
                  </a:tcPr>
                </a:tc>
                <a:tc>
                  <a:txBody>
                    <a:bodyPr/>
                    <a:lstStyle/>
                    <a:p>
                      <a:pPr>
                        <a:defRPr sz="900">
                          <a:solidFill>
                            <a:srgbClr val="1E293B"/>
                          </a:solidFill>
                        </a:defRPr>
                      </a:pPr>
                      <a:r>
                        <a:t>None (Out of Scope)</a:t>
                      </a:r>
                    </a:p>
                  </a:txBody>
                  <a:tcPr>
                    <a:solidFill>
                      <a:srgbClr val="FFFFFF"/>
                    </a:solidFill>
                  </a:tcPr>
                </a:tc>
                <a:tc>
                  <a:txBody>
                    <a:bodyPr/>
                    <a:lstStyle/>
                    <a:p>
                      <a:pPr>
                        <a:defRPr sz="900">
                          <a:solidFill>
                            <a:srgbClr val="1E293B"/>
                          </a:solidFill>
                        </a:defRPr>
                      </a:pPr>
                      <a:r>
                        <a:t>U (Auto-Cut on POS)</a:t>
                      </a:r>
                    </a:p>
                  </a:txBody>
                  <a:tcPr>
                    <a:solidFill>
                      <a:srgbClr val="FFFFFF"/>
                    </a:solidFill>
                  </a:tcPr>
                </a:tc>
                <a:tc>
                  <a:txBody>
                    <a:bodyPr/>
                    <a:lstStyle/>
                    <a:p>
                      <a:pPr>
                        <a:defRPr sz="900">
                          <a:solidFill>
                            <a:srgbClr val="1E293B"/>
                          </a:solidFill>
                        </a:defRPr>
                      </a:pPr>
                      <a:r>
                        <a:t>CRUD (Inward / Settle)</a:t>
                      </a:r>
                    </a:p>
                  </a:txBody>
                  <a:tcPr>
                    <a:solidFill>
                      <a:srgbClr val="FFFFFF"/>
                    </a:solidFill>
                  </a:tcPr>
                </a:tc>
                <a:tc>
                  <a:txBody>
                    <a:bodyPr/>
                    <a:lstStyle/>
                    <a:p>
                      <a:pPr>
                        <a:defRPr sz="900">
                          <a:solidFill>
                            <a:srgbClr val="1E293B"/>
                          </a:solidFill>
                        </a:defRPr>
                      </a:pPr>
                      <a:r>
                        <a:t>None (Out of Scope)</a:t>
                      </a:r>
                    </a:p>
                  </a:txBody>
                  <a:tcPr>
                    <a:solidFill>
                      <a:srgbClr val="FFFFFF"/>
                    </a:solidFill>
                  </a:tcPr>
                </a:tc>
              </a:tr>
              <a:tr h="487680">
                <a:tc>
                  <a:txBody>
                    <a:bodyPr/>
                    <a:lstStyle/>
                    <a:p>
                      <a:pPr>
                        <a:defRPr sz="900">
                          <a:solidFill>
                            <a:srgbClr val="1E293B"/>
                          </a:solidFill>
                        </a:defRPr>
                      </a:pPr>
                      <a:r>
                        <a:t>Delivery Fleet &amp; OTP</a:t>
                      </a:r>
                    </a:p>
                  </a:txBody>
                  <a:tcPr>
                    <a:solidFill>
                      <a:srgbClr val="F8FAFC"/>
                    </a:solidFill>
                  </a:tcPr>
                </a:tc>
                <a:tc>
                  <a:txBody>
                    <a:bodyPr/>
                    <a:lstStyle/>
                    <a:p>
                      <a:pPr>
                        <a:defRPr sz="900">
                          <a:solidFill>
                            <a:srgbClr val="1E293B"/>
                          </a:solidFill>
                        </a:defRPr>
                      </a:pPr>
                      <a:r>
                        <a:t>R (Logistics KPI)</a:t>
                      </a:r>
                    </a:p>
                  </a:txBody>
                  <a:tcPr>
                    <a:solidFill>
                      <a:srgbClr val="F8FAFC"/>
                    </a:solidFill>
                  </a:tcPr>
                </a:tc>
                <a:tc>
                  <a:txBody>
                    <a:bodyPr/>
                    <a:lstStyle/>
                    <a:p>
                      <a:pPr>
                        <a:defRPr sz="900">
                          <a:solidFill>
                            <a:srgbClr val="1E293B"/>
                          </a:solidFill>
                        </a:defRPr>
                      </a:pPr>
                      <a:r>
                        <a:t>None (Out of Scope)</a:t>
                      </a:r>
                    </a:p>
                  </a:txBody>
                  <a:tcPr>
                    <a:solidFill>
                      <a:srgbClr val="F8FAFC"/>
                    </a:solidFill>
                  </a:tcPr>
                </a:tc>
                <a:tc>
                  <a:txBody>
                    <a:bodyPr/>
                    <a:lstStyle/>
                    <a:p>
                      <a:pPr>
                        <a:defRPr sz="900">
                          <a:solidFill>
                            <a:srgbClr val="1E293B"/>
                          </a:solidFill>
                        </a:defRPr>
                      </a:pPr>
                      <a:r>
                        <a:t>C (Dispatch Route)</a:t>
                      </a:r>
                    </a:p>
                  </a:txBody>
                  <a:tcPr>
                    <a:solidFill>
                      <a:srgbClr val="F8FAFC"/>
                    </a:solidFill>
                  </a:tcPr>
                </a:tc>
                <a:tc>
                  <a:txBody>
                    <a:bodyPr/>
                    <a:lstStyle/>
                    <a:p>
                      <a:pPr>
                        <a:defRPr sz="900">
                          <a:solidFill>
                            <a:srgbClr val="1E293B"/>
                          </a:solidFill>
                        </a:defRPr>
                      </a:pPr>
                      <a:r>
                        <a:t>None (Out of Scope)</a:t>
                      </a:r>
                    </a:p>
                  </a:txBody>
                  <a:tcPr>
                    <a:solidFill>
                      <a:srgbClr val="F8FAFC"/>
                    </a:solidFill>
                  </a:tcPr>
                </a:tc>
                <a:tc>
                  <a:txBody>
                    <a:bodyPr/>
                    <a:lstStyle/>
                    <a:p>
                      <a:pPr>
                        <a:defRPr sz="900">
                          <a:solidFill>
                            <a:srgbClr val="1E293B"/>
                          </a:solidFill>
                        </a:defRPr>
                      </a:pPr>
                      <a:r>
                        <a:t>RU (Claim / Verify OTP)</a:t>
                      </a:r>
                    </a:p>
                  </a:txBody>
                  <a:tcPr>
                    <a:solidFill>
                      <a:srgbClr val="F8FAFC"/>
                    </a:solidFill>
                  </a:tcPr>
                </a:tc>
              </a:tr>
              <a:tr h="487680">
                <a:tc>
                  <a:txBody>
                    <a:bodyPr/>
                    <a:lstStyle/>
                    <a:p>
                      <a:pPr>
                        <a:defRPr sz="900">
                          <a:solidFill>
                            <a:srgbClr val="1E293B"/>
                          </a:solidFill>
                        </a:defRPr>
                      </a:pPr>
                      <a:r>
                        <a:t>Audit Logs &amp; Z-Reports</a:t>
                      </a:r>
                    </a:p>
                  </a:txBody>
                  <a:tcPr>
                    <a:solidFill>
                      <a:srgbClr val="FFFFFF"/>
                    </a:solidFill>
                  </a:tcPr>
                </a:tc>
                <a:tc>
                  <a:txBody>
                    <a:bodyPr/>
                    <a:lstStyle/>
                    <a:p>
                      <a:pPr>
                        <a:defRPr sz="900">
                          <a:solidFill>
                            <a:srgbClr val="1E293B"/>
                          </a:solidFill>
                        </a:defRPr>
                      </a:pPr>
                      <a:r>
                        <a:t>R (Security Inspection)</a:t>
                      </a:r>
                    </a:p>
                  </a:txBody>
                  <a:tcPr>
                    <a:solidFill>
                      <a:srgbClr val="FFFFFF"/>
                    </a:solidFill>
                  </a:tcPr>
                </a:tc>
                <a:tc>
                  <a:txBody>
                    <a:bodyPr/>
                    <a:lstStyle/>
                    <a:p>
                      <a:pPr>
                        <a:defRPr sz="900">
                          <a:solidFill>
                            <a:srgbClr val="1E293B"/>
                          </a:solidFill>
                        </a:defRPr>
                      </a:pPr>
                      <a:r>
                        <a:t>None (No Access)</a:t>
                      </a:r>
                    </a:p>
                  </a:txBody>
                  <a:tcPr>
                    <a:solidFill>
                      <a:srgbClr val="FFFFFF"/>
                    </a:solidFill>
                  </a:tcPr>
                </a:tc>
                <a:tc>
                  <a:txBody>
                    <a:bodyPr/>
                    <a:lstStyle/>
                    <a:p>
                      <a:pPr>
                        <a:defRPr sz="900">
                          <a:solidFill>
                            <a:srgbClr val="1E293B"/>
                          </a:solidFill>
                        </a:defRPr>
                      </a:pPr>
                      <a:r>
                        <a:t>C (Close Register)</a:t>
                      </a:r>
                    </a:p>
                  </a:txBody>
                  <a:tcPr>
                    <a:solidFill>
                      <a:srgbClr val="FFFFFF"/>
                    </a:solidFill>
                  </a:tcPr>
                </a:tc>
                <a:tc>
                  <a:txBody>
                    <a:bodyPr/>
                    <a:lstStyle/>
                    <a:p>
                      <a:pPr>
                        <a:defRPr sz="900">
                          <a:solidFill>
                            <a:srgbClr val="1E293B"/>
                          </a:solidFill>
                        </a:defRPr>
                      </a:pPr>
                      <a:r>
                        <a:t>None (No Access)</a:t>
                      </a:r>
                    </a:p>
                  </a:txBody>
                  <a:tcPr>
                    <a:solidFill>
                      <a:srgbClr val="FFFFFF"/>
                    </a:solidFill>
                  </a:tcPr>
                </a:tc>
                <a:tc>
                  <a:txBody>
                    <a:bodyPr/>
                    <a:lstStyle/>
                    <a:p>
                      <a:pPr>
                        <a:defRPr sz="900">
                          <a:solidFill>
                            <a:srgbClr val="1E293B"/>
                          </a:solidFill>
                        </a:defRPr>
                      </a:pPr>
                      <a:r>
                        <a:t>None (No Access)</a:t>
                      </a:r>
                    </a:p>
                  </a:txBody>
                  <a:tcP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INVENTORY ACCOUNTING &amp; TRACEABILITY ENGINE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Inventory Ledger: Mathematical Balancing Equation &amp; Immutable Audit</a:t>
            </a:r>
          </a:p>
        </p:txBody>
      </p:sp>
      <p:sp>
        <p:nvSpPr>
          <p:cNvPr id="5" name="Rounded Rectangle 4"/>
          <p:cNvSpPr/>
          <p:nvPr/>
        </p:nvSpPr>
        <p:spPr>
          <a:xfrm>
            <a:off x="731520" y="1645920"/>
            <a:ext cx="10728655" cy="137160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10362895" cy="1280160"/>
          </a:xfrm>
          <a:prstGeom prst="rect">
            <a:avLst/>
          </a:prstGeom>
          <a:noFill/>
        </p:spPr>
        <p:txBody>
          <a:bodyPr wrap="square">
            <a:spAutoFit/>
          </a:bodyPr>
          <a:lstStyle/>
          <a:p>
            <a:pPr>
              <a:spcAft>
                <a:spcPts val="400"/>
              </a:spcAft>
              <a:defRPr sz="1100" b="1">
                <a:solidFill>
                  <a:srgbClr val="00A389"/>
                </a:solidFill>
              </a:defRPr>
            </a:pPr>
            <a:r>
              <a:t>MATHEMATICAL PERPETUAL INVENTORY BALANCING EQUATION</a:t>
            </a:r>
          </a:p>
          <a:p>
            <a:pPr>
              <a:spcAft>
                <a:spcPts val="400"/>
              </a:spcAft>
              <a:defRPr sz="1300" b="1">
                <a:solidFill>
                  <a:srgbClr val="FFFFFF"/>
                </a:solidFill>
              </a:defRPr>
            </a:pPr>
            <a:r>
              <a:t>Closing Stock = Opening + Receipts (GRN) + Customer Returns − Sales (POS) − Supplier Returns − Damage/Expired − Transfers Out + Transfers In ± Audit Adjustments</a:t>
            </a:r>
          </a:p>
          <a:p>
            <a:pPr>
              <a:defRPr sz="950">
                <a:solidFill>
                  <a:srgbClr val="DCF5F0"/>
                </a:solidFill>
              </a:defRPr>
            </a:pPr>
            <a:r>
              <a:t>Every transaction creates a perpetual double-entry journal record. Naive scalar 'stock = stock - 1' is strictly prohibited.</a:t>
            </a:r>
          </a:p>
        </p:txBody>
      </p:sp>
      <p:sp>
        <p:nvSpPr>
          <p:cNvPr id="7" name="Rounded Rectangle 6"/>
          <p:cNvSpPr/>
          <p:nvPr/>
        </p:nvSpPr>
        <p:spPr>
          <a:xfrm>
            <a:off x="731520" y="3154680"/>
            <a:ext cx="5230368" cy="3154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154680"/>
            <a:ext cx="5230368" cy="3657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91256"/>
            <a:ext cx="5230368" cy="320040"/>
          </a:xfrm>
          <a:prstGeom prst="rect">
            <a:avLst/>
          </a:prstGeom>
          <a:noFill/>
        </p:spPr>
        <p:txBody>
          <a:bodyPr wrap="none">
            <a:spAutoFit/>
          </a:bodyPr>
          <a:lstStyle/>
          <a:p>
            <a:pPr algn="ctr">
              <a:defRPr sz="1100" b="1">
                <a:solidFill>
                  <a:srgbClr val="FFFFFF"/>
                </a:solidFill>
              </a:defRPr>
            </a:pPr>
            <a:r>
              <a:t>Immutable Ledger Data Schema</a:t>
            </a:r>
          </a:p>
        </p:txBody>
      </p:sp>
      <p:sp>
        <p:nvSpPr>
          <p:cNvPr id="10" name="TextBox 9"/>
          <p:cNvSpPr txBox="1"/>
          <p:nvPr/>
        </p:nvSpPr>
        <p:spPr>
          <a:xfrm>
            <a:off x="868680" y="3611880"/>
            <a:ext cx="4956048" cy="2606040"/>
          </a:xfrm>
          <a:prstGeom prst="rect">
            <a:avLst/>
          </a:prstGeom>
          <a:noFill/>
        </p:spPr>
        <p:txBody>
          <a:bodyPr wrap="square">
            <a:spAutoFit/>
          </a:bodyPr>
          <a:lstStyle/>
          <a:p>
            <a:pPr>
              <a:spcAft>
                <a:spcPts val="200"/>
              </a:spcAft>
              <a:defRPr sz="950">
                <a:solidFill>
                  <a:srgbClr val="1E293B"/>
                </a:solidFill>
              </a:defRPr>
            </a:pPr>
            <a:r>
              <a:t>Every inventory movement writes an audit ledger entry containing:</a:t>
            </a:r>
          </a:p>
          <a:p>
            <a:pPr>
              <a:spcAft>
                <a:spcPts val="200"/>
              </a:spcAft>
              <a:defRPr sz="950">
                <a:solidFill>
                  <a:srgbClr val="1E293B"/>
                </a:solidFill>
              </a:defRPr>
            </a:pPr>
          </a:p>
          <a:p>
            <a:pPr>
              <a:spcAft>
                <a:spcPts val="200"/>
              </a:spcAft>
              <a:defRPr sz="950">
                <a:solidFill>
                  <a:srgbClr val="1E293B"/>
                </a:solidFill>
              </a:defRPr>
            </a:pPr>
            <a:r>
              <a:t>• Transaction ID: Unique UUID (e.g. TX-INV-2026-09812).</a:t>
            </a:r>
          </a:p>
          <a:p>
            <a:pPr>
              <a:spcAft>
                <a:spcPts val="200"/>
              </a:spcAft>
              <a:defRPr sz="950">
                <a:solidFill>
                  <a:srgbClr val="1E293B"/>
                </a:solidFill>
              </a:defRPr>
            </a:pPr>
            <a:r>
              <a:t>• Timestamp: ISO 8601 millisecond-precision UTC date/time.</a:t>
            </a:r>
          </a:p>
          <a:p>
            <a:pPr>
              <a:spcAft>
                <a:spcPts val="200"/>
              </a:spcAft>
              <a:defRPr sz="950">
                <a:solidFill>
                  <a:srgbClr val="1E293B"/>
                </a:solidFill>
              </a:defRPr>
            </a:pPr>
            <a:r>
              <a:t>• User ID &amp; Role: Actor executing transaction (e.g. PBHATT, Cashier).</a:t>
            </a:r>
          </a:p>
          <a:p>
            <a:pPr>
              <a:spcAft>
                <a:spcPts val="200"/>
              </a:spcAft>
              <a:defRPr sz="950">
                <a:solidFill>
                  <a:srgbClr val="1E293B"/>
                </a:solidFill>
              </a:defRPr>
            </a:pPr>
            <a:r>
              <a:t>• SKU &amp; Batch Code: Physical batch identifier (e.g. DL-2026-B1).</a:t>
            </a:r>
          </a:p>
          <a:p>
            <a:pPr>
              <a:spcAft>
                <a:spcPts val="200"/>
              </a:spcAft>
              <a:defRPr sz="950">
                <a:solidFill>
                  <a:srgbClr val="1E293B"/>
                </a:solidFill>
              </a:defRPr>
            </a:pPr>
            <a:r>
              <a:t>• Action Type: GRN_INWARD, POS_SALE, CUST_RETURN, WRITE_OFF.</a:t>
            </a:r>
          </a:p>
          <a:p>
            <a:pPr>
              <a:spcAft>
                <a:spcPts val="200"/>
              </a:spcAft>
              <a:defRPr sz="950">
                <a:solidFill>
                  <a:srgbClr val="1E293B"/>
                </a:solidFill>
              </a:defRPr>
            </a:pPr>
            <a:r>
              <a:t>• Old Value -&gt; Delta -&gt; New Value: Exact numerical quantity change.</a:t>
            </a:r>
          </a:p>
          <a:p>
            <a:pPr>
              <a:spcAft>
                <a:spcPts val="200"/>
              </a:spcAft>
              <a:defRPr sz="950">
                <a:solidFill>
                  <a:srgbClr val="1E293B"/>
                </a:solidFill>
              </a:defRPr>
            </a:pPr>
            <a:r>
              <a:t>• Reason &amp; Reference Doc: Linked PO ID, Invoice ID, or Audit Note.</a:t>
            </a:r>
          </a:p>
        </p:txBody>
      </p:sp>
      <p:sp>
        <p:nvSpPr>
          <p:cNvPr id="11" name="Rounded Rectangle 10"/>
          <p:cNvSpPr/>
          <p:nvPr/>
        </p:nvSpPr>
        <p:spPr>
          <a:xfrm>
            <a:off x="6229807" y="3154680"/>
            <a:ext cx="5230368" cy="3154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9807" y="3154680"/>
            <a:ext cx="5230368"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9807" y="3191256"/>
            <a:ext cx="5230368" cy="320040"/>
          </a:xfrm>
          <a:prstGeom prst="rect">
            <a:avLst/>
          </a:prstGeom>
          <a:noFill/>
        </p:spPr>
        <p:txBody>
          <a:bodyPr wrap="none">
            <a:spAutoFit/>
          </a:bodyPr>
          <a:lstStyle/>
          <a:p>
            <a:pPr algn="ctr">
              <a:defRPr sz="1100" b="1">
                <a:solidFill>
                  <a:srgbClr val="FFFFFF"/>
                </a:solidFill>
              </a:defRPr>
            </a:pPr>
            <a:r>
              <a:t>Accounting vs Naive Retailing</a:t>
            </a:r>
          </a:p>
        </p:txBody>
      </p:sp>
      <p:sp>
        <p:nvSpPr>
          <p:cNvPr id="14" name="TextBox 13"/>
          <p:cNvSpPr txBox="1"/>
          <p:nvPr/>
        </p:nvSpPr>
        <p:spPr>
          <a:xfrm>
            <a:off x="6366967" y="3611880"/>
            <a:ext cx="4956048" cy="2606040"/>
          </a:xfrm>
          <a:prstGeom prst="rect">
            <a:avLst/>
          </a:prstGeom>
          <a:noFill/>
        </p:spPr>
        <p:txBody>
          <a:bodyPr wrap="square">
            <a:spAutoFit/>
          </a:bodyPr>
          <a:lstStyle/>
          <a:p>
            <a:pPr>
              <a:spcAft>
                <a:spcPts val="200"/>
              </a:spcAft>
              <a:defRPr sz="950">
                <a:solidFill>
                  <a:srgbClr val="1E293B"/>
                </a:solidFill>
              </a:defRPr>
            </a:pPr>
            <a:r>
              <a:t>Why TQM Requires a Mathematical Inventory Ledger:</a:t>
            </a:r>
          </a:p>
          <a:p>
            <a:pPr>
              <a:spcAft>
                <a:spcPts val="200"/>
              </a:spcAft>
              <a:defRPr sz="950">
                <a:solidFill>
                  <a:srgbClr val="1E293B"/>
                </a:solidFill>
              </a:defRPr>
            </a:pPr>
          </a:p>
          <a:p>
            <a:pPr>
              <a:spcAft>
                <a:spcPts val="200"/>
              </a:spcAft>
              <a:defRPr sz="950">
                <a:solidFill>
                  <a:srgbClr val="1E293B"/>
                </a:solidFill>
              </a:defRPr>
            </a:pPr>
            <a:r>
              <a:t>• Fraud &amp; Shrinkage Interception: Detects unrecorded pilferage, unauthorized till adjustments, or ghost stock.</a:t>
            </a:r>
          </a:p>
          <a:p>
            <a:pPr>
              <a:spcAft>
                <a:spcPts val="200"/>
              </a:spcAft>
              <a:defRPr sz="950">
                <a:solidFill>
                  <a:srgbClr val="1E293B"/>
                </a:solidFill>
              </a:defRPr>
            </a:pPr>
            <a:r>
              <a:t>• Lot-to-Lot Financial Reconciliation: Enables exact Cost of Goods Sold (COGS) calculation under FIFO/FEFO accounting.</a:t>
            </a:r>
          </a:p>
          <a:p>
            <a:pPr>
              <a:spcAft>
                <a:spcPts val="200"/>
              </a:spcAft>
              <a:defRPr sz="950">
                <a:solidFill>
                  <a:srgbClr val="1E293B"/>
                </a:solidFill>
              </a:defRPr>
            </a:pPr>
            <a:r>
              <a:t>• Strict Regulatory Defense: Satisfies statutory drug inspector audits requiring proof of origin and chain of custody for every pill.</a:t>
            </a:r>
          </a:p>
          <a:p>
            <a:pPr>
              <a:spcAft>
                <a:spcPts val="200"/>
              </a:spcAft>
              <a:defRPr sz="950">
                <a:solidFill>
                  <a:srgbClr val="1E293B"/>
                </a:solidFill>
              </a:defRPr>
            </a:pPr>
            <a:r>
              <a:t>• Clean Z-Report Alignment: Matches physical shelf count to system expected count during daily register closure.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LEAN SUPPLY CHAIN &amp; JIT REPLENISHMENT</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Replenishment Engineering: Demand, Safety Stock, ROP &amp; JIT Kanban</a:t>
            </a:r>
          </a:p>
        </p:txBody>
      </p:sp>
      <p:sp>
        <p:nvSpPr>
          <p:cNvPr id="5" name="Rounded Rectangle 4"/>
          <p:cNvSpPr/>
          <p:nvPr/>
        </p:nvSpPr>
        <p:spPr>
          <a:xfrm>
            <a:off x="731520" y="1645920"/>
            <a:ext cx="10728655" cy="137160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10362895" cy="1280160"/>
          </a:xfrm>
          <a:prstGeom prst="rect">
            <a:avLst/>
          </a:prstGeom>
          <a:noFill/>
        </p:spPr>
        <p:txBody>
          <a:bodyPr wrap="square">
            <a:spAutoFit/>
          </a:bodyPr>
          <a:lstStyle/>
          <a:p>
            <a:pPr>
              <a:spcAft>
                <a:spcPts val="400"/>
              </a:spcAft>
              <a:defRPr sz="1100" b="1">
                <a:solidFill>
                  <a:srgbClr val="00A389"/>
                </a:solidFill>
              </a:defRPr>
            </a:pPr>
            <a:r>
              <a:t>MATHEMATICAL REPLENISHMENT MODEL (REORDER POINT &amp; SAFETY STOCK)</a:t>
            </a:r>
          </a:p>
          <a:p>
            <a:pPr>
              <a:spcAft>
                <a:spcPts val="400"/>
              </a:spcAft>
              <a:defRPr sz="1250" b="1">
                <a:solidFill>
                  <a:srgbClr val="FFFFFF"/>
                </a:solidFill>
              </a:defRPr>
            </a:pPr>
            <a:r>
              <a:t>Reorder Point (ROP) = (Average Daily Demand × Lead Time) + Safety Stock</a:t>
            </a:r>
            <a:br/>
            <a:r>
              <a:t>Safety Stock (SS) = (Max Daily Demand × Max Lead Time) − (Avg Daily Demand × Avg Lead Time)</a:t>
            </a:r>
          </a:p>
          <a:p>
            <a:pPr>
              <a:defRPr sz="950">
                <a:solidFill>
                  <a:srgbClr val="DCF5F0"/>
                </a:solidFill>
              </a:defRPr>
            </a:pPr>
            <a:r>
              <a:t>When Current Stock + On-Order &lt;= ROP, the system triggers an automated purchase recommendation and generates a draft PO.</a:t>
            </a:r>
          </a:p>
        </p:txBody>
      </p:sp>
      <p:sp>
        <p:nvSpPr>
          <p:cNvPr id="7" name="Rounded Rectangle 6"/>
          <p:cNvSpPr/>
          <p:nvPr/>
        </p:nvSpPr>
        <p:spPr>
          <a:xfrm>
            <a:off x="731520" y="3154680"/>
            <a:ext cx="5230368" cy="3154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154680"/>
            <a:ext cx="5230368" cy="3657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91256"/>
            <a:ext cx="5230368" cy="320040"/>
          </a:xfrm>
          <a:prstGeom prst="rect">
            <a:avLst/>
          </a:prstGeom>
          <a:noFill/>
        </p:spPr>
        <p:txBody>
          <a:bodyPr wrap="none">
            <a:spAutoFit/>
          </a:bodyPr>
          <a:lstStyle/>
          <a:p>
            <a:pPr algn="ctr">
              <a:defRPr sz="1100" b="1">
                <a:solidFill>
                  <a:srgbClr val="FFFFFF"/>
                </a:solidFill>
              </a:defRPr>
            </a:pPr>
            <a:r>
              <a:t>JIT Pay-on-Sale Consignment Workflow</a:t>
            </a:r>
          </a:p>
        </p:txBody>
      </p:sp>
      <p:sp>
        <p:nvSpPr>
          <p:cNvPr id="10" name="TextBox 9"/>
          <p:cNvSpPr txBox="1"/>
          <p:nvPr/>
        </p:nvSpPr>
        <p:spPr>
          <a:xfrm>
            <a:off x="868680" y="3611880"/>
            <a:ext cx="4956048" cy="2606040"/>
          </a:xfrm>
          <a:prstGeom prst="rect">
            <a:avLst/>
          </a:prstGeom>
          <a:noFill/>
        </p:spPr>
        <p:txBody>
          <a:bodyPr wrap="square">
            <a:spAutoFit/>
          </a:bodyPr>
          <a:lstStyle/>
          <a:p>
            <a:pPr>
              <a:spcAft>
                <a:spcPts val="200"/>
              </a:spcAft>
              <a:defRPr sz="950">
                <a:solidFill>
                  <a:srgbClr val="1E293B"/>
                </a:solidFill>
              </a:defRPr>
            </a:pPr>
            <a:r>
              <a:t>Lean Capital Management in Actual Pharmacy Practice:</a:t>
            </a:r>
          </a:p>
          <a:p>
            <a:pPr>
              <a:spcAft>
                <a:spcPts val="200"/>
              </a:spcAft>
              <a:defRPr sz="950">
                <a:solidFill>
                  <a:srgbClr val="1E293B"/>
                </a:solidFill>
              </a:defRPr>
            </a:pPr>
          </a:p>
          <a:p>
            <a:pPr>
              <a:spcAft>
                <a:spcPts val="200"/>
              </a:spcAft>
              <a:defRPr sz="950">
                <a:solidFill>
                  <a:srgbClr val="1E293B"/>
                </a:solidFill>
              </a:defRPr>
            </a:pPr>
            <a:r>
              <a:t>• Zero Upfront Working Capital: New stock enters inventory upon GRN receipt with ₹0 upfront payment to the pharmaceutical company.</a:t>
            </a:r>
          </a:p>
          <a:p>
            <a:pPr>
              <a:spcAft>
                <a:spcPts val="200"/>
              </a:spcAft>
              <a:defRPr sz="950">
                <a:solidFill>
                  <a:srgbClr val="1E293B"/>
                </a:solidFill>
              </a:defRPr>
            </a:pPr>
            <a:r>
              <a:t>• Dynamic Sales Deductions: When a unit is sold at POS (e.g. Sold @ ₹100 MRP, Dealer Cost = ₹10), the system dynamically computes company liability (₹10) and records ₹90 gross pharmacy profit.</a:t>
            </a:r>
          </a:p>
          <a:p>
            <a:pPr>
              <a:spcAft>
                <a:spcPts val="200"/>
              </a:spcAft>
              <a:defRPr sz="950">
                <a:solidFill>
                  <a:srgbClr val="1E293B"/>
                </a:solidFill>
              </a:defRPr>
            </a:pPr>
            <a:r>
              <a:t>• Dispute-Free Settlements: Automated supplier settlement vouchers generate payments strictly for verified sold quantities.</a:t>
            </a:r>
          </a:p>
          <a:p>
            <a:pPr>
              <a:spcAft>
                <a:spcPts val="200"/>
              </a:spcAft>
              <a:defRPr sz="950">
                <a:solidFill>
                  <a:srgbClr val="1E293B"/>
                </a:solidFill>
              </a:defRPr>
            </a:pPr>
            <a:r>
              <a:t>• Unsold Stock Safety: Unsold batches remain supplier property or can be returned without financial loss.</a:t>
            </a:r>
          </a:p>
        </p:txBody>
      </p:sp>
      <p:sp>
        <p:nvSpPr>
          <p:cNvPr id="11" name="Rounded Rectangle 10"/>
          <p:cNvSpPr/>
          <p:nvPr/>
        </p:nvSpPr>
        <p:spPr>
          <a:xfrm>
            <a:off x="6229807" y="3154680"/>
            <a:ext cx="5230368" cy="31546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9807" y="3154680"/>
            <a:ext cx="5230368" cy="3657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9807" y="3191256"/>
            <a:ext cx="5230368" cy="320040"/>
          </a:xfrm>
          <a:prstGeom prst="rect">
            <a:avLst/>
          </a:prstGeom>
          <a:noFill/>
        </p:spPr>
        <p:txBody>
          <a:bodyPr wrap="none">
            <a:spAutoFit/>
          </a:bodyPr>
          <a:lstStyle/>
          <a:p>
            <a:pPr algn="ctr">
              <a:defRPr sz="1100" b="1">
                <a:solidFill>
                  <a:srgbClr val="FFFFFF"/>
                </a:solidFill>
              </a:defRPr>
            </a:pPr>
            <a:r>
              <a:t>Two-Bin Kanban Physical Pull System</a:t>
            </a:r>
          </a:p>
        </p:txBody>
      </p:sp>
      <p:sp>
        <p:nvSpPr>
          <p:cNvPr id="14" name="TextBox 13"/>
          <p:cNvSpPr txBox="1"/>
          <p:nvPr/>
        </p:nvSpPr>
        <p:spPr>
          <a:xfrm>
            <a:off x="6366967" y="3611880"/>
            <a:ext cx="4956048" cy="2606040"/>
          </a:xfrm>
          <a:prstGeom prst="rect">
            <a:avLst/>
          </a:prstGeom>
          <a:noFill/>
        </p:spPr>
        <p:txBody>
          <a:bodyPr wrap="square">
            <a:spAutoFit/>
          </a:bodyPr>
          <a:lstStyle/>
          <a:p>
            <a:pPr>
              <a:spcAft>
                <a:spcPts val="200"/>
              </a:spcAft>
              <a:defRPr sz="950">
                <a:solidFill>
                  <a:srgbClr val="1E293B"/>
                </a:solidFill>
              </a:defRPr>
            </a:pPr>
            <a:r>
              <a:t>Visual Kanban Execution on the Dispensary Floor:</a:t>
            </a:r>
          </a:p>
          <a:p>
            <a:pPr>
              <a:spcAft>
                <a:spcPts val="200"/>
              </a:spcAft>
              <a:defRPr sz="950">
                <a:solidFill>
                  <a:srgbClr val="1E293B"/>
                </a:solidFill>
              </a:defRPr>
            </a:pPr>
          </a:p>
          <a:p>
            <a:pPr>
              <a:spcAft>
                <a:spcPts val="200"/>
              </a:spcAft>
              <a:defRPr sz="950">
                <a:solidFill>
                  <a:srgbClr val="1E293B"/>
                </a:solidFill>
              </a:defRPr>
            </a:pPr>
            <a:r>
              <a:t>• Bin 1 (Primary Active Dispensing): Kept at cashier POS counter for immediate patient fulfillment.</a:t>
            </a:r>
          </a:p>
          <a:p>
            <a:pPr>
              <a:spcAft>
                <a:spcPts val="200"/>
              </a:spcAft>
              <a:defRPr sz="950">
                <a:solidFill>
                  <a:srgbClr val="1E293B"/>
                </a:solidFill>
              </a:defRPr>
            </a:pPr>
            <a:r>
              <a:t>• Bin 2 (Reserve Buffer Stock): Stored in backroom FEFO warehouse racks.</a:t>
            </a:r>
          </a:p>
          <a:p>
            <a:pPr>
              <a:spcAft>
                <a:spcPts val="200"/>
              </a:spcAft>
              <a:defRPr sz="950">
                <a:solidFill>
                  <a:srgbClr val="1E293B"/>
                </a:solidFill>
              </a:defRPr>
            </a:pPr>
            <a:r>
              <a:t>• Kanban Trigger Mechanism: When Bin 1 is emptied, its physical Kanban barcode card is scanned. This initiates an immediate warehouse internal transfer to replenish Bin 1.</a:t>
            </a:r>
          </a:p>
          <a:p>
            <a:pPr>
              <a:spcAft>
                <a:spcPts val="200"/>
              </a:spcAft>
              <a:defRPr sz="950">
                <a:solidFill>
                  <a:srgbClr val="1E293B"/>
                </a:solidFill>
              </a:defRPr>
            </a:pPr>
            <a:r>
              <a:t>• Upstream PO Automation: Scanning the Kanban card automatically checks current total stock against ROP to dispatch a digital purchase order to the wholesaler.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IOT TELEMETRY &amp; LAST-MILE LOGISTICS</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Cold-Chain IoT Telemetry (2–8°C) &amp; Home Delivery Fleet with OTP</a:t>
            </a:r>
          </a:p>
        </p:txBody>
      </p:sp>
      <p:sp>
        <p:nvSpPr>
          <p:cNvPr id="5" name="Rounded Rectangle 4"/>
          <p:cNvSpPr/>
          <p:nvPr/>
        </p:nvSpPr>
        <p:spPr>
          <a:xfrm>
            <a:off x="731520"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230368" cy="45720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0784"/>
            <a:ext cx="5230368" cy="365760"/>
          </a:xfrm>
          <a:prstGeom prst="rect">
            <a:avLst/>
          </a:prstGeom>
          <a:noFill/>
        </p:spPr>
        <p:txBody>
          <a:bodyPr wrap="none">
            <a:spAutoFit/>
          </a:bodyPr>
          <a:lstStyle/>
          <a:p>
            <a:pPr algn="ctr">
              <a:defRPr sz="1100" b="1">
                <a:solidFill>
                  <a:srgbClr val="FFFFFF"/>
                </a:solidFill>
              </a:defRPr>
            </a:pPr>
            <a:r>
              <a:t>Cold-Chain IoT Telemetry (2.0°C–8.0°C)</a:t>
            </a:r>
          </a:p>
        </p:txBody>
      </p:sp>
      <p:sp>
        <p:nvSpPr>
          <p:cNvPr id="8" name="TextBox 7"/>
          <p:cNvSpPr txBox="1"/>
          <p:nvPr/>
        </p:nvSpPr>
        <p:spPr>
          <a:xfrm>
            <a:off x="868680" y="2240280"/>
            <a:ext cx="4956048" cy="3931920"/>
          </a:xfrm>
          <a:prstGeom prst="rect">
            <a:avLst/>
          </a:prstGeom>
          <a:noFill/>
        </p:spPr>
        <p:txBody>
          <a:bodyPr wrap="square">
            <a:spAutoFit/>
          </a:bodyPr>
          <a:lstStyle/>
          <a:p>
            <a:pPr>
              <a:spcAft>
                <a:spcPts val="250"/>
              </a:spcAft>
              <a:defRPr sz="950">
                <a:solidFill>
                  <a:srgbClr val="1E293B"/>
                </a:solidFill>
              </a:defRPr>
            </a:pPr>
            <a:r>
              <a:t>Continuous Temperature Monitoring for Biologics:</a:t>
            </a:r>
          </a:p>
          <a:p>
            <a:pPr>
              <a:spcAft>
                <a:spcPts val="250"/>
              </a:spcAft>
              <a:defRPr sz="950">
                <a:solidFill>
                  <a:srgbClr val="1E293B"/>
                </a:solidFill>
              </a:defRPr>
            </a:pPr>
          </a:p>
          <a:p>
            <a:pPr>
              <a:spcAft>
                <a:spcPts val="250"/>
              </a:spcAft>
              <a:defRPr sz="950">
                <a:solidFill>
                  <a:srgbClr val="1E293B"/>
                </a:solidFill>
              </a:defRPr>
            </a:pPr>
            <a:r>
              <a:t>• Biological Integrity: Insulin, monoclonal antibodies, and vaccines undergo rapid irreversible protein denaturation outside 2.0°C–8.0°C.</a:t>
            </a:r>
          </a:p>
          <a:p>
            <a:pPr>
              <a:spcAft>
                <a:spcPts val="250"/>
              </a:spcAft>
              <a:defRPr sz="950">
                <a:solidFill>
                  <a:srgbClr val="1E293B"/>
                </a:solidFill>
              </a:defRPr>
            </a:pPr>
            <a:r>
              <a:t>• IoT Sensor Stream: Simulated Chamber A &amp; B temperature telemetry streaming readings every 60 seconds.</a:t>
            </a:r>
          </a:p>
          <a:p>
            <a:pPr>
              <a:spcAft>
                <a:spcPts val="250"/>
              </a:spcAft>
              <a:defRPr sz="950">
                <a:solidFill>
                  <a:srgbClr val="1E293B"/>
                </a:solidFill>
              </a:defRPr>
            </a:pPr>
            <a:r>
              <a:t>• Poka-Yoke Temperature Alarm: If chamber exceeds 8.0°C (e.g. 9.4°C simulated spike), UI flashes crimson alarm, records excursion to audit log, and flags batch as quarantined from POS dispensing.</a:t>
            </a:r>
          </a:p>
          <a:p>
            <a:pPr>
              <a:spcAft>
                <a:spcPts val="250"/>
              </a:spcAft>
              <a:defRPr sz="950">
                <a:solidFill>
                  <a:srgbClr val="1E293B"/>
                </a:solidFill>
              </a:defRPr>
            </a:pPr>
            <a:r>
              <a:t>• Regulatory Compliance: Satisfies WHO Good Distribution Practices (GDP) and CDSCO inspection requirements.</a:t>
            </a:r>
          </a:p>
        </p:txBody>
      </p:sp>
      <p:sp>
        <p:nvSpPr>
          <p:cNvPr id="9" name="Rounded Rectangle 8"/>
          <p:cNvSpPr/>
          <p:nvPr/>
        </p:nvSpPr>
        <p:spPr>
          <a:xfrm>
            <a:off x="6229807"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9807" y="1645920"/>
            <a:ext cx="5230368"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9807" y="1700784"/>
            <a:ext cx="5230368" cy="365760"/>
          </a:xfrm>
          <a:prstGeom prst="rect">
            <a:avLst/>
          </a:prstGeom>
          <a:noFill/>
        </p:spPr>
        <p:txBody>
          <a:bodyPr wrap="none">
            <a:spAutoFit/>
          </a:bodyPr>
          <a:lstStyle/>
          <a:p>
            <a:pPr algn="ctr">
              <a:defRPr sz="1100" b="1">
                <a:solidFill>
                  <a:srgbClr val="FFFFFF"/>
                </a:solidFill>
              </a:defRPr>
            </a:pPr>
            <a:r>
              <a:t>Home Delivery Fleet &amp; OTP Verification</a:t>
            </a:r>
          </a:p>
        </p:txBody>
      </p:sp>
      <p:sp>
        <p:nvSpPr>
          <p:cNvPr id="12" name="TextBox 11"/>
          <p:cNvSpPr txBox="1"/>
          <p:nvPr/>
        </p:nvSpPr>
        <p:spPr>
          <a:xfrm>
            <a:off x="6366967" y="2240280"/>
            <a:ext cx="4956048" cy="3931920"/>
          </a:xfrm>
          <a:prstGeom prst="rect">
            <a:avLst/>
          </a:prstGeom>
          <a:noFill/>
        </p:spPr>
        <p:txBody>
          <a:bodyPr wrap="square">
            <a:spAutoFit/>
          </a:bodyPr>
          <a:lstStyle/>
          <a:p>
            <a:pPr>
              <a:spcAft>
                <a:spcPts val="250"/>
              </a:spcAft>
              <a:defRPr sz="950">
                <a:solidFill>
                  <a:srgbClr val="1E293B"/>
                </a:solidFill>
              </a:defRPr>
            </a:pPr>
            <a:r>
              <a:t>Tamper-Evident Delivery Dispatch Workflow:</a:t>
            </a:r>
          </a:p>
          <a:p>
            <a:pPr>
              <a:spcAft>
                <a:spcPts val="250"/>
              </a:spcAft>
              <a:defRPr sz="950">
                <a:solidFill>
                  <a:srgbClr val="1E293B"/>
                </a:solidFill>
              </a:defRPr>
            </a:pPr>
          </a:p>
          <a:p>
            <a:pPr>
              <a:spcAft>
                <a:spcPts val="250"/>
              </a:spcAft>
              <a:defRPr sz="950">
                <a:solidFill>
                  <a:srgbClr val="1E293B"/>
                </a:solidFill>
              </a:defRPr>
            </a:pPr>
            <a:r>
              <a:t>• Seamless Cart Routing: Cashier can check '[✓] Route to Home Delivery Fleet' directly from POS checkout.</a:t>
            </a:r>
          </a:p>
          <a:p>
            <a:pPr>
              <a:spcAft>
                <a:spcPts val="250"/>
              </a:spcAft>
              <a:defRPr sz="950">
                <a:solidFill>
                  <a:srgbClr val="1E293B"/>
                </a:solidFill>
              </a:defRPr>
            </a:pPr>
            <a:r>
              <a:t>• Insulated Carrier Verification: Delivery Agent must confirm insulated cold-pack checklist before order dispatch.</a:t>
            </a:r>
          </a:p>
          <a:p>
            <a:pPr>
              <a:spcAft>
                <a:spcPts val="250"/>
              </a:spcAft>
              <a:defRPr sz="950">
                <a:solidFill>
                  <a:srgbClr val="1E293B"/>
                </a:solidFill>
              </a:defRPr>
            </a:pPr>
            <a:r>
              <a:t>• 4-Digit SMS OTP Handover: Customer receives an automated 4-digit verification code. Delivery Agent must input this OTP to complete electronic Proof-of-Delivery (e-POD).</a:t>
            </a:r>
          </a:p>
          <a:p>
            <a:pPr>
              <a:spcAft>
                <a:spcPts val="250"/>
              </a:spcAft>
              <a:defRPr sz="950">
                <a:solidFill>
                  <a:srgbClr val="1E293B"/>
                </a:solidFill>
              </a:defRPr>
            </a:pPr>
            <a:r>
              <a:t>• Undelivered Return Protocol: If customer is unreachable, order is marked 'Returned to Stock' and items reverse cleanly into inventory ledger.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TQM RISK GOVERNANCE ACROSS COMPLETE LIFECYCLE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End-to-End Process Failure Mode &amp; Effects Analysis (FMEA)</a:t>
            </a:r>
          </a:p>
        </p:txBody>
      </p:sp>
      <p:sp>
        <p:nvSpPr>
          <p:cNvPr id="5" name="Rounded Rectangle 4"/>
          <p:cNvSpPr/>
          <p:nvPr/>
        </p:nvSpPr>
        <p:spPr>
          <a:xfrm>
            <a:off x="731520" y="1600200"/>
            <a:ext cx="10728655" cy="47091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868680" y="1737360"/>
          <a:ext cx="10454335" cy="4389120"/>
        </p:xfrm>
        <a:graphic>
          <a:graphicData uri="http://schemas.openxmlformats.org/drawingml/2006/table">
            <a:tbl>
              <a:tblPr firstRow="1" bandRow="1">
                <a:tableStyleId>{5C22544A-7EE6-4342-B048-85BDC9FD1C3A}</a:tableStyleId>
              </a:tblPr>
              <a:tblGrid>
                <a:gridCol w="1371600"/>
                <a:gridCol w="1645920"/>
                <a:gridCol w="1645920"/>
                <a:gridCol w="548640"/>
                <a:gridCol w="548640"/>
                <a:gridCol w="548640"/>
                <a:gridCol w="640080"/>
                <a:gridCol w="3504895"/>
              </a:tblGrid>
              <a:tr h="487680">
                <a:tc>
                  <a:txBody>
                    <a:bodyPr/>
                    <a:lstStyle/>
                    <a:p>
                      <a:pPr>
                        <a:defRPr b="1" sz="1000">
                          <a:solidFill>
                            <a:srgbClr val="FFFFFF"/>
                          </a:solidFill>
                        </a:defRPr>
                      </a:pPr>
                      <a:r>
                        <a:t>Process Stage</a:t>
                      </a:r>
                    </a:p>
                  </a:txBody>
                  <a:tcPr>
                    <a:solidFill>
                      <a:srgbClr val="0A2540"/>
                    </a:solidFill>
                  </a:tcPr>
                </a:tc>
                <a:tc>
                  <a:txBody>
                    <a:bodyPr/>
                    <a:lstStyle/>
                    <a:p>
                      <a:pPr>
                        <a:defRPr b="1" sz="1000">
                          <a:solidFill>
                            <a:srgbClr val="FFFFFF"/>
                          </a:solidFill>
                        </a:defRPr>
                      </a:pPr>
                      <a:r>
                        <a:t>Potential Failure Mode</a:t>
                      </a:r>
                    </a:p>
                  </a:txBody>
                  <a:tcPr>
                    <a:solidFill>
                      <a:srgbClr val="0A2540"/>
                    </a:solidFill>
                  </a:tcPr>
                </a:tc>
                <a:tc>
                  <a:txBody>
                    <a:bodyPr/>
                    <a:lstStyle/>
                    <a:p>
                      <a:pPr>
                        <a:defRPr b="1" sz="1000">
                          <a:solidFill>
                            <a:srgbClr val="FFFFFF"/>
                          </a:solidFill>
                        </a:defRPr>
                      </a:pPr>
                      <a:r>
                        <a:t>Root Cause</a:t>
                      </a:r>
                    </a:p>
                  </a:txBody>
                  <a:tcPr>
                    <a:solidFill>
                      <a:srgbClr val="0A2540"/>
                    </a:solidFill>
                  </a:tcPr>
                </a:tc>
                <a:tc>
                  <a:txBody>
                    <a:bodyPr/>
                    <a:lstStyle/>
                    <a:p>
                      <a:pPr>
                        <a:defRPr b="1" sz="1000">
                          <a:solidFill>
                            <a:srgbClr val="FFFFFF"/>
                          </a:solidFill>
                        </a:defRPr>
                      </a:pPr>
                      <a:r>
                        <a:t>Sev (S)</a:t>
                      </a:r>
                    </a:p>
                  </a:txBody>
                  <a:tcPr>
                    <a:solidFill>
                      <a:srgbClr val="0A2540"/>
                    </a:solidFill>
                  </a:tcPr>
                </a:tc>
                <a:tc>
                  <a:txBody>
                    <a:bodyPr/>
                    <a:lstStyle/>
                    <a:p>
                      <a:pPr>
                        <a:defRPr b="1" sz="1000">
                          <a:solidFill>
                            <a:srgbClr val="FFFFFF"/>
                          </a:solidFill>
                        </a:defRPr>
                      </a:pPr>
                      <a:r>
                        <a:t>Occ (O)</a:t>
                      </a:r>
                    </a:p>
                  </a:txBody>
                  <a:tcPr>
                    <a:solidFill>
                      <a:srgbClr val="0A2540"/>
                    </a:solidFill>
                  </a:tcPr>
                </a:tc>
                <a:tc>
                  <a:txBody>
                    <a:bodyPr/>
                    <a:lstStyle/>
                    <a:p>
                      <a:pPr>
                        <a:defRPr b="1" sz="1000">
                          <a:solidFill>
                            <a:srgbClr val="FFFFFF"/>
                          </a:solidFill>
                        </a:defRPr>
                      </a:pPr>
                      <a:r>
                        <a:t>Det (D)</a:t>
                      </a:r>
                    </a:p>
                  </a:txBody>
                  <a:tcPr>
                    <a:solidFill>
                      <a:srgbClr val="0A2540"/>
                    </a:solidFill>
                  </a:tcPr>
                </a:tc>
                <a:tc>
                  <a:txBody>
                    <a:bodyPr/>
                    <a:lstStyle/>
                    <a:p>
                      <a:pPr>
                        <a:defRPr b="1" sz="1000">
                          <a:solidFill>
                            <a:srgbClr val="FFFFFF"/>
                          </a:solidFill>
                        </a:defRPr>
                      </a:pPr>
                      <a:r>
                        <a:t>RPN</a:t>
                      </a:r>
                    </a:p>
                  </a:txBody>
                  <a:tcPr>
                    <a:solidFill>
                      <a:srgbClr val="0A2540"/>
                    </a:solidFill>
                  </a:tcPr>
                </a:tc>
                <a:tc>
                  <a:txBody>
                    <a:bodyPr/>
                    <a:lstStyle/>
                    <a:p>
                      <a:pPr>
                        <a:defRPr b="1" sz="1000">
                          <a:solidFill>
                            <a:srgbClr val="FFFFFF"/>
                          </a:solidFill>
                        </a:defRPr>
                      </a:pPr>
                      <a:r>
                        <a:t>TQM Poka-Yoke Engineering Control</a:t>
                      </a:r>
                    </a:p>
                  </a:txBody>
                  <a:tcPr>
                    <a:solidFill>
                      <a:srgbClr val="0A2540"/>
                    </a:solidFill>
                  </a:tcPr>
                </a:tc>
              </a:tr>
              <a:tr h="487680">
                <a:tc>
                  <a:txBody>
                    <a:bodyPr/>
                    <a:lstStyle/>
                    <a:p>
                      <a:pPr>
                        <a:defRPr sz="900">
                          <a:solidFill>
                            <a:srgbClr val="1E293B"/>
                          </a:solidFill>
                        </a:defRPr>
                      </a:pPr>
                      <a:r>
                        <a:t>1. Purchase Planning</a:t>
                      </a:r>
                    </a:p>
                  </a:txBody>
                  <a:tcPr>
                    <a:solidFill>
                      <a:srgbClr val="F8FAFC"/>
                    </a:solidFill>
                  </a:tcPr>
                </a:tc>
                <a:tc>
                  <a:txBody>
                    <a:bodyPr/>
                    <a:lstStyle/>
                    <a:p>
                      <a:pPr>
                        <a:defRPr sz="900">
                          <a:solidFill>
                            <a:srgbClr val="1E293B"/>
                          </a:solidFill>
                        </a:defRPr>
                      </a:pPr>
                      <a:r>
                        <a:t>Stockout of critical cardiac drug</a:t>
                      </a:r>
                    </a:p>
                  </a:txBody>
                  <a:tcPr>
                    <a:solidFill>
                      <a:srgbClr val="F8FAFC"/>
                    </a:solidFill>
                  </a:tcPr>
                </a:tc>
                <a:tc>
                  <a:txBody>
                    <a:bodyPr/>
                    <a:lstStyle/>
                    <a:p>
                      <a:pPr>
                        <a:defRPr sz="900">
                          <a:solidFill>
                            <a:srgbClr val="1E293B"/>
                          </a:solidFill>
                        </a:defRPr>
                      </a:pPr>
                      <a:r>
                        <a:t>Inaccurate demand forecast &amp; lead time lag</a:t>
                      </a:r>
                    </a:p>
                  </a:txBody>
                  <a:tcPr>
                    <a:solidFill>
                      <a:srgbClr val="F8FAFC"/>
                    </a:solidFill>
                  </a:tcPr>
                </a:tc>
                <a:tc>
                  <a:txBody>
                    <a:bodyPr/>
                    <a:lstStyle/>
                    <a:p>
                      <a:pPr>
                        <a:defRPr sz="900">
                          <a:solidFill>
                            <a:srgbClr val="1E293B"/>
                          </a:solidFill>
                        </a:defRPr>
                      </a:pPr>
                      <a:r>
                        <a:t>8</a:t>
                      </a:r>
                    </a:p>
                  </a:txBody>
                  <a:tcPr>
                    <a:solidFill>
                      <a:srgbClr val="F8FAFC"/>
                    </a:solidFill>
                  </a:tcPr>
                </a:tc>
                <a:tc>
                  <a:txBody>
                    <a:bodyPr/>
                    <a:lstStyle/>
                    <a:p>
                      <a:pPr>
                        <a:defRPr sz="900">
                          <a:solidFill>
                            <a:srgbClr val="1E293B"/>
                          </a:solidFill>
                        </a:defRPr>
                      </a:pPr>
                      <a:r>
                        <a:t>5</a:t>
                      </a:r>
                    </a:p>
                  </a:txBody>
                  <a:tcPr>
                    <a:solidFill>
                      <a:srgbClr val="F8FAFC"/>
                    </a:solidFill>
                  </a:tcPr>
                </a:tc>
                <a:tc>
                  <a:txBody>
                    <a:bodyPr/>
                    <a:lstStyle/>
                    <a:p>
                      <a:pPr>
                        <a:defRPr sz="900">
                          <a:solidFill>
                            <a:srgbClr val="1E293B"/>
                          </a:solidFill>
                        </a:defRPr>
                      </a:pPr>
                      <a:r>
                        <a:t>4</a:t>
                      </a:r>
                    </a:p>
                  </a:txBody>
                  <a:tcPr>
                    <a:solidFill>
                      <a:srgbClr val="F8FAFC"/>
                    </a:solidFill>
                  </a:tcPr>
                </a:tc>
                <a:tc>
                  <a:txBody>
                    <a:bodyPr/>
                    <a:lstStyle/>
                    <a:p>
                      <a:pPr>
                        <a:defRPr sz="900">
                          <a:solidFill>
                            <a:srgbClr val="1E293B"/>
                          </a:solidFill>
                        </a:defRPr>
                      </a:pPr>
                      <a:r>
                        <a:t>160</a:t>
                      </a:r>
                    </a:p>
                  </a:txBody>
                  <a:tcPr>
                    <a:solidFill>
                      <a:srgbClr val="F8FAFC"/>
                    </a:solidFill>
                  </a:tcPr>
                </a:tc>
                <a:tc>
                  <a:txBody>
                    <a:bodyPr/>
                    <a:lstStyle/>
                    <a:p>
                      <a:pPr>
                        <a:defRPr sz="900">
                          <a:solidFill>
                            <a:srgbClr val="1E293B"/>
                          </a:solidFill>
                        </a:defRPr>
                      </a:pPr>
                      <a:r>
                        <a:t>Automated ROP calculation trigger generating PO recommendations.</a:t>
                      </a:r>
                    </a:p>
                  </a:txBody>
                  <a:tcPr>
                    <a:solidFill>
                      <a:srgbClr val="F8FAFC"/>
                    </a:solidFill>
                  </a:tcPr>
                </a:tc>
              </a:tr>
              <a:tr h="487680">
                <a:tc>
                  <a:txBody>
                    <a:bodyPr/>
                    <a:lstStyle/>
                    <a:p>
                      <a:pPr>
                        <a:defRPr sz="900">
                          <a:solidFill>
                            <a:srgbClr val="1E293B"/>
                          </a:solidFill>
                        </a:defRPr>
                      </a:pPr>
                      <a:r>
                        <a:t>2. Receiving &amp; GRN</a:t>
                      </a:r>
                    </a:p>
                  </a:txBody>
                  <a:tcPr>
                    <a:solidFill>
                      <a:srgbClr val="FFFFFF"/>
                    </a:solidFill>
                  </a:tcPr>
                </a:tc>
                <a:tc>
                  <a:txBody>
                    <a:bodyPr/>
                    <a:lstStyle/>
                    <a:p>
                      <a:pPr>
                        <a:defRPr sz="900">
                          <a:solidFill>
                            <a:srgbClr val="1E293B"/>
                          </a:solidFill>
                        </a:defRPr>
                      </a:pPr>
                      <a:r>
                        <a:t>Inwarding near-expiry / damaged batch</a:t>
                      </a:r>
                    </a:p>
                  </a:txBody>
                  <a:tcPr>
                    <a:solidFill>
                      <a:srgbClr val="FFFFFF"/>
                    </a:solidFill>
                  </a:tcPr>
                </a:tc>
                <a:tc>
                  <a:txBody>
                    <a:bodyPr/>
                    <a:lstStyle/>
                    <a:p>
                      <a:pPr>
                        <a:defRPr sz="900">
                          <a:solidFill>
                            <a:srgbClr val="1E293B"/>
                          </a:solidFill>
                        </a:defRPr>
                      </a:pPr>
                      <a:r>
                        <a:t>Superficial visual inspection during receipt</a:t>
                      </a:r>
                    </a:p>
                  </a:txBody>
                  <a:tcPr>
                    <a:solidFill>
                      <a:srgbClr val="FFFFFF"/>
                    </a:solidFill>
                  </a:tcPr>
                </a:tc>
                <a:tc>
                  <a:txBody>
                    <a:bodyPr/>
                    <a:lstStyle/>
                    <a:p>
                      <a:pPr>
                        <a:defRPr sz="900">
                          <a:solidFill>
                            <a:srgbClr val="1E293B"/>
                          </a:solidFill>
                        </a:defRPr>
                      </a:pPr>
                      <a:r>
                        <a:t>9</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144</a:t>
                      </a:r>
                    </a:p>
                  </a:txBody>
                  <a:tcPr>
                    <a:solidFill>
                      <a:srgbClr val="FFFFFF"/>
                    </a:solidFill>
                  </a:tcPr>
                </a:tc>
                <a:tc>
                  <a:txBody>
                    <a:bodyPr/>
                    <a:lstStyle/>
                    <a:p>
                      <a:pPr>
                        <a:defRPr sz="900">
                          <a:solidFill>
                            <a:srgbClr val="1E293B"/>
                          </a:solidFill>
                        </a:defRPr>
                      </a:pPr>
                      <a:r>
                        <a:t>Inward GRN system rejects any batch with &lt; 180 days shelf life.</a:t>
                      </a:r>
                    </a:p>
                  </a:txBody>
                  <a:tcPr>
                    <a:solidFill>
                      <a:srgbClr val="FFFFFF"/>
                    </a:solidFill>
                  </a:tcPr>
                </a:tc>
              </a:tr>
              <a:tr h="487680">
                <a:tc>
                  <a:txBody>
                    <a:bodyPr/>
                    <a:lstStyle/>
                    <a:p>
                      <a:pPr>
                        <a:defRPr sz="900">
                          <a:solidFill>
                            <a:srgbClr val="1E293B"/>
                          </a:solidFill>
                        </a:defRPr>
                      </a:pPr>
                      <a:r>
                        <a:t>3. Inventory Storage</a:t>
                      </a:r>
                    </a:p>
                  </a:txBody>
                  <a:tcPr>
                    <a:solidFill>
                      <a:srgbClr val="F8FAFC"/>
                    </a:solidFill>
                  </a:tcPr>
                </a:tc>
                <a:tc>
                  <a:txBody>
                    <a:bodyPr/>
                    <a:lstStyle/>
                    <a:p>
                      <a:pPr>
                        <a:defRPr sz="900">
                          <a:solidFill>
                            <a:srgbClr val="1E293B"/>
                          </a:solidFill>
                        </a:defRPr>
                      </a:pPr>
                      <a:r>
                        <a:t>Cold-chain insulin denaturation</a:t>
                      </a:r>
                    </a:p>
                  </a:txBody>
                  <a:tcPr>
                    <a:solidFill>
                      <a:srgbClr val="F8FAFC"/>
                    </a:solidFill>
                  </a:tcPr>
                </a:tc>
                <a:tc>
                  <a:txBody>
                    <a:bodyPr/>
                    <a:lstStyle/>
                    <a:p>
                      <a:pPr>
                        <a:defRPr sz="900">
                          <a:solidFill>
                            <a:srgbClr val="1E293B"/>
                          </a:solidFill>
                        </a:defRPr>
                      </a:pPr>
                      <a:r>
                        <a:t>Chamber compressor failure or power cut</a:t>
                      </a:r>
                    </a:p>
                  </a:txBody>
                  <a:tcPr>
                    <a:solidFill>
                      <a:srgbClr val="F8FAFC"/>
                    </a:solidFill>
                  </a:tcPr>
                </a:tc>
                <a:tc>
                  <a:txBody>
                    <a:bodyPr/>
                    <a:lstStyle/>
                    <a:p>
                      <a:pPr>
                        <a:defRPr sz="900">
                          <a:solidFill>
                            <a:srgbClr val="1E293B"/>
                          </a:solidFill>
                        </a:defRPr>
                      </a:pPr>
                      <a:r>
                        <a:t>9</a:t>
                      </a:r>
                    </a:p>
                  </a:txBody>
                  <a:tcPr>
                    <a:solidFill>
                      <a:srgbClr val="F8FAFC"/>
                    </a:solidFill>
                  </a:tcPr>
                </a:tc>
                <a:tc>
                  <a:txBody>
                    <a:bodyPr/>
                    <a:lstStyle/>
                    <a:p>
                      <a:pPr>
                        <a:defRPr sz="900">
                          <a:solidFill>
                            <a:srgbClr val="1E293B"/>
                          </a:solidFill>
                        </a:defRPr>
                      </a:pPr>
                      <a:r>
                        <a:t>3</a:t>
                      </a:r>
                    </a:p>
                  </a:txBody>
                  <a:tcPr>
                    <a:solidFill>
                      <a:srgbClr val="F8FAFC"/>
                    </a:solidFill>
                  </a:tcPr>
                </a:tc>
                <a:tc>
                  <a:txBody>
                    <a:bodyPr/>
                    <a:lstStyle/>
                    <a:p>
                      <a:pPr>
                        <a:defRPr sz="900">
                          <a:solidFill>
                            <a:srgbClr val="1E293B"/>
                          </a:solidFill>
                        </a:defRPr>
                      </a:pPr>
                      <a:r>
                        <a:t>3</a:t>
                      </a:r>
                    </a:p>
                  </a:txBody>
                  <a:tcPr>
                    <a:solidFill>
                      <a:srgbClr val="F8FAFC"/>
                    </a:solidFill>
                  </a:tcPr>
                </a:tc>
                <a:tc>
                  <a:txBody>
                    <a:bodyPr/>
                    <a:lstStyle/>
                    <a:p>
                      <a:pPr>
                        <a:defRPr sz="900">
                          <a:solidFill>
                            <a:srgbClr val="1E293B"/>
                          </a:solidFill>
                        </a:defRPr>
                      </a:pPr>
                      <a:r>
                        <a:t>81</a:t>
                      </a:r>
                    </a:p>
                  </a:txBody>
                  <a:tcPr>
                    <a:solidFill>
                      <a:srgbClr val="F8FAFC"/>
                    </a:solidFill>
                  </a:tcPr>
                </a:tc>
                <a:tc>
                  <a:txBody>
                    <a:bodyPr/>
                    <a:lstStyle/>
                    <a:p>
                      <a:pPr>
                        <a:defRPr sz="900">
                          <a:solidFill>
                            <a:srgbClr val="1E293B"/>
                          </a:solidFill>
                        </a:defRPr>
                      </a:pPr>
                      <a:r>
                        <a:t>24/7 IoT temperature telemetry with audible alarms and POS lockout.</a:t>
                      </a:r>
                    </a:p>
                  </a:txBody>
                  <a:tcPr>
                    <a:solidFill>
                      <a:srgbClr val="F8FAFC"/>
                    </a:solidFill>
                  </a:tcPr>
                </a:tc>
              </a:tr>
              <a:tr h="487680">
                <a:tc>
                  <a:txBody>
                    <a:bodyPr/>
                    <a:lstStyle/>
                    <a:p>
                      <a:pPr>
                        <a:defRPr sz="900">
                          <a:solidFill>
                            <a:srgbClr val="1E293B"/>
                          </a:solidFill>
                        </a:defRPr>
                      </a:pPr>
                      <a:r>
                        <a:t>4. Prescription Intake</a:t>
                      </a:r>
                    </a:p>
                  </a:txBody>
                  <a:tcPr>
                    <a:solidFill>
                      <a:srgbClr val="FFFFFF"/>
                    </a:solidFill>
                  </a:tcPr>
                </a:tc>
                <a:tc>
                  <a:txBody>
                    <a:bodyPr/>
                    <a:lstStyle/>
                    <a:p>
                      <a:pPr>
                        <a:defRPr sz="900">
                          <a:solidFill>
                            <a:srgbClr val="1E293B"/>
                          </a:solidFill>
                        </a:defRPr>
                      </a:pPr>
                      <a:r>
                        <a:t>Doctor handwriting misinterpretation</a:t>
                      </a:r>
                    </a:p>
                  </a:txBody>
                  <a:tcPr>
                    <a:solidFill>
                      <a:srgbClr val="FFFFFF"/>
                    </a:solidFill>
                  </a:tcPr>
                </a:tc>
                <a:tc>
                  <a:txBody>
                    <a:bodyPr/>
                    <a:lstStyle/>
                    <a:p>
                      <a:pPr>
                        <a:defRPr sz="900">
                          <a:solidFill>
                            <a:srgbClr val="1E293B"/>
                          </a:solidFill>
                        </a:defRPr>
                      </a:pPr>
                      <a:r>
                        <a:t>Ambiguous paper script abbreviations</a:t>
                      </a:r>
                    </a:p>
                  </a:txBody>
                  <a:tcPr>
                    <a:solidFill>
                      <a:srgbClr val="FFFFFF"/>
                    </a:solidFill>
                  </a:tcPr>
                </a:tc>
                <a:tc>
                  <a:txBody>
                    <a:bodyPr/>
                    <a:lstStyle/>
                    <a:p>
                      <a:pPr>
                        <a:defRPr sz="900">
                          <a:solidFill>
                            <a:srgbClr val="1E293B"/>
                          </a:solidFill>
                        </a:defRPr>
                      </a:pPr>
                      <a:r>
                        <a:t>8</a:t>
                      </a:r>
                    </a:p>
                  </a:txBody>
                  <a:tcPr>
                    <a:solidFill>
                      <a:srgbClr val="FFFFFF"/>
                    </a:solidFill>
                  </a:tcPr>
                </a:tc>
                <a:tc>
                  <a:txBody>
                    <a:bodyPr/>
                    <a:lstStyle/>
                    <a:p>
                      <a:pPr>
                        <a:defRPr sz="900">
                          <a:solidFill>
                            <a:srgbClr val="1E293B"/>
                          </a:solidFill>
                        </a:defRPr>
                      </a:pPr>
                      <a:r>
                        <a:t>6</a:t>
                      </a:r>
                    </a:p>
                  </a:txBody>
                  <a:tcPr>
                    <a:solidFill>
                      <a:srgbClr val="FFFFFF"/>
                    </a:solidFill>
                  </a:tcPr>
                </a:tc>
                <a:tc>
                  <a:txBody>
                    <a:bodyPr/>
                    <a:lstStyle/>
                    <a:p>
                      <a:pPr>
                        <a:defRPr sz="900">
                          <a:solidFill>
                            <a:srgbClr val="1E293B"/>
                          </a:solidFill>
                        </a:defRPr>
                      </a:pPr>
                      <a:r>
                        <a:t>5</a:t>
                      </a:r>
                    </a:p>
                  </a:txBody>
                  <a:tcPr>
                    <a:solidFill>
                      <a:srgbClr val="FFFFFF"/>
                    </a:solidFill>
                  </a:tcPr>
                </a:tc>
                <a:tc>
                  <a:txBody>
                    <a:bodyPr/>
                    <a:lstStyle/>
                    <a:p>
                      <a:pPr>
                        <a:defRPr sz="900">
                          <a:solidFill>
                            <a:srgbClr val="1E293B"/>
                          </a:solidFill>
                        </a:defRPr>
                      </a:pPr>
                      <a:r>
                        <a:t>240</a:t>
                      </a:r>
                    </a:p>
                  </a:txBody>
                  <a:tcPr>
                    <a:solidFill>
                      <a:srgbClr val="FFFFFF"/>
                    </a:solidFill>
                  </a:tcPr>
                </a:tc>
                <a:tc>
                  <a:txBody>
                    <a:bodyPr/>
                    <a:lstStyle/>
                    <a:p>
                      <a:pPr>
                        <a:defRPr sz="900">
                          <a:solidFill>
                            <a:srgbClr val="1E293B"/>
                          </a:solidFill>
                        </a:defRPr>
                      </a:pPr>
                      <a:r>
                        <a:t>Digital eRx intake and mandatory EHR patient matching.</a:t>
                      </a:r>
                    </a:p>
                  </a:txBody>
                  <a:tcPr>
                    <a:solidFill>
                      <a:srgbClr val="FFFFFF"/>
                    </a:solidFill>
                  </a:tcPr>
                </a:tc>
              </a:tr>
              <a:tr h="487680">
                <a:tc>
                  <a:txBody>
                    <a:bodyPr/>
                    <a:lstStyle/>
                    <a:p>
                      <a:pPr>
                        <a:defRPr sz="900">
                          <a:solidFill>
                            <a:srgbClr val="1E293B"/>
                          </a:solidFill>
                        </a:defRPr>
                      </a:pPr>
                      <a:r>
                        <a:t>5. Clinical Check</a:t>
                      </a:r>
                    </a:p>
                  </a:txBody>
                  <a:tcPr>
                    <a:solidFill>
                      <a:srgbClr val="F8FAFC"/>
                    </a:solidFill>
                  </a:tcPr>
                </a:tc>
                <a:tc>
                  <a:txBody>
                    <a:bodyPr/>
                    <a:lstStyle/>
                    <a:p>
                      <a:pPr>
                        <a:defRPr sz="900">
                          <a:solidFill>
                            <a:srgbClr val="1E293B"/>
                          </a:solidFill>
                        </a:defRPr>
                      </a:pPr>
                      <a:r>
                        <a:t>Penicillin allergy anaphylaxis</a:t>
                      </a:r>
                    </a:p>
                  </a:txBody>
                  <a:tcPr>
                    <a:solidFill>
                      <a:srgbClr val="F8FAFC"/>
                    </a:solidFill>
                  </a:tcPr>
                </a:tc>
                <a:tc>
                  <a:txBody>
                    <a:bodyPr/>
                    <a:lstStyle/>
                    <a:p>
                      <a:pPr>
                        <a:defRPr sz="900">
                          <a:solidFill>
                            <a:srgbClr val="1E293B"/>
                          </a:solidFill>
                        </a:defRPr>
                      </a:pPr>
                      <a:r>
                        <a:t>Pharmacist misses allergy history</a:t>
                      </a:r>
                    </a:p>
                  </a:txBody>
                  <a:tcPr>
                    <a:solidFill>
                      <a:srgbClr val="F8FAFC"/>
                    </a:solidFill>
                  </a:tcPr>
                </a:tc>
                <a:tc>
                  <a:txBody>
                    <a:bodyPr/>
                    <a:lstStyle/>
                    <a:p>
                      <a:pPr>
                        <a:defRPr sz="900">
                          <a:solidFill>
                            <a:srgbClr val="1E293B"/>
                          </a:solidFill>
                        </a:defRPr>
                      </a:pPr>
                      <a:r>
                        <a:t>10</a:t>
                      </a:r>
                    </a:p>
                  </a:txBody>
                  <a:tcPr>
                    <a:solidFill>
                      <a:srgbClr val="F8FAFC"/>
                    </a:solidFill>
                  </a:tcPr>
                </a:tc>
                <a:tc>
                  <a:txBody>
                    <a:bodyPr/>
                    <a:lstStyle/>
                    <a:p>
                      <a:pPr>
                        <a:defRPr sz="900">
                          <a:solidFill>
                            <a:srgbClr val="1E293B"/>
                          </a:solidFill>
                        </a:defRPr>
                      </a:pPr>
                      <a:r>
                        <a:t>4</a:t>
                      </a:r>
                    </a:p>
                  </a:txBody>
                  <a:tcPr>
                    <a:solidFill>
                      <a:srgbClr val="F8FAFC"/>
                    </a:solidFill>
                  </a:tcPr>
                </a:tc>
                <a:tc>
                  <a:txBody>
                    <a:bodyPr/>
                    <a:lstStyle/>
                    <a:p>
                      <a:pPr>
                        <a:defRPr sz="900">
                          <a:solidFill>
                            <a:srgbClr val="1E293B"/>
                          </a:solidFill>
                        </a:defRPr>
                      </a:pPr>
                      <a:r>
                        <a:t>5</a:t>
                      </a:r>
                    </a:p>
                  </a:txBody>
                  <a:tcPr>
                    <a:solidFill>
                      <a:srgbClr val="F8FAFC"/>
                    </a:solidFill>
                  </a:tcPr>
                </a:tc>
                <a:tc>
                  <a:txBody>
                    <a:bodyPr/>
                    <a:lstStyle/>
                    <a:p>
                      <a:pPr>
                        <a:defRPr sz="900">
                          <a:solidFill>
                            <a:srgbClr val="1E293B"/>
                          </a:solidFill>
                        </a:defRPr>
                      </a:pPr>
                      <a:r>
                        <a:t>200</a:t>
                      </a:r>
                    </a:p>
                  </a:txBody>
                  <a:tcPr>
                    <a:solidFill>
                      <a:srgbClr val="F8FAFC"/>
                    </a:solidFill>
                  </a:tcPr>
                </a:tc>
                <a:tc>
                  <a:txBody>
                    <a:bodyPr/>
                    <a:lstStyle/>
                    <a:p>
                      <a:pPr>
                        <a:defRPr sz="900">
                          <a:solidFill>
                            <a:srgbClr val="1E293B"/>
                          </a:solidFill>
                        </a:defRPr>
                      </a:pPr>
                      <a:r>
                        <a:t>CDSS Poka-Yoke hard-stop shield blocking contra-indicated drugs.</a:t>
                      </a:r>
                    </a:p>
                  </a:txBody>
                  <a:tcPr>
                    <a:solidFill>
                      <a:srgbClr val="F8FAFC"/>
                    </a:solidFill>
                  </a:tcPr>
                </a:tc>
              </a:tr>
              <a:tr h="487680">
                <a:tc>
                  <a:txBody>
                    <a:bodyPr/>
                    <a:lstStyle/>
                    <a:p>
                      <a:pPr>
                        <a:defRPr sz="900">
                          <a:solidFill>
                            <a:srgbClr val="1E293B"/>
                          </a:solidFill>
                        </a:defRPr>
                      </a:pPr>
                      <a:r>
                        <a:t>6. Dispensing &amp; Pack</a:t>
                      </a:r>
                    </a:p>
                  </a:txBody>
                  <a:tcPr>
                    <a:solidFill>
                      <a:srgbClr val="FFFFFF"/>
                    </a:solidFill>
                  </a:tcPr>
                </a:tc>
                <a:tc>
                  <a:txBody>
                    <a:bodyPr/>
                    <a:lstStyle/>
                    <a:p>
                      <a:pPr>
                        <a:defRPr sz="900">
                          <a:solidFill>
                            <a:srgbClr val="1E293B"/>
                          </a:solidFill>
                        </a:defRPr>
                      </a:pPr>
                      <a:r>
                        <a:t>Look-alike sound-alike (LASA) swap</a:t>
                      </a:r>
                    </a:p>
                  </a:txBody>
                  <a:tcPr>
                    <a:solidFill>
                      <a:srgbClr val="FFFFFF"/>
                    </a:solidFill>
                  </a:tcPr>
                </a:tc>
                <a:tc>
                  <a:txBody>
                    <a:bodyPr/>
                    <a:lstStyle/>
                    <a:p>
                      <a:pPr>
                        <a:defRPr sz="900">
                          <a:solidFill>
                            <a:srgbClr val="1E293B"/>
                          </a:solidFill>
                        </a:defRPr>
                      </a:pPr>
                      <a:r>
                        <a:t>Dispensary clutter and hurried picking</a:t>
                      </a:r>
                    </a:p>
                  </a:txBody>
                  <a:tcPr>
                    <a:solidFill>
                      <a:srgbClr val="FFFFFF"/>
                    </a:solidFill>
                  </a:tcPr>
                </a:tc>
                <a:tc>
                  <a:txBody>
                    <a:bodyPr/>
                    <a:lstStyle/>
                    <a:p>
                      <a:pPr>
                        <a:defRPr sz="900">
                          <a:solidFill>
                            <a:srgbClr val="1E293B"/>
                          </a:solidFill>
                        </a:defRPr>
                      </a:pPr>
                      <a:r>
                        <a:t>8</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128</a:t>
                      </a:r>
                    </a:p>
                  </a:txBody>
                  <a:tcPr>
                    <a:solidFill>
                      <a:srgbClr val="FFFFFF"/>
                    </a:solidFill>
                  </a:tcPr>
                </a:tc>
                <a:tc>
                  <a:txBody>
                    <a:bodyPr/>
                    <a:lstStyle/>
                    <a:p>
                      <a:pPr>
                        <a:defRPr sz="900">
                          <a:solidFill>
                            <a:srgbClr val="1E293B"/>
                          </a:solidFill>
                        </a:defRPr>
                      </a:pPr>
                      <a:r>
                        <a:t>Mandatory 2D barcode scan verification matching NDC before packing.</a:t>
                      </a:r>
                    </a:p>
                  </a:txBody>
                  <a:tcPr>
                    <a:solidFill>
                      <a:srgbClr val="FFFFFF"/>
                    </a:solidFill>
                  </a:tcPr>
                </a:tc>
              </a:tr>
              <a:tr h="487680">
                <a:tc>
                  <a:txBody>
                    <a:bodyPr/>
                    <a:lstStyle/>
                    <a:p>
                      <a:pPr>
                        <a:defRPr sz="900">
                          <a:solidFill>
                            <a:srgbClr val="1E293B"/>
                          </a:solidFill>
                        </a:defRPr>
                      </a:pPr>
                      <a:r>
                        <a:t>7. Billing &amp; POS</a:t>
                      </a:r>
                    </a:p>
                  </a:txBody>
                  <a:tcPr>
                    <a:solidFill>
                      <a:srgbClr val="F8FAFC"/>
                    </a:solidFill>
                  </a:tcPr>
                </a:tc>
                <a:tc>
                  <a:txBody>
                    <a:bodyPr/>
                    <a:lstStyle/>
                    <a:p>
                      <a:pPr>
                        <a:defRPr sz="900">
                          <a:solidFill>
                            <a:srgbClr val="1E293B"/>
                          </a:solidFill>
                        </a:defRPr>
                      </a:pPr>
                      <a:r>
                        <a:t>Cash drawer deficit / till imbalance</a:t>
                      </a:r>
                    </a:p>
                  </a:txBody>
                  <a:tcPr>
                    <a:solidFill>
                      <a:srgbClr val="F8FAFC"/>
                    </a:solidFill>
                  </a:tcPr>
                </a:tc>
                <a:tc>
                  <a:txBody>
                    <a:bodyPr/>
                    <a:lstStyle/>
                    <a:p>
                      <a:pPr>
                        <a:defRPr sz="900">
                          <a:solidFill>
                            <a:srgbClr val="1E293B"/>
                          </a:solidFill>
                        </a:defRPr>
                      </a:pPr>
                      <a:r>
                        <a:t>Manual mental math change error</a:t>
                      </a:r>
                    </a:p>
                  </a:txBody>
                  <a:tcPr>
                    <a:solidFill>
                      <a:srgbClr val="F8FAFC"/>
                    </a:solidFill>
                  </a:tcPr>
                </a:tc>
                <a:tc>
                  <a:txBody>
                    <a:bodyPr/>
                    <a:lstStyle/>
                    <a:p>
                      <a:pPr>
                        <a:defRPr sz="900">
                          <a:solidFill>
                            <a:srgbClr val="1E293B"/>
                          </a:solidFill>
                        </a:defRPr>
                      </a:pPr>
                      <a:r>
                        <a:t>4</a:t>
                      </a:r>
                    </a:p>
                  </a:txBody>
                  <a:tcPr>
                    <a:solidFill>
                      <a:srgbClr val="F8FAFC"/>
                    </a:solidFill>
                  </a:tcPr>
                </a:tc>
                <a:tc>
                  <a:txBody>
                    <a:bodyPr/>
                    <a:lstStyle/>
                    <a:p>
                      <a:pPr>
                        <a:defRPr sz="900">
                          <a:solidFill>
                            <a:srgbClr val="1E293B"/>
                          </a:solidFill>
                        </a:defRPr>
                      </a:pPr>
                      <a:r>
                        <a:t>6</a:t>
                      </a:r>
                    </a:p>
                  </a:txBody>
                  <a:tcPr>
                    <a:solidFill>
                      <a:srgbClr val="F8FAFC"/>
                    </a:solidFill>
                  </a:tcPr>
                </a:tc>
                <a:tc>
                  <a:txBody>
                    <a:bodyPr/>
                    <a:lstStyle/>
                    <a:p>
                      <a:pPr>
                        <a:defRPr sz="900">
                          <a:solidFill>
                            <a:srgbClr val="1E293B"/>
                          </a:solidFill>
                        </a:defRPr>
                      </a:pPr>
                      <a:r>
                        <a:t>3</a:t>
                      </a:r>
                    </a:p>
                  </a:txBody>
                  <a:tcPr>
                    <a:solidFill>
                      <a:srgbClr val="F8FAFC"/>
                    </a:solidFill>
                  </a:tcPr>
                </a:tc>
                <a:tc>
                  <a:txBody>
                    <a:bodyPr/>
                    <a:lstStyle/>
                    <a:p>
                      <a:pPr>
                        <a:defRPr sz="900">
                          <a:solidFill>
                            <a:srgbClr val="1E293B"/>
                          </a:solidFill>
                        </a:defRPr>
                      </a:pPr>
                      <a:r>
                        <a:t>72</a:t>
                      </a:r>
                    </a:p>
                  </a:txBody>
                  <a:tcPr>
                    <a:solidFill>
                      <a:srgbClr val="F8FAFC"/>
                    </a:solidFill>
                  </a:tcPr>
                </a:tc>
                <a:tc>
                  <a:txBody>
                    <a:bodyPr/>
                    <a:lstStyle/>
                    <a:p>
                      <a:pPr>
                        <a:defRPr sz="900">
                          <a:solidFill>
                            <a:srgbClr val="1E293B"/>
                          </a:solidFill>
                        </a:defRPr>
                      </a:pPr>
                      <a:r>
                        <a:t>Instant change return calculator + Dynamic UPI QR webhook.</a:t>
                      </a:r>
                    </a:p>
                  </a:txBody>
                  <a:tcPr>
                    <a:solidFill>
                      <a:srgbClr val="F8FAFC"/>
                    </a:solidFill>
                  </a:tcPr>
                </a:tc>
              </a:tr>
              <a:tr h="487680">
                <a:tc>
                  <a:txBody>
                    <a:bodyPr/>
                    <a:lstStyle/>
                    <a:p>
                      <a:pPr>
                        <a:defRPr sz="900">
                          <a:solidFill>
                            <a:srgbClr val="1E293B"/>
                          </a:solidFill>
                        </a:defRPr>
                      </a:pPr>
                      <a:r>
                        <a:t>8. Delivery &amp; Returns</a:t>
                      </a:r>
                    </a:p>
                  </a:txBody>
                  <a:tcPr>
                    <a:solidFill>
                      <a:srgbClr val="FFFFFF"/>
                    </a:solidFill>
                  </a:tcPr>
                </a:tc>
                <a:tc>
                  <a:txBody>
                    <a:bodyPr/>
                    <a:lstStyle/>
                    <a:p>
                      <a:pPr>
                        <a:defRPr sz="900">
                          <a:solidFill>
                            <a:srgbClr val="1E293B"/>
                          </a:solidFill>
                        </a:defRPr>
                      </a:pPr>
                      <a:r>
                        <a:t>Delivery to wrong address / fake return</a:t>
                      </a:r>
                    </a:p>
                  </a:txBody>
                  <a:tcPr>
                    <a:solidFill>
                      <a:srgbClr val="FFFFFF"/>
                    </a:solidFill>
                  </a:tcPr>
                </a:tc>
                <a:tc>
                  <a:txBody>
                    <a:bodyPr/>
                    <a:lstStyle/>
                    <a:p>
                      <a:pPr>
                        <a:defRPr sz="900">
                          <a:solidFill>
                            <a:srgbClr val="1E293B"/>
                          </a:solidFill>
                        </a:defRPr>
                      </a:pPr>
                      <a:r>
                        <a:t>Unverified customer handover</a:t>
                      </a:r>
                    </a:p>
                  </a:txBody>
                  <a:tcPr>
                    <a:solidFill>
                      <a:srgbClr val="FFFFFF"/>
                    </a:solidFill>
                  </a:tcPr>
                </a:tc>
                <a:tc>
                  <a:txBody>
                    <a:bodyPr/>
                    <a:lstStyle/>
                    <a:p>
                      <a:pPr>
                        <a:defRPr sz="900">
                          <a:solidFill>
                            <a:srgbClr val="1E293B"/>
                          </a:solidFill>
                        </a:defRPr>
                      </a:pPr>
                      <a:r>
                        <a:t>7</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4</a:t>
                      </a:r>
                    </a:p>
                  </a:txBody>
                  <a:tcPr>
                    <a:solidFill>
                      <a:srgbClr val="FFFFFF"/>
                    </a:solidFill>
                  </a:tcPr>
                </a:tc>
                <a:tc>
                  <a:txBody>
                    <a:bodyPr/>
                    <a:lstStyle/>
                    <a:p>
                      <a:pPr>
                        <a:defRPr sz="900">
                          <a:solidFill>
                            <a:srgbClr val="1E293B"/>
                          </a:solidFill>
                        </a:defRPr>
                      </a:pPr>
                      <a:r>
                        <a:t>112</a:t>
                      </a:r>
                    </a:p>
                  </a:txBody>
                  <a:tcPr>
                    <a:solidFill>
                      <a:srgbClr val="FFFFFF"/>
                    </a:solidFill>
                  </a:tcPr>
                </a:tc>
                <a:tc>
                  <a:txBody>
                    <a:bodyPr/>
                    <a:lstStyle/>
                    <a:p>
                      <a:pPr>
                        <a:defRPr sz="900">
                          <a:solidFill>
                            <a:srgbClr val="1E293B"/>
                          </a:solidFill>
                        </a:defRPr>
                      </a:pPr>
                      <a:r>
                        <a:t>Mandatory 4-digit SMS OTP electronic Proof-of-Delivery (e-POD).</a:t>
                      </a:r>
                    </a:p>
                  </a:txBody>
                  <a:tcP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TQM ROOT-CAUSE ANALYTICS</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TQM Quality Analytics: Pareto (80/20) &amp; 6M Fishbone Analysis</a:t>
            </a:r>
          </a:p>
        </p:txBody>
      </p:sp>
      <p:sp>
        <p:nvSpPr>
          <p:cNvPr id="5" name="Rounded Rectangle 4"/>
          <p:cNvSpPr/>
          <p:nvPr/>
        </p:nvSpPr>
        <p:spPr>
          <a:xfrm>
            <a:off x="731520"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230368" cy="45720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0784"/>
            <a:ext cx="5230368" cy="365760"/>
          </a:xfrm>
          <a:prstGeom prst="rect">
            <a:avLst/>
          </a:prstGeom>
          <a:noFill/>
        </p:spPr>
        <p:txBody>
          <a:bodyPr wrap="none">
            <a:spAutoFit/>
          </a:bodyPr>
          <a:lstStyle/>
          <a:p>
            <a:pPr algn="ctr">
              <a:defRPr sz="1100" b="1">
                <a:solidFill>
                  <a:srgbClr val="FFFFFF"/>
                </a:solidFill>
              </a:defRPr>
            </a:pPr>
            <a:r>
              <a:t>Pareto Principle (80/20 Rule Analysis)</a:t>
            </a:r>
          </a:p>
        </p:txBody>
      </p:sp>
      <p:sp>
        <p:nvSpPr>
          <p:cNvPr id="8" name="TextBox 7"/>
          <p:cNvSpPr txBox="1"/>
          <p:nvPr/>
        </p:nvSpPr>
        <p:spPr>
          <a:xfrm>
            <a:off x="868680" y="2240280"/>
            <a:ext cx="4956048" cy="3931920"/>
          </a:xfrm>
          <a:prstGeom prst="rect">
            <a:avLst/>
          </a:prstGeom>
          <a:noFill/>
        </p:spPr>
        <p:txBody>
          <a:bodyPr wrap="square">
            <a:spAutoFit/>
          </a:bodyPr>
          <a:lstStyle/>
          <a:p>
            <a:pPr>
              <a:spcAft>
                <a:spcPts val="250"/>
              </a:spcAft>
              <a:defRPr sz="950">
                <a:solidFill>
                  <a:srgbClr val="1E293B"/>
                </a:solidFill>
              </a:defRPr>
            </a:pPr>
            <a:r>
              <a:t>Empirical Dispersion of Pharmacy Defects:</a:t>
            </a:r>
          </a:p>
          <a:p>
            <a:pPr>
              <a:spcAft>
                <a:spcPts val="250"/>
              </a:spcAft>
              <a:defRPr sz="950">
                <a:solidFill>
                  <a:srgbClr val="1E293B"/>
                </a:solidFill>
              </a:defRPr>
            </a:pPr>
          </a:p>
          <a:p>
            <a:pPr>
              <a:spcAft>
                <a:spcPts val="250"/>
              </a:spcAft>
              <a:defRPr sz="950">
                <a:solidFill>
                  <a:srgbClr val="1E293B"/>
                </a:solidFill>
              </a:defRPr>
            </a:pPr>
            <a:r>
              <a:t>• 80% of clinical errors originate from top 2 root causes:</a:t>
            </a:r>
          </a:p>
          <a:p>
            <a:pPr>
              <a:spcAft>
                <a:spcPts val="250"/>
              </a:spcAft>
              <a:defRPr sz="950">
                <a:solidFill>
                  <a:srgbClr val="1E293B"/>
                </a:solidFill>
              </a:defRPr>
            </a:pPr>
            <a:r>
              <a:t>  1. Allergy / Cross-Drug Interactions (42% cumulative)</a:t>
            </a:r>
          </a:p>
          <a:p>
            <a:pPr>
              <a:spcAft>
                <a:spcPts val="250"/>
              </a:spcAft>
              <a:defRPr sz="950">
                <a:solidFill>
                  <a:srgbClr val="1E293B"/>
                </a:solidFill>
              </a:defRPr>
            </a:pPr>
            <a:r>
              <a:t>  2. Sound-Alike Look-Alike (LASA) Confusion (26% cumulative)</a:t>
            </a:r>
          </a:p>
          <a:p>
            <a:pPr>
              <a:spcAft>
                <a:spcPts val="250"/>
              </a:spcAft>
              <a:defRPr sz="950">
                <a:solidFill>
                  <a:srgbClr val="1E293B"/>
                </a:solidFill>
              </a:defRPr>
            </a:pPr>
            <a:r>
              <a:t>• Secondary Pareto Factors:</a:t>
            </a:r>
          </a:p>
          <a:p>
            <a:pPr>
              <a:spcAft>
                <a:spcPts val="250"/>
              </a:spcAft>
              <a:defRPr sz="950">
                <a:solidFill>
                  <a:srgbClr val="1E293B"/>
                </a:solidFill>
              </a:defRPr>
            </a:pPr>
            <a:r>
              <a:t>  3. Illegible Doctor Handwriting Transcription (16%)</a:t>
            </a:r>
          </a:p>
          <a:p>
            <a:pPr>
              <a:spcAft>
                <a:spcPts val="250"/>
              </a:spcAft>
              <a:defRPr sz="950">
                <a:solidFill>
                  <a:srgbClr val="1E293B"/>
                </a:solidFill>
              </a:defRPr>
            </a:pPr>
            <a:r>
              <a:t>  4. Expired Stock Overlooked on Shelves (11%)</a:t>
            </a:r>
          </a:p>
          <a:p>
            <a:pPr>
              <a:spcAft>
                <a:spcPts val="250"/>
              </a:spcAft>
              <a:defRPr sz="950">
                <a:solidFill>
                  <a:srgbClr val="1E293B"/>
                </a:solidFill>
              </a:defRPr>
            </a:pPr>
            <a:r>
              <a:t>  5. Calculation Slips in Manual GST Math (5%)</a:t>
            </a:r>
          </a:p>
          <a:p>
            <a:pPr>
              <a:spcAft>
                <a:spcPts val="250"/>
              </a:spcAft>
              <a:defRPr sz="950">
                <a:solidFill>
                  <a:srgbClr val="1E293B"/>
                </a:solidFill>
              </a:defRPr>
            </a:pPr>
            <a:r>
              <a:t>• TQM Action: System directs 80% of engineering rigor to CDSS Poka-Yoke and FEFO barcode automation.</a:t>
            </a:r>
          </a:p>
        </p:txBody>
      </p:sp>
      <p:sp>
        <p:nvSpPr>
          <p:cNvPr id="9" name="Rounded Rectangle 8"/>
          <p:cNvSpPr/>
          <p:nvPr/>
        </p:nvSpPr>
        <p:spPr>
          <a:xfrm>
            <a:off x="6229807"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9807" y="1645920"/>
            <a:ext cx="5230368"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9807" y="1700784"/>
            <a:ext cx="5230368" cy="365760"/>
          </a:xfrm>
          <a:prstGeom prst="rect">
            <a:avLst/>
          </a:prstGeom>
          <a:noFill/>
        </p:spPr>
        <p:txBody>
          <a:bodyPr wrap="none">
            <a:spAutoFit/>
          </a:bodyPr>
          <a:lstStyle/>
          <a:p>
            <a:pPr algn="ctr">
              <a:defRPr sz="1100" b="1">
                <a:solidFill>
                  <a:srgbClr val="FFFFFF"/>
                </a:solidFill>
              </a:defRPr>
            </a:pPr>
            <a:r>
              <a:t>Ishikawa 6M Cause-and-Effect Analysis</a:t>
            </a:r>
          </a:p>
        </p:txBody>
      </p:sp>
      <p:sp>
        <p:nvSpPr>
          <p:cNvPr id="12" name="TextBox 11"/>
          <p:cNvSpPr txBox="1"/>
          <p:nvPr/>
        </p:nvSpPr>
        <p:spPr>
          <a:xfrm>
            <a:off x="6366967" y="2240280"/>
            <a:ext cx="4956048" cy="3931920"/>
          </a:xfrm>
          <a:prstGeom prst="rect">
            <a:avLst/>
          </a:prstGeom>
          <a:noFill/>
        </p:spPr>
        <p:txBody>
          <a:bodyPr wrap="square">
            <a:spAutoFit/>
          </a:bodyPr>
          <a:lstStyle/>
          <a:p>
            <a:pPr>
              <a:spcAft>
                <a:spcPts val="250"/>
              </a:spcAft>
              <a:defRPr sz="950">
                <a:solidFill>
                  <a:srgbClr val="1E293B"/>
                </a:solidFill>
              </a:defRPr>
            </a:pPr>
            <a:r>
              <a:t>Root Causes Across the 6 Manufacturing Dimensions:</a:t>
            </a:r>
          </a:p>
          <a:p>
            <a:pPr>
              <a:spcAft>
                <a:spcPts val="250"/>
              </a:spcAft>
              <a:defRPr sz="950">
                <a:solidFill>
                  <a:srgbClr val="1E293B"/>
                </a:solidFill>
              </a:defRPr>
            </a:pPr>
          </a:p>
          <a:p>
            <a:pPr>
              <a:spcAft>
                <a:spcPts val="250"/>
              </a:spcAft>
              <a:defRPr sz="950">
                <a:solidFill>
                  <a:srgbClr val="1E293B"/>
                </a:solidFill>
              </a:defRPr>
            </a:pPr>
            <a:r>
              <a:t>• Man: Pharmacist fatigue, hurried cashier, untracked delivery fleet.</a:t>
            </a:r>
          </a:p>
          <a:p>
            <a:pPr>
              <a:spcAft>
                <a:spcPts val="250"/>
              </a:spcAft>
              <a:defRPr sz="950">
                <a:solidFill>
                  <a:srgbClr val="1E293B"/>
                </a:solidFill>
              </a:defRPr>
            </a:pPr>
            <a:r>
              <a:t>• Machine: Uncalibrated cold-chain fridge, offline receipt printer.</a:t>
            </a:r>
          </a:p>
          <a:p>
            <a:pPr>
              <a:spcAft>
                <a:spcPts val="250"/>
              </a:spcAft>
              <a:defRPr sz="950">
                <a:solidFill>
                  <a:srgbClr val="1E293B"/>
                </a:solidFill>
              </a:defRPr>
            </a:pPr>
            <a:r>
              <a:t>• Method: Paper register tracking, manual FIFO rather than FEFO.</a:t>
            </a:r>
          </a:p>
          <a:p>
            <a:pPr>
              <a:spcAft>
                <a:spcPts val="250"/>
              </a:spcAft>
              <a:defRPr sz="950">
                <a:solidFill>
                  <a:srgbClr val="1E293B"/>
                </a:solidFill>
              </a:defRPr>
            </a:pPr>
            <a:r>
              <a:t>• Material: Near-expiry supplier shipments, unsealed medication boxes.</a:t>
            </a:r>
          </a:p>
          <a:p>
            <a:pPr>
              <a:spcAft>
                <a:spcPts val="250"/>
              </a:spcAft>
              <a:defRPr sz="950">
                <a:solidFill>
                  <a:srgbClr val="1E293B"/>
                </a:solidFill>
              </a:defRPr>
            </a:pPr>
            <a:r>
              <a:t>• Measurement: Subjective stock counts without perpetual ledger balance.</a:t>
            </a:r>
          </a:p>
          <a:p>
            <a:pPr>
              <a:spcAft>
                <a:spcPts val="250"/>
              </a:spcAft>
              <a:defRPr sz="950">
                <a:solidFill>
                  <a:srgbClr val="1E293B"/>
                </a:solidFill>
              </a:defRPr>
            </a:pPr>
            <a:r>
              <a:t>• Milieu (Environment): Busy dispensary rush hours, temperature excursions.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TQM CONTINUOUS IMPROVEMENT ARCHITECTURE</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Deming PDCA Cycle: Operationalizing Continuous Quality Improvement</a:t>
            </a:r>
          </a:p>
        </p:txBody>
      </p:sp>
      <p:sp>
        <p:nvSpPr>
          <p:cNvPr id="5" name="Rounded Rectangle 4"/>
          <p:cNvSpPr/>
          <p:nvPr/>
        </p:nvSpPr>
        <p:spPr>
          <a:xfrm>
            <a:off x="731520" y="1600200"/>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1092708"/>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1001268"/>
          </a:xfrm>
          <a:prstGeom prst="rect">
            <a:avLst/>
          </a:prstGeom>
          <a:noFill/>
        </p:spPr>
        <p:txBody>
          <a:bodyPr wrap="square">
            <a:spAutoFit/>
          </a:bodyPr>
          <a:lstStyle/>
          <a:p>
            <a:pPr>
              <a:spcAft>
                <a:spcPts val="200"/>
              </a:spcAft>
              <a:defRPr sz="1150" b="1">
                <a:solidFill>
                  <a:srgbClr val="0A2540"/>
                </a:solidFill>
              </a:defRPr>
            </a:pPr>
            <a:r>
              <a:t>Plan: Quality Target Formulation &amp; Process Design</a:t>
            </a:r>
          </a:p>
          <a:p>
            <a:pPr>
              <a:spcAft>
                <a:spcPts val="100"/>
              </a:spcAft>
              <a:defRPr sz="1000">
                <a:solidFill>
                  <a:srgbClr val="1E293B"/>
                </a:solidFill>
              </a:defRPr>
            </a:pPr>
            <a:r>
              <a:t>Define baseline clinical dispensing metrics, establish cold-chain 2.0°C–8.0°C thresholds, design FEFO batch algorithms, and map 17-step workflow with zero-defect quality targets.</a:t>
            </a:r>
          </a:p>
        </p:txBody>
      </p:sp>
      <p:sp>
        <p:nvSpPr>
          <p:cNvPr id="8" name="Rounded Rectangle 7"/>
          <p:cNvSpPr/>
          <p:nvPr/>
        </p:nvSpPr>
        <p:spPr>
          <a:xfrm>
            <a:off x="731520" y="2820924"/>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20924"/>
            <a:ext cx="109728" cy="109270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66644"/>
            <a:ext cx="10287000" cy="1001268"/>
          </a:xfrm>
          <a:prstGeom prst="rect">
            <a:avLst/>
          </a:prstGeom>
          <a:noFill/>
        </p:spPr>
        <p:txBody>
          <a:bodyPr wrap="square">
            <a:spAutoFit/>
          </a:bodyPr>
          <a:lstStyle/>
          <a:p>
            <a:pPr>
              <a:spcAft>
                <a:spcPts val="200"/>
              </a:spcAft>
              <a:defRPr sz="1150" b="1">
                <a:solidFill>
                  <a:srgbClr val="0A2540"/>
                </a:solidFill>
              </a:defRPr>
            </a:pPr>
            <a:r>
              <a:t>Do: Standardized Station Execution &amp; Poka-Yoke Controls</a:t>
            </a:r>
          </a:p>
          <a:p>
            <a:pPr>
              <a:spcAft>
                <a:spcPts val="100"/>
              </a:spcAft>
              <a:defRPr sz="1000">
                <a:solidFill>
                  <a:srgbClr val="1E293B"/>
                </a:solidFill>
              </a:defRPr>
            </a:pPr>
            <a:r>
              <a:t>Deploy modular role-based workstations (Clinical, POS, Inventory, Delivery). Enforce CDSS allergy hard-stops, automated FEFO allocation, and SMS OTP delivery handovers in daily operations.</a:t>
            </a:r>
          </a:p>
        </p:txBody>
      </p:sp>
      <p:sp>
        <p:nvSpPr>
          <p:cNvPr id="11" name="Rounded Rectangle 10"/>
          <p:cNvSpPr/>
          <p:nvPr/>
        </p:nvSpPr>
        <p:spPr>
          <a:xfrm>
            <a:off x="731520" y="4041648"/>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41648"/>
            <a:ext cx="109728" cy="10927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87368"/>
            <a:ext cx="10287000" cy="1001268"/>
          </a:xfrm>
          <a:prstGeom prst="rect">
            <a:avLst/>
          </a:prstGeom>
          <a:noFill/>
        </p:spPr>
        <p:txBody>
          <a:bodyPr wrap="square">
            <a:spAutoFit/>
          </a:bodyPr>
          <a:lstStyle/>
          <a:p>
            <a:pPr>
              <a:spcAft>
                <a:spcPts val="200"/>
              </a:spcAft>
              <a:defRPr sz="1150" b="1">
                <a:solidFill>
                  <a:srgbClr val="0A2540"/>
                </a:solidFill>
              </a:defRPr>
            </a:pPr>
            <a:r>
              <a:t>Check: Real-Time Audit Telemetry &amp; Statistical Process Control</a:t>
            </a:r>
          </a:p>
          <a:p>
            <a:pPr>
              <a:spcAft>
                <a:spcPts val="100"/>
              </a:spcAft>
              <a:defRPr sz="1000">
                <a:solidFill>
                  <a:srgbClr val="1E293B"/>
                </a:solidFill>
              </a:defRPr>
            </a:pPr>
            <a:r>
              <a:t>Continuously aggregate transaction audit logs, track temperature excursion events, log rejected CDSS checkout attempts, and balance daily cash drawers via Z-Report reconciliation.</a:t>
            </a:r>
          </a:p>
        </p:txBody>
      </p:sp>
      <p:sp>
        <p:nvSpPr>
          <p:cNvPr id="14" name="Rounded Rectangle 13"/>
          <p:cNvSpPr/>
          <p:nvPr/>
        </p:nvSpPr>
        <p:spPr>
          <a:xfrm>
            <a:off x="731520" y="5262372"/>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262372"/>
            <a:ext cx="109728" cy="10927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308092"/>
            <a:ext cx="10287000" cy="1001268"/>
          </a:xfrm>
          <a:prstGeom prst="rect">
            <a:avLst/>
          </a:prstGeom>
          <a:noFill/>
        </p:spPr>
        <p:txBody>
          <a:bodyPr wrap="square">
            <a:spAutoFit/>
          </a:bodyPr>
          <a:lstStyle/>
          <a:p>
            <a:pPr>
              <a:spcAft>
                <a:spcPts val="200"/>
              </a:spcAft>
              <a:defRPr sz="1150" b="1">
                <a:solidFill>
                  <a:srgbClr val="0A2540"/>
                </a:solidFill>
              </a:defRPr>
            </a:pPr>
            <a:r>
              <a:t>Act: Corrective &amp; Preventive Action (CAPA) Feedback Loop</a:t>
            </a:r>
          </a:p>
          <a:p>
            <a:pPr>
              <a:spcAft>
                <a:spcPts val="100"/>
              </a:spcAft>
              <a:defRPr sz="1000">
                <a:solidFill>
                  <a:srgbClr val="1E293B"/>
                </a:solidFill>
              </a:defRPr>
            </a:pPr>
            <a:r>
              <a:t>Feed audit discrepancies into Pareto charts, adjust ROP safety stock levels for volatile medicines, retrain staff on frequent override attempts, and push automated software patches.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INITIAL UI/WORKFLOW</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User Interface Design: Dual Theming &amp; Multi-Station Workflow</a:t>
            </a:r>
          </a:p>
        </p:txBody>
      </p:sp>
      <p:sp>
        <p:nvSpPr>
          <p:cNvPr id="5" name="Rounded Rectangle 4"/>
          <p:cNvSpPr/>
          <p:nvPr/>
        </p:nvSpPr>
        <p:spPr>
          <a:xfrm>
            <a:off x="731520" y="1600200"/>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1092708"/>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1001268"/>
          </a:xfrm>
          <a:prstGeom prst="rect">
            <a:avLst/>
          </a:prstGeom>
          <a:noFill/>
        </p:spPr>
        <p:txBody>
          <a:bodyPr wrap="square">
            <a:spAutoFit/>
          </a:bodyPr>
          <a:lstStyle/>
          <a:p>
            <a:pPr>
              <a:spcAft>
                <a:spcPts val="200"/>
              </a:spcAft>
              <a:defRPr sz="1150" b="1">
                <a:solidFill>
                  <a:srgbClr val="0A2540"/>
                </a:solidFill>
              </a:defRPr>
            </a:pPr>
            <a:r>
              <a:t>1. Clean Dual Theming (Default: Hospital Light / White Mode)</a:t>
            </a:r>
          </a:p>
          <a:p>
            <a:pPr>
              <a:spcAft>
                <a:spcPts val="100"/>
              </a:spcAft>
              <a:defRPr sz="1000">
                <a:solidFill>
                  <a:srgbClr val="1E293B"/>
                </a:solidFill>
              </a:defRPr>
            </a:pPr>
            <a:r>
              <a:t>Engineered for clinical and dispensary environments: clean medical light theme with high-contrast text, slate borders, and an instant 1-click toggle to Dark Mode.</a:t>
            </a:r>
          </a:p>
        </p:txBody>
      </p:sp>
      <p:sp>
        <p:nvSpPr>
          <p:cNvPr id="8" name="Rounded Rectangle 7"/>
          <p:cNvSpPr/>
          <p:nvPr/>
        </p:nvSpPr>
        <p:spPr>
          <a:xfrm>
            <a:off x="731520" y="2820924"/>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20924"/>
            <a:ext cx="109728" cy="109270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866644"/>
            <a:ext cx="10287000" cy="1001268"/>
          </a:xfrm>
          <a:prstGeom prst="rect">
            <a:avLst/>
          </a:prstGeom>
          <a:noFill/>
        </p:spPr>
        <p:txBody>
          <a:bodyPr wrap="square">
            <a:spAutoFit/>
          </a:bodyPr>
          <a:lstStyle/>
          <a:p>
            <a:pPr>
              <a:spcAft>
                <a:spcPts val="200"/>
              </a:spcAft>
              <a:defRPr sz="1150" b="1">
                <a:solidFill>
                  <a:srgbClr val="0A2540"/>
                </a:solidFill>
              </a:defRPr>
            </a:pPr>
            <a:r>
              <a:t>2. Role-Dedicated Operational Workstations</a:t>
            </a:r>
          </a:p>
          <a:p>
            <a:pPr>
              <a:spcAft>
                <a:spcPts val="100"/>
              </a:spcAft>
              <a:defRPr sz="1000">
                <a:solidFill>
                  <a:srgbClr val="1E293B"/>
                </a:solidFill>
              </a:defRPr>
            </a:pPr>
            <a:r>
              <a:t>Specialized interfaces tailored to each professional persona: Clinical Pharmacist Rx review gate, Cashier POS express terminal, Inventory Manager batch ledger, and Delivery Agent dispatch queue.</a:t>
            </a:r>
          </a:p>
        </p:txBody>
      </p:sp>
      <p:sp>
        <p:nvSpPr>
          <p:cNvPr id="11" name="Rounded Rectangle 10"/>
          <p:cNvSpPr/>
          <p:nvPr/>
        </p:nvSpPr>
        <p:spPr>
          <a:xfrm>
            <a:off x="731520" y="4041648"/>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41648"/>
            <a:ext cx="109728" cy="10927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87368"/>
            <a:ext cx="10287000" cy="1001268"/>
          </a:xfrm>
          <a:prstGeom prst="rect">
            <a:avLst/>
          </a:prstGeom>
          <a:noFill/>
        </p:spPr>
        <p:txBody>
          <a:bodyPr wrap="square">
            <a:spAutoFit/>
          </a:bodyPr>
          <a:lstStyle/>
          <a:p>
            <a:pPr>
              <a:spcAft>
                <a:spcPts val="200"/>
              </a:spcAft>
              <a:defRPr sz="1150" b="1">
                <a:solidFill>
                  <a:srgbClr val="0A2540"/>
                </a:solidFill>
              </a:defRPr>
            </a:pPr>
            <a:r>
              <a:t>3. Ergonomic Touch &amp; Keyboard Accessibility</a:t>
            </a:r>
          </a:p>
          <a:p>
            <a:pPr>
              <a:spcAft>
                <a:spcPts val="100"/>
              </a:spcAft>
              <a:defRPr sz="1000">
                <a:solidFill>
                  <a:srgbClr val="1E293B"/>
                </a:solidFill>
              </a:defRPr>
            </a:pPr>
            <a:r>
              <a:t>High-velocity POS billing optimized for physical barcode scanners, function key shortcuts (F1-F12), quantity stepper buttons, and instant search filter pills.</a:t>
            </a:r>
          </a:p>
        </p:txBody>
      </p:sp>
      <p:sp>
        <p:nvSpPr>
          <p:cNvPr id="14" name="Rounded Rectangle 13"/>
          <p:cNvSpPr/>
          <p:nvPr/>
        </p:nvSpPr>
        <p:spPr>
          <a:xfrm>
            <a:off x="731520" y="5262372"/>
            <a:ext cx="10728655" cy="10927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5262372"/>
            <a:ext cx="109728" cy="109270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308092"/>
            <a:ext cx="10287000" cy="1001268"/>
          </a:xfrm>
          <a:prstGeom prst="rect">
            <a:avLst/>
          </a:prstGeom>
          <a:noFill/>
        </p:spPr>
        <p:txBody>
          <a:bodyPr wrap="square">
            <a:spAutoFit/>
          </a:bodyPr>
          <a:lstStyle/>
          <a:p>
            <a:pPr>
              <a:spcAft>
                <a:spcPts val="200"/>
              </a:spcAft>
              <a:defRPr sz="1150" b="1">
                <a:solidFill>
                  <a:srgbClr val="0A2540"/>
                </a:solidFill>
              </a:defRPr>
            </a:pPr>
            <a:r>
              <a:t>4. Supervisor Inspection &amp; Live Audit Banner</a:t>
            </a:r>
          </a:p>
          <a:p>
            <a:pPr>
              <a:spcAft>
                <a:spcPts val="100"/>
              </a:spcAft>
              <a:defRPr sz="1000">
                <a:solidFill>
                  <a:srgbClr val="1E293B"/>
                </a:solidFill>
              </a:defRPr>
            </a:pPr>
            <a:r>
              <a:t>Store Admin HQ allows supervisor inspection of any operational workstation under strict audit mode, complete with an amber oversight banner and activity logging.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ACADEMIC EVALUATION PHASING</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Evaluation Phasing: Review 1 Completed Scope vs Review 2 Demonstration</a:t>
            </a:r>
          </a:p>
        </p:txBody>
      </p:sp>
      <p:sp>
        <p:nvSpPr>
          <p:cNvPr id="5" name="Rounded Rectangle 4"/>
          <p:cNvSpPr/>
          <p:nvPr/>
        </p:nvSpPr>
        <p:spPr>
          <a:xfrm>
            <a:off x="731520"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230368" cy="45720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0784"/>
            <a:ext cx="5230368" cy="365760"/>
          </a:xfrm>
          <a:prstGeom prst="rect">
            <a:avLst/>
          </a:prstGeom>
          <a:noFill/>
        </p:spPr>
        <p:txBody>
          <a:bodyPr wrap="none">
            <a:spAutoFit/>
          </a:bodyPr>
          <a:lstStyle/>
          <a:p>
            <a:pPr algn="ctr">
              <a:defRPr sz="1100" b="1">
                <a:solidFill>
                  <a:srgbClr val="FFFFFF"/>
                </a:solidFill>
              </a:defRPr>
            </a:pPr>
            <a:r>
              <a:t>Review 1 Deliverables (Foundations &amp; Architecture)</a:t>
            </a:r>
          </a:p>
        </p:txBody>
      </p:sp>
      <p:sp>
        <p:nvSpPr>
          <p:cNvPr id="8" name="TextBox 7"/>
          <p:cNvSpPr txBox="1"/>
          <p:nvPr/>
        </p:nvSpPr>
        <p:spPr>
          <a:xfrm>
            <a:off x="868680" y="2240280"/>
            <a:ext cx="4956048" cy="3931920"/>
          </a:xfrm>
          <a:prstGeom prst="rect">
            <a:avLst/>
          </a:prstGeom>
          <a:noFill/>
        </p:spPr>
        <p:txBody>
          <a:bodyPr wrap="square">
            <a:spAutoFit/>
          </a:bodyPr>
          <a:lstStyle/>
          <a:p>
            <a:pPr>
              <a:spcAft>
                <a:spcPts val="250"/>
              </a:spcAft>
              <a:defRPr sz="950">
                <a:solidFill>
                  <a:srgbClr val="1E293B"/>
                </a:solidFill>
              </a:defRPr>
            </a:pPr>
            <a:r>
              <a:t>100% Completed &amp; Verified in Current Review:</a:t>
            </a:r>
          </a:p>
          <a:p>
            <a:pPr>
              <a:spcAft>
                <a:spcPts val="250"/>
              </a:spcAft>
              <a:defRPr sz="950">
                <a:solidFill>
                  <a:srgbClr val="1E293B"/>
                </a:solidFill>
              </a:defRPr>
            </a:pPr>
          </a:p>
          <a:p>
            <a:pPr>
              <a:spcAft>
                <a:spcPts val="250"/>
              </a:spcAft>
              <a:defRPr sz="950">
                <a:solidFill>
                  <a:srgbClr val="1E293B"/>
                </a:solidFill>
              </a:defRPr>
            </a:pPr>
            <a:r>
              <a:t>• Complete 17-Step Pharmacy Workflow Mapping (Supplier to Audit).</a:t>
            </a:r>
          </a:p>
          <a:p>
            <a:pPr>
              <a:spcAft>
                <a:spcPts val="250"/>
              </a:spcAft>
              <a:defRPr sz="950">
                <a:solidFill>
                  <a:srgbClr val="1E293B"/>
                </a:solidFill>
              </a:defRPr>
            </a:pPr>
            <a:r>
              <a:t>• Stakeholder Identification &amp; Layman-to-SRS Mapping Table.</a:t>
            </a:r>
          </a:p>
          <a:p>
            <a:pPr>
              <a:spcAft>
                <a:spcPts val="250"/>
              </a:spcAft>
              <a:defRPr sz="950">
                <a:solidFill>
                  <a:srgbClr val="1E293B"/>
                </a:solidFill>
              </a:defRPr>
            </a:pPr>
            <a:r>
              <a:t>• Prioritization of the 6 Core Operational Modules.</a:t>
            </a:r>
          </a:p>
          <a:p>
            <a:pPr>
              <a:spcAft>
                <a:spcPts val="250"/>
              </a:spcAft>
              <a:defRPr sz="950">
                <a:solidFill>
                  <a:srgbClr val="1E293B"/>
                </a:solidFill>
              </a:defRPr>
            </a:pPr>
            <a:r>
              <a:t>• Role-Based Access Control &amp; 5 Role Process Flows.</a:t>
            </a:r>
          </a:p>
          <a:p>
            <a:pPr>
              <a:spcAft>
                <a:spcPts val="250"/>
              </a:spcAft>
              <a:defRPr sz="950">
                <a:solidFill>
                  <a:srgbClr val="1E293B"/>
                </a:solidFill>
              </a:defRPr>
            </a:pPr>
            <a:r>
              <a:t>• Software Requirements Specification (IEEE 830 Standard).</a:t>
            </a:r>
          </a:p>
          <a:p>
            <a:pPr>
              <a:spcAft>
                <a:spcPts val="250"/>
              </a:spcAft>
              <a:defRPr sz="950">
                <a:solidFill>
                  <a:srgbClr val="1E293B"/>
                </a:solidFill>
              </a:defRPr>
            </a:pPr>
            <a:r>
              <a:t>• Relational 14-Table Database Design with ACID Transactions.</a:t>
            </a:r>
          </a:p>
          <a:p>
            <a:pPr>
              <a:spcAft>
                <a:spcPts val="250"/>
              </a:spcAft>
              <a:defRPr sz="950">
                <a:solidFill>
                  <a:srgbClr val="1E293B"/>
                </a:solidFill>
              </a:defRPr>
            </a:pPr>
            <a:r>
              <a:t>• Comprehensive 8-Stage Process FMEA Risk Matrix.</a:t>
            </a:r>
          </a:p>
          <a:p>
            <a:pPr>
              <a:spcAft>
                <a:spcPts val="250"/>
              </a:spcAft>
              <a:defRPr sz="950">
                <a:solidFill>
                  <a:srgbClr val="1E293B"/>
                </a:solidFill>
              </a:defRPr>
            </a:pPr>
            <a:r>
              <a:t>• Working Dual Desktop (Tkinter) &amp; Web (FastAPI) GUI.</a:t>
            </a:r>
          </a:p>
          <a:p>
            <a:pPr>
              <a:spcAft>
                <a:spcPts val="250"/>
              </a:spcAft>
              <a:defRPr sz="950">
                <a:solidFill>
                  <a:srgbClr val="1E293B"/>
                </a:solidFill>
              </a:defRPr>
            </a:pPr>
            <a:r>
              <a:t>• 25 Automated Test Suites Passed (100% Reliability).</a:t>
            </a:r>
          </a:p>
        </p:txBody>
      </p:sp>
      <p:sp>
        <p:nvSpPr>
          <p:cNvPr id="9" name="Rounded Rectangle 8"/>
          <p:cNvSpPr/>
          <p:nvPr/>
        </p:nvSpPr>
        <p:spPr>
          <a:xfrm>
            <a:off x="6229807"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9807" y="1645920"/>
            <a:ext cx="5230368"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9807" y="1700784"/>
            <a:ext cx="5230368" cy="365760"/>
          </a:xfrm>
          <a:prstGeom prst="rect">
            <a:avLst/>
          </a:prstGeom>
          <a:noFill/>
        </p:spPr>
        <p:txBody>
          <a:bodyPr wrap="none">
            <a:spAutoFit/>
          </a:bodyPr>
          <a:lstStyle/>
          <a:p>
            <a:pPr algn="ctr">
              <a:defRPr sz="1100" b="1">
                <a:solidFill>
                  <a:srgbClr val="FFFFFF"/>
                </a:solidFill>
              </a:defRPr>
            </a:pPr>
            <a:r>
              <a:t>Review 2 Horizon (The Working Chain Demonstration)</a:t>
            </a:r>
          </a:p>
        </p:txBody>
      </p:sp>
      <p:sp>
        <p:nvSpPr>
          <p:cNvPr id="12" name="TextBox 11"/>
          <p:cNvSpPr txBox="1"/>
          <p:nvPr/>
        </p:nvSpPr>
        <p:spPr>
          <a:xfrm>
            <a:off x="6366967" y="2240280"/>
            <a:ext cx="4956048" cy="3931920"/>
          </a:xfrm>
          <a:prstGeom prst="rect">
            <a:avLst/>
          </a:prstGeom>
          <a:noFill/>
        </p:spPr>
        <p:txBody>
          <a:bodyPr wrap="square">
            <a:spAutoFit/>
          </a:bodyPr>
          <a:lstStyle/>
          <a:p>
            <a:pPr>
              <a:spcAft>
                <a:spcPts val="250"/>
              </a:spcAft>
              <a:defRPr sz="950">
                <a:solidFill>
                  <a:srgbClr val="1E293B"/>
                </a:solidFill>
              </a:defRPr>
            </a:pPr>
            <a:r>
              <a:t>To Be Demonstrated Live in Review 2:</a:t>
            </a:r>
          </a:p>
          <a:p>
            <a:pPr>
              <a:spcAft>
                <a:spcPts val="250"/>
              </a:spcAft>
              <a:defRPr sz="950">
                <a:solidFill>
                  <a:srgbClr val="1E293B"/>
                </a:solidFill>
              </a:defRPr>
            </a:pPr>
          </a:p>
          <a:p>
            <a:pPr>
              <a:spcAft>
                <a:spcPts val="250"/>
              </a:spcAft>
              <a:defRPr sz="950">
                <a:solidFill>
                  <a:srgbClr val="1E293B"/>
                </a:solidFill>
              </a:defRPr>
            </a:pPr>
            <a:r>
              <a:t>• End-to-End Traceable Working Chain Walkthrough:</a:t>
            </a:r>
          </a:p>
          <a:p>
            <a:pPr>
              <a:spcAft>
                <a:spcPts val="250"/>
              </a:spcAft>
              <a:defRPr sz="950">
                <a:solidFill>
                  <a:srgbClr val="1E293B"/>
                </a:solidFill>
              </a:defRPr>
            </a:pPr>
            <a:r>
              <a:t>  1. Inward GRN from Wholesaler into Pay-on-Sale Consignment.</a:t>
            </a:r>
          </a:p>
          <a:p>
            <a:pPr>
              <a:spcAft>
                <a:spcPts val="250"/>
              </a:spcAft>
              <a:defRPr sz="950">
                <a:solidFill>
                  <a:srgbClr val="1E293B"/>
                </a:solidFill>
              </a:defRPr>
            </a:pPr>
            <a:r>
              <a:t>  2. Real-Time Balance Verification in Perpetual Inventory Ledger.</a:t>
            </a:r>
          </a:p>
          <a:p>
            <a:pPr>
              <a:spcAft>
                <a:spcPts val="250"/>
              </a:spcAft>
              <a:defRPr sz="950">
                <a:solidFill>
                  <a:srgbClr val="1E293B"/>
                </a:solidFill>
              </a:defRPr>
            </a:pPr>
            <a:r>
              <a:t>  3. Automated ROP Calculation &amp; Draft PO Generation.</a:t>
            </a:r>
          </a:p>
          <a:p>
            <a:pPr>
              <a:spcAft>
                <a:spcPts val="250"/>
              </a:spcAft>
              <a:defRPr sz="950">
                <a:solidFill>
                  <a:srgbClr val="1E293B"/>
                </a:solidFill>
              </a:defRPr>
            </a:pPr>
            <a:r>
              <a:t>  4. Ingest eRx &amp; Trigger CDSS Penicillin Allergy Poka-Yoke Interception.</a:t>
            </a:r>
          </a:p>
          <a:p>
            <a:pPr>
              <a:spcAft>
                <a:spcPts val="250"/>
              </a:spcAft>
              <a:defRPr sz="950">
                <a:solidFill>
                  <a:srgbClr val="1E293B"/>
                </a:solidFill>
              </a:defRPr>
            </a:pPr>
            <a:r>
              <a:t>  5. Cashier 1-Click Rx Import &amp; FEFO Auto-Batch Selection.</a:t>
            </a:r>
          </a:p>
          <a:p>
            <a:pPr>
              <a:spcAft>
                <a:spcPts val="250"/>
              </a:spcAft>
              <a:defRPr sz="950">
                <a:solidFill>
                  <a:srgbClr val="1E293B"/>
                </a:solidFill>
              </a:defRPr>
            </a:pPr>
            <a:r>
              <a:t>  6. POS Split Tender Checkout (Cash change + Dynamic UPI QR).</a:t>
            </a:r>
          </a:p>
          <a:p>
            <a:pPr>
              <a:spcAft>
                <a:spcPts val="250"/>
              </a:spcAft>
              <a:defRPr sz="950">
                <a:solidFill>
                  <a:srgbClr val="1E293B"/>
                </a:solidFill>
              </a:defRPr>
            </a:pPr>
            <a:r>
              <a:t>  7. Dispatch Order to Delivery Fleet with 4-Digit SMS OTP Handover.</a:t>
            </a:r>
          </a:p>
          <a:p>
            <a:pPr>
              <a:spcAft>
                <a:spcPts val="250"/>
              </a:spcAft>
              <a:defRPr sz="950">
                <a:solidFill>
                  <a:srgbClr val="1E293B"/>
                </a:solidFill>
              </a:defRPr>
            </a:pPr>
            <a:r>
              <a:t>  8. Pay-on-Sale Supplier Settlement Voucher &amp; Zero-Variance Z-Report.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DEMONSTRATION OF IMPLEMENTED FUNCTIONALITY</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Review 2 Demonstration Script: 10-Step Traceable Working Chain</a:t>
            </a:r>
          </a:p>
        </p:txBody>
      </p:sp>
      <p:sp>
        <p:nvSpPr>
          <p:cNvPr id="5" name="Rounded Rectangle 4"/>
          <p:cNvSpPr/>
          <p:nvPr/>
        </p:nvSpPr>
        <p:spPr>
          <a:xfrm>
            <a:off x="731520" y="1600200"/>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00200"/>
            <a:ext cx="109728" cy="848563"/>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10287000" cy="757123"/>
          </a:xfrm>
          <a:prstGeom prst="rect">
            <a:avLst/>
          </a:prstGeom>
          <a:noFill/>
        </p:spPr>
        <p:txBody>
          <a:bodyPr wrap="square">
            <a:spAutoFit/>
          </a:bodyPr>
          <a:lstStyle/>
          <a:p>
            <a:pPr>
              <a:spcAft>
                <a:spcPts val="200"/>
              </a:spcAft>
              <a:defRPr sz="1050" b="1">
                <a:solidFill>
                  <a:srgbClr val="0A2540"/>
                </a:solidFill>
              </a:defRPr>
            </a:pPr>
            <a:r>
              <a:t>Step 1 &amp; 2: Supplier Inwarding &amp; Pay-on-Sale GRN</a:t>
            </a:r>
          </a:p>
          <a:p>
            <a:pPr>
              <a:spcAft>
                <a:spcPts val="100"/>
              </a:spcAft>
              <a:defRPr sz="900">
                <a:solidFill>
                  <a:srgbClr val="1E293B"/>
                </a:solidFill>
              </a:defRPr>
            </a:pPr>
            <a:r>
              <a:t>Open Inventory Station -&gt; Click '+ Inward GRN' -&gt; Inward 50 units of Paracetamol (PO-2026-01) from Sun Pharma @ ₹10 dealer cost. Stock enters inventory immediately at ₹0 upfront payment. Verified in Pay-on-Sale Consignment Ledger.</a:t>
            </a:r>
          </a:p>
        </p:txBody>
      </p:sp>
      <p:sp>
        <p:nvSpPr>
          <p:cNvPr id="8" name="Rounded Rectangle 7"/>
          <p:cNvSpPr/>
          <p:nvPr/>
        </p:nvSpPr>
        <p:spPr>
          <a:xfrm>
            <a:off x="731520" y="2576779"/>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576779"/>
            <a:ext cx="109728" cy="848563"/>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622499"/>
            <a:ext cx="10287000" cy="757123"/>
          </a:xfrm>
          <a:prstGeom prst="rect">
            <a:avLst/>
          </a:prstGeom>
          <a:noFill/>
        </p:spPr>
        <p:txBody>
          <a:bodyPr wrap="square">
            <a:spAutoFit/>
          </a:bodyPr>
          <a:lstStyle/>
          <a:p>
            <a:pPr>
              <a:spcAft>
                <a:spcPts val="200"/>
              </a:spcAft>
              <a:defRPr sz="1050" b="1">
                <a:solidFill>
                  <a:srgbClr val="0A2540"/>
                </a:solidFill>
              </a:defRPr>
            </a:pPr>
            <a:r>
              <a:t>Step 3 &amp; 4: Inventory Ledger &amp; Replenishment (ROP)</a:t>
            </a:r>
          </a:p>
          <a:p>
            <a:pPr>
              <a:spcAft>
                <a:spcPts val="100"/>
              </a:spcAft>
              <a:defRPr sz="900">
                <a:solidFill>
                  <a:srgbClr val="1E293B"/>
                </a:solidFill>
              </a:defRPr>
            </a:pPr>
            <a:r>
              <a:t>Inspect Perpetual Inventory Ledger: Verify Opening + Receipts (50) = 50 Closing Stock. Inspect ROP widget: observe automated reorder point calculation based on demand velocity and lead time.</a:t>
            </a:r>
          </a:p>
        </p:txBody>
      </p:sp>
      <p:sp>
        <p:nvSpPr>
          <p:cNvPr id="11" name="Rounded Rectangle 10"/>
          <p:cNvSpPr/>
          <p:nvPr/>
        </p:nvSpPr>
        <p:spPr>
          <a:xfrm>
            <a:off x="731520" y="3553358"/>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553358"/>
            <a:ext cx="109728" cy="848563"/>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3599078"/>
            <a:ext cx="10287000" cy="757123"/>
          </a:xfrm>
          <a:prstGeom prst="rect">
            <a:avLst/>
          </a:prstGeom>
          <a:noFill/>
        </p:spPr>
        <p:txBody>
          <a:bodyPr wrap="square">
            <a:spAutoFit/>
          </a:bodyPr>
          <a:lstStyle/>
          <a:p>
            <a:pPr>
              <a:spcAft>
                <a:spcPts val="200"/>
              </a:spcAft>
              <a:defRPr sz="1050" b="1">
                <a:solidFill>
                  <a:srgbClr val="0A2540"/>
                </a:solidFill>
              </a:defRPr>
            </a:pPr>
            <a:r>
              <a:t>Step 5 &amp; 6: Prescription Intake &amp; CDSS Allergy Shield</a:t>
            </a:r>
          </a:p>
          <a:p>
            <a:pPr>
              <a:spcAft>
                <a:spcPts val="100"/>
              </a:spcAft>
              <a:defRPr sz="900">
                <a:solidFill>
                  <a:srgbClr val="1E293B"/>
                </a:solidFill>
              </a:defRPr>
            </a:pPr>
            <a:r>
              <a:t>Open Clinical Station -&gt; Ingest eRx for patient with recorded Penicillin allergy -&gt; Attempt to prescribe Amoxicillin -&gt; CDSS Poka-Yoke hard-stop flashes red warning, blocking approval until drug is corrected.</a:t>
            </a:r>
          </a:p>
        </p:txBody>
      </p:sp>
      <p:sp>
        <p:nvSpPr>
          <p:cNvPr id="14" name="Rounded Rectangle 13"/>
          <p:cNvSpPr/>
          <p:nvPr/>
        </p:nvSpPr>
        <p:spPr>
          <a:xfrm>
            <a:off x="731520" y="4529937"/>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4529937"/>
            <a:ext cx="109728" cy="848563"/>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575657"/>
            <a:ext cx="10287000" cy="757123"/>
          </a:xfrm>
          <a:prstGeom prst="rect">
            <a:avLst/>
          </a:prstGeom>
          <a:noFill/>
        </p:spPr>
        <p:txBody>
          <a:bodyPr wrap="square">
            <a:spAutoFit/>
          </a:bodyPr>
          <a:lstStyle/>
          <a:p>
            <a:pPr>
              <a:spcAft>
                <a:spcPts val="200"/>
              </a:spcAft>
              <a:defRPr sz="1050" b="1">
                <a:solidFill>
                  <a:srgbClr val="0A2540"/>
                </a:solidFill>
              </a:defRPr>
            </a:pPr>
            <a:r>
              <a:t>Step 7 &amp; 8: POS Express Billing &amp; Multi-Tender Checkout</a:t>
            </a:r>
          </a:p>
          <a:p>
            <a:pPr>
              <a:spcAft>
                <a:spcPts val="100"/>
              </a:spcAft>
              <a:defRPr sz="900">
                <a:solidFill>
                  <a:srgbClr val="1E293B"/>
                </a:solidFill>
              </a:defRPr>
            </a:pPr>
            <a:r>
              <a:t>Open Cashier Station -&gt; 1-Click Import approved eRx -&gt; System auto-selects closest expiry batch under FEFO -&gt; Tender checkout via Cash (auto change calculator) or Dynamic UPI QR -&gt; Print 80mm GST receipt.</a:t>
            </a:r>
          </a:p>
        </p:txBody>
      </p:sp>
      <p:sp>
        <p:nvSpPr>
          <p:cNvPr id="17" name="Rounded Rectangle 16"/>
          <p:cNvSpPr/>
          <p:nvPr/>
        </p:nvSpPr>
        <p:spPr>
          <a:xfrm>
            <a:off x="731520" y="5506516"/>
            <a:ext cx="10728655" cy="848563"/>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506516"/>
            <a:ext cx="109728" cy="848563"/>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5552236"/>
            <a:ext cx="10287000" cy="757123"/>
          </a:xfrm>
          <a:prstGeom prst="rect">
            <a:avLst/>
          </a:prstGeom>
          <a:noFill/>
        </p:spPr>
        <p:txBody>
          <a:bodyPr wrap="square">
            <a:spAutoFit/>
          </a:bodyPr>
          <a:lstStyle/>
          <a:p>
            <a:pPr>
              <a:spcAft>
                <a:spcPts val="200"/>
              </a:spcAft>
              <a:defRPr sz="1050" b="1">
                <a:solidFill>
                  <a:srgbClr val="0A2540"/>
                </a:solidFill>
              </a:defRPr>
            </a:pPr>
            <a:r>
              <a:t>Step 9 &amp; 10: Home Delivery OTP &amp; Pay-on-Sale Settlement</a:t>
            </a:r>
          </a:p>
          <a:p>
            <a:pPr>
              <a:spcAft>
                <a:spcPts val="100"/>
              </a:spcAft>
              <a:defRPr sz="900">
                <a:solidFill>
                  <a:srgbClr val="1E293B"/>
                </a:solidFill>
              </a:defRPr>
            </a:pPr>
            <a:r>
              <a:t>Open Delivery Station -&gt; Claim order -&gt; Input customer 4-digit SMS OTP (1234) for e-POD -&gt; Back in Inventory, Pay-on-Sale automatically credits supplier ₹500 for 50 sold units. Admin locks daily Z-report with ₹0 variance.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50" b="1">
                <a:solidFill>
                  <a:srgbClr val="00A389"/>
                </a:solidFill>
                <a:latin typeface="Segoe UI"/>
              </a:defRPr>
            </a:pPr>
            <a:r>
              <a:t>RUBRIC: WORKING APPLICATION &amp; QUALITY VERIFICATION</a:t>
            </a:r>
          </a:p>
        </p:txBody>
      </p:sp>
      <p:sp>
        <p:nvSpPr>
          <p:cNvPr id="4" name="TextBox 3"/>
          <p:cNvSpPr txBox="1"/>
          <p:nvPr/>
        </p:nvSpPr>
        <p:spPr>
          <a:xfrm>
            <a:off x="731520" y="685800"/>
            <a:ext cx="10728655" cy="731520"/>
          </a:xfrm>
          <a:prstGeom prst="rect">
            <a:avLst/>
          </a:prstGeom>
          <a:noFill/>
        </p:spPr>
        <p:txBody>
          <a:bodyPr wrap="square">
            <a:spAutoFit/>
          </a:bodyPr>
          <a:lstStyle/>
          <a:p>
            <a:pPr>
              <a:defRPr sz="2100" b="1">
                <a:solidFill>
                  <a:srgbClr val="0A2540"/>
                </a:solidFill>
                <a:latin typeface="Segoe UI"/>
              </a:defRPr>
            </a:pPr>
            <a:r>
              <a:t>Empirical System Verification: 25 Automated PyTest Suites Passed</a:t>
            </a:r>
          </a:p>
        </p:txBody>
      </p:sp>
      <p:sp>
        <p:nvSpPr>
          <p:cNvPr id="5" name="Rounded Rectangle 4"/>
          <p:cNvSpPr/>
          <p:nvPr/>
        </p:nvSpPr>
        <p:spPr>
          <a:xfrm>
            <a:off x="731520"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45920"/>
            <a:ext cx="5230368" cy="45720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00784"/>
            <a:ext cx="5230368" cy="365760"/>
          </a:xfrm>
          <a:prstGeom prst="rect">
            <a:avLst/>
          </a:prstGeom>
          <a:noFill/>
        </p:spPr>
        <p:txBody>
          <a:bodyPr wrap="none">
            <a:spAutoFit/>
          </a:bodyPr>
          <a:lstStyle/>
          <a:p>
            <a:pPr algn="ctr">
              <a:defRPr sz="1100" b="1">
                <a:solidFill>
                  <a:srgbClr val="FFFFFF"/>
                </a:solidFill>
              </a:defRPr>
            </a:pPr>
            <a:r>
              <a:t>Automated Test Suite Summary (100% Pass Rate)</a:t>
            </a:r>
          </a:p>
        </p:txBody>
      </p:sp>
      <p:sp>
        <p:nvSpPr>
          <p:cNvPr id="8" name="TextBox 7"/>
          <p:cNvSpPr txBox="1"/>
          <p:nvPr/>
        </p:nvSpPr>
        <p:spPr>
          <a:xfrm>
            <a:off x="868680" y="2240280"/>
            <a:ext cx="4956048" cy="3931920"/>
          </a:xfrm>
          <a:prstGeom prst="rect">
            <a:avLst/>
          </a:prstGeom>
          <a:noFill/>
        </p:spPr>
        <p:txBody>
          <a:bodyPr wrap="square">
            <a:spAutoFit/>
          </a:bodyPr>
          <a:lstStyle/>
          <a:p>
            <a:pPr>
              <a:spcAft>
                <a:spcPts val="150"/>
              </a:spcAft>
              <a:defRPr sz="850">
                <a:solidFill>
                  <a:srgbClr val="1E293B"/>
                </a:solidFill>
              </a:defRPr>
            </a:pPr>
            <a:r>
              <a:t>Executed via pytest -v in 13.36 seconds:</a:t>
            </a:r>
          </a:p>
          <a:p>
            <a:pPr>
              <a:spcAft>
                <a:spcPts val="150"/>
              </a:spcAft>
              <a:defRPr sz="850">
                <a:solidFill>
                  <a:srgbClr val="1E293B"/>
                </a:solidFill>
              </a:defRPr>
            </a:pPr>
          </a:p>
          <a:p>
            <a:pPr>
              <a:spcAft>
                <a:spcPts val="150"/>
              </a:spcAft>
              <a:defRPr sz="850">
                <a:solidFill>
                  <a:srgbClr val="1E293B"/>
                </a:solidFill>
              </a:defRPr>
            </a:pPr>
            <a:r>
              <a:t>• test_01_authentication_all_roles (PASSED)</a:t>
            </a:r>
          </a:p>
          <a:p>
            <a:pPr>
              <a:spcAft>
                <a:spcPts val="150"/>
              </a:spcAft>
              <a:defRPr sz="850">
                <a:solidFill>
                  <a:srgbClr val="1E293B"/>
                </a:solidFill>
              </a:defRPr>
            </a:pPr>
            <a:r>
              <a:t>• test_02_authentication_invalid (PASSED)</a:t>
            </a:r>
          </a:p>
          <a:p>
            <a:pPr>
              <a:spcAft>
                <a:spcPts val="150"/>
              </a:spcAft>
              <a:defRPr sz="850">
                <a:solidFill>
                  <a:srgbClr val="1E293B"/>
                </a:solidFill>
              </a:defRPr>
            </a:pPr>
            <a:r>
              <a:t>• test_03_staff_crud_lifecycle (PASSED)</a:t>
            </a:r>
          </a:p>
          <a:p>
            <a:pPr>
              <a:spcAft>
                <a:spcPts val="150"/>
              </a:spcAft>
              <a:defRPr sz="850">
                <a:solidFill>
                  <a:srgbClr val="1E293B"/>
                </a:solidFill>
              </a:defRPr>
            </a:pPr>
            <a:r>
              <a:t>• test_04_medicines_catalog_and_stock (PASSED)</a:t>
            </a:r>
          </a:p>
          <a:p>
            <a:pPr>
              <a:spcAft>
                <a:spcPts val="150"/>
              </a:spcAft>
              <a:defRPr sz="850">
                <a:solidFill>
                  <a:srgbClr val="1E293B"/>
                </a:solidFill>
              </a:defRPr>
            </a:pPr>
            <a:r>
              <a:t>• test_05_medicine_crud (PASSED)</a:t>
            </a:r>
          </a:p>
          <a:p>
            <a:pPr>
              <a:spcAft>
                <a:spcPts val="150"/>
              </a:spcAft>
              <a:defRPr sz="850">
                <a:solidFill>
                  <a:srgbClr val="1E293B"/>
                </a:solidFill>
              </a:defRPr>
            </a:pPr>
            <a:r>
              <a:t>• test_06_patient_phone_lookup (PASSED)</a:t>
            </a:r>
          </a:p>
          <a:p>
            <a:pPr>
              <a:spcAft>
                <a:spcPts val="150"/>
              </a:spcAft>
              <a:defRPr sz="850">
                <a:solidFill>
                  <a:srgbClr val="1E293B"/>
                </a:solidFill>
              </a:defRPr>
            </a:pPr>
            <a:r>
              <a:t>• test_07_patient_loyalty_update (PASSED)</a:t>
            </a:r>
          </a:p>
          <a:p>
            <a:pPr>
              <a:spcAft>
                <a:spcPts val="150"/>
              </a:spcAft>
              <a:defRPr sz="850">
                <a:solidFill>
                  <a:srgbClr val="1E293B"/>
                </a:solidFill>
              </a:defRPr>
            </a:pPr>
            <a:r>
              <a:t>• test_08_prescription_lifecycle (PASSED)</a:t>
            </a:r>
          </a:p>
          <a:p>
            <a:pPr>
              <a:spcAft>
                <a:spcPts val="150"/>
              </a:spcAft>
              <a:defRPr sz="850">
                <a:solidFill>
                  <a:srgbClr val="1E293B"/>
                </a:solidFill>
              </a:defRPr>
            </a:pPr>
            <a:r>
              <a:t>• test_09_invoice_creation_and_stock_deduction (PASSED)</a:t>
            </a:r>
          </a:p>
          <a:p>
            <a:pPr>
              <a:spcAft>
                <a:spcPts val="150"/>
              </a:spcAft>
              <a:defRPr sz="850">
                <a:solidFill>
                  <a:srgbClr val="1E293B"/>
                </a:solidFill>
              </a:defRPr>
            </a:pPr>
            <a:r>
              <a:t>• test_10_delivery_dispatch_and_otp (PASSED)</a:t>
            </a:r>
          </a:p>
          <a:p>
            <a:pPr>
              <a:spcAft>
                <a:spcPts val="150"/>
              </a:spcAft>
              <a:defRPr sz="850">
                <a:solidFill>
                  <a:srgbClr val="1E293B"/>
                </a:solidFill>
              </a:defRPr>
            </a:pPr>
            <a:r>
              <a:t>• test_11_narcotic_record (PASSED)</a:t>
            </a:r>
          </a:p>
          <a:p>
            <a:pPr>
              <a:spcAft>
                <a:spcPts val="150"/>
              </a:spcAft>
              <a:defRPr sz="850">
                <a:solidFill>
                  <a:srgbClr val="1E293B"/>
                </a:solidFill>
              </a:defRPr>
            </a:pPr>
            <a:r>
              <a:t>• test_12_cold_chain_telemetry (PASSED)</a:t>
            </a:r>
          </a:p>
          <a:p>
            <a:pPr>
              <a:spcAft>
                <a:spcPts val="150"/>
              </a:spcAft>
              <a:defRPr sz="850">
                <a:solidFill>
                  <a:srgbClr val="1E293B"/>
                </a:solidFill>
              </a:defRPr>
            </a:pPr>
            <a:r>
              <a:t>• test_13_refill_schedule_status (PASSED)</a:t>
            </a:r>
          </a:p>
        </p:txBody>
      </p:sp>
      <p:sp>
        <p:nvSpPr>
          <p:cNvPr id="9" name="Rounded Rectangle 8"/>
          <p:cNvSpPr/>
          <p:nvPr/>
        </p:nvSpPr>
        <p:spPr>
          <a:xfrm>
            <a:off x="6229807" y="1645920"/>
            <a:ext cx="5230368"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9807" y="1645920"/>
            <a:ext cx="5230368"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9807" y="1700784"/>
            <a:ext cx="5230368" cy="365760"/>
          </a:xfrm>
          <a:prstGeom prst="rect">
            <a:avLst/>
          </a:prstGeom>
          <a:noFill/>
        </p:spPr>
        <p:txBody>
          <a:bodyPr wrap="none">
            <a:spAutoFit/>
          </a:bodyPr>
          <a:lstStyle/>
          <a:p>
            <a:pPr algn="ctr">
              <a:defRPr sz="1100" b="1">
                <a:solidFill>
                  <a:srgbClr val="FFFFFF"/>
                </a:solidFill>
              </a:defRPr>
            </a:pPr>
            <a:r>
              <a:t>Continuous Integration &amp; Web RPC Endpoints</a:t>
            </a:r>
          </a:p>
        </p:txBody>
      </p:sp>
      <p:sp>
        <p:nvSpPr>
          <p:cNvPr id="12" name="TextBox 11"/>
          <p:cNvSpPr txBox="1"/>
          <p:nvPr/>
        </p:nvSpPr>
        <p:spPr>
          <a:xfrm>
            <a:off x="6366967" y="2240280"/>
            <a:ext cx="4956048" cy="3931920"/>
          </a:xfrm>
          <a:prstGeom prst="rect">
            <a:avLst/>
          </a:prstGeom>
          <a:noFill/>
        </p:spPr>
        <p:txBody>
          <a:bodyPr wrap="square">
            <a:spAutoFit/>
          </a:bodyPr>
          <a:lstStyle/>
          <a:p>
            <a:pPr>
              <a:spcAft>
                <a:spcPts val="150"/>
              </a:spcAft>
              <a:defRPr sz="850">
                <a:solidFill>
                  <a:srgbClr val="1E293B"/>
                </a:solidFill>
              </a:defRPr>
            </a:pPr>
            <a:r>
              <a:t>Advanced Enterprise Test Suites:</a:t>
            </a:r>
          </a:p>
          <a:p>
            <a:pPr>
              <a:spcAft>
                <a:spcPts val="150"/>
              </a:spcAft>
              <a:defRPr sz="850">
                <a:solidFill>
                  <a:srgbClr val="1E293B"/>
                </a:solidFill>
              </a:defRPr>
            </a:pPr>
          </a:p>
          <a:p>
            <a:pPr>
              <a:spcAft>
                <a:spcPts val="150"/>
              </a:spcAft>
              <a:defRPr sz="850">
                <a:solidFill>
                  <a:srgbClr val="1E293B"/>
                </a:solidFill>
              </a:defRPr>
            </a:pPr>
            <a:r>
              <a:t>• test_14_dashboard_analytics_aggregation (PASSED)</a:t>
            </a:r>
          </a:p>
          <a:p>
            <a:pPr>
              <a:spcAft>
                <a:spcPts val="150"/>
              </a:spcAft>
              <a:defRPr sz="850">
                <a:solidFill>
                  <a:srgbClr val="1E293B"/>
                </a:solidFill>
              </a:defRPr>
            </a:pPr>
            <a:r>
              <a:t>• test_15_config_settings_load_and_save (PASSED)</a:t>
            </a:r>
          </a:p>
          <a:p>
            <a:pPr>
              <a:spcAft>
                <a:spcPts val="150"/>
              </a:spcAft>
              <a:defRPr sz="850">
                <a:solidFill>
                  <a:srgbClr val="1E293B"/>
                </a:solidFill>
              </a:defRPr>
            </a:pPr>
            <a:r>
              <a:t>• test_16_activity_logging_and_backup (PASSED)</a:t>
            </a:r>
          </a:p>
          <a:p>
            <a:pPr>
              <a:spcAft>
                <a:spcPts val="150"/>
              </a:spcAft>
              <a:defRPr sz="850">
                <a:solidFill>
                  <a:srgbClr val="1E293B"/>
                </a:solidFill>
              </a:defRPr>
            </a:pPr>
            <a:r>
              <a:t>• test_17_daily_z_report_and_cash_reconciliation (PASSED)</a:t>
            </a:r>
          </a:p>
          <a:p>
            <a:pPr>
              <a:spcAft>
                <a:spcPts val="150"/>
              </a:spcAft>
              <a:defRPr sz="850">
                <a:solidFill>
                  <a:srgbClr val="1E293B"/>
                </a:solidFill>
              </a:defRPr>
            </a:pPr>
            <a:r>
              <a:t>• test_17_dashboard_views_instantiation_and_rendering (PASSED)</a:t>
            </a:r>
          </a:p>
          <a:p>
            <a:pPr>
              <a:spcAft>
                <a:spcPts val="150"/>
              </a:spcAft>
              <a:defRPr sz="850">
                <a:solidFill>
                  <a:srgbClr val="1E293B"/>
                </a:solidFill>
              </a:defRPr>
            </a:pPr>
            <a:r>
              <a:t>• test_18_desktop_bridge_api_operations (PASSED)</a:t>
            </a:r>
          </a:p>
          <a:p>
            <a:pPr>
              <a:spcAft>
                <a:spcPts val="150"/>
              </a:spcAft>
              <a:defRPr sz="850">
                <a:solidFill>
                  <a:srgbClr val="1E293B"/>
                </a:solidFill>
              </a:defRPr>
            </a:pPr>
            <a:r>
              <a:t>• test_19_consignment_pay_on_sale_and_supplier_settlement (PASSED)</a:t>
            </a:r>
          </a:p>
          <a:p>
            <a:pPr>
              <a:spcAft>
                <a:spcPts val="150"/>
              </a:spcAft>
              <a:defRPr sz="850">
                <a:solidFill>
                  <a:srgbClr val="1E293B"/>
                </a:solidFill>
              </a:defRPr>
            </a:pPr>
            <a:r>
              <a:t>• test_web_01_health_and_system_info (PASSED)</a:t>
            </a:r>
          </a:p>
          <a:p>
            <a:pPr>
              <a:spcAft>
                <a:spcPts val="150"/>
              </a:spcAft>
              <a:defRPr sz="850">
                <a:solidFill>
                  <a:srgbClr val="1E293B"/>
                </a:solidFill>
              </a:defRPr>
            </a:pPr>
            <a:r>
              <a:t>• test_web_02_web_frontend_served (PASSED)</a:t>
            </a:r>
          </a:p>
          <a:p>
            <a:pPr>
              <a:spcAft>
                <a:spcPts val="150"/>
              </a:spcAft>
              <a:defRPr sz="850">
                <a:solidFill>
                  <a:srgbClr val="1E293B"/>
                </a:solidFill>
              </a:defRPr>
            </a:pPr>
            <a:r>
              <a:t>• test_web_03_web_authentication_lifecycle (PASSED)</a:t>
            </a:r>
          </a:p>
          <a:p>
            <a:pPr>
              <a:spcAft>
                <a:spcPts val="150"/>
              </a:spcAft>
              <a:defRPr sz="850">
                <a:solidFill>
                  <a:srgbClr val="1E293B"/>
                </a:solidFill>
              </a:defRPr>
            </a:pPr>
            <a:r>
              <a:t>• test_web_04_universal_rpc_endpoints (PASSED)</a:t>
            </a:r>
          </a:p>
          <a:p>
            <a:pPr>
              <a:spcAft>
                <a:spcPts val="150"/>
              </a:spcAft>
              <a:defRPr sz="850">
                <a:solidFill>
                  <a:srgbClr val="1E293B"/>
                </a:solidFill>
              </a:defRPr>
            </a:pPr>
            <a:r>
              <a:t>• test_web_05_direct_rest_endpoints (PASSED)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0A3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31520"/>
            <a:ext cx="10362895" cy="3474720"/>
          </a:xfrm>
          <a:prstGeom prst="rect">
            <a:avLst/>
          </a:prstGeom>
          <a:noFill/>
        </p:spPr>
        <p:txBody>
          <a:bodyPr wrap="square">
            <a:spAutoFit/>
          </a:bodyPr>
          <a:lstStyle/>
          <a:p>
            <a:pPr>
              <a:spcAft>
                <a:spcPts val="600"/>
              </a:spcAft>
              <a:defRPr sz="1200" b="1">
                <a:solidFill>
                  <a:srgbClr val="00A389"/>
                </a:solidFill>
              </a:defRPr>
            </a:pPr>
            <a:r>
              <a:t>TQM PHARM ENTERPRISE • FACULTY VIVA DEFENSE CLOSING</a:t>
            </a:r>
          </a:p>
          <a:p>
            <a:pPr>
              <a:spcAft>
                <a:spcPts val="800"/>
              </a:spcAft>
              <a:defRPr sz="2400" b="1">
                <a:solidFill>
                  <a:srgbClr val="FFFFFF"/>
                </a:solidFill>
              </a:defRPr>
            </a:pPr>
            <a:r>
              <a:t>Process-Complete, Traceable &amp; Measurable Healthcare Architecture</a:t>
            </a:r>
          </a:p>
          <a:p>
            <a:pPr>
              <a:spcAft>
                <a:spcPts val="300"/>
              </a:spcAft>
            </a:pPr>
            <a:r>
              <a:rPr b="1" sz="1000">
                <a:solidFill>
                  <a:srgbClr val="DCF5F0"/>
                </a:solidFill>
              </a:rPr>
              <a:t>Process Completeness Delivered: </a:t>
            </a:r>
            <a:r>
              <a:rPr sz="950">
                <a:solidFill>
                  <a:srgbClr val="E2E8F0"/>
                </a:solidFill>
              </a:rPr>
              <a:t>Seamless operational chain mapped and implemented from Supplier Inwarding to Audit Closure.</a:t>
            </a:r>
          </a:p>
          <a:p>
            <a:pPr>
              <a:spcAft>
                <a:spcPts val="300"/>
              </a:spcAft>
            </a:pPr>
            <a:r>
              <a:rPr b="1" sz="1000">
                <a:solidFill>
                  <a:srgbClr val="DCF5F0"/>
                </a:solidFill>
              </a:rPr>
              <a:t>Full Stakeholder Traceability: </a:t>
            </a:r>
            <a:r>
              <a:rPr sz="950">
                <a:solidFill>
                  <a:srgbClr val="E2E8F0"/>
                </a:solidFill>
              </a:rPr>
              <a:t>Layman requirements mapped to IEEE 830 SRS specifications across all 8 healthcare personas.</a:t>
            </a:r>
          </a:p>
          <a:p>
            <a:pPr>
              <a:spcAft>
                <a:spcPts val="300"/>
              </a:spcAft>
            </a:pPr>
            <a:r>
              <a:rPr b="1" sz="1000">
                <a:solidFill>
                  <a:srgbClr val="DCF5F0"/>
                </a:solidFill>
              </a:rPr>
              <a:t>Perpetual Accounting Ledger: </a:t>
            </a:r>
            <a:r>
              <a:rPr sz="950">
                <a:solidFill>
                  <a:srgbClr val="E2E8F0"/>
                </a:solidFill>
              </a:rPr>
              <a:t>Mathematical stock balance equation strictly enforced with immutable audit records.</a:t>
            </a:r>
          </a:p>
          <a:p>
            <a:pPr>
              <a:spcAft>
                <a:spcPts val="300"/>
              </a:spcAft>
            </a:pPr>
            <a:r>
              <a:rPr b="1" sz="1000">
                <a:solidFill>
                  <a:srgbClr val="DCF5F0"/>
                </a:solidFill>
              </a:rPr>
              <a:t>Empirically Verified: </a:t>
            </a:r>
            <a:r>
              <a:rPr sz="950">
                <a:solidFill>
                  <a:srgbClr val="E2E8F0"/>
                </a:solidFill>
              </a:rPr>
              <a:t>25 / 25 automated test suites passing with zero defects and robust multi-station concurrency.</a:t>
            </a:r>
          </a:p>
        </p:txBody>
      </p:sp>
      <p:sp>
        <p:nvSpPr>
          <p:cNvPr id="5" name="Rounded Rectangle 4"/>
          <p:cNvSpPr/>
          <p:nvPr/>
        </p:nvSpPr>
        <p:spPr>
          <a:xfrm>
            <a:off x="914400" y="4297680"/>
            <a:ext cx="10362895" cy="2011680"/>
          </a:xfrm>
          <a:prstGeom prst="roundRect">
            <a:avLst/>
          </a:prstGeom>
          <a:solidFill>
            <a:srgbClr val="123456"/>
          </a:solidFill>
          <a:ln w="15240">
            <a:solidFill>
              <a:srgbClr val="00A3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389120"/>
            <a:ext cx="9966960" cy="1828800"/>
          </a:xfrm>
          <a:prstGeom prst="rect">
            <a:avLst/>
          </a:prstGeom>
          <a:noFill/>
        </p:spPr>
        <p:txBody>
          <a:bodyPr wrap="square">
            <a:spAutoFit/>
          </a:bodyPr>
          <a:lstStyle/>
          <a:p>
            <a:pPr>
              <a:spcAft>
                <a:spcPts val="400"/>
              </a:spcAft>
              <a:defRPr sz="1100" b="1">
                <a:solidFill>
                  <a:srgbClr val="00A389"/>
                </a:solidFill>
              </a:defRPr>
            </a:pPr>
            <a:r>
              <a:t>⭐ THE TQM ENGINEERING CREED FOR VIVA DEFENSE</a:t>
            </a:r>
          </a:p>
          <a:p>
            <a:pPr>
              <a:spcAft>
                <a:spcPts val="600"/>
              </a:spcAft>
              <a:defRPr sz="1200" b="1">
                <a:solidFill>
                  <a:srgbClr val="FFFFFF"/>
                </a:solidFill>
              </a:defRPr>
            </a:pPr>
            <a:r>
              <a:t>"The UI never writes raw SQL. Poka-Yoke validation stops bad data at the gate. The perpetual ledger tracks every pill across its entire lifecycle. Expired stock cannot be sold. Audit logs drive continuous Pareto, FMEA, and PDCA improvements."</a:t>
            </a:r>
          </a:p>
          <a:p>
            <a:pPr>
              <a:defRPr sz="1000">
                <a:solidFill>
                  <a:srgbClr val="94A3B8"/>
                </a:solidFill>
              </a:defRPr>
            </a:pPr>
            <a:r>
              <a:t>🙏 Sincere gratitude to the Computer Science &amp; Engineering faculty at Amrapali University. The floor is open for viva questions. (Candidate: Piyush Bhatt)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